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004470B7-1FA6-208B-84B9-1D9F66A06B3F}">
          <p14:sldIdLst>
            <p14:sldId id="256"/>
            <p14:sldId id="257"/>
            <p14:sldId id="258"/>
            <p14:sldId id="259"/>
          </p14:sldIdLst>
        </p14:section>
        <p14:section name="Bảy bước, ba giai đoạn" id="{9BE1F99F-1CC1-5D21-4280-1BE1094B4E13}">
          <p14:sldIdLst>
            <p14:sldId id="260"/>
            <p14:sldId id="261"/>
            <p14:sldId id="262"/>
            <p14:sldId id="263"/>
            <p14:sldId id="264"/>
            <p14:sldId id="265"/>
            <p14:sldId id="266"/>
          </p14:sldIdLst>
        </p14:section>
        <p14:section name="Quy trình cho một sản phẩm AI" id="{CA08E3A3-748F-60DD-147B-C4A7AD027611}">
          <p14:sldIdLst>
            <p14:sldId id="267"/>
            <p14:sldId id="268"/>
            <p14:sldId id="269"/>
          </p14:sldIdLst>
        </p14:section>
        <p14:section name="Tổng kết" id="{796D6250-A17A-6FB2-7991-850670AE1E9C}">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E0E97F-E2A7-405F-B521-3C2650D0DAF5}" v="1" dt="2026-10-10T03:32:18.0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7" d="100"/>
          <a:sy n="147" d="100"/>
        </p:scale>
        <p:origin x="100"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custSel addSld modSld">
      <pc:chgData name="Phạm Văn Tú" userId="67199c852bdd6d1b" providerId="LiveId" clId="{CB377567-0116-4044-BB7C-6E46B7A5C596}" dt="2026-10-10T03:32:38.843" v="4" actId="1076"/>
      <pc:docMkLst>
        <pc:docMk/>
      </pc:docMkLst>
      <pc:sldChg chg="modSp mod">
        <pc:chgData name="Phạm Văn Tú" userId="67199c852bdd6d1b" providerId="LiveId" clId="{CB377567-0116-4044-BB7C-6E46B7A5C596}" dt="2026-10-10T03:31:47.656" v="0" actId="20577"/>
        <pc:sldMkLst>
          <pc:docMk/>
          <pc:sldMk cId="0" sldId="256"/>
        </pc:sldMkLst>
        <pc:spChg chg="mod">
          <ac:chgData name="Phạm Văn Tú" userId="67199c852bdd6d1b" providerId="LiveId" clId="{CB377567-0116-4044-BB7C-6E46B7A5C596}" dt="2026-10-10T03:31:47.656" v="0" actId="20577"/>
          <ac:spMkLst>
            <pc:docMk/>
            <pc:sldMk cId="0" sldId="256"/>
            <ac:spMk id="3" creationId="{00000000-0000-0000-0000-000000000000}"/>
          </ac:spMkLst>
        </pc:spChg>
      </pc:sldChg>
      <pc:sldChg chg="addSp delSp modSp add mod">
        <pc:chgData name="Phạm Văn Tú" userId="67199c852bdd6d1b" providerId="LiveId" clId="{CB377567-0116-4044-BB7C-6E46B7A5C596}" dt="2026-10-10T03:32:38.843" v="4" actId="1076"/>
        <pc:sldMkLst>
          <pc:docMk/>
          <pc:sldMk cId="1406634179" sldId="272"/>
        </pc:sldMkLst>
        <pc:picChg chg="del">
          <ac:chgData name="Phạm Văn Tú" userId="67199c852bdd6d1b" providerId="LiveId" clId="{CB377567-0116-4044-BB7C-6E46B7A5C596}" dt="2026-10-10T03:32:22.305" v="2" actId="478"/>
          <ac:picMkLst>
            <pc:docMk/>
            <pc:sldMk cId="1406634179" sldId="272"/>
            <ac:picMk id="39" creationId="{F0739DF9-4DB4-2556-E5C3-E8D4250BEDCB}"/>
          </ac:picMkLst>
        </pc:picChg>
        <pc:picChg chg="add mod">
          <ac:chgData name="Phạm Văn Tú" userId="67199c852bdd6d1b" providerId="LiveId" clId="{CB377567-0116-4044-BB7C-6E46B7A5C596}" dt="2026-10-10T03:32:38.843" v="4" actId="1076"/>
          <ac:picMkLst>
            <pc:docMk/>
            <pc:sldMk cId="1406634179" sldId="272"/>
            <ac:picMk id="40" creationId="{89A7351B-B717-C7D6-1B54-81AA1B57E5E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2798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phiếu khảo sát đầu năm, giấy A3 cho các nhóm, thẻ sản phẩm AI, Phiếu ra cửa. Tài liệu học sinh: tập Khối 11, Bài 11.1.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nhanh mục tiêu (1 phút). Bài đầu năm: dành vài phút cho phiếu khảo sát về việc học sinh đã dùng AI thế nào.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(7 phút). Tình huống giả định. Học sinh trao đổi cặp 2 phút, liệt kê các chỗ Quân trượt. Mời 3-4 em nêu, giáo viên ghi bảng thành ba cột: trước, trong, sau khi dùng (chưa đặt tên cột).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hoạt động 1: đặt tên ba cột trên bảng. Liên hệ phòng thí nghiệm Hóa: đeo kính trước, theo dõi trong, rửa dụng cụ và ghi kết quả sau. Không ai coi là rườm rà.</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bắt đầu (12 phút).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sinh nhìn hình 30 giây trước khi giảng. Yêu cầu vẽ lại vào vở. Mũi tên vòng: kiểm chứng phát hiện vấn đề thì quay lại đặt yêu cầu.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1: nếu không viết được một dòng thì rất có thể đang định nhờ AI làm thay. Bước 2: hướng dẫn của UNESCO (2023) đề nghị mức tối thiểu 13 tuổi cho AI tạo sinh trong lớp học; nhiều công cụ đặt mức tuổi riêng. Bước 3: hỏi về bài Hóa thì không cần chụp cả trang vở có tên, lớp.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4 sẽ học kĩ ở Bài 11.8. Bước 5: ba câu tự hỏi khi đọc kết quả: AI có lạc đề không; có chỗ nào nghe hay nhưng lạ; nó có đang làm luôn phần mình định tự làm không.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6: nguồn phải ĐỘC LẬP với AI. Bước 7: theo Khung nội dung của Bộ Giáo dục và Đào tạo, khai báo trung thực không tự động làm tăng hay giảm kết quả đánh giá. Nếu trường đã có Quy tắc sử dụng AI thì thực hiện bước 2 và 7 theo quy tắc đó.</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bước 6, kiểm chứng. Họ là người có chuyên môn, không thiếu hiểu biết; chỉ bỏ đúng một bước. Nguồn: vụ Mata v. Avianca, Tòa án liên bang khu vực phía Nam New York, quyết định ngày 22/6/2023 (dẫn theo LawSites).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hoạt động 2. Sửa quan niệm sai: quy trình an toàn không có nghĩa là dùng AI thật ít.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 bắt đầu (21 phút). Phát thẻ sản phẩm AI: trợ lí hỏi đáp, dịch, tạo ảnh, chấm phát âm, tóm tắt tài liệu, hỗ trợ lập trình.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Giáo viên đi quanh, nhắc nhóm viết VIỆC CỤ THỂ gắn với sản phẩm (ví dụ với công cụ chấm phát âm: bước 2 là xem ứng dụng có lưu bản ghi âm không). Sản phẩm A3 là minh chứng đánh giá.</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Mời 2 nhóm chia sẻ bước đã sửa. Chốt: bước 1 và bước 7 soi vào nhau; điều định ra ở bước 1 chính là điều khai báo ở bước 7.</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(1 phút). Ba thói quen đằng sau quy trình ở ô bên phải.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(5 phút). Năm việc của câu 1 in trên Phiếu ra cửa (phụ lục kế hoạch bài dạy). Không cho điểm. Dặn dò: phần Vận dụng trong Tài liệu học tập (nhật kí dùng AI một tuần).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2136706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11.1 · Xây dựng quy trình sử dụng AI an toàn</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Xây dựng quy trình sử dụng AI an toàn</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11.1 · Chuyên đề 11.1: Dùng AI an toàn để nâng cao năng lực bản thân</a:t>
            </a:r>
            <a:endParaRPr lang="en-US" sz="2400" dirty="0"/>
          </a:p>
          <a:p>
            <a:pPr marL="0" indent="0" algn="l">
              <a:buNone/>
            </a:pPr>
            <a:r>
              <a:rPr lang="en-US" sz="2400" dirty="0">
                <a:solidFill>
                  <a:schemeClr val="accent5"/>
                </a:solidFill>
              </a:rPr>
              <a:t>Giáo dục trí tuệ nhân tạo </a:t>
            </a:r>
            <a:r>
              <a:rPr lang="en-US" sz="2400" dirty="0" err="1">
                <a:solidFill>
                  <a:schemeClr val="accent5"/>
                </a:solidFill>
              </a:rPr>
              <a:t>lớp</a:t>
            </a:r>
            <a:r>
              <a:rPr lang="en-US" sz="2400" dirty="0">
                <a:solidFill>
                  <a:schemeClr val="accent5"/>
                </a:solidFill>
              </a:rPr>
              <a:t> 11</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Kể được</a:t>
            </a:r>
            <a:r>
              <a:rPr lang="en-US" sz="2800" dirty="0">
                <a:solidFill>
                  <a:schemeClr val="tx1"/>
                </a:solidFill>
              </a:rPr>
              <a:t> bảy bước dùng AI an toàn, theo ba giai đoạn</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Giải thích</a:t>
            </a:r>
            <a:r>
              <a:rPr lang="en-US" sz="2800" dirty="0">
                <a:solidFill>
                  <a:schemeClr val="tx1"/>
                </a:solidFill>
              </a:rPr>
              <a:t> mỗi bước giúp em tránh điều gì</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Lập</a:t>
            </a:r>
            <a:r>
              <a:rPr lang="en-US" sz="2800" dirty="0">
                <a:solidFill>
                  <a:schemeClr val="tx1"/>
                </a:solidFill>
              </a:rPr>
              <a:t> quy trình cho một sản phẩm AI cụ thể</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7'</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Chuyện của Quân</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12'</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Bảy bước, ba giai đoạn</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21'</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Viết quy trình, thử thách chéo</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Phiếu ra cửa</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Ứng dụng “chụp bài là có lời giải”</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400" dirty="0">
                <a:solidFill>
                  <a:schemeClr val="tx1"/>
                </a:solidFill>
              </a:rPr>
              <a:t>Tối thứ Năm, Quân còn sáu bài Hóa. Bạn nhắn: “Tải cái này đi, chụp bài là có lời giải.” Ứng dụng xin quyền camera, thư viện ảnh, danh bạ, vị trí. Quân bấm “Cho phép” cả bốn lần.</a:t>
            </a:r>
            <a:endParaRPr lang="en-US" sz="2400" dirty="0"/>
          </a:p>
          <a:p>
            <a:pPr marL="0" indent="0">
              <a:buNone/>
            </a:pPr>
            <a:endParaRPr lang="en-US" sz="2400" dirty="0"/>
          </a:p>
          <a:p>
            <a:pPr marL="0" indent="0">
              <a:buNone/>
            </a:pPr>
            <a:r>
              <a:rPr lang="en-US" sz="2400" dirty="0">
                <a:solidFill>
                  <a:schemeClr val="tx1"/>
                </a:solidFill>
              </a:rPr>
              <a:t>Hôm sau: Quân không làm lại được bài 3, lời giải bài 5 sai, và điện thoại bắt đầu nhận tin nhắn quảng cáo lạ.</a:t>
            </a:r>
            <a:endParaRPr lang="en-US" sz="24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Quân đã “trượt” ở những chỗ nào? Em đếm được mấy chỗ?</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Chuyện không hay xảy ra ở cả ba chặng</a:t>
            </a:r>
            <a:endParaRPr lang="en-US" sz="3800" dirty="0"/>
          </a:p>
        </p:txBody>
      </p:sp>
      <p:sp>
        <p:nvSpPr>
          <p:cNvPr id="4" name="Shape 1"/>
          <p:cNvSpPr/>
          <p:nvPr/>
        </p:nvSpPr>
        <p:spPr>
          <a:xfrm>
            <a:off x="54864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22960" y="178308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Trước khi dùng</a:t>
            </a:r>
            <a:endParaRPr lang="en-US" sz="2200" dirty="0"/>
          </a:p>
          <a:p>
            <a:pPr marL="0" indent="0">
              <a:spcAft>
                <a:spcPts val="800"/>
              </a:spcAft>
              <a:buNone/>
            </a:pPr>
            <a:r>
              <a:rPr lang="en-US" sz="2200" dirty="0">
                <a:solidFill>
                  <a:schemeClr val="tx1"/>
                </a:solidFill>
              </a:rPr>
              <a:t>Tải vội, cho phép cả bốn quyền, không nghĩ mình cần gì.</a:t>
            </a:r>
            <a:endParaRPr lang="en-US" sz="2200" dirty="0"/>
          </a:p>
        </p:txBody>
      </p:sp>
      <p:sp>
        <p:nvSpPr>
          <p:cNvPr id="6" name="Shape 3"/>
          <p:cNvSpPr/>
          <p:nvPr/>
        </p:nvSpPr>
        <p:spPr>
          <a:xfrm>
            <a:off x="432816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7" name="Text 4"/>
          <p:cNvSpPr txBox="1"/>
          <p:nvPr/>
        </p:nvSpPr>
        <p:spPr>
          <a:xfrm>
            <a:off x="4602480" y="178308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Trong khi dùng</a:t>
            </a:r>
            <a:endParaRPr lang="en-US" sz="2200" dirty="0"/>
          </a:p>
          <a:p>
            <a:pPr marL="0" indent="0">
              <a:spcAft>
                <a:spcPts val="800"/>
              </a:spcAft>
              <a:buNone/>
            </a:pPr>
            <a:r>
              <a:rPr lang="en-US" sz="2200" dirty="0">
                <a:solidFill>
                  <a:schemeClr val="tx1"/>
                </a:solidFill>
              </a:rPr>
              <a:t>Chụp rồi chép liền một mạch, không đọc lại.</a:t>
            </a:r>
            <a:endParaRPr lang="en-US" sz="2200" dirty="0"/>
          </a:p>
        </p:txBody>
      </p:sp>
      <p:sp>
        <p:nvSpPr>
          <p:cNvPr id="8" name="Shape 5"/>
          <p:cNvSpPr/>
          <p:nvPr/>
        </p:nvSpPr>
        <p:spPr>
          <a:xfrm>
            <a:off x="810768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Text 6"/>
          <p:cNvSpPr txBox="1"/>
          <p:nvPr/>
        </p:nvSpPr>
        <p:spPr>
          <a:xfrm>
            <a:off x="8382000" y="178308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Sau khi dùng</a:t>
            </a:r>
            <a:endParaRPr lang="en-US" sz="2200" dirty="0"/>
          </a:p>
          <a:p>
            <a:pPr marL="0" indent="0">
              <a:spcAft>
                <a:spcPts val="800"/>
              </a:spcAft>
              <a:buNone/>
            </a:pPr>
            <a:r>
              <a:rPr lang="en-US" sz="2200" dirty="0">
                <a:solidFill>
                  <a:schemeClr val="tx1"/>
                </a:solidFill>
              </a:rPr>
              <a:t>Không kiểm tra lời giải, nộp như bài tự làm.</a:t>
            </a:r>
            <a:endParaRPr lang="en-US" sz="2200" dirty="0"/>
          </a:p>
        </p:txBody>
      </p:sp>
      <p:sp>
        <p:nvSpPr>
          <p:cNvPr id="10" name="Shape 7"/>
          <p:cNvSpPr/>
          <p:nvPr/>
        </p:nvSpPr>
        <p:spPr>
          <a:xfrm>
            <a:off x="548640" y="530352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303520"/>
            <a:ext cx="10424160" cy="777240"/>
          </a:xfrm>
          <a:prstGeom prst="rect">
            <a:avLst/>
          </a:prstGeom>
          <a:noFill/>
          <a:ln/>
        </p:spPr>
        <p:txBody>
          <a:bodyPr wrap="square" lIns="0" tIns="0" rIns="0" bIns="0" rtlCol="0" anchor="ctr"/>
          <a:lstStyle/>
          <a:p>
            <a:pPr marL="0" indent="0">
              <a:buNone/>
            </a:pPr>
            <a:r>
              <a:rPr lang="en-US" sz="2400" b="1" dirty="0">
                <a:solidFill>
                  <a:schemeClr val="tx1"/>
                </a:solidFill>
              </a:rPr>
              <a:t>Muốn an toàn cần một quy trình, một lời nhắc “hãy cẩn thận” là chưa đủ</a:t>
            </a:r>
            <a:endParaRPr lang="en-US" sz="24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Bảy bước, ba giai đoạn</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1 · 12 phút · Vẽ sơ đồ quy trình vào vở</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Toàn bộ quy trình trên một dòng thời gian</a:t>
            </a:r>
            <a:endParaRPr lang="en-US" sz="3800" dirty="0"/>
          </a:p>
        </p:txBody>
      </p:sp>
      <p:pic>
        <p:nvPicPr>
          <p:cNvPr id="4" name="Image 0" descr="Toàn bộ quy trình trên một dòng thời gian"/>
          <p:cNvPicPr>
            <a:picLocks noChangeAspect="1"/>
          </p:cNvPicPr>
          <p:nvPr/>
        </p:nvPicPr>
        <p:blipFill>
          <a:blip r:embed="rId3"/>
          <a:stretch>
            <a:fillRect/>
          </a:stretch>
        </p:blipFill>
        <p:spPr>
          <a:xfrm>
            <a:off x="1699953" y="1463040"/>
            <a:ext cx="8761615" cy="3886200"/>
          </a:xfrm>
          <a:prstGeom prst="rect">
            <a:avLst/>
          </a:prstGeom>
        </p:spPr>
      </p:pic>
      <p:sp>
        <p:nvSpPr>
          <p:cNvPr id="5" name="Shape 1"/>
          <p:cNvSpPr/>
          <p:nvPr/>
        </p:nvSpPr>
        <p:spPr>
          <a:xfrm>
            <a:off x="548640" y="544068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6" name="Text 2"/>
          <p:cNvSpPr txBox="1"/>
          <p:nvPr/>
        </p:nvSpPr>
        <p:spPr>
          <a:xfrm>
            <a:off x="868680" y="544068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Kiểm chứng thấy có vấn đề thì quay lại bước 4</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Trước khi dùng: ba bước chuẩn bị</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7" name="Text 4"/>
          <p:cNvSpPr txBox="1"/>
          <p:nvPr/>
        </p:nvSpPr>
        <p:spPr>
          <a:xfrm>
            <a:off x="82296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Xác định mục đích</a:t>
            </a:r>
            <a:endParaRPr lang="en-US" sz="2400" dirty="0"/>
          </a:p>
          <a:p>
            <a:pPr marL="0" indent="0">
              <a:spcAft>
                <a:spcPts val="800"/>
              </a:spcAft>
              <a:buNone/>
            </a:pPr>
            <a:r>
              <a:rPr lang="en-US" sz="2400" dirty="0">
                <a:solidFill>
                  <a:schemeClr val="tx1"/>
                </a:solidFill>
              </a:rPr>
              <a:t>Nhờ AI làm gì? Phần nào mình tự làm?</a:t>
            </a:r>
            <a:endParaRPr lang="en-US" sz="2400" dirty="0"/>
          </a:p>
          <a:p>
            <a:pPr marL="0" indent="0">
              <a:buNone/>
            </a:pPr>
            <a:r>
              <a:rPr lang="en-US" sz="2400" b="1" dirty="0">
                <a:solidFill>
                  <a:schemeClr val="accent4"/>
                </a:solidFill>
              </a:rPr>
              <a:t>Viết được thành một dòng.</a:t>
            </a:r>
            <a:endParaRPr lang="en-US" sz="2400" dirty="0"/>
          </a:p>
        </p:txBody>
      </p:sp>
      <p:sp>
        <p:nvSpPr>
          <p:cNvPr id="8" name="Shape 5"/>
          <p:cNvSpPr/>
          <p:nvPr/>
        </p:nvSpPr>
        <p:spPr>
          <a:xfrm>
            <a:off x="432816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60248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60248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11" name="Text 8"/>
          <p:cNvSpPr txBox="1"/>
          <p:nvPr/>
        </p:nvSpPr>
        <p:spPr>
          <a:xfrm>
            <a:off x="460248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Kiểm tra công cụ</a:t>
            </a:r>
            <a:endParaRPr lang="en-US" sz="2400" dirty="0"/>
          </a:p>
          <a:p>
            <a:pPr marL="0" indent="0">
              <a:spcAft>
                <a:spcPts val="800"/>
              </a:spcAft>
              <a:buNone/>
            </a:pPr>
            <a:r>
              <a:rPr lang="en-US" sz="2400" dirty="0">
                <a:solidFill>
                  <a:schemeClr val="tx1"/>
                </a:solidFill>
              </a:rPr>
              <a:t>Ai làm ra? Xin quyền gì? Có hợp tuổi, hợp quy định của trường?</a:t>
            </a:r>
            <a:endParaRPr lang="en-US" sz="2400" dirty="0"/>
          </a:p>
          <a:p>
            <a:pPr marL="0" indent="0">
              <a:buNone/>
            </a:pPr>
            <a:r>
              <a:rPr lang="en-US" sz="2400" b="1" dirty="0">
                <a:solidFill>
                  <a:schemeClr val="accent4"/>
                </a:solidFill>
              </a:rPr>
              <a:t>Quyền không liên quan: từ chối.</a:t>
            </a:r>
            <a:endParaRPr lang="en-US" sz="2400" dirty="0"/>
          </a:p>
        </p:txBody>
      </p:sp>
      <p:sp>
        <p:nvSpPr>
          <p:cNvPr id="12" name="Shape 9"/>
          <p:cNvSpPr/>
          <p:nvPr/>
        </p:nvSpPr>
        <p:spPr>
          <a:xfrm>
            <a:off x="810768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838200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38200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5" name="Text 12"/>
          <p:cNvSpPr txBox="1"/>
          <p:nvPr/>
        </p:nvSpPr>
        <p:spPr>
          <a:xfrm>
            <a:off x="838200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Chuẩn bị đầu vào</a:t>
            </a:r>
            <a:endParaRPr lang="en-US" sz="2400" dirty="0"/>
          </a:p>
          <a:p>
            <a:pPr marL="0" indent="0">
              <a:spcAft>
                <a:spcPts val="800"/>
              </a:spcAft>
              <a:buNone/>
            </a:pPr>
            <a:r>
              <a:rPr lang="en-US" sz="2400" dirty="0">
                <a:solidFill>
                  <a:schemeClr val="tx1"/>
                </a:solidFill>
              </a:rPr>
              <a:t>Bỏ họ tên, số điện thoại, ảnh người khác.</a:t>
            </a:r>
            <a:endParaRPr lang="en-US" sz="2400" dirty="0"/>
          </a:p>
          <a:p>
            <a:pPr marL="0" indent="0">
              <a:buNone/>
            </a:pPr>
            <a:r>
              <a:rPr lang="en-US" sz="2400" b="1" dirty="0">
                <a:solidFill>
                  <a:schemeClr val="accent4"/>
                </a:solidFill>
              </a:rPr>
              <a:t>Chỉ đưa vừa đủ.</a:t>
            </a:r>
            <a:endParaRPr lang="en-US" sz="24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Trong khi dùng: hai bước điều khiển</a:t>
            </a:r>
            <a:endParaRPr lang="en-US" sz="3800" dirty="0"/>
          </a:p>
        </p:txBody>
      </p:sp>
      <p:sp>
        <p:nvSpPr>
          <p:cNvPr id="4" name="Shape 1"/>
          <p:cNvSpPr/>
          <p:nvPr/>
        </p:nvSpPr>
        <p:spPr>
          <a:xfrm>
            <a:off x="548640" y="1554480"/>
            <a:ext cx="539496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7" name="Text 4"/>
          <p:cNvSpPr txBox="1"/>
          <p:nvPr/>
        </p:nvSpPr>
        <p:spPr>
          <a:xfrm>
            <a:off x="822960" y="2651760"/>
            <a:ext cx="484632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Đặt yêu cầu rõ ràng</a:t>
            </a:r>
            <a:endParaRPr lang="en-US" sz="2400" dirty="0"/>
          </a:p>
          <a:p>
            <a:pPr marL="0" indent="0">
              <a:spcAft>
                <a:spcPts val="800"/>
              </a:spcAft>
              <a:buNone/>
            </a:pPr>
            <a:r>
              <a:rPr lang="en-US" sz="2400" dirty="0">
                <a:solidFill>
                  <a:schemeClr val="tx1"/>
                </a:solidFill>
              </a:rPr>
              <a:t>Vai trò, nhiệm vụ, bối cảnh, dạng kết quả.</a:t>
            </a:r>
            <a:endParaRPr lang="en-US" sz="2400" dirty="0"/>
          </a:p>
          <a:p>
            <a:pPr marL="0" indent="0">
              <a:buNone/>
            </a:pPr>
            <a:r>
              <a:rPr lang="en-US" sz="2400" b="1" dirty="0">
                <a:solidFill>
                  <a:schemeClr val="accent4"/>
                </a:solidFill>
              </a:rPr>
              <a:t>Rõ thì dễ kiểm tra.</a:t>
            </a:r>
            <a:endParaRPr lang="en-US" sz="2400" dirty="0"/>
          </a:p>
        </p:txBody>
      </p:sp>
      <p:sp>
        <p:nvSpPr>
          <p:cNvPr id="8" name="Shape 5"/>
          <p:cNvSpPr/>
          <p:nvPr/>
        </p:nvSpPr>
        <p:spPr>
          <a:xfrm>
            <a:off x="6217920" y="1554480"/>
            <a:ext cx="539496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49224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49224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5</a:t>
            </a:r>
            <a:endParaRPr lang="en-US" sz="2300" dirty="0"/>
          </a:p>
        </p:txBody>
      </p:sp>
      <p:sp>
        <p:nvSpPr>
          <p:cNvPr id="11" name="Text 8"/>
          <p:cNvSpPr txBox="1"/>
          <p:nvPr/>
        </p:nvSpPr>
        <p:spPr>
          <a:xfrm>
            <a:off x="6492240" y="2651760"/>
            <a:ext cx="484632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Giám sát</a:t>
            </a:r>
            <a:endParaRPr lang="en-US" sz="2400" dirty="0"/>
          </a:p>
          <a:p>
            <a:pPr marL="0" indent="0">
              <a:spcAft>
                <a:spcPts val="800"/>
              </a:spcAft>
              <a:buNone/>
            </a:pPr>
            <a:r>
              <a:rPr lang="en-US" sz="2400" dirty="0">
                <a:solidFill>
                  <a:schemeClr val="tx1"/>
                </a:solidFill>
              </a:rPr>
              <a:t>Đọc kết quả như người kiểm tra, chưa phải người chép.</a:t>
            </a:r>
            <a:endParaRPr lang="en-US" sz="2400" dirty="0"/>
          </a:p>
          <a:p>
            <a:pPr marL="0" indent="0">
              <a:buNone/>
            </a:pPr>
            <a:r>
              <a:rPr lang="en-US" sz="2400" b="1" dirty="0">
                <a:solidFill>
                  <a:schemeClr val="accent4"/>
                </a:solidFill>
              </a:rPr>
              <a:t>Lạc đề, làm thay: dừng lại.</a:t>
            </a:r>
            <a:endParaRPr lang="en-US" sz="24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Sau khi dùng: hai bước khép lại</a:t>
            </a:r>
            <a:endParaRPr lang="en-US" sz="3800" dirty="0"/>
          </a:p>
        </p:txBody>
      </p:sp>
      <p:sp>
        <p:nvSpPr>
          <p:cNvPr id="4" name="Shape 1"/>
          <p:cNvSpPr/>
          <p:nvPr/>
        </p:nvSpPr>
        <p:spPr>
          <a:xfrm>
            <a:off x="548640" y="1554480"/>
            <a:ext cx="539496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6</a:t>
            </a:r>
            <a:endParaRPr lang="en-US" sz="2300" dirty="0"/>
          </a:p>
        </p:txBody>
      </p:sp>
      <p:sp>
        <p:nvSpPr>
          <p:cNvPr id="7" name="Text 4"/>
          <p:cNvSpPr txBox="1"/>
          <p:nvPr/>
        </p:nvSpPr>
        <p:spPr>
          <a:xfrm>
            <a:off x="822960" y="2651760"/>
            <a:ext cx="484632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Kiểm chứng</a:t>
            </a:r>
            <a:endParaRPr lang="en-US" sz="2400" dirty="0"/>
          </a:p>
          <a:p>
            <a:pPr marL="0" indent="0">
              <a:spcAft>
                <a:spcPts val="800"/>
              </a:spcAft>
              <a:buNone/>
            </a:pPr>
            <a:r>
              <a:rPr lang="en-US" sz="2400" dirty="0">
                <a:solidFill>
                  <a:schemeClr val="tx1"/>
                </a:solidFill>
              </a:rPr>
              <a:t>So với sách, tài liệu thầy cô, nguồn chính thức, hoặc tự tính lại.</a:t>
            </a:r>
            <a:endParaRPr lang="en-US" sz="2400" dirty="0"/>
          </a:p>
          <a:p>
            <a:pPr marL="0" indent="0">
              <a:buNone/>
            </a:pPr>
            <a:r>
              <a:rPr lang="en-US" sz="2400" b="1" dirty="0">
                <a:solidFill>
                  <a:schemeClr val="accent4"/>
                </a:solidFill>
              </a:rPr>
              <a:t>Hỏi lại chính AI chưa phải là kiểm chứng.</a:t>
            </a:r>
            <a:endParaRPr lang="en-US" sz="2400" dirty="0"/>
          </a:p>
        </p:txBody>
      </p:sp>
      <p:sp>
        <p:nvSpPr>
          <p:cNvPr id="8" name="Shape 5"/>
          <p:cNvSpPr/>
          <p:nvPr/>
        </p:nvSpPr>
        <p:spPr>
          <a:xfrm>
            <a:off x="6217920" y="1554480"/>
            <a:ext cx="539496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49224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49224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7</a:t>
            </a:r>
            <a:endParaRPr lang="en-US" sz="2300" dirty="0"/>
          </a:p>
        </p:txBody>
      </p:sp>
      <p:sp>
        <p:nvSpPr>
          <p:cNvPr id="11" name="Text 8"/>
          <p:cNvSpPr txBox="1"/>
          <p:nvPr/>
        </p:nvSpPr>
        <p:spPr>
          <a:xfrm>
            <a:off x="6492240" y="2651760"/>
            <a:ext cx="484632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Khai báo</a:t>
            </a:r>
            <a:endParaRPr lang="en-US" sz="2400" dirty="0"/>
          </a:p>
          <a:p>
            <a:pPr marL="0" indent="0">
              <a:spcAft>
                <a:spcPts val="800"/>
              </a:spcAft>
              <a:buNone/>
            </a:pPr>
            <a:r>
              <a:rPr lang="en-US" sz="2400" dirty="0">
                <a:solidFill>
                  <a:schemeClr val="tx1"/>
                </a:solidFill>
              </a:rPr>
              <a:t>Dùng công cụ nào, vào việc gì, phần nào tự làm.</a:t>
            </a:r>
            <a:endParaRPr lang="en-US" sz="2400" dirty="0"/>
          </a:p>
          <a:p>
            <a:pPr marL="0" indent="0">
              <a:buNone/>
            </a:pPr>
            <a:r>
              <a:rPr lang="en-US" sz="2400" b="1" dirty="0">
                <a:solidFill>
                  <a:schemeClr val="accent4"/>
                </a:solidFill>
              </a:rPr>
              <a:t>Khai báo trung thực không làm tăng hay giảm kết quả.</a:t>
            </a:r>
            <a:endParaRPr lang="en-US" sz="24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Chuyện có thật: bỏ đúng một bước</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400" dirty="0">
                <a:solidFill>
                  <a:schemeClr val="tx1"/>
                </a:solidFill>
              </a:rPr>
              <a:t>New York, năm 2023. Hai luật sư nộp cho tòa một văn bản trích sáu bản án.</a:t>
            </a:r>
            <a:endParaRPr lang="en-US" sz="2400" dirty="0"/>
          </a:p>
          <a:p>
            <a:pPr marL="0" indent="0">
              <a:buNone/>
            </a:pPr>
            <a:endParaRPr lang="en-US" sz="2400" dirty="0"/>
          </a:p>
          <a:p>
            <a:pPr marL="0" indent="0">
              <a:buNone/>
            </a:pPr>
            <a:r>
              <a:rPr lang="en-US" sz="2400" dirty="0">
                <a:solidFill>
                  <a:schemeClr val="tx1"/>
                </a:solidFill>
              </a:rPr>
              <a:t>Cả sáu bản án đều không tồn tại: chúng do một công cụ trò chuyện AI viết ra. Khi được hỏi lại, công cụ còn khẳng định các bản án là thật.</a:t>
            </a:r>
            <a:endParaRPr lang="en-US" sz="2400" dirty="0"/>
          </a:p>
          <a:p>
            <a:pPr marL="0" indent="0">
              <a:buNone/>
            </a:pPr>
            <a:endParaRPr lang="en-US" sz="2400" dirty="0"/>
          </a:p>
          <a:p>
            <a:pPr marL="0" indent="0">
              <a:buNone/>
            </a:pPr>
            <a:r>
              <a:rPr lang="en-US" sz="2400" dirty="0">
                <a:solidFill>
                  <a:schemeClr val="tx1"/>
                </a:solidFill>
              </a:rPr>
              <a:t>Tòa phạt 5.000 đô la Mỹ.</a:t>
            </a:r>
            <a:endParaRPr lang="en-US" sz="24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Hai luật sư đã bỏ bước nào trong bảy bước?</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Bỏ một bước thì sao? Quay lại chuyện của Quân</a:t>
            </a:r>
            <a:endParaRPr lang="en-US" sz="3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3840480">
                  <a:extLst>
                    <a:ext uri="{9D8B030D-6E8A-4147-A177-3AD203B41FA5}">
                      <a16:colId xmlns:a16="http://schemas.microsoft.com/office/drawing/2014/main" val="20000"/>
                    </a:ext>
                  </a:extLst>
                </a:gridCol>
                <a:gridCol w="7223760">
                  <a:extLst>
                    <a:ext uri="{9D8B030D-6E8A-4147-A177-3AD203B41FA5}">
                      <a16:colId xmlns:a16="http://schemas.microsoft.com/office/drawing/2014/main" val="20001"/>
                    </a:ext>
                  </a:extLst>
                </a:gridCol>
              </a:tblGrid>
              <a:tr h="658368">
                <a:tc>
                  <a:txBody>
                    <a:bodyPr/>
                    <a:lstStyle/>
                    <a:p>
                      <a:pPr marL="0" indent="0" algn="ctr">
                        <a:buNone/>
                      </a:pPr>
                      <a:r>
                        <a:rPr lang="en-US" sz="2600" b="1" dirty="0">
                          <a:solidFill>
                            <a:schemeClr val="bg1"/>
                          </a:solidFill>
                        </a:rPr>
                        <a:t>Bước bị bỏ</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600" b="1" dirty="0">
                          <a:solidFill>
                            <a:schemeClr val="bg1"/>
                          </a:solidFill>
                        </a:rPr>
                        <a:t>Trong chuyện của Quân</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58368">
                <a:tc>
                  <a:txBody>
                    <a:bodyPr/>
                    <a:lstStyle/>
                    <a:p>
                      <a:pPr marL="0" indent="0" algn="l">
                        <a:buNone/>
                      </a:pPr>
                      <a:r>
                        <a:rPr lang="en-US" sz="2600" b="1" dirty="0">
                          <a:solidFill>
                            <a:schemeClr val="tx1"/>
                          </a:solidFill>
                        </a:rPr>
                        <a:t>1. Mục đích</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600" dirty="0">
                          <a:solidFill>
                            <a:schemeClr val="tx1"/>
                          </a:solidFill>
                        </a:rPr>
                        <a:t>Chép cả sáu bài</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58368">
                <a:tc>
                  <a:txBody>
                    <a:bodyPr/>
                    <a:lstStyle/>
                    <a:p>
                      <a:pPr marL="0" indent="0" algn="l">
                        <a:buNone/>
                      </a:pPr>
                      <a:r>
                        <a:rPr lang="en-US" sz="2600" b="1" dirty="0">
                          <a:solidFill>
                            <a:schemeClr val="tx1"/>
                          </a:solidFill>
                        </a:rPr>
                        <a:t>2. Kiểm tra công cụ</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600" dirty="0">
                          <a:solidFill>
                            <a:schemeClr val="tx1"/>
                          </a:solidFill>
                        </a:rPr>
                        <a:t>Cho phép đọc danh bạ, thư viện ảnh</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58368">
                <a:tc>
                  <a:txBody>
                    <a:bodyPr/>
                    <a:lstStyle/>
                    <a:p>
                      <a:pPr marL="0" indent="0" algn="l">
                        <a:buNone/>
                      </a:pPr>
                      <a:r>
                        <a:rPr lang="en-US" sz="2600" b="1" dirty="0">
                          <a:solidFill>
                            <a:schemeClr val="tx1"/>
                          </a:solidFill>
                        </a:rPr>
                        <a:t>6. Kiểm chứng</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600" dirty="0">
                          <a:solidFill>
                            <a:schemeClr val="tx1"/>
                          </a:solidFill>
                        </a:rPr>
                        <a:t>Lời giải bài 5 sai</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58368">
                <a:tc>
                  <a:txBody>
                    <a:bodyPr/>
                    <a:lstStyle/>
                    <a:p>
                      <a:pPr marL="0" indent="0" algn="l">
                        <a:buNone/>
                      </a:pPr>
                      <a:r>
                        <a:rPr lang="en-US" sz="2600" b="1" dirty="0">
                          <a:solidFill>
                            <a:schemeClr val="tx1"/>
                          </a:solidFill>
                        </a:rPr>
                        <a:t>7. Khai báo</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600" dirty="0">
                          <a:solidFill>
                            <a:schemeClr val="tx1"/>
                          </a:solidFill>
                        </a:rPr>
                        <a:t>Nộp như bài tự làm</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5" name="Shape 1"/>
          <p:cNvSpPr/>
          <p:nvPr/>
        </p:nvSpPr>
        <p:spPr>
          <a:xfrm>
            <a:off x="548640" y="5120640"/>
            <a:ext cx="11064240" cy="868680"/>
          </a:xfrm>
          <a:prstGeom prst="roundRect">
            <a:avLst>
              <a:gd name="adj" fmla="val 12632"/>
            </a:avLst>
          </a:prstGeom>
          <a:solidFill>
            <a:schemeClr val="accent2"/>
          </a:solidFill>
          <a:ln w="12700">
            <a:solidFill>
              <a:schemeClr val="accent2"/>
            </a:solidFill>
            <a:prstDash val="solid"/>
          </a:ln>
        </p:spPr>
        <p:txBody>
          <a:bodyPr/>
          <a:lstStyle/>
          <a:p>
            <a:endParaRPr lang="en-US"/>
          </a:p>
        </p:txBody>
      </p:sp>
      <p:sp>
        <p:nvSpPr>
          <p:cNvPr id="6" name="Text 2"/>
          <p:cNvSpPr txBox="1"/>
          <p:nvPr/>
        </p:nvSpPr>
        <p:spPr>
          <a:xfrm>
            <a:off x="868680" y="5120640"/>
            <a:ext cx="10424160" cy="868680"/>
          </a:xfrm>
          <a:prstGeom prst="rect">
            <a:avLst/>
          </a:prstGeom>
          <a:noFill/>
          <a:ln/>
        </p:spPr>
        <p:txBody>
          <a:bodyPr wrap="square" lIns="0" tIns="0" rIns="0" bIns="0" rtlCol="0" anchor="ctr"/>
          <a:lstStyle/>
          <a:p>
            <a:pPr marL="0" indent="0">
              <a:buNone/>
            </a:pPr>
            <a:r>
              <a:rPr lang="en-US" sz="2400" b="1" dirty="0">
                <a:solidFill>
                  <a:schemeClr val="tx1"/>
                </a:solidFill>
              </a:rPr>
              <a:t>Dễ nhầm: quy trình không đo dùng nhiều hay ít, mà giúp dùng có chủ đích</a:t>
            </a:r>
            <a:endParaRPr lang="en-US" sz="24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Quy trình cho một sản phẩm AI</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21 phút · Làm việc nhóm trên giấy A3</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nhóm: viết quy trình</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12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Viết quy trình bảy bước cho sản phẩm AI trên thẻ của nhóm</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Đọc thẻ sản phẩm và chọn một nhiệm vụ học tập cụ thể</a:t>
            </a:r>
            <a:endParaRPr lang="en-US" sz="2800" dirty="0"/>
          </a:p>
          <a:p>
            <a:pPr marL="342900" indent="-342900">
              <a:spcAft>
                <a:spcPts val="1200"/>
              </a:spcAft>
              <a:buSzPct val="100000"/>
              <a:buFont typeface="+mj-lt"/>
              <a:buAutoNum type="arabicPeriod"/>
            </a:pPr>
            <a:r>
              <a:rPr lang="en-US" sz="2800" dirty="0">
                <a:solidFill>
                  <a:schemeClr val="tx1"/>
                </a:solidFill>
              </a:rPr>
              <a:t>Viết việc cụ thể cho từng bước, không chép lại tên bước</a:t>
            </a:r>
            <a:endParaRPr lang="en-US" sz="2800" dirty="0"/>
          </a:p>
          <a:p>
            <a:pPr marL="342900" indent="-342900">
              <a:spcAft>
                <a:spcPts val="1200"/>
              </a:spcAft>
              <a:buSzPct val="100000"/>
              <a:buFont typeface="+mj-lt"/>
              <a:buAutoNum type="arabicPeriod"/>
            </a:pPr>
            <a:r>
              <a:rPr lang="en-US" sz="2800" dirty="0">
                <a:solidFill>
                  <a:schemeClr val="tx1"/>
                </a:solidFill>
              </a:rPr>
              <a:t>Đánh dấu bước nhóm thấy dễ bị bỏ nhất</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Ví dụ một dòng</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Bước 6: đối chiếu từng số liệu với sách giáo khoa; số nào không tìm được nguồn thì không dùng.</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Thử thách chéo</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9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Đổi bản quy trình với nhóm bên cạnh</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Đọc quy trình của nhóm bạn</a:t>
            </a:r>
            <a:endParaRPr lang="en-US" sz="2800" dirty="0"/>
          </a:p>
          <a:p>
            <a:pPr marL="342900" indent="-342900">
              <a:spcAft>
                <a:spcPts val="1200"/>
              </a:spcAft>
              <a:buSzPct val="100000"/>
              <a:buFont typeface="+mj-lt"/>
              <a:buAutoNum type="arabicPeriod"/>
            </a:pPr>
            <a:r>
              <a:rPr lang="en-US" sz="2800" dirty="0">
                <a:solidFill>
                  <a:schemeClr val="tx1"/>
                </a:solidFill>
              </a:rPr>
              <a:t>Tìm bước còn chung chung nhất và viết một câu hỏi</a:t>
            </a:r>
            <a:endParaRPr lang="en-US" sz="2800" dirty="0"/>
          </a:p>
          <a:p>
            <a:pPr marL="342900" indent="-342900">
              <a:spcAft>
                <a:spcPts val="1200"/>
              </a:spcAft>
              <a:buSzPct val="100000"/>
              <a:buFont typeface="+mj-lt"/>
              <a:buAutoNum type="arabicPeriod"/>
            </a:pPr>
            <a:r>
              <a:rPr lang="en-US" sz="2800" dirty="0">
                <a:solidFill>
                  <a:schemeClr val="tx1"/>
                </a:solidFill>
              </a:rPr>
              <a:t>Nhóm chủ nhà sửa lại bước đó</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Câu hỏi hay để thử thách</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“Nếu kết quả kiểm chứng không khớp thì nhóm bạn làm gì tiếp?”</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6949440" cy="1028700"/>
          </a:xfrm>
          <a:prstGeom prst="rect">
            <a:avLst/>
          </a:prstGeom>
          <a:noFill/>
          <a:ln/>
        </p:spPr>
        <p:txBody>
          <a:bodyPr wrap="square" lIns="0" tIns="0" rIns="0" bIns="0" rtlCol="0" anchor="ctr"/>
          <a:lstStyle/>
          <a:p>
            <a:pPr marL="0" indent="0">
              <a:buNone/>
            </a:pPr>
            <a:r>
              <a:rPr lang="en-US" sz="3200" dirty="0">
                <a:solidFill>
                  <a:schemeClr val="tx1"/>
                </a:solidFill>
              </a:rPr>
              <a:t>Rủi ro rải ở </a:t>
            </a:r>
            <a:r>
              <a:rPr lang="en-US" sz="3200" b="1" dirty="0">
                <a:solidFill>
                  <a:schemeClr val="tx2"/>
                </a:solidFill>
              </a:rPr>
              <a:t>cả ba giai đoạn</a:t>
            </a:r>
            <a:r>
              <a:rPr lang="en-US" sz="3200" dirty="0">
                <a:solidFill>
                  <a:schemeClr val="tx1"/>
                </a:solidFill>
              </a:rPr>
              <a:t>, nên cần quy trình</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6949440" cy="1028700"/>
          </a:xfrm>
          <a:prstGeom prst="rect">
            <a:avLst/>
          </a:prstGeom>
          <a:noFill/>
          <a:ln/>
        </p:spPr>
        <p:txBody>
          <a:bodyPr wrap="square" lIns="0" tIns="0" rIns="0" bIns="0" rtlCol="0" anchor="ctr"/>
          <a:lstStyle/>
          <a:p>
            <a:pPr marL="0" indent="0">
              <a:buNone/>
            </a:pPr>
            <a:r>
              <a:rPr lang="en-US" sz="3200" b="1" dirty="0">
                <a:solidFill>
                  <a:schemeClr val="tx2"/>
                </a:solidFill>
              </a:rPr>
              <a:t>Trước:</a:t>
            </a:r>
            <a:r>
              <a:rPr lang="en-US" sz="3200" dirty="0">
                <a:solidFill>
                  <a:schemeClr val="tx1"/>
                </a:solidFill>
              </a:rPr>
              <a:t> mục đích, kiểm tra công cụ, chuẩn bị đầu vào</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6949440" cy="1028700"/>
          </a:xfrm>
          <a:prstGeom prst="rect">
            <a:avLst/>
          </a:prstGeom>
          <a:noFill/>
          <a:ln/>
        </p:spPr>
        <p:txBody>
          <a:bodyPr wrap="square" lIns="0" tIns="0" rIns="0" bIns="0" rtlCol="0" anchor="ctr"/>
          <a:lstStyle/>
          <a:p>
            <a:pPr marL="0" indent="0">
              <a:buNone/>
            </a:pPr>
            <a:r>
              <a:rPr lang="en-US" sz="3200" b="1" dirty="0">
                <a:solidFill>
                  <a:schemeClr val="tx2"/>
                </a:solidFill>
              </a:rPr>
              <a:t>Trong:</a:t>
            </a:r>
            <a:r>
              <a:rPr lang="en-US" sz="3200" dirty="0">
                <a:solidFill>
                  <a:schemeClr val="tx1"/>
                </a:solidFill>
              </a:rPr>
              <a:t> đặt yêu cầu rõ, giám sát</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6949440" cy="1028700"/>
          </a:xfrm>
          <a:prstGeom prst="rect">
            <a:avLst/>
          </a:prstGeom>
          <a:noFill/>
          <a:ln/>
        </p:spPr>
        <p:txBody>
          <a:bodyPr wrap="square" lIns="0" tIns="0" rIns="0" bIns="0" rtlCol="0" anchor="ctr"/>
          <a:lstStyle/>
          <a:p>
            <a:pPr marL="0" indent="0">
              <a:buNone/>
            </a:pPr>
            <a:r>
              <a:rPr lang="en-US" sz="3200" b="1" dirty="0">
                <a:solidFill>
                  <a:schemeClr val="tx2"/>
                </a:solidFill>
              </a:rPr>
              <a:t>Sau:</a:t>
            </a:r>
            <a:r>
              <a:rPr lang="en-US" sz="3200" dirty="0">
                <a:solidFill>
                  <a:schemeClr val="tx1"/>
                </a:solidFill>
              </a:rPr>
              <a:t> kiểm chứng bằng nguồn độc lập, khai báo</a:t>
            </a:r>
            <a:endParaRPr lang="en-US" sz="3200" dirty="0"/>
          </a:p>
        </p:txBody>
      </p:sp>
      <p:sp>
        <p:nvSpPr>
          <p:cNvPr id="16" name="Shape 13"/>
          <p:cNvSpPr/>
          <p:nvPr/>
        </p:nvSpPr>
        <p:spPr>
          <a:xfrm>
            <a:off x="8778240" y="1554480"/>
            <a:ext cx="2834640" cy="4480560"/>
          </a:xfrm>
          <a:prstGeom prst="roundRect">
            <a:avLst>
              <a:gd name="adj" fmla="val 3871"/>
            </a:avLst>
          </a:prstGeom>
          <a:solidFill>
            <a:schemeClr val="tx2"/>
          </a:solidFill>
          <a:ln w="12700">
            <a:solidFill>
              <a:schemeClr val="tx2"/>
            </a:solidFill>
            <a:prstDash val="solid"/>
          </a:ln>
        </p:spPr>
        <p:txBody>
          <a:bodyPr/>
          <a:lstStyle/>
          <a:p>
            <a:endParaRPr lang="en-US"/>
          </a:p>
        </p:txBody>
      </p:sp>
      <p:sp>
        <p:nvSpPr>
          <p:cNvPr id="17" name="Text 14"/>
          <p:cNvSpPr txBox="1"/>
          <p:nvPr/>
        </p:nvSpPr>
        <p:spPr>
          <a:xfrm>
            <a:off x="9006840" y="1737360"/>
            <a:ext cx="2377440" cy="4114800"/>
          </a:xfrm>
          <a:prstGeom prst="rect">
            <a:avLst/>
          </a:prstGeom>
          <a:noFill/>
          <a:ln/>
        </p:spPr>
        <p:txBody>
          <a:bodyPr wrap="square" lIns="0" tIns="0" rIns="0" bIns="0" rtlCol="0" anchor="ctr"/>
          <a:lstStyle/>
          <a:p>
            <a:pPr marL="0" indent="0">
              <a:buNone/>
            </a:pPr>
            <a:r>
              <a:rPr lang="en-US" sz="2600" b="1" dirty="0">
                <a:solidFill>
                  <a:schemeClr val="bg1"/>
                </a:solidFill>
              </a:rPr>
              <a:t>Chậm lại ở chỗ có rủi ro. Hỏi khi không chắc. Nhận phần của mình.</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2057400"/>
          </a:xfrm>
          <a:prstGeom prst="rect">
            <a:avLst/>
          </a:prstGeom>
          <a:noFill/>
          <a:ln/>
        </p:spPr>
        <p:txBody>
          <a:bodyPr wrap="square" lIns="0" tIns="0" rIns="0" bIns="0" rtlCol="0" anchor="ctr"/>
          <a:lstStyle/>
          <a:p>
            <a:pPr marL="0" indent="0">
              <a:buNone/>
            </a:pPr>
            <a:r>
              <a:rPr lang="en-US" sz="2600" dirty="0">
                <a:solidFill>
                  <a:schemeClr val="tx1"/>
                </a:solidFill>
              </a:rPr>
              <a:t>Sắp xếp năm việc theo đúng thứ tự trong quy trình (ghi số 1 đến 5 trên phiếu).</a:t>
            </a:r>
            <a:endParaRPr lang="en-US" sz="2600" dirty="0"/>
          </a:p>
        </p:txBody>
      </p:sp>
      <p:sp>
        <p:nvSpPr>
          <p:cNvPr id="9" name="Shape 6"/>
          <p:cNvSpPr/>
          <p:nvPr/>
        </p:nvSpPr>
        <p:spPr>
          <a:xfrm>
            <a:off x="5394960" y="356616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379476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379476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3703320"/>
            <a:ext cx="4983480" cy="2057400"/>
          </a:xfrm>
          <a:prstGeom prst="rect">
            <a:avLst/>
          </a:prstGeom>
          <a:noFill/>
          <a:ln/>
        </p:spPr>
        <p:txBody>
          <a:bodyPr wrap="square" lIns="0" tIns="0" rIns="0" bIns="0" rtlCol="0" anchor="ctr"/>
          <a:lstStyle/>
          <a:p>
            <a:pPr marL="0" indent="0">
              <a:buNone/>
            </a:pPr>
            <a:r>
              <a:rPr lang="en-US" sz="2400" dirty="0">
                <a:solidFill>
                  <a:schemeClr val="tx1"/>
                </a:solidFill>
              </a:rPr>
              <a:t>Em sắp dùng một ứng dụng AI luyện nói tiếng Anh qua micro. Viết ba việc em sẽ làm, mỗi giai đoạn một việc, đúng với ứng dụng này.</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40" name="Picture 39">
            <a:extLst>
              <a:ext uri="{FF2B5EF4-FFF2-40B4-BE49-F238E27FC236}">
                <a16:creationId xmlns:a16="http://schemas.microsoft.com/office/drawing/2014/main" id="{89A7351B-B717-C7D6-1B54-81AA1B57E5E9}"/>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1406634179"/>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1686</Words>
  <Application>Microsoft Office PowerPoint</Application>
  <PresentationFormat>Widescreen</PresentationFormat>
  <Paragraphs>170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GiaoDucAI</vt:lpstr>
      <vt:lpstr>Xây dựng quy trình sử dụng AI an toàn</vt:lpstr>
      <vt:lpstr>Hôm nay chúng ta làm gì?</vt:lpstr>
      <vt:lpstr>Ứng dụng “chụp bài là có lời giải”</vt:lpstr>
      <vt:lpstr>Chuyện không hay xảy ra ở cả ba chặng</vt:lpstr>
      <vt:lpstr>Bảy bước, ba giai đoạn</vt:lpstr>
      <vt:lpstr>Toàn bộ quy trình trên một dòng thời gian</vt:lpstr>
      <vt:lpstr>Trước khi dùng: ba bước chuẩn bị</vt:lpstr>
      <vt:lpstr>Trong khi dùng: hai bước điều khiển</vt:lpstr>
      <vt:lpstr>Sau khi dùng: hai bước khép lại</vt:lpstr>
      <vt:lpstr>Chuyện có thật: bỏ đúng một bước</vt:lpstr>
      <vt:lpstr>Bỏ một bước thì sao? Quay lại chuyện của Quân</vt:lpstr>
      <vt:lpstr>Quy trình cho một sản phẩm AI</vt:lpstr>
      <vt:lpstr>Nhiệm vụ nhóm: viết quy trình</vt:lpstr>
      <vt:lpstr>Thử thách chéo</vt:lpstr>
      <vt:lpstr>Ghi nhớ</vt:lpstr>
      <vt:lpstr>Phiếu ra cửa</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11.1. Xây dựng quy trình sử dụng AI an toàn</dc:title>
  <dc:subject>Trí tuệ nhân tạo</dc:subject>
  <cp:lastModifiedBy>Phạm Văn Tú</cp:lastModifiedBy>
  <cp:revision>1</cp:revision>
  <dcterms:created xsi:type="dcterms:W3CDTF">2026-10-08T10:32:06Z</dcterms:created>
  <dcterms:modified xsi:type="dcterms:W3CDTF">2026-10-10T03:32:42Z</dcterms:modified>
  <dc:description>Email: phamtund@gmail.com</dc:description>
  <dc:creator>Phạm Văn Tú</dc:creator>
  <cp:category>Trí tuệ nhân tạo</cp:category>
  <cp:keywords>Trí tuệ nhân tạo</cp:keywords>
</cp:coreProperties>
</file>