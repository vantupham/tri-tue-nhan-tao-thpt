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001E6407-3C6E-9C8C-5519-4D18FB4E6F6E}">
          <p14:sldIdLst>
            <p14:sldId id="256"/>
            <p14:sldId id="257"/>
            <p14:sldId id="258"/>
            <p14:sldId id="259"/>
          </p14:sldIdLst>
        </p14:section>
        <p14:section name="Bốn công nghệ cơ bản" id="{AD0E8701-464B-FF78-02AE-89828AD4E7FB}">
          <p14:sldIdLst>
            <p14:sldId id="260"/>
            <p14:sldId id="261"/>
            <p14:sldId id="262"/>
            <p14:sldId id="263"/>
            <p14:sldId id="264"/>
          </p14:sldIdLst>
        </p14:section>
        <p14:section name="Ghép thẻ và “mổ xẻ” một sản phẩm" id="{5AACA499-8FEA-E6EB-B5DA-24848DA31458}">
          <p14:sldIdLst>
            <p14:sldId id="265"/>
            <p14:sldId id="266"/>
            <p14:sldId id="267"/>
            <p14:sldId id="268"/>
            <p14:sldId id="269"/>
          </p14:sldIdLst>
        </p14:section>
        <p14:section name="Tổng kết" id="{A676C96A-6270-8B54-7FFA-A966E8A174D0}">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D85D61-B726-407D-B204-DC60D5EED4EC}" v="1" dt="2026-10-10T03:37:52.1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37:52.125" v="3"/>
      <pc:docMkLst>
        <pc:docMk/>
      </pc:docMkLst>
      <pc:sldChg chg="modSp mod">
        <pc:chgData name="Phạm Văn Tú" userId="67199c852bdd6d1b" providerId="LiveId" clId="{CB377567-0116-4044-BB7C-6E46B7A5C596}" dt="2026-10-10T03:37:38.803" v="2" actId="20577"/>
        <pc:sldMkLst>
          <pc:docMk/>
          <pc:sldMk cId="0" sldId="256"/>
        </pc:sldMkLst>
        <pc:spChg chg="mod">
          <ac:chgData name="Phạm Văn Tú" userId="67199c852bdd6d1b" providerId="LiveId" clId="{CB377567-0116-4044-BB7C-6E46B7A5C596}" dt="2026-10-10T03:37:38.803" v="2" actId="20577"/>
          <ac:spMkLst>
            <pc:docMk/>
            <pc:sldMk cId="0" sldId="256"/>
            <ac:spMk id="3" creationId="{00000000-0000-0000-0000-000000000000}"/>
          </ac:spMkLst>
        </pc:spChg>
      </pc:sldChg>
      <pc:sldChg chg="add">
        <pc:chgData name="Phạm Văn Tú" userId="67199c852bdd6d1b" providerId="LiveId" clId="{CB377567-0116-4044-BB7C-6E46B7A5C596}" dt="2026-10-10T03:37:52.125" v="3"/>
        <pc:sldMkLst>
          <pc:docMk/>
          <pc:sldMk cId="2322551144"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4632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bộ 12 thẻ ví dụ, sáu thẻ sản phẩm, Phiếu 'mổ xẻ' sản phẩm, Phiếu ra cửa.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nhanh mục tiêu.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(5 phút). Học sinh kể theo thứ tự, càng nhiều bước càng tốt. Ghi dự đoán lên bảng.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Đối chiếu dự đoán của lớp với hình. Mỗi ô là việc của một công nghệ khác nhau; mũi tên ghi thứ được chuyển sang bước sau. Một sản phẩm AI thường là nhiều công nghệ ghép lại.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Có thể chia bốn nhóm chuyên gia, mỗi nhóm đọc một công nghệ trong Tài liệu học tập và chuẩn bị bốn ý: là gì, nhận gì, trả ra gì, ví dụ.</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Camera ghi lại hàng triệu điểm sáng tối nhưng không biết trong ảnh có con mèo. Cảm biến là NGUỒN DỮ LIỆU của AI. Với chiếc loa: cảm biến là micro.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chuyện có thật: nghiên cứu Gender Shades (2018): phần mềm đoán giới tính qua khuôn mặt sai cao nhất 0,8% với nam giới da sáng, tới 34,7% với phụ nữ da sẫm màu, vì dữ liệu thiếu cân đối.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chiếc loa, công nghệ này xuất hiện ba lần: tiếng nói thành chữ, hiểu câu hỏi, chữ thành tiếng. Tiếng Việt có thử thách riêng: câu nhiều nghĩa, giọng ba miền, từ địa phương, viết tắt và không dấu.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Dễ nhầm: chatbot và xử lí ngôn ngữ tự nhiên là một. So sánh: động cơ và xe máy. Em có biết: theo Luật Trí tuệ nhân tạo, người dùng cần được biết khi đang tương tác với AI. Vụ hãng hàng không Canada (2024) phải bồi thường vì chatbot hướng dẫn sai.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bắt đầu.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Lưu ý các thẻ thuộc hai công nghệ. Đáp án theo phụ lục kế hoạch bài dạy.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Làm mẫu với ứng dụng dịch qua camera: camera chụp bảng hiệu; thị giác máy tính nhận dạng chữ, xử lí ngôn ngữ dịch; hiện bản dịch trên màn hình; thu ảnh (có thể có mặt người xung quanh) và vị trí.</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loa nghe nhầm 'mưa' thành 'mua' thì phần hiểu câu hỏi dù giỏi cũng trả lời cho câu hỏi khác. Phiếu mổ xẻ là minh chứng đánh giá. Hệ thống đa phương thức và tạo sinh có tra cứu (RAG) chỉ giới thiệu, không yêu cầu.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Tình huống giả định. Có cảm biến, nhưng chỉ chạy theo quy tắc cố định “có người thì mở”, không học từ dữ liệu: chưa phải hệ thống AI. Có cảm biến chưa chắc là có AI.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Dặn dò: phần Vận dụng (tìm ba sản phẩm quanh nhà có một trong bốn công nghệ).</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270839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11.9 · Các công nghệ làm nên một hệ thống AI</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Các công nghệ làm nên một hệ thống AI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11.9 · Chuyên đề 11.4: Bên trong hệ thống AI</a:t>
            </a:r>
            <a:endParaRPr lang="en-US" sz="2400" dirty="0"/>
          </a:p>
          <a:p>
            <a:pPr marL="0" indent="0" algn="l">
              <a:buNone/>
            </a:pPr>
            <a:r>
              <a:rPr lang="en-US" sz="2400" dirty="0">
                <a:solidFill>
                  <a:schemeClr val="accent5"/>
                </a:solidFill>
              </a:rPr>
              <a:t>Giáo dục trí tuệ nhân tạo </a:t>
            </a:r>
            <a:r>
              <a:rPr lang="en-US" sz="2400" dirty="0" err="1">
                <a:solidFill>
                  <a:schemeClr val="accent5"/>
                </a:solidFill>
              </a:rPr>
              <a:t>lớp</a:t>
            </a:r>
            <a:r>
              <a:rPr lang="en-US" sz="2400" dirty="0">
                <a:solidFill>
                  <a:schemeClr val="accent5"/>
                </a:solidFill>
              </a:rPr>
              <a:t> 11</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Mô tả</a:t>
            </a:r>
            <a:r>
              <a:rPr lang="en-US" sz="2800" dirty="0">
                <a:solidFill>
                  <a:schemeClr val="tx1"/>
                </a:solidFill>
              </a:rPr>
              <a:t> bốn công nghệ thường gặp trong sản phẩm AI</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Nêu</a:t>
            </a:r>
            <a:r>
              <a:rPr lang="en-US" sz="2800" dirty="0">
                <a:solidFill>
                  <a:schemeClr val="tx1"/>
                </a:solidFill>
              </a:rPr>
              <a:t> mỗi công nghệ nhận gì, trả ra gì</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“Mổ xẻ”</a:t>
            </a:r>
            <a:r>
              <a:rPr lang="en-US" sz="2800" dirty="0">
                <a:solidFill>
                  <a:schemeClr val="tx1"/>
                </a:solidFill>
              </a:rPr>
              <a:t> một sản phẩm quen thuộc</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Chiếc loa biết trả lời</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15'</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Bốn công nghệ</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20'</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Ghép thẻ, mổ xẻ</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Chiếc loa biết trả lời</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Minh nói: “Loa ơi, ngày mai có mưa không?”</a:t>
            </a:r>
            <a:endParaRPr lang="en-US" sz="2800" dirty="0"/>
          </a:p>
          <a:p>
            <a:pPr marL="0" indent="0">
              <a:buNone/>
            </a:pPr>
            <a:endParaRPr lang="en-US" sz="2800" dirty="0"/>
          </a:p>
          <a:p>
            <a:pPr marL="0" indent="0">
              <a:buNone/>
            </a:pPr>
            <a:r>
              <a:rPr lang="en-US" sz="2800" dirty="0">
                <a:solidFill>
                  <a:schemeClr val="tx1"/>
                </a:solidFill>
              </a:rPr>
              <a:t>Chừng hai giây sau, loa đáp: “Ngày mai trời nhiều mây, chiều có mưa rào. Bạn nhớ mang áo mưa nhé.”</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Trong hai giây ấy, chiếc loa đã phải làm những việc gì?</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Không phải một công nghệ, mà là một dây chuyền</a:t>
            </a:r>
            <a:endParaRPr lang="en-US" sz="3800" dirty="0"/>
          </a:p>
        </p:txBody>
      </p:sp>
      <p:pic>
        <p:nvPicPr>
          <p:cNvPr id="4" name="Image 0" descr="Không phải một công nghệ, mà là một dây chuyền"/>
          <p:cNvPicPr>
            <a:picLocks noChangeAspect="1"/>
          </p:cNvPicPr>
          <p:nvPr/>
        </p:nvPicPr>
        <p:blipFill>
          <a:blip r:embed="rId3"/>
          <a:stretch>
            <a:fillRect/>
          </a:stretch>
        </p:blipFill>
        <p:spPr>
          <a:xfrm>
            <a:off x="1828800" y="1463040"/>
            <a:ext cx="8503920" cy="4663440"/>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Bốn công nghệ cơ bản</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1 · 15 phút · Kẻ bảng bốn công nghệ vào vở</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Cảm biến: “giác quan” của hệ thống</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2956560" cy="397764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Là gì?</a:t>
            </a:r>
            <a:endParaRPr lang="en-US" sz="2600" dirty="0"/>
          </a:p>
          <a:p>
            <a:pPr marL="0" indent="0">
              <a:spcAft>
                <a:spcPts val="800"/>
              </a:spcAft>
              <a:buNone/>
            </a:pPr>
            <a:r>
              <a:rPr lang="en-US" sz="2600" dirty="0">
                <a:solidFill>
                  <a:schemeClr val="tx1"/>
                </a:solidFill>
              </a:rPr>
              <a:t>Thiết bị đo thế giới thực và chuyển thành dữ liệu.</a:t>
            </a:r>
            <a:endParaRPr lang="en-US" sz="2600" dirty="0"/>
          </a:p>
        </p:txBody>
      </p:sp>
      <p:sp>
        <p:nvSpPr>
          <p:cNvPr id="6" name="Shape 3"/>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7" name="Text 4"/>
          <p:cNvSpPr txBox="1"/>
          <p:nvPr/>
        </p:nvSpPr>
        <p:spPr>
          <a:xfrm>
            <a:off x="4602480" y="1783080"/>
            <a:ext cx="2956560" cy="397764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Ví dụ</a:t>
            </a:r>
            <a:endParaRPr lang="en-US" sz="2600" dirty="0"/>
          </a:p>
          <a:p>
            <a:pPr marL="0" indent="0">
              <a:spcAft>
                <a:spcPts val="800"/>
              </a:spcAft>
              <a:buNone/>
            </a:pPr>
            <a:r>
              <a:rPr lang="en-US" sz="2600" dirty="0">
                <a:solidFill>
                  <a:schemeClr val="tx1"/>
                </a:solidFill>
              </a:rPr>
              <a:t>Camera, micro, cảm biến nhiệt, cảm biến khoảng cách.</a:t>
            </a:r>
            <a:endParaRPr lang="en-US" sz="2600" dirty="0"/>
          </a:p>
        </p:txBody>
      </p:sp>
      <p:sp>
        <p:nvSpPr>
          <p:cNvPr id="8" name="Shape 5"/>
          <p:cNvSpPr/>
          <p:nvPr/>
        </p:nvSpPr>
        <p:spPr>
          <a:xfrm>
            <a:off x="8107680" y="1554480"/>
            <a:ext cx="3505200" cy="4389120"/>
          </a:xfrm>
          <a:prstGeom prst="roundRect">
            <a:avLst>
              <a:gd name="adj" fmla="val 3130"/>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382000" y="1783080"/>
            <a:ext cx="2956560" cy="3977640"/>
          </a:xfrm>
          <a:prstGeom prst="rect">
            <a:avLst/>
          </a:prstGeom>
          <a:noFill/>
          <a:ln/>
        </p:spPr>
        <p:txBody>
          <a:bodyPr wrap="square" lIns="0" tIns="0" rIns="0" bIns="0" rtlCol="0" anchor="t"/>
          <a:lstStyle/>
          <a:p>
            <a:pPr marL="0" indent="0">
              <a:spcAft>
                <a:spcPts val="1000"/>
              </a:spcAft>
              <a:buNone/>
            </a:pPr>
            <a:r>
              <a:rPr lang="en-US" sz="2800" b="1" dirty="0">
                <a:solidFill>
                  <a:schemeClr val="accent2"/>
                </a:solidFill>
              </a:rPr>
              <a:t>Dễ nhầm</a:t>
            </a:r>
            <a:endParaRPr lang="en-US" sz="2600" dirty="0"/>
          </a:p>
          <a:p>
            <a:pPr marL="0" indent="0">
              <a:spcAft>
                <a:spcPts val="800"/>
              </a:spcAft>
              <a:buNone/>
            </a:pPr>
            <a:r>
              <a:rPr lang="en-US" sz="2600" dirty="0">
                <a:solidFill>
                  <a:schemeClr val="bg1"/>
                </a:solidFill>
              </a:rPr>
              <a:t>Cảm biến chỉ đo, không hiểu. Tự nó không phải là AI.</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Thị giác máy tính: giúp máy “hiểu” hình ảnh</a:t>
            </a:r>
            <a:endParaRPr lang="en-US" sz="3800" dirty="0"/>
          </a:p>
        </p:txBody>
      </p:sp>
      <p:sp>
        <p:nvSpPr>
          <p:cNvPr id="4" name="Shape 1"/>
          <p:cNvSpPr/>
          <p:nvPr/>
        </p:nvSpPr>
        <p:spPr>
          <a:xfrm>
            <a:off x="54864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Nhận gì?</a:t>
            </a:r>
            <a:endParaRPr lang="en-US" sz="2400" dirty="0"/>
          </a:p>
          <a:p>
            <a:pPr marL="0" indent="0">
              <a:spcAft>
                <a:spcPts val="800"/>
              </a:spcAft>
              <a:buNone/>
            </a:pPr>
            <a:r>
              <a:rPr lang="en-US" sz="2400" dirty="0">
                <a:solidFill>
                  <a:schemeClr val="tx1"/>
                </a:solidFill>
              </a:rPr>
              <a:t>Hình ảnh, video.</a:t>
            </a:r>
            <a:endParaRPr lang="en-US" sz="2400" dirty="0"/>
          </a:p>
        </p:txBody>
      </p:sp>
      <p:sp>
        <p:nvSpPr>
          <p:cNvPr id="6" name="Shape 3"/>
          <p:cNvSpPr/>
          <p:nvPr/>
        </p:nvSpPr>
        <p:spPr>
          <a:xfrm>
            <a:off x="432816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7" name="Text 4"/>
          <p:cNvSpPr txBox="1"/>
          <p:nvPr/>
        </p:nvSpPr>
        <p:spPr>
          <a:xfrm>
            <a:off x="460248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Trả ra gì?</a:t>
            </a:r>
            <a:endParaRPr lang="en-US" sz="2400" dirty="0"/>
          </a:p>
          <a:p>
            <a:pPr marL="0" indent="0">
              <a:spcAft>
                <a:spcPts val="800"/>
              </a:spcAft>
              <a:buNone/>
            </a:pPr>
            <a:r>
              <a:rPr lang="en-US" sz="2400" dirty="0">
                <a:solidFill>
                  <a:schemeClr val="tx1"/>
                </a:solidFill>
              </a:rPr>
              <a:t>Nhãn, vị trí vật thể, chữ trong ảnh.</a:t>
            </a:r>
            <a:endParaRPr lang="en-US" sz="2400" dirty="0"/>
          </a:p>
        </p:txBody>
      </p:sp>
      <p:sp>
        <p:nvSpPr>
          <p:cNvPr id="8" name="Shape 5"/>
          <p:cNvSpPr/>
          <p:nvPr/>
        </p:nvSpPr>
        <p:spPr>
          <a:xfrm>
            <a:off x="810768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Text 6"/>
          <p:cNvSpPr txBox="1"/>
          <p:nvPr/>
        </p:nvSpPr>
        <p:spPr>
          <a:xfrm>
            <a:off x="838200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Ví dụ</a:t>
            </a:r>
            <a:endParaRPr lang="en-US" sz="2400" dirty="0"/>
          </a:p>
          <a:p>
            <a:pPr marL="0" indent="0">
              <a:spcAft>
                <a:spcPts val="800"/>
              </a:spcAft>
              <a:buNone/>
            </a:pPr>
            <a:r>
              <a:rPr lang="en-US" sz="2400" dirty="0">
                <a:solidFill>
                  <a:schemeClr val="tx1"/>
                </a:solidFill>
              </a:rPr>
              <a:t>Đọc biển số xe, nhận diện lá bệnh, mở khóa bằng khuôn mặt.</a:t>
            </a:r>
            <a:endParaRPr lang="en-US" sz="2400" dirty="0"/>
          </a:p>
        </p:txBody>
      </p:sp>
      <p:sp>
        <p:nvSpPr>
          <p:cNvPr id="10" name="Shape 7"/>
          <p:cNvSpPr/>
          <p:nvPr/>
        </p:nvSpPr>
        <p:spPr>
          <a:xfrm>
            <a:off x="548640" y="530352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30352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Máy “nhìn” tốt những gì nó đã được xem nhiều</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Xử lí ngôn ngữ tự nhiên: tiếng nói và chữ viết</a:t>
            </a:r>
            <a:endParaRPr lang="en-US" sz="3800" dirty="0"/>
          </a:p>
        </p:txBody>
      </p:sp>
      <p:sp>
        <p:nvSpPr>
          <p:cNvPr id="4" name="Shape 1"/>
          <p:cNvSpPr/>
          <p:nvPr/>
        </p:nvSpPr>
        <p:spPr>
          <a:xfrm>
            <a:off x="54864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Nhận gì?</a:t>
            </a:r>
            <a:endParaRPr lang="en-US" sz="2400" dirty="0"/>
          </a:p>
          <a:p>
            <a:pPr marL="0" indent="0">
              <a:spcAft>
                <a:spcPts val="800"/>
              </a:spcAft>
              <a:buNone/>
            </a:pPr>
            <a:r>
              <a:rPr lang="en-US" sz="2400" dirty="0">
                <a:solidFill>
                  <a:schemeClr val="tx1"/>
                </a:solidFill>
              </a:rPr>
              <a:t>Chữ viết hoặc tiếng nói của con người.</a:t>
            </a:r>
            <a:endParaRPr lang="en-US" sz="2400" dirty="0"/>
          </a:p>
        </p:txBody>
      </p:sp>
      <p:sp>
        <p:nvSpPr>
          <p:cNvPr id="6" name="Shape 3"/>
          <p:cNvSpPr/>
          <p:nvPr/>
        </p:nvSpPr>
        <p:spPr>
          <a:xfrm>
            <a:off x="432816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7" name="Text 4"/>
          <p:cNvSpPr txBox="1"/>
          <p:nvPr/>
        </p:nvSpPr>
        <p:spPr>
          <a:xfrm>
            <a:off x="460248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Trả ra gì?</a:t>
            </a:r>
            <a:endParaRPr lang="en-US" sz="2400" dirty="0"/>
          </a:p>
          <a:p>
            <a:pPr marL="0" indent="0">
              <a:spcAft>
                <a:spcPts val="800"/>
              </a:spcAft>
              <a:buNone/>
            </a:pPr>
            <a:r>
              <a:rPr lang="en-US" sz="2400" dirty="0">
                <a:solidFill>
                  <a:schemeClr val="tx1"/>
                </a:solidFill>
              </a:rPr>
              <a:t>Chữ, ý định, bản dịch, bản tóm tắt, tiếng nói.</a:t>
            </a:r>
            <a:endParaRPr lang="en-US" sz="2400" dirty="0"/>
          </a:p>
        </p:txBody>
      </p:sp>
      <p:sp>
        <p:nvSpPr>
          <p:cNvPr id="8" name="Shape 5"/>
          <p:cNvSpPr/>
          <p:nvPr/>
        </p:nvSpPr>
        <p:spPr>
          <a:xfrm>
            <a:off x="810768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Text 6"/>
          <p:cNvSpPr txBox="1"/>
          <p:nvPr/>
        </p:nvSpPr>
        <p:spPr>
          <a:xfrm>
            <a:off x="838200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Ví dụ</a:t>
            </a:r>
            <a:endParaRPr lang="en-US" sz="2400" dirty="0"/>
          </a:p>
          <a:p>
            <a:pPr marL="0" indent="0">
              <a:spcAft>
                <a:spcPts val="800"/>
              </a:spcAft>
              <a:buNone/>
            </a:pPr>
            <a:r>
              <a:rPr lang="en-US" sz="2400" dirty="0">
                <a:solidFill>
                  <a:schemeClr val="tx1"/>
                </a:solidFill>
              </a:rPr>
              <a:t>Nhập tin nhắn bằng giọng nói, dịch máy, lọc thư rác.</a:t>
            </a:r>
            <a:endParaRPr lang="en-US" sz="2400" dirty="0"/>
          </a:p>
        </p:txBody>
      </p:sp>
      <p:sp>
        <p:nvSpPr>
          <p:cNvPr id="10" name="Shape 7"/>
          <p:cNvSpPr/>
          <p:nvPr/>
        </p:nvSpPr>
        <p:spPr>
          <a:xfrm>
            <a:off x="548640" y="530352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30352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“Ông già đi nhanh quá”: máy cũng phải dựa vào ngữ cảnh</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Chatbot: nơi người dùng trò chuyện với hệ thống</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Theo kịch bản</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tx1"/>
                </a:solidFill>
              </a:rPr>
              <a:t>Dò từ khóa, chọn câu soạn sẵn</a:t>
            </a:r>
            <a:endParaRPr lang="en-US" sz="2400" dirty="0"/>
          </a:p>
          <a:p>
            <a:pPr marL="342900" indent="-342900">
              <a:spcAft>
                <a:spcPts val="1000"/>
              </a:spcAft>
              <a:buSzPct val="100000"/>
              <a:buChar char="•"/>
            </a:pPr>
            <a:r>
              <a:rPr lang="en-US" sz="2400" dirty="0">
                <a:solidFill>
                  <a:schemeClr val="tx1"/>
                </a:solidFill>
              </a:rPr>
              <a:t>Nhất quán, dễ kiểm soát</a:t>
            </a:r>
            <a:endParaRPr lang="en-US" sz="2400" dirty="0"/>
          </a:p>
          <a:p>
            <a:pPr marL="342900" indent="-342900">
              <a:spcAft>
                <a:spcPts val="1000"/>
              </a:spcAft>
              <a:buSzPct val="100000"/>
              <a:buChar char="•"/>
            </a:pPr>
            <a:r>
              <a:rPr lang="en-US" sz="2400" dirty="0">
                <a:solidFill>
                  <a:schemeClr val="tx1"/>
                </a:solidFill>
              </a:rPr>
              <a:t>Hỏi khác kịch bản là “không hiểu”</a:t>
            </a:r>
            <a:endParaRPr lang="en-US" sz="24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Dùng mô hình ngôn ngữ</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bg1"/>
                </a:solidFill>
              </a:rPr>
              <a:t>Tạo ra câu trả lời mới</a:t>
            </a:r>
            <a:endParaRPr lang="en-US" sz="2400" dirty="0"/>
          </a:p>
          <a:p>
            <a:pPr marL="342900" indent="-342900">
              <a:spcAft>
                <a:spcPts val="1000"/>
              </a:spcAft>
              <a:buSzPct val="100000"/>
              <a:buChar char="•"/>
            </a:pPr>
            <a:r>
              <a:rPr lang="en-US" sz="2400" dirty="0">
                <a:solidFill>
                  <a:schemeClr val="bg1"/>
                </a:solidFill>
              </a:rPr>
              <a:t>Linh hoạt, hiểu nhiều cách hỏi</a:t>
            </a:r>
            <a:endParaRPr lang="en-US" sz="2400" dirty="0"/>
          </a:p>
          <a:p>
            <a:pPr marL="342900" indent="-342900">
              <a:spcAft>
                <a:spcPts val="1000"/>
              </a:spcAft>
              <a:buSzPct val="100000"/>
              <a:buChar char="•"/>
            </a:pPr>
            <a:r>
              <a:rPr lang="en-US" sz="2400" dirty="0">
                <a:solidFill>
                  <a:schemeClr val="bg1"/>
                </a:solidFill>
              </a:rPr>
              <a:t>Có thể sai một cách tự tin</a:t>
            </a:r>
            <a:endParaRPr lang="en-US" sz="24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400" b="1" dirty="0">
                <a:solidFill>
                  <a:schemeClr val="tx1"/>
                </a:solidFill>
              </a:rPr>
              <a:t>Xử lí ngôn ngữ tự nhiên là công nghệ; chatbot là sản phẩm dùng nó</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Ghép thẻ và “mổ xẻ” một sản phẩm</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20 phút · Làm việc nhóm</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1: ghép 12 thẻ ví dụ</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8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Ghép mỗi thẻ ví dụ với công nghệ chính của nó</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Đọc từng thẻ</a:t>
            </a:r>
            <a:endParaRPr lang="en-US" sz="2800" dirty="0"/>
          </a:p>
          <a:p>
            <a:pPr marL="342900" indent="-342900">
              <a:spcAft>
                <a:spcPts val="1200"/>
              </a:spcAft>
              <a:buSzPct val="100000"/>
              <a:buFont typeface="+mj-lt"/>
              <a:buAutoNum type="arabicPeriod"/>
            </a:pPr>
            <a:r>
              <a:rPr lang="en-US" sz="2800" dirty="0">
                <a:solidFill>
                  <a:schemeClr val="tx1"/>
                </a:solidFill>
              </a:rPr>
              <a:t>Xếp vào: cảm biến, thị giác máy tính, xử lí ngôn ngữ, chatbot</a:t>
            </a:r>
            <a:endParaRPr lang="en-US" sz="2800" dirty="0"/>
          </a:p>
          <a:p>
            <a:pPr marL="342900" indent="-342900">
              <a:spcAft>
                <a:spcPts val="1200"/>
              </a:spcAft>
              <a:buSzPct val="100000"/>
              <a:buFont typeface="+mj-lt"/>
              <a:buAutoNum type="arabicPeriod"/>
            </a:pPr>
            <a:r>
              <a:rPr lang="en-US" sz="2800" dirty="0">
                <a:solidFill>
                  <a:schemeClr val="tx1"/>
                </a:solidFill>
              </a:rPr>
              <a:t>Đánh dấu thẻ dùng hai công nghệ</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Ví dụ</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Chụp thực đơn tiếng Nhật và hiện bản dịch: thị giác máy tính và xử lí ngôn ngữ.</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Bốn câu hỏi để “mổ xẻ” một sản phẩm</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Nó </a:t>
            </a:r>
            <a:r>
              <a:rPr lang="en-US" sz="3200" b="1" dirty="0">
                <a:solidFill>
                  <a:schemeClr val="tx2"/>
                </a:solidFill>
              </a:rPr>
              <a:t>biết về thế giới</a:t>
            </a:r>
            <a:r>
              <a:rPr lang="en-US" sz="3200" dirty="0">
                <a:solidFill>
                  <a:schemeClr val="tx1"/>
                </a:solidFill>
              </a:rPr>
              <a:t> nhờ đâu?</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Nó </a:t>
            </a:r>
            <a:r>
              <a:rPr lang="en-US" sz="3200" b="1" dirty="0">
                <a:solidFill>
                  <a:schemeClr val="tx2"/>
                </a:solidFill>
              </a:rPr>
              <a:t>hiểu</a:t>
            </a:r>
            <a:r>
              <a:rPr lang="en-US" sz="3200" dirty="0">
                <a:solidFill>
                  <a:schemeClr val="tx1"/>
                </a:solidFill>
              </a:rPr>
              <a:t> điều thu được bằng gì?</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Nó </a:t>
            </a:r>
            <a:r>
              <a:rPr lang="en-US" sz="3200" b="1" dirty="0">
                <a:solidFill>
                  <a:schemeClr val="tx2"/>
                </a:solidFill>
              </a:rPr>
              <a:t>trả lời</a:t>
            </a:r>
            <a:r>
              <a:rPr lang="en-US" sz="3200" dirty="0">
                <a:solidFill>
                  <a:schemeClr val="tx1"/>
                </a:solidFill>
              </a:rPr>
              <a:t> người dùng qua đâu?</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Nó </a:t>
            </a:r>
            <a:r>
              <a:rPr lang="en-US" sz="3200" b="1" dirty="0">
                <a:solidFill>
                  <a:schemeClr val="tx2"/>
                </a:solidFill>
              </a:rPr>
              <a:t>thu dữ liệu gì</a:t>
            </a:r>
            <a:r>
              <a:rPr lang="en-US" sz="3200" dirty="0">
                <a:solidFill>
                  <a:schemeClr val="tx1"/>
                </a:solidFill>
              </a:rPr>
              <a:t>? Một khâu hỏng thì sao?</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2: mổ xẻ sản phẩm của nhóm</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12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Mỗi nhóm nhận một thẻ sản phẩm</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Trả lời bốn câu hỏi trên Phiếu mổ xẻ</a:t>
            </a:r>
            <a:endParaRPr lang="en-US" sz="2800" dirty="0"/>
          </a:p>
          <a:p>
            <a:pPr marL="342900" indent="-342900">
              <a:spcAft>
                <a:spcPts val="1200"/>
              </a:spcAft>
              <a:buSzPct val="100000"/>
              <a:buFont typeface="+mj-lt"/>
              <a:buAutoNum type="arabicPeriod"/>
            </a:pPr>
            <a:r>
              <a:rPr lang="en-US" sz="2800" dirty="0">
                <a:solidFill>
                  <a:schemeClr val="tx1"/>
                </a:solidFill>
              </a:rPr>
              <a:t>Vẽ sơ đồ dòng xử lí của sản phẩm</a:t>
            </a:r>
            <a:endParaRPr lang="en-US" sz="2800" dirty="0"/>
          </a:p>
          <a:p>
            <a:pPr marL="342900" indent="-342900">
              <a:spcAft>
                <a:spcPts val="1200"/>
              </a:spcAft>
              <a:buSzPct val="100000"/>
              <a:buFont typeface="+mj-lt"/>
              <a:buAutoNum type="arabicPeriod"/>
            </a:pPr>
            <a:r>
              <a:rPr lang="en-US" sz="2800" dirty="0">
                <a:solidFill>
                  <a:schemeClr val="tx1"/>
                </a:solidFill>
              </a:rPr>
              <a:t>Nếu một công nghệ hỏng thì sản phẩm ra sao?</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Điều cần nhớ</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Lỗi ở khâu trước truyền sang khâu sau. Khi AI trả lời sai, hãy hỏi: sai từ khâu nào?</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Thử thách: cửa tự động</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Cửa siêu thị tự mở khi có người đến gần và tự đóng sau vài giây.</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Có công nghệ nào trong bốn công nghệ vừa học? Đây đã phải là hệ thống AI chưa?</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Sản phẩm AI là </a:t>
            </a:r>
            <a:r>
              <a:rPr lang="en-US" sz="3200" b="1" dirty="0">
                <a:solidFill>
                  <a:schemeClr val="tx2"/>
                </a:solidFill>
              </a:rPr>
              <a:t>nhiều công nghệ ghép thành dây chuyền</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Cảm biến</a:t>
            </a:r>
            <a:r>
              <a:rPr lang="en-US" sz="3200" dirty="0">
                <a:solidFill>
                  <a:schemeClr val="tx1"/>
                </a:solidFill>
              </a:rPr>
              <a:t> đo; tự nó không phải AI</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Thị giác máy tính</a:t>
            </a:r>
            <a:r>
              <a:rPr lang="en-US" sz="3200" dirty="0">
                <a:solidFill>
                  <a:schemeClr val="tx1"/>
                </a:solidFill>
              </a:rPr>
              <a:t> hiểu ảnh; </a:t>
            </a:r>
            <a:r>
              <a:rPr lang="en-US" sz="3200" b="1" dirty="0">
                <a:solidFill>
                  <a:schemeClr val="tx2"/>
                </a:solidFill>
              </a:rPr>
              <a:t>xử lí ngôn ngữ</a:t>
            </a:r>
            <a:r>
              <a:rPr lang="en-US" sz="3200" dirty="0">
                <a:solidFill>
                  <a:schemeClr val="tx1"/>
                </a:solidFill>
              </a:rPr>
              <a:t> hiểu chữ và tiếng nói</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Chatbot</a:t>
            </a:r>
            <a:r>
              <a:rPr lang="en-US" sz="3200" dirty="0">
                <a:solidFill>
                  <a:schemeClr val="tx1"/>
                </a:solidFill>
              </a:rPr>
              <a:t> là sản phẩm, bên trong dùng xử lí ngôn ngữ</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600" dirty="0">
                <a:solidFill>
                  <a:schemeClr val="tx1"/>
                </a:solidFill>
              </a:rPr>
              <a:t>Hoàn thành bảng trên phiếu: với mỗi công nghệ, ghi nhận gì, trả ra gì và một ví dụ.</a:t>
            </a:r>
            <a:endParaRPr lang="en-US" sz="26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600" dirty="0">
                <a:solidFill>
                  <a:schemeClr val="tx1"/>
                </a:solidFill>
              </a:rPr>
              <a:t>Chatbot và xử lí ngôn ngữ tự nhiên khác nhau thế nào? Trả lời trong một đến hai câu.</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40" name="Picture 39">
            <a:extLst>
              <a:ext uri="{FF2B5EF4-FFF2-40B4-BE49-F238E27FC236}">
                <a16:creationId xmlns:a16="http://schemas.microsoft.com/office/drawing/2014/main" id="{89A7351B-B717-C7D6-1B54-81AA1B57E5E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2322551144"/>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1408</Words>
  <Application>Microsoft Office PowerPoint</Application>
  <PresentationFormat>Widescreen</PresentationFormat>
  <Paragraphs>155</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Các công nghệ làm nên một hệ thống AI</vt:lpstr>
      <vt:lpstr>Hôm nay chúng ta làm gì?</vt:lpstr>
      <vt:lpstr>Chiếc loa biết trả lời</vt:lpstr>
      <vt:lpstr>Không phải một công nghệ, mà là một dây chuyền</vt:lpstr>
      <vt:lpstr>Bốn công nghệ cơ bản</vt:lpstr>
      <vt:lpstr>Cảm biến: “giác quan” của hệ thống</vt:lpstr>
      <vt:lpstr>Thị giác máy tính: giúp máy “hiểu” hình ảnh</vt:lpstr>
      <vt:lpstr>Xử lí ngôn ngữ tự nhiên: tiếng nói và chữ viết</vt:lpstr>
      <vt:lpstr>Chatbot: nơi người dùng trò chuyện với hệ thống</vt:lpstr>
      <vt:lpstr>Ghép thẻ và “mổ xẻ” một sản phẩm</vt:lpstr>
      <vt:lpstr>Nhiệm vụ 1: ghép 12 thẻ ví dụ</vt:lpstr>
      <vt:lpstr>Bốn câu hỏi để “mổ xẻ” một sản phẩm</vt:lpstr>
      <vt:lpstr>Nhiệm vụ 2: mổ xẻ sản phẩm của nhóm</vt:lpstr>
      <vt:lpstr>Thử thách: cửa tự động</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11.9. Các công nghệ làm nên một hệ thống AI</dc:title>
  <dc:subject>Trí tuệ nhân tạo</dc:subject>
  <cp:lastModifiedBy>Phạm Văn Tú</cp:lastModifiedBy>
  <cp:revision>1</cp:revision>
  <dcterms:created xsi:type="dcterms:W3CDTF">2026-10-08T11:06:02Z</dcterms:created>
  <dcterms:modified xsi:type="dcterms:W3CDTF">2026-10-10T03:37:52Z</dcterms:modified>
  <dc:description>Email: phamtund@gmail.com</dc:description>
  <dc:creator>Phạm Văn Tú</dc:creator>
  <cp:category>Trí tuệ nhân tạo</cp:category>
  <cp:keywords>Trí tuệ nhân tạo</cp:keywords>
</cp:coreProperties>
</file>