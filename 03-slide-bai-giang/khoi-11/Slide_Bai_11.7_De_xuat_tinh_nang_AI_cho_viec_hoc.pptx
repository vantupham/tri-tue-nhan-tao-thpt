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F294C0D-F36D-2661-F65D-96B324B25955}">
          <p14:sldIdLst>
            <p14:sldId id="256"/>
            <p14:sldId id="257"/>
            <p14:sldId id="258"/>
            <p14:sldId id="259"/>
            <p14:sldId id="260"/>
            <p14:sldId id="261"/>
            <p14:sldId id="262"/>
            <p14:sldId id="263"/>
          </p14:sldIdLst>
        </p14:section>
        <p14:section name="Viết đề xuất và phiên chợ ý tưởng" id="{B2532B14-26E7-6394-4C1C-435320146A21}">
          <p14:sldIdLst>
            <p14:sldId id="264"/>
            <p14:sldId id="265"/>
            <p14:sldId id="266"/>
            <p14:sldId id="267"/>
            <p14:sldId id="268"/>
            <p14:sldId id="269"/>
          </p14:sldIdLst>
        </p14:section>
        <p14:section name="Tổng kết" id="{2F4CBDFF-A5B4-41F5-72BF-DC2EA6B40AF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52B72B-40B7-4C39-8B8D-1E908E81547C}" v="1" dt="2026-10-10T03:36:41.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6:41.841" v="3"/>
      <pc:docMkLst>
        <pc:docMk/>
      </pc:docMkLst>
      <pc:sldChg chg="modSp mod">
        <pc:chgData name="Phạm Văn Tú" userId="67199c852bdd6d1b" providerId="LiveId" clId="{CB377567-0116-4044-BB7C-6E46B7A5C596}" dt="2026-10-10T03:36:28.010" v="2" actId="20577"/>
        <pc:sldMkLst>
          <pc:docMk/>
          <pc:sldMk cId="0" sldId="256"/>
        </pc:sldMkLst>
        <pc:spChg chg="mod">
          <ac:chgData name="Phạm Văn Tú" userId="67199c852bdd6d1b" providerId="LiveId" clId="{CB377567-0116-4044-BB7C-6E46B7A5C596}" dt="2026-10-10T03:36:28.010" v="2" actId="20577"/>
          <ac:spMkLst>
            <pc:docMk/>
            <pc:sldMk cId="0" sldId="256"/>
            <ac:spMk id="3" creationId="{00000000-0000-0000-0000-000000000000}"/>
          </ac:spMkLst>
        </pc:spChg>
      </pc:sldChg>
      <pc:sldChg chg="add">
        <pc:chgData name="Phạm Văn Tú" userId="67199c852bdd6d1b" providerId="LiveId" clId="{CB377567-0116-4044-BB7C-6E46B7A5C596}" dt="2026-10-10T03:36:41.841" v="3"/>
        <pc:sldMkLst>
          <pc:docMk/>
          <pc:sldMk cId="3377964896"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311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giấy nhớ cho 'bức tường khó khăn', mẫu đề xuất sáu phần (mỗi nhóm một tờ A3), phiếu bình chọn,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học sinh đổi vai: từ người dùng sang người đề xuất. Không cần biết lập trình.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Mỗi học sinh một giấy nhớ, dán lên bảng. Giáo viên gom thành nhóm theo năm khâu của việc học (Bài 11.6). Ví dụ: học Sử xong tưởng thuộc, đến kiểm tra mới biết quên; sắp thuyết trình mà không ai nghe thử.</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(10 phút). Ví dụ phát biểu rõ: 'Học sinh lớp 11 học xong một bài Sử không biết mình đã nhớ đến đâu (khâu tự đánh giá), vì không có ai hỏi lại.' Dễ nhầm: 'không có thời gian học' là chuyện sắp xếp thời gian, không phải việc của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Dành cho học sinh sắp thuyết trình mà không có ai nghe thử, tính năng 'Người nghe khó tính' sẽ nhận bản ghi âm phần nói thử và dàn ý, rồi đặt ba câu hỏi người nghe có thể hỏi và chỉ ra đoạn nói quá nhanh, giúp em tự sửa bài nói.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tâm là ba thứ: đầu vào, việc AI làm, đầu ra. Hai dải phía dưới là thứ dễ bị quên: phần người học tự làm, và rủi 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cấu trúc sáu phần. Bỏ phần 4: tính năng dễ trượt thành làm thay. Bỏ phần 5: người dùng gánh rủi ro mà không biết. Phần 6: bạn thiếu điều kiện có dùng được không.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nhanh với ba ý tưởng: 'AI viết bài văn hộ' (trượt tiêu chí 2); 'AI đọc suy nghĩ' (trượt tiêu chí 3, không có đầu vào như vậy); 'AI theo dõi camera suốt giờ tự học' (vướng tiêu chí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Phát mẫu đề xuất A3.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Giáo viên hỏi nhóm đề xuất tính năng làm thay theo tiêu chí 2, yêu cầu sửa thành tính năng hỗ trợ một khâu của việc học.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phút: các nhóm treo sản phẩm; mỗi nhóm cử một bạn ở lại trình bày 2 phút, các bạn khác đi xem và để lại góp ý, bình chọn. 'Hay đấy' hoặc 'không khả thi đâu' đều không giúp được gì. Sau phiên chợ: mỗi nhóm sửa ít nhất một điểm.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trong lúc phiên chợ diễn 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trước phiên chợ ý tưởng để các nhóm góp ý cho nhau.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nhóm bổ sung một dòng vào bản đề xuất. Nối với Bài 11.3 và 11.5.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Thu sản phẩm lưu hồ sơ; gợi ý các nhóm phát triển tiếp ở Câu lạc bộ 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(hỏi ý kiến một bạn khối khác và một người lớn về đề xuất).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500176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11.7 · Đề xuất tính năng AI cho việc học của em</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Đề xuất tính năng AI cho việc học của em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11.7 · Chuyên đề 11.3: AI trong học tập và kĩ thuật prompt nâng cao</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Phát biểu</a:t>
            </a:r>
            <a:r>
              <a:rPr lang="en-US" sz="2800" dirty="0">
                <a:solidFill>
                  <a:schemeClr val="tx1"/>
                </a:solidFill>
              </a:rPr>
              <a:t> rõ một khó khăn có thật trong việc học</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Viết</a:t>
            </a:r>
            <a:r>
              <a:rPr lang="en-US" sz="2800" dirty="0">
                <a:solidFill>
                  <a:schemeClr val="tx1"/>
                </a:solidFill>
              </a:rPr>
              <a:t> câu đề xuất và đề xuất sáu phần</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Góp ý</a:t>
            </a:r>
            <a:r>
              <a:rPr lang="en-US" sz="2800" dirty="0">
                <a:solidFill>
                  <a:schemeClr val="tx1"/>
                </a:solidFill>
              </a:rPr>
              <a:t> cho nhóm bạn theo bốn tiêu chí</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Bức tường khó khăn</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10'</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Đề xuất gồm những gì?</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25'</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Viết đề xuất, phiên chợ</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Bức tường khó khăn</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Viết tiếp vào giấy nhớ, càng cụ thể càng tốt:</a:t>
            </a:r>
            <a:endParaRPr lang="en-US" sz="2800" dirty="0"/>
          </a:p>
          <a:p>
            <a:pPr marL="0" indent="0">
              <a:buNone/>
            </a:pPr>
            <a:endParaRPr lang="en-US" sz="2800" dirty="0"/>
          </a:p>
          <a:p>
            <a:pPr marL="0" indent="0">
              <a:buNone/>
            </a:pPr>
            <a:r>
              <a:rPr lang="en-US" sz="2800" dirty="0">
                <a:solidFill>
                  <a:schemeClr val="tx1"/>
                </a:solidFill>
              </a:rPr>
              <a:t>“Khi học môn ..., em thường bị kẹt ở chỗ ...”</a:t>
            </a:r>
            <a:endParaRPr lang="en-US" sz="2800" dirty="0"/>
          </a:p>
          <a:p>
            <a:pPr marL="0" indent="0">
              <a:buNone/>
            </a:pPr>
            <a:endParaRPr lang="en-US" sz="2800" dirty="0"/>
          </a:p>
          <a:p>
            <a:pPr marL="0" indent="0">
              <a:buNone/>
            </a:pPr>
            <a:r>
              <a:rPr lang="en-US" sz="2800" dirty="0">
                <a:solidFill>
                  <a:schemeClr val="tx1"/>
                </a:solidFill>
              </a:rPr>
              <a:t>Dán lên bảng.</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Khó khăn nào AI có thể giúp? Khó khăn nào AI không phải là lời giải?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Bắt đầu từ khó khăn, đừng bắt đầu từ công nghệ</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Phát biểu mơ hồ</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“Học Sử khó nhớ.”</a:t>
            </a:r>
            <a:endParaRPr lang="en-US" sz="2800" dirty="0"/>
          </a:p>
          <a:p>
            <a:pPr marL="342900" indent="-342900">
              <a:spcAft>
                <a:spcPts val="1000"/>
              </a:spcAft>
              <a:buSzPct val="100000"/>
              <a:buChar char="•"/>
            </a:pPr>
            <a:r>
              <a:rPr lang="en-US" sz="2800" dirty="0">
                <a:solidFill>
                  <a:schemeClr val="tx1"/>
                </a:solidFill>
              </a:rPr>
              <a:t>“Em nói tiếng Anh kém.”</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Phát biểu rõ</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Ai gặp?</a:t>
            </a:r>
            <a:endParaRPr lang="en-US" sz="2400" dirty="0"/>
          </a:p>
          <a:p>
            <a:pPr marL="342900" indent="-342900">
              <a:spcAft>
                <a:spcPts val="1000"/>
              </a:spcAft>
              <a:buSzPct val="100000"/>
              <a:buChar char="•"/>
            </a:pPr>
            <a:r>
              <a:rPr lang="en-US" sz="2400" dirty="0">
                <a:solidFill>
                  <a:schemeClr val="bg1"/>
                </a:solidFill>
              </a:rPr>
              <a:t>Ở khâu nào của việc học?</a:t>
            </a:r>
            <a:endParaRPr lang="en-US" sz="2400" dirty="0"/>
          </a:p>
          <a:p>
            <a:pPr marL="342900" indent="-342900">
              <a:spcAft>
                <a:spcPts val="1000"/>
              </a:spcAft>
              <a:buSzPct val="100000"/>
              <a:buChar char="•"/>
            </a:pPr>
            <a:r>
              <a:rPr lang="en-US" sz="2400" dirty="0">
                <a:solidFill>
                  <a:schemeClr val="bg1"/>
                </a:solidFill>
              </a:rPr>
              <a:t>Vì sao cách hiện tại chưa giúp được?</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Không phải khó khăn nào cũng nên giải quyết bằng AI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câu đề xuất</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“Dành cho [ai] đang gặp [khó khăn gì],</a:t>
            </a:r>
            <a:endParaRPr lang="en-US" sz="2800" dirty="0"/>
          </a:p>
          <a:p>
            <a:pPr marL="0" indent="0">
              <a:buNone/>
            </a:pPr>
            <a:endParaRPr lang="en-US" sz="2800" dirty="0"/>
          </a:p>
          <a:p>
            <a:pPr marL="0" indent="0">
              <a:buNone/>
            </a:pPr>
            <a:r>
              <a:rPr lang="en-US" sz="2800" dirty="0">
                <a:solidFill>
                  <a:schemeClr val="tx1"/>
                </a:solidFill>
              </a:rPr>
              <a:t>tính năng [tên] sẽ nhận [đầu vào] và [làm gì, trả ra gì],</a:t>
            </a:r>
            <a:endParaRPr lang="en-US" sz="2800" dirty="0"/>
          </a:p>
          <a:p>
            <a:pPr marL="0" indent="0">
              <a:buNone/>
            </a:pPr>
            <a:endParaRPr lang="en-US" sz="2800" dirty="0"/>
          </a:p>
          <a:p>
            <a:pPr marL="0" indent="0">
              <a:buNone/>
            </a:pPr>
            <a:r>
              <a:rPr lang="en-US" sz="2800" dirty="0">
                <a:solidFill>
                  <a:schemeClr val="tx1"/>
                </a:solidFill>
              </a:rPr>
              <a:t>giúp [lợi ích cho việc học].”</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Viết không nổi một câu này nghĩa là ý tưởng chưa chín</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Khung của một tính năng: “Người nghe khó tính”</a:t>
            </a:r>
            <a:endParaRPr lang="en-US" sz="3800" dirty="0"/>
          </a:p>
        </p:txBody>
      </p:sp>
      <p:pic>
        <p:nvPicPr>
          <p:cNvPr id="4" name="Image 0" descr="Khung của một tính năng: “Người nghe khó tính”"/>
          <p:cNvPicPr>
            <a:picLocks noChangeAspect="1"/>
          </p:cNvPicPr>
          <p:nvPr/>
        </p:nvPicPr>
        <p:blipFill>
          <a:blip r:embed="rId3"/>
          <a:stretch>
            <a:fillRect/>
          </a:stretch>
        </p:blipFill>
        <p:spPr>
          <a:xfrm>
            <a:off x="1491343" y="1463040"/>
            <a:ext cx="9178834"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đề xuất gồm sáu phần</a:t>
            </a:r>
            <a:endParaRPr lang="en-US" sz="3800" dirty="0"/>
          </a:p>
        </p:txBody>
      </p:sp>
      <p:sp>
        <p:nvSpPr>
          <p:cNvPr id="4" name="Shape 1"/>
          <p:cNvSpPr/>
          <p:nvPr/>
        </p:nvSpPr>
        <p:spPr>
          <a:xfrm>
            <a:off x="548640" y="155448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72974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72974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Người dùng và khó khăn</a:t>
            </a:r>
            <a:endParaRPr lang="en-US" sz="2600" dirty="0"/>
          </a:p>
        </p:txBody>
      </p:sp>
      <p:sp>
        <p:nvSpPr>
          <p:cNvPr id="8" name="Shape 5"/>
          <p:cNvSpPr/>
          <p:nvPr/>
        </p:nvSpPr>
        <p:spPr>
          <a:xfrm>
            <a:off x="6195060" y="155448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72974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72974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Tính năng: nhận gì, làm gì, trả ra gì</a:t>
            </a:r>
            <a:endParaRPr lang="en-US" sz="2600" dirty="0"/>
          </a:p>
        </p:txBody>
      </p:sp>
      <p:sp>
        <p:nvSpPr>
          <p:cNvPr id="12" name="Shape 9"/>
          <p:cNvSpPr/>
          <p:nvPr/>
        </p:nvSpPr>
        <p:spPr>
          <a:xfrm>
            <a:off x="548640" y="272796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29032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29032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280111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Lợi ích</a:t>
            </a:r>
            <a:endParaRPr lang="en-US" sz="2600" dirty="0"/>
          </a:p>
        </p:txBody>
      </p:sp>
      <p:sp>
        <p:nvSpPr>
          <p:cNvPr id="16" name="Shape 13"/>
          <p:cNvSpPr/>
          <p:nvPr/>
        </p:nvSpPr>
        <p:spPr>
          <a:xfrm>
            <a:off x="6195060" y="272796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29032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29032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280111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Phần người học tự làm</a:t>
            </a:r>
            <a:endParaRPr lang="en-US" sz="2600" dirty="0"/>
          </a:p>
        </p:txBody>
      </p:sp>
      <p:sp>
        <p:nvSpPr>
          <p:cNvPr id="20" name="Shape 17"/>
          <p:cNvSpPr/>
          <p:nvPr/>
        </p:nvSpPr>
        <p:spPr>
          <a:xfrm>
            <a:off x="548640" y="390144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0767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0767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397459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Rủi ro và cách kiểm soát</a:t>
            </a:r>
            <a:endParaRPr lang="en-US" sz="2600" dirty="0"/>
          </a:p>
        </p:txBody>
      </p:sp>
      <p:sp>
        <p:nvSpPr>
          <p:cNvPr id="24" name="Shape 21"/>
          <p:cNvSpPr/>
          <p:nvPr/>
        </p:nvSpPr>
        <p:spPr>
          <a:xfrm>
            <a:off x="6195060" y="390144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0767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0767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397459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Điều kiện sử dụng</a:t>
            </a:r>
            <a:endParaRPr lang="en-US" sz="2600" dirty="0"/>
          </a:p>
        </p:txBody>
      </p:sp>
      <p:sp>
        <p:nvSpPr>
          <p:cNvPr id="28" name="Shape 25"/>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9" name="Text 26"/>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Phần 4 và 5 hay bị bỏ nhất, và quan trọng nhất</a:t>
            </a:r>
            <a:endParaRPr lang="en-US" sz="28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tiêu chí của một đề xuất tốt</a:t>
            </a:r>
            <a:endParaRPr lang="en-US" sz="3800" dirty="0"/>
          </a:p>
        </p:txBody>
      </p:sp>
      <p:sp>
        <p:nvSpPr>
          <p:cNvPr id="4" name="Shape 1"/>
          <p:cNvSpPr/>
          <p:nvPr/>
        </p:nvSpPr>
        <p:spPr>
          <a:xfrm>
            <a:off x="54864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Giải quyết khó khăn có thật</a:t>
            </a:r>
            <a:endParaRPr lang="en-US" sz="2800" dirty="0"/>
          </a:p>
        </p:txBody>
      </p:sp>
      <p:sp>
        <p:nvSpPr>
          <p:cNvPr id="8" name="Shape 5"/>
          <p:cNvSpPr/>
          <p:nvPr/>
        </p:nvSpPr>
        <p:spPr>
          <a:xfrm>
            <a:off x="619506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Để học, không làm thay</a:t>
            </a:r>
            <a:endParaRPr lang="en-US" sz="2800" dirty="0"/>
          </a:p>
        </p:txBody>
      </p:sp>
      <p:sp>
        <p:nvSpPr>
          <p:cNvPr id="12" name="Shape 9"/>
          <p:cNvSpPr/>
          <p:nvPr/>
        </p:nvSpPr>
        <p:spPr>
          <a:xfrm>
            <a:off x="54864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93649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Khả thi: có đầu vào, AI làm được</a:t>
            </a:r>
            <a:endParaRPr lang="en-US" sz="2800" dirty="0"/>
          </a:p>
        </p:txBody>
      </p:sp>
      <p:sp>
        <p:nvSpPr>
          <p:cNvPr id="16" name="Shape 13"/>
          <p:cNvSpPr/>
          <p:nvPr/>
        </p:nvSpPr>
        <p:spPr>
          <a:xfrm>
            <a:off x="619506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93649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An toàn và công bằng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Viết đề xuất và phiên chợ ý tưởng</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25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từ một câu đến sáu phần</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Chọn một khó khăn trên bức tường và viết đề xuất</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Viết câu đề xuất</a:t>
            </a:r>
            <a:endParaRPr lang="en-US" sz="2800" dirty="0"/>
          </a:p>
          <a:p>
            <a:pPr marL="342900" indent="-342900">
              <a:spcAft>
                <a:spcPts val="1200"/>
              </a:spcAft>
              <a:buSzPct val="100000"/>
              <a:buFont typeface="+mj-lt"/>
              <a:buAutoNum type="arabicPeriod"/>
            </a:pPr>
            <a:r>
              <a:rPr lang="en-US" sz="2800" dirty="0">
                <a:solidFill>
                  <a:schemeClr val="tx1"/>
                </a:solidFill>
              </a:rPr>
              <a:t>Mở thành sáu phần trên giấy A3</a:t>
            </a:r>
            <a:endParaRPr lang="en-US" sz="2800" dirty="0"/>
          </a:p>
          <a:p>
            <a:pPr marL="342900" indent="-342900">
              <a:spcAft>
                <a:spcPts val="1200"/>
              </a:spcAft>
              <a:buSzPct val="100000"/>
              <a:buFont typeface="+mj-lt"/>
              <a:buAutoNum type="arabicPeriod"/>
            </a:pPr>
            <a:r>
              <a:rPr lang="en-US" sz="2800" dirty="0">
                <a:solidFill>
                  <a:schemeClr val="tx1"/>
                </a:solidFill>
              </a:rPr>
              <a:t>Tự chấm theo bốn tiêu chí trước khi trưng bày</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Nhớ</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Nếu nhóm dùng AI để rà đề xuất: ý tưởng là của nhóm, và ghi rõ đã dùng AI vào việc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Phiên chợ ý tưởng: góp ý ba câu</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Một khen</a:t>
            </a:r>
            <a:endParaRPr lang="en-US" sz="2400" dirty="0"/>
          </a:p>
          <a:p>
            <a:pPr marL="0" indent="0">
              <a:spcAft>
                <a:spcPts val="800"/>
              </a:spcAft>
              <a:buNone/>
            </a:pPr>
            <a:r>
              <a:rPr lang="en-US" sz="2400" dirty="0">
                <a:solidFill>
                  <a:schemeClr val="tx1"/>
                </a:solidFill>
              </a:rPr>
              <a:t>“Mình thích ở chỗ...”</a:t>
            </a:r>
            <a:endParaRPr lang="en-US" sz="2400" dirty="0"/>
          </a:p>
          <a:p>
            <a:pPr marL="0" indent="0">
              <a:buNone/>
            </a:pPr>
            <a:r>
              <a:rPr lang="en-US" sz="2400" b="1" dirty="0">
                <a:solidFill>
                  <a:schemeClr val="accent4"/>
                </a:solidFill>
              </a:rPr>
              <a:t>Gắn với một tiêu chí.</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Một hỏi</a:t>
            </a:r>
            <a:endParaRPr lang="en-US" sz="2400" dirty="0"/>
          </a:p>
          <a:p>
            <a:pPr marL="0" indent="0">
              <a:spcAft>
                <a:spcPts val="800"/>
              </a:spcAft>
              <a:buNone/>
            </a:pPr>
            <a:r>
              <a:rPr lang="en-US" sz="2400" dirty="0">
                <a:solidFill>
                  <a:schemeClr val="tx1"/>
                </a:solidFill>
              </a:rPr>
              <a:t>“Mình chưa rõ...”</a:t>
            </a:r>
            <a:endParaRPr lang="en-US" sz="2400" dirty="0"/>
          </a:p>
          <a:p>
            <a:pPr marL="0" indent="0">
              <a:buNone/>
            </a:pPr>
            <a:r>
              <a:rPr lang="en-US" sz="2400" b="1" dirty="0">
                <a:solidFill>
                  <a:schemeClr val="accent4"/>
                </a:solidFill>
              </a:rPr>
              <a:t>Ví dụ: bản ghi âm lưu ở đâu?</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Một gợi ý</a:t>
            </a:r>
            <a:endParaRPr lang="en-US" sz="2400" dirty="0"/>
          </a:p>
          <a:p>
            <a:pPr marL="0" indent="0">
              <a:spcAft>
                <a:spcPts val="800"/>
              </a:spcAft>
              <a:buNone/>
            </a:pPr>
            <a:r>
              <a:rPr lang="en-US" sz="2400" dirty="0">
                <a:solidFill>
                  <a:schemeClr val="tx1"/>
                </a:solidFill>
              </a:rPr>
              <a:t>“Sẽ thế nào nếu...”</a:t>
            </a:r>
            <a:endParaRPr lang="en-US" sz="2400" dirty="0"/>
          </a:p>
          <a:p>
            <a:pPr marL="0" indent="0">
              <a:buNone/>
            </a:pPr>
            <a:r>
              <a:rPr lang="en-US" sz="2400" b="1" dirty="0">
                <a:solidFill>
                  <a:schemeClr val="accent4"/>
                </a:solidFill>
              </a:rPr>
              <a:t>Giúp bạn sửa được.</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trình bày, nói theo thứ tự này</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Khó khăn:</a:t>
            </a:r>
            <a:r>
              <a:rPr lang="en-US" sz="3200" dirty="0">
                <a:solidFill>
                  <a:schemeClr val="tx1"/>
                </a:solidFill>
              </a:rPr>
              <a:t> kể một tình huống thật</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Câu đề xuất</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Một ví dụ</a:t>
            </a:r>
            <a:r>
              <a:rPr lang="en-US" sz="3200" dirty="0">
                <a:solidFill>
                  <a:schemeClr val="tx1"/>
                </a:solidFill>
              </a:rPr>
              <a:t> sử dụng</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Phần người học tự làm</a:t>
            </a:r>
            <a:r>
              <a:rPr lang="en-US" sz="3200" dirty="0">
                <a:solidFill>
                  <a:schemeClr val="tx1"/>
                </a:solidFill>
              </a:rPr>
              <a:t> và </a:t>
            </a:r>
            <a:r>
              <a:rPr lang="en-US" sz="3200" b="1" dirty="0">
                <a:solidFill>
                  <a:schemeClr val="tx2"/>
                </a:solidFill>
              </a:rPr>
              <a:t>rủi ro</a:t>
            </a:r>
            <a:endParaRPr lang="en-US" sz="3200" dirty="0"/>
          </a:p>
        </p:txBody>
      </p:sp>
      <p:sp>
        <p:nvSpPr>
          <p:cNvPr id="16" name="Shape 13"/>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7" name="Text 14"/>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Hai phút là đủ.</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Góp ý thế nào cho có ích?</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Chưa giúp được</a:t>
            </a:r>
            <a:endParaRPr lang="en-US" sz="30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“Hay đấy”</a:t>
            </a:r>
            <a:endParaRPr lang="en-US" sz="2800" dirty="0"/>
          </a:p>
          <a:p>
            <a:pPr marL="342900" indent="-342900">
              <a:spcAft>
                <a:spcPts val="1000"/>
              </a:spcAft>
              <a:buSzPct val="100000"/>
              <a:buChar char="•"/>
            </a:pPr>
            <a:r>
              <a:rPr lang="en-US" sz="2800" dirty="0">
                <a:solidFill>
                  <a:schemeClr val="tx1"/>
                </a:solidFill>
              </a:rPr>
              <a:t>“Không làm được đâu”</a:t>
            </a:r>
            <a:endParaRPr lang="en-US" sz="2800" dirty="0"/>
          </a:p>
          <a:p>
            <a:pPr marL="342900" indent="-342900">
              <a:spcAft>
                <a:spcPts val="1000"/>
              </a:spcAft>
              <a:buSzPct val="100000"/>
              <a:buChar char="•"/>
            </a:pPr>
            <a:r>
              <a:rPr lang="en-US" sz="2800" dirty="0">
                <a:solidFill>
                  <a:schemeClr val="tx1"/>
                </a:solidFill>
              </a:rPr>
              <a:t>Nhận xét người trình bày</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Giúp được</a:t>
            </a:r>
            <a:endParaRPr lang="en-US" sz="30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Nêu một điểm cụ thể</a:t>
            </a:r>
            <a:endParaRPr lang="en-US" sz="2800" dirty="0"/>
          </a:p>
          <a:p>
            <a:pPr marL="342900" indent="-342900">
              <a:spcAft>
                <a:spcPts val="1000"/>
              </a:spcAft>
              <a:buSzPct val="100000"/>
              <a:buChar char="•"/>
            </a:pPr>
            <a:r>
              <a:rPr lang="en-US" sz="2800" dirty="0">
                <a:solidFill>
                  <a:schemeClr val="bg1"/>
                </a:solidFill>
              </a:rPr>
              <a:t>Đặt một câu hỏi</a:t>
            </a:r>
            <a:endParaRPr lang="en-US" sz="2800" dirty="0"/>
          </a:p>
          <a:p>
            <a:pPr marL="342900" indent="-342900">
              <a:spcAft>
                <a:spcPts val="1000"/>
              </a:spcAft>
              <a:buSzPct val="100000"/>
              <a:buChar char="•"/>
            </a:pPr>
            <a:r>
              <a:rPr lang="en-US" sz="2800" dirty="0">
                <a:solidFill>
                  <a:schemeClr val="bg1"/>
                </a:solidFill>
              </a:rPr>
              <a:t>Gợi ý một cách sửa</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Nghĩ thêm về rủi ro</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Tính năng AI nào cũng cần dữ liệu, và cũng có lúc cho kết quả sai.</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Tính năng nhóm em đề xuất cần dữ liệu gì? Nếu nó sai, ai bị ảnh hưởng?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Bắt đầu từ </a:t>
            </a:r>
            <a:r>
              <a:rPr lang="en-US" sz="3200" b="1" dirty="0">
                <a:solidFill>
                  <a:schemeClr val="tx2"/>
                </a:solidFill>
              </a:rPr>
              <a:t>khó khăn có thật</a:t>
            </a:r>
            <a:r>
              <a:rPr lang="en-US" sz="3200" dirty="0">
                <a:solidFill>
                  <a:schemeClr val="tx1"/>
                </a:solidFill>
              </a:rPr>
              <a:t>, không từ công nghệ</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Câu đề xuất:</a:t>
            </a:r>
            <a:r>
              <a:rPr lang="en-US" sz="3200" dirty="0">
                <a:solidFill>
                  <a:schemeClr val="tx1"/>
                </a:solidFill>
              </a:rPr>
              <a:t> cho ai, khó khăn gì, nhận gì, trả ra gì, giúp gì</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Sáu phần</a:t>
            </a:r>
            <a:r>
              <a:rPr lang="en-US" sz="3200" dirty="0">
                <a:solidFill>
                  <a:schemeClr val="tx1"/>
                </a:solidFill>
              </a:rPr>
              <a:t>, đừng bỏ phần 4 và 5</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Bốn tiêu chí:</a:t>
            </a:r>
            <a:r>
              <a:rPr lang="en-US" sz="3200" dirty="0">
                <a:solidFill>
                  <a:schemeClr val="tx1"/>
                </a:solidFill>
              </a:rPr>
              <a:t> có thật; để học; khả thi; an toàn, công bằng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200" dirty="0">
                <a:solidFill>
                  <a:schemeClr val="tx1"/>
                </a:solidFill>
              </a:rPr>
              <a:t>Viết một câu đề xuất tính năng AI cho khó khăn học tập của riêng em (khác đề xuất của nhóm), theo mẫu: “Dành cho ... đang gặp ..., tính năng ... sẽ nhận ... và ..., giúp ...”.</a:t>
            </a:r>
            <a:endParaRPr lang="en-US" sz="22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tính năng đó: phần nào em phải tự làm? Một rủi ro và cách phòng?</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377964896"/>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1400</Words>
  <Application>Microsoft Office PowerPoint</Application>
  <PresentationFormat>Widescreen</PresentationFormat>
  <Paragraphs>178</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Đề xuất tính năng AI cho việc học của em</vt:lpstr>
      <vt:lpstr>Hôm nay chúng ta làm gì?</vt:lpstr>
      <vt:lpstr>Bức tường khó khăn</vt:lpstr>
      <vt:lpstr>Bắt đầu từ khó khăn, đừng bắt đầu từ công nghệ</vt:lpstr>
      <vt:lpstr>Một câu đề xuất</vt:lpstr>
      <vt:lpstr>Khung của một tính năng: “Người nghe khó tính”</vt:lpstr>
      <vt:lpstr>Một đề xuất gồm sáu phần</vt:lpstr>
      <vt:lpstr>Bốn tiêu chí của một đề xuất tốt</vt:lpstr>
      <vt:lpstr>Viết đề xuất và phiên chợ ý tưởng</vt:lpstr>
      <vt:lpstr>Nhiệm vụ nhóm: từ một câu đến sáu phần</vt:lpstr>
      <vt:lpstr>Phiên chợ ý tưởng: góp ý ba câu</vt:lpstr>
      <vt:lpstr>Khi trình bày, nói theo thứ tự này</vt:lpstr>
      <vt:lpstr>Góp ý thế nào cho có ích?</vt:lpstr>
      <vt:lpstr>Nghĩ thêm về rủi ro</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11.7. Đề xuất tính năng AI cho việc học của em</dc:title>
  <dc:subject>Trí tuệ nhân tạo</dc:subject>
  <cp:lastModifiedBy>Phạm Văn Tú</cp:lastModifiedBy>
  <cp:revision>1</cp:revision>
  <dcterms:created xsi:type="dcterms:W3CDTF">2026-10-08T11:06:02Z</dcterms:created>
  <dcterms:modified xsi:type="dcterms:W3CDTF">2026-10-10T03:36:42Z</dcterms:modified>
  <dc:description>Email: phamtund@gmail.com</dc:description>
  <dc:creator>Phạm Văn Tú</dc:creator>
  <cp:category>Trí tuệ nhân tạo</cp:category>
  <cp:keywords>Trí tuệ nhân tạo</cp:keywords>
</cp:coreProperties>
</file>