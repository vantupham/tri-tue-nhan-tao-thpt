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40E16314-AABC-7630-1369-F2C8F2062A61}">
          <p14:sldIdLst>
            <p14:sldId id="256"/>
            <p14:sldId id="257"/>
            <p14:sldId id="258"/>
            <p14:sldId id="259"/>
          </p14:sldIdLst>
        </p14:section>
        <p14:section name="Từ một nơ-ron đến một mạng" id="{CABB3F6D-4B19-6378-570E-14FCF7013153}">
          <p14:sldIdLst>
            <p14:sldId id="260"/>
            <p14:sldId id="261"/>
            <p14:sldId id="262"/>
            <p14:sldId id="263"/>
            <p14:sldId id="264"/>
            <p14:sldId id="265"/>
            <p14:sldId id="266"/>
          </p14:sldIdLst>
        </p14:section>
        <p14:section name="Mạng nơ-ron ở quanh ta" id="{3B5F2843-1E65-FC4E-F4DE-E2ABD810B582}">
          <p14:sldIdLst>
            <p14:sldId id="267"/>
            <p14:sldId id="268"/>
            <p14:sldId id="269"/>
          </p14:sldIdLst>
        </p14:section>
        <p14:section name="Tổng kết" id="{B81EE385-40BC-6A94-D8FD-96DBEC1092D4}">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C954BB-22FD-4736-8206-901A9FC343F7}" v="1" dt="2026-10-10T03:38:24.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38:24.284" v="3"/>
      <pc:docMkLst>
        <pc:docMk/>
      </pc:docMkLst>
      <pc:sldChg chg="modSp mod">
        <pc:chgData name="Phạm Văn Tú" userId="67199c852bdd6d1b" providerId="LiveId" clId="{CB377567-0116-4044-BB7C-6E46B7A5C596}" dt="2026-10-10T03:38:10.472" v="2" actId="20577"/>
        <pc:sldMkLst>
          <pc:docMk/>
          <pc:sldMk cId="0" sldId="256"/>
        </pc:sldMkLst>
        <pc:spChg chg="mod">
          <ac:chgData name="Phạm Văn Tú" userId="67199c852bdd6d1b" providerId="LiveId" clId="{CB377567-0116-4044-BB7C-6E46B7A5C596}" dt="2026-10-10T03:38:10.472" v="2" actId="20577"/>
          <ac:spMkLst>
            <pc:docMk/>
            <pc:sldMk cId="0" sldId="256"/>
            <ac:spMk id="3" creationId="{00000000-0000-0000-0000-000000000000}"/>
          </ac:spMkLst>
        </pc:spChg>
      </pc:sldChg>
      <pc:sldChg chg="add">
        <pc:chgData name="Phạm Văn Tú" userId="67199c852bdd6d1b" providerId="LiveId" clId="{CB377567-0116-4044-BB7C-6E46B7A5C596}" dt="2026-10-10T03:38:24.284" v="3"/>
        <pc:sldMkLst>
          <pc:docMk/>
          <pc:sldMk cId="2393388564"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5326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Phiếu “Nơ-ron giấy” (mỗi cặp 1 tờ), Phiếu ra cửa, giấy A3 cho 6 nhóm. Tài liệu học sinh: Tài liệu học tập Khối 11, Bài 11.10.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Hôm nay các em sẽ đóng vai một nơ-ron, không cần công thức phức tạp.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Mời 2 đến 3 em nêu quy tắc, ghi lên bảng. Với mỗi quy tắc, mời lớp tìm một ngoại lệ. Nên dùng chữ thật của học sinh.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ngoại lệ không bao giờ hết. Với những việc như thế, người ta cho máy xem nhiều ví dụ để máy tự tìm cách phân biệt. Công cụ phổ biến nhất: mạng nơ-ron nhân tạo.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Lời dẫn: bộ não có hàng chục tỉ tế bào thần kinh nối với nhau; mỗi nơ-ron chỉ phát tín hiệu khi tổng tín hiệu nhận vào đủ mạnh. Các nhà khoa học mượn ý tưởng đó để tạo ra một phép tính rất đơn giản.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tín hiệu, mỗi tín hiệu nhận 1 (có) hoặc 0 (không). Trọng số là mức quan trọng: mưa −3, kịp giờ +2, có bạn +2. Mưa có trọng số âm vì làm Bình ngại đạp xe. Tổng từ 2 trở lên thì đi xe đạp. Ví dụ giả định.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theo cặp trên phiếu (4 phút). Giáo viên hỗ trợ cặp nhầm dấu âm. Chưa chuyển slide cho đến khi phần lớn các cặp làm xong.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Chữa nhanh (2 phút). Lưu ý thứ Tư: tổng đúng bằng 2, vẫn đạt ngưỡng.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quan trọng nhất (3 phút). Hỏi lớp: sửa thế nào, có cần viết thêm quy tắc không? Chỉ cần đổi trọng số. Kiểm tra lại thứ Năm: −2 + 2 + 0 = 0, vẫn không đi. Huấn luyện là cho máy xem nhiều ví dụ đã biết kết quả đúng rồi điều chỉnh trọng số từng chút một để lần sau sai ít hơn.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Giảng 3 phút. Lớp vào: mỗi nơ-ron nhận độ đậm nhạt của một điểm ảnh. Lớp ẩn: kết hợp tín hiệu để phát hiện đặc điểm. Lớp ra: mỗi nơ-ron ứng với một chữ số; nơ-ron phát mạnh nhất là câu trả lời. Người thiết kế chọn số lớp, số nơ-ron; dữ liệu quyết định trọng số. Mở rộng: mạng có nhiều lớp ẩn gọi là học sâu.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ghi vào vở. Ví dụ thật cho đặc điểm 1: nghiên cứu Gender Shades (2018), phần mềm đoán giới tính qua khuôn mặt sai tới 34,7% với phụ nữ da sẫm màu, chỉ 0,8% với nam giới da sáng, vì dữ liệu thiếu cân đối. Với nơ-ron giấy ta chỉ ra được lí do (mưa, −3); với mạng hàng triệu trọng số thì không.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Chia 6 nhóm, phát giấy A3.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phút làm, 4 phút báo cáo. Gợi ý: mở khóa bằng khuôn mặt (ảnh thành khớp hay không khớp); dịch máy; hỗ trợ đọc ảnh X-quang (ảnh thành vùng nghi ngờ để bác sĩ xem); đọc biển số; nhận diện sâu bệnh qua ảnh lá; gợi ý bài hát.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lớp (4 phút), giơ tay có hoặc không. ĐÁP ÁN: 1 có; 2 không (công thức cố định); 3 có; 4 không (cảm biến và quy tắc nếu thì); 5 có; 6 không; 7 có; 8 không. Chốt: việc đã có công thức rõ ràng hoặc cần giải thích từng quyết định thì không cần mạng nơ-ron.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Hỏi nhanh: huấn luyện là điều chỉnh cái gì?</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Không cho điểm. Gợi ý câu 2: chữ mỗi người một kiểu nên không viết hết được quy tắc, trong khi có rất nhiều ví dụ để máy học. Dặn dò: đọc phần Vận dụng; bài sau 11.11 Phân cụm và phân lớp.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978762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11.10 · Mạng nơ-ron nhân tạo và những ứng dụng quanh ta</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Mạng nơ-ron nhân tạo và những ứng dụng quanh ta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11.10 · Chuyên đề 11.4: Bên trong hệ thống AI</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11</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Mô tả</a:t>
            </a:r>
            <a:r>
              <a:rPr lang="en-US" sz="2800" dirty="0">
                <a:solidFill>
                  <a:schemeClr val="tx1"/>
                </a:solidFill>
              </a:rPr>
              <a:t> một nơ-ron nhân tạo: tín hiệu, trọng số, ngưỡng</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Giải thích</a:t>
            </a:r>
            <a:r>
              <a:rPr lang="en-US" sz="2800" dirty="0">
                <a:solidFill>
                  <a:schemeClr val="tx1"/>
                </a:solidFill>
              </a:rPr>
              <a:t> mạng nơ-ron “học” bằng cách chỉnh trọng số</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ứng dụng của mạng nơ-ron, và khi nào không cần đến nó</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Số 1 hay số 7?</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15'</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Nơ-ron giấy</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20'</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Ứng dụng quanh ta</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Số 1 hay số 7?</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Mỗi em viết số 1 và số 7 ra nháp, so với bạn bên cạnh.</a:t>
            </a:r>
            <a:endParaRPr lang="en-US" sz="2800" dirty="0"/>
          </a:p>
          <a:p>
            <a:pPr marL="0" indent="0">
              <a:buNone/>
            </a:pPr>
            <a:endParaRPr lang="en-US" sz="2800" dirty="0"/>
          </a:p>
          <a:p>
            <a:pPr marL="0" indent="0">
              <a:buNone/>
            </a:pPr>
            <a:r>
              <a:rPr lang="en-US" sz="2800" dirty="0">
                <a:solidFill>
                  <a:schemeClr val="tx1"/>
                </a:solidFill>
              </a:rPr>
              <a:t>Mỗi người một kiểu chữ: có bạn viết nghiêng, có bạn gạch ngang số 7, có bạn thêm nét hất cho số 1.</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Em hãy viết một quy tắc bằng lời để máy phân biệt 1 với 7, đúng với chữ của cả lớp.</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Quy tắc nào cũng có ngoại lệ</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“Số 7 có nét ngang ở trên”</a:t>
            </a:r>
            <a:endParaRPr lang="en-US" sz="2400" dirty="0"/>
          </a:p>
          <a:p>
            <a:pPr marL="0" indent="0">
              <a:spcAft>
                <a:spcPts val="800"/>
              </a:spcAft>
              <a:buNone/>
            </a:pPr>
            <a:r>
              <a:rPr lang="en-US" sz="2400" dirty="0">
                <a:solidFill>
                  <a:schemeClr val="tx1"/>
                </a:solidFill>
              </a:rPr>
              <a:t>Nhưng số 1 có nét hất dài thì sao?</a:t>
            </a:r>
            <a:endParaRPr lang="en-US" sz="2400" dirty="0"/>
          </a:p>
        </p:txBody>
      </p:sp>
      <p:sp>
        <p:nvSpPr>
          <p:cNvPr id="6" name="Shape 3"/>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“Số 1 thì thẳng đứng”</a:t>
            </a:r>
            <a:endParaRPr lang="en-US" sz="2400" dirty="0"/>
          </a:p>
          <a:p>
            <a:pPr marL="0" indent="0">
              <a:spcAft>
                <a:spcPts val="800"/>
              </a:spcAft>
              <a:buNone/>
            </a:pPr>
            <a:r>
              <a:rPr lang="en-US" sz="2400" dirty="0">
                <a:solidFill>
                  <a:schemeClr val="tx1"/>
                </a:solidFill>
              </a:rPr>
              <a:t>Nhưng có bạn viết nghiêng.</a:t>
            </a:r>
            <a:endParaRPr lang="en-US" sz="2400" dirty="0"/>
          </a:p>
        </p:txBody>
      </p:sp>
      <p:sp>
        <p:nvSpPr>
          <p:cNvPr id="8" name="Shape 5"/>
          <p:cNvSpPr/>
          <p:nvPr/>
        </p:nvSpPr>
        <p:spPr>
          <a:xfrm>
            <a:off x="810768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38200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“Số 7 có gạch ở giữa”</a:t>
            </a:r>
            <a:endParaRPr lang="en-US" sz="2400" dirty="0"/>
          </a:p>
          <a:p>
            <a:pPr marL="0" indent="0">
              <a:spcAft>
                <a:spcPts val="800"/>
              </a:spcAft>
              <a:buNone/>
            </a:pPr>
            <a:r>
              <a:rPr lang="en-US" sz="2400" dirty="0">
                <a:solidFill>
                  <a:schemeClr val="tx1"/>
                </a:solidFill>
              </a:rPr>
              <a:t>Nhưng nhiều bạn không gạch.</a:t>
            </a:r>
            <a:endParaRPr lang="en-US" sz="2400" dirty="0"/>
          </a:p>
        </p:txBody>
      </p:sp>
      <p:sp>
        <p:nvSpPr>
          <p:cNvPr id="10" name="Shape 7"/>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Không viết quy tắc: cho máy xem thật nhiều ví dụ</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Từ một nơ-ron đến một mạng</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1 · 15 phút · Phiếu “Nơ-ron giấy” theo cặp</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Nơ-ron giấy: sáng nay Bình có đi xe đạp không?</a:t>
            </a:r>
            <a:endParaRPr lang="en-US" sz="3800" dirty="0"/>
          </a:p>
        </p:txBody>
      </p:sp>
      <p:pic>
        <p:nvPicPr>
          <p:cNvPr id="4" name="Image 0" descr="Nơ-ron giấy: sáng nay Bình có đi xe đạp không?"/>
          <p:cNvPicPr>
            <a:picLocks noChangeAspect="1"/>
          </p:cNvPicPr>
          <p:nvPr/>
        </p:nvPicPr>
        <p:blipFill>
          <a:blip r:embed="rId3"/>
          <a:stretch>
            <a:fillRect/>
          </a:stretch>
        </p:blipFill>
        <p:spPr>
          <a:xfrm>
            <a:off x="2060553" y="1463040"/>
            <a:ext cx="8040414" cy="3886200"/>
          </a:xfrm>
          <a:prstGeom prst="rect">
            <a:avLst/>
          </a:prstGeom>
        </p:spPr>
      </p:pic>
      <p:sp>
        <p:nvSpPr>
          <p:cNvPr id="5" name="Shape 1"/>
          <p:cNvSpPr/>
          <p:nvPr/>
        </p:nvSpPr>
        <p:spPr>
          <a:xfrm>
            <a:off x="548640" y="544068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44068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Nhân với trọng số, cộng lại, so với ngưỡng 2</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Em là nơ-ron: thử tính bốn buổi sáng</a:t>
            </a:r>
            <a:endParaRPr lang="en-US" sz="3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868680">
                <a:tc>
                  <a:txBody>
                    <a:bodyPr/>
                    <a:lstStyle/>
                    <a:p>
                      <a:pPr marL="0" indent="0" algn="ctr">
                        <a:buNone/>
                      </a:pPr>
                      <a:r>
                        <a:rPr lang="en-US" sz="2400" b="1" dirty="0">
                          <a:solidFill>
                            <a:schemeClr val="bg1"/>
                          </a:solidFill>
                        </a:rPr>
                        <a:t>Buổi sáng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Mưa (−3)</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Kịp giờ (+2)</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Có bạn (+2)</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Tổng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Kết quả</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400" b="1" dirty="0">
                          <a:solidFill>
                            <a:schemeClr val="tx1"/>
                          </a:solidFill>
                        </a:rPr>
                        <a:t>Thứ Hai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accent4"/>
                          </a:solidFill>
                        </a:rPr>
                        <a: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accent4"/>
                          </a:solidFill>
                        </a:rPr>
                        <a: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400" b="1" dirty="0">
                          <a:solidFill>
                            <a:schemeClr val="tx1"/>
                          </a:solidFill>
                        </a:rPr>
                        <a:t>Thứ Ba</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accent4"/>
                          </a:solidFill>
                        </a:rPr>
                        <a: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accent4"/>
                          </a:solidFill>
                        </a:rPr>
                        <a: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400" b="1" dirty="0">
                          <a:solidFill>
                            <a:schemeClr val="tx1"/>
                          </a:solidFill>
                        </a:rPr>
                        <a:t>Thứ Tư</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accent4"/>
                          </a:solidFill>
                        </a:rPr>
                        <a: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accent4"/>
                          </a:solidFill>
                        </a:rPr>
                        <a: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8680">
                <a:tc>
                  <a:txBody>
                    <a:bodyPr/>
                    <a:lstStyle/>
                    <a:p>
                      <a:pPr marL="0" indent="0" algn="l">
                        <a:buNone/>
                      </a:pPr>
                      <a:r>
                        <a:rPr lang="en-US" sz="2400" b="1" dirty="0">
                          <a:solidFill>
                            <a:schemeClr val="tx1"/>
                          </a:solidFill>
                        </a:rPr>
                        <a:t>Thứ Năm</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accent4"/>
                          </a:solidFill>
                        </a:rPr>
                        <a: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accent4"/>
                          </a:solidFill>
                        </a:rPr>
                        <a: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Đáp án: chỉ cần nhân, cộng và so sánh</a:t>
            </a:r>
            <a:endParaRPr lang="en-US" sz="3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658368">
                <a:tc>
                  <a:txBody>
                    <a:bodyPr/>
                    <a:lstStyle/>
                    <a:p>
                      <a:pPr marL="0" indent="0" algn="ctr">
                        <a:buNone/>
                      </a:pPr>
                      <a:r>
                        <a:rPr lang="en-US" sz="2400" b="1" dirty="0">
                          <a:solidFill>
                            <a:schemeClr val="bg1"/>
                          </a:solidFill>
                        </a:rPr>
                        <a:t>Buổi sáng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Phép tính</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Tổng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Kết quả</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lgn="l">
                        <a:buNone/>
                      </a:pPr>
                      <a:r>
                        <a:rPr lang="en-US" sz="2400" b="1" dirty="0">
                          <a:solidFill>
                            <a:schemeClr val="tx1"/>
                          </a:solidFill>
                        </a:rPr>
                        <a:t>Thứ Hai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0 + 2 + 2</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4</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Đi xe đạp</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lgn="l">
                        <a:buNone/>
                      </a:pPr>
                      <a:r>
                        <a:rPr lang="en-US" sz="2400" b="1" dirty="0">
                          <a:solidFill>
                            <a:schemeClr val="tx1"/>
                          </a:solidFill>
                        </a:rPr>
                        <a:t>Thứ Ba</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−3 + 2 + 2</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Không đi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8368">
                <a:tc>
                  <a:txBody>
                    <a:bodyPr/>
                    <a:lstStyle/>
                    <a:p>
                      <a:pPr marL="0" indent="0" algn="l">
                        <a:buNone/>
                      </a:pPr>
                      <a:r>
                        <a:rPr lang="en-US" sz="2400" b="1" dirty="0">
                          <a:solidFill>
                            <a:schemeClr val="tx1"/>
                          </a:solidFill>
                        </a:rPr>
                        <a:t>Thứ Tư</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0 + 2 + 0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2</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Đi xe đạp</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lgn="l">
                        <a:buNone/>
                      </a:pPr>
                      <a:r>
                        <a:rPr lang="en-US" sz="2400" b="1" dirty="0">
                          <a:solidFill>
                            <a:schemeClr val="tx1"/>
                          </a:solidFill>
                        </a:rPr>
                        <a:t>Thứ Năm</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−3 + 2 + 0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−1</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Không đi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Shape 1"/>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120640"/>
            <a:ext cx="10424160" cy="868680"/>
          </a:xfrm>
          <a:prstGeom prst="rect">
            <a:avLst/>
          </a:prstGeom>
          <a:noFill/>
          <a:ln/>
        </p:spPr>
        <p:txBody>
          <a:bodyPr wrap="square" lIns="0" tIns="0" rIns="0" bIns="0" rtlCol="0" anchor="ctr"/>
          <a:lstStyle/>
          <a:p>
            <a:pPr marL="0" indent="0">
              <a:buNone/>
            </a:pPr>
            <a:r>
              <a:rPr lang="en-US" sz="2800" b="1" dirty="0">
                <a:solidFill>
                  <a:schemeClr val="tx1"/>
                </a:solidFill>
              </a:rPr>
              <a:t>Nơ-ron không hiểu “mưa” là gì. Nó chỉ tính.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Nơ-ron “học” bằng cách chỉnh trọng số</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Trước khi học</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Trọng số của mưa: −3</a:t>
            </a:r>
            <a:endParaRPr lang="en-US" sz="2400" dirty="0"/>
          </a:p>
          <a:p>
            <a:pPr marL="342900" indent="-342900">
              <a:spcAft>
                <a:spcPts val="1000"/>
              </a:spcAft>
              <a:buSzPct val="100000"/>
              <a:buChar char="•"/>
            </a:pPr>
            <a:r>
              <a:rPr lang="en-US" sz="2400" dirty="0">
                <a:solidFill>
                  <a:schemeClr val="tx1"/>
                </a:solidFill>
              </a:rPr>
              <a:t>Thứ Ba: −3 + 2 + 2 = 1</a:t>
            </a:r>
            <a:endParaRPr lang="en-US" sz="2400" dirty="0"/>
          </a:p>
          <a:p>
            <a:pPr marL="342900" indent="-342900">
              <a:spcAft>
                <a:spcPts val="1000"/>
              </a:spcAft>
              <a:buSzPct val="100000"/>
              <a:buChar char="•"/>
            </a:pPr>
            <a:r>
              <a:rPr lang="en-US" sz="2400" dirty="0">
                <a:solidFill>
                  <a:schemeClr val="tx1"/>
                </a:solidFill>
              </a:rPr>
              <a:t>Máy đoán không đi, thực tế Bình vẫn đi</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Sau khi chỉnh</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Trọng số của mưa: −2</a:t>
            </a:r>
            <a:endParaRPr lang="en-US" sz="2400" dirty="0"/>
          </a:p>
          <a:p>
            <a:pPr marL="342900" indent="-342900">
              <a:spcAft>
                <a:spcPts val="1000"/>
              </a:spcAft>
              <a:buSzPct val="100000"/>
              <a:buChar char="•"/>
            </a:pPr>
            <a:r>
              <a:rPr lang="en-US" sz="2400" dirty="0">
                <a:solidFill>
                  <a:schemeClr val="bg1"/>
                </a:solidFill>
              </a:rPr>
              <a:t>Thứ Ba: −2 + 2 + 2 = 2</a:t>
            </a:r>
            <a:endParaRPr lang="en-US" sz="2400" dirty="0"/>
          </a:p>
          <a:p>
            <a:pPr marL="342900" indent="-342900">
              <a:spcAft>
                <a:spcPts val="1000"/>
              </a:spcAft>
              <a:buSzPct val="100000"/>
              <a:buChar char="•"/>
            </a:pPr>
            <a:r>
              <a:rPr lang="en-US" sz="2400" dirty="0">
                <a:solidFill>
                  <a:schemeClr val="bg1"/>
                </a:solidFill>
              </a:rPr>
              <a:t>Máy đoán đi xe đạp, khớp thực tế</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Huấn luyện: xem ví dụ có đáp án, chỉnh trọng số</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Từ một nơ-ron đến một mạng ba lớp</a:t>
            </a:r>
            <a:endParaRPr lang="en-US" sz="3800" dirty="0"/>
          </a:p>
        </p:txBody>
      </p:sp>
      <p:pic>
        <p:nvPicPr>
          <p:cNvPr id="4" name="Image 0" descr="Từ một nơ-ron đến một mạng ba lớp"/>
          <p:cNvPicPr>
            <a:picLocks noChangeAspect="1"/>
          </p:cNvPicPr>
          <p:nvPr/>
        </p:nvPicPr>
        <p:blipFill>
          <a:blip r:embed="rId3"/>
          <a:stretch>
            <a:fillRect/>
          </a:stretch>
        </p:blipFill>
        <p:spPr>
          <a:xfrm>
            <a:off x="2701456" y="1463040"/>
            <a:ext cx="6758609" cy="3886200"/>
          </a:xfrm>
          <a:prstGeom prst="rect">
            <a:avLst/>
          </a:prstGeom>
        </p:spPr>
      </p:pic>
      <p:sp>
        <p:nvSpPr>
          <p:cNvPr id="5" name="Shape 1"/>
          <p:cNvSpPr/>
          <p:nvPr/>
        </p:nvSpPr>
        <p:spPr>
          <a:xfrm>
            <a:off x="548640" y="544068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44068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Lớp vào, lớp ẩn, lớp ra</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đặc điểm cần nhớ</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Học từ ví dụ</a:t>
            </a:r>
            <a:endParaRPr lang="en-US" sz="2600" dirty="0"/>
          </a:p>
          <a:p>
            <a:pPr marL="0" indent="0">
              <a:spcAft>
                <a:spcPts val="800"/>
              </a:spcAft>
              <a:buNone/>
            </a:pPr>
            <a:r>
              <a:rPr lang="en-US" sz="2600" dirty="0">
                <a:solidFill>
                  <a:schemeClr val="tx1"/>
                </a:solidFill>
              </a:rPr>
              <a:t>Làm được việc khó viết thành quy tắc. Dữ liệu thế nào, mạng thế ấy.</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Cần nhiều dữ liệu</a:t>
            </a:r>
            <a:endParaRPr lang="en-US" sz="2600" dirty="0"/>
          </a:p>
          <a:p>
            <a:pPr marL="0" indent="0">
              <a:spcAft>
                <a:spcPts val="800"/>
              </a:spcAft>
              <a:buNone/>
            </a:pPr>
            <a:r>
              <a:rPr lang="en-US" sz="2600" dirty="0">
                <a:solidFill>
                  <a:schemeClr val="tx1"/>
                </a:solidFill>
              </a:rPr>
              <a:t>Nhiều trọng số phải chỉnh nên tốn điện, tốn thiết bị.</a:t>
            </a:r>
            <a:endParaRPr lang="en-US" sz="2600" dirty="0"/>
          </a:p>
        </p:txBody>
      </p:sp>
      <p:sp>
        <p:nvSpPr>
          <p:cNvPr id="12" name="Shape 9"/>
          <p:cNvSpPr/>
          <p:nvPr/>
        </p:nvSpPr>
        <p:spPr>
          <a:xfrm>
            <a:off x="8107680" y="1554480"/>
            <a:ext cx="3505200" cy="438912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Khó giải thích</a:t>
            </a:r>
            <a:endParaRPr lang="en-US" sz="2600" dirty="0"/>
          </a:p>
          <a:p>
            <a:pPr marL="0" indent="0">
              <a:spcAft>
                <a:spcPts val="800"/>
              </a:spcAft>
              <a:buNone/>
            </a:pPr>
            <a:r>
              <a:rPr lang="en-US" sz="2600" dirty="0">
                <a:solidFill>
                  <a:schemeClr val="bg1"/>
                </a:solidFill>
              </a:rPr>
              <a:t>“Hộp đen”: việc hệ trọng cần con người kiểm tra.</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Mạng nơ-ron ở quanh ta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20 phút · 6 nhóm, giấy A3</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bảng ứng dụng theo lĩnh vực</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Tìm ít nhất ba ứng dụng của mạng nơ-ron trong lĩnh vực của nhóm</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Kẻ bảng ba cột trên giấy A3</a:t>
            </a:r>
            <a:endParaRPr lang="en-US" sz="2800" dirty="0"/>
          </a:p>
          <a:p>
            <a:pPr marL="342900" indent="-342900">
              <a:spcAft>
                <a:spcPts val="1200"/>
              </a:spcAft>
              <a:buSzPct val="100000"/>
              <a:buFont typeface="+mj-lt"/>
              <a:buAutoNum type="arabicPeriod"/>
            </a:pPr>
            <a:r>
              <a:rPr lang="en-US" sz="2800" dirty="0">
                <a:solidFill>
                  <a:schemeClr val="tx1"/>
                </a:solidFill>
              </a:rPr>
              <a:t>Ghi ứng dụng, mạng nhận gì, mạng trả ra gì</a:t>
            </a:r>
            <a:endParaRPr lang="en-US" sz="2800" dirty="0"/>
          </a:p>
          <a:p>
            <a:pPr marL="342900" indent="-342900">
              <a:spcAft>
                <a:spcPts val="1200"/>
              </a:spcAft>
              <a:buSzPct val="100000"/>
              <a:buFont typeface="+mj-lt"/>
              <a:buAutoNum type="arabicPeriod"/>
            </a:pPr>
            <a:r>
              <a:rPr lang="en-US" sz="2800" dirty="0">
                <a:solidFill>
                  <a:schemeClr val="tx1"/>
                </a:solidFill>
              </a:rPr>
              <a:t>Cử một bạn báo cáo trong một phút</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Sáu lĩnh vực</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Đời sống hằng ngày. Ngôn ngữ. Y tế. Giao thông. Nông nghiệp. Giải trí, sáng tạo.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Trò chơi: có hay không có mạng nơ-ron?</a:t>
            </a:r>
            <a:endParaRPr lang="en-US" sz="3800" dirty="0"/>
          </a:p>
        </p:txBody>
      </p:sp>
      <p:sp>
        <p:nvSpPr>
          <p:cNvPr id="4" name="Shape 1"/>
          <p:cNvSpPr/>
          <p:nvPr/>
        </p:nvSpPr>
        <p:spPr>
          <a:xfrm>
            <a:off x="548640" y="1554480"/>
            <a:ext cx="259461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1497330" cy="1385316"/>
          </a:xfrm>
          <a:prstGeom prst="rect">
            <a:avLst/>
          </a:prstGeom>
          <a:noFill/>
          <a:ln/>
        </p:spPr>
        <p:txBody>
          <a:bodyPr wrap="square" lIns="0" tIns="0" rIns="0" bIns="0" rtlCol="0" anchor="ctr"/>
          <a:lstStyle/>
          <a:p>
            <a:pPr marL="0" indent="0">
              <a:buNone/>
            </a:pPr>
            <a:r>
              <a:rPr lang="en-US" sz="2200" b="1" dirty="0">
                <a:solidFill>
                  <a:schemeClr val="tx1"/>
                </a:solidFill>
              </a:rPr>
              <a:t>Nhận diện khuôn mặt</a:t>
            </a:r>
            <a:endParaRPr lang="en-US" sz="2200" dirty="0"/>
          </a:p>
        </p:txBody>
      </p:sp>
      <p:sp>
        <p:nvSpPr>
          <p:cNvPr id="8" name="Shape 5"/>
          <p:cNvSpPr/>
          <p:nvPr/>
        </p:nvSpPr>
        <p:spPr>
          <a:xfrm>
            <a:off x="3371850" y="1554480"/>
            <a:ext cx="259461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355473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355473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4331970" y="1627632"/>
            <a:ext cx="1497330" cy="1385316"/>
          </a:xfrm>
          <a:prstGeom prst="rect">
            <a:avLst/>
          </a:prstGeom>
          <a:noFill/>
          <a:ln/>
        </p:spPr>
        <p:txBody>
          <a:bodyPr wrap="square" lIns="0" tIns="0" rIns="0" bIns="0" rtlCol="0" anchor="ctr"/>
          <a:lstStyle/>
          <a:p>
            <a:pPr marL="0" indent="0">
              <a:buNone/>
            </a:pPr>
            <a:r>
              <a:rPr lang="en-US" sz="2200" b="1" dirty="0">
                <a:solidFill>
                  <a:schemeClr val="tx1"/>
                </a:solidFill>
              </a:rPr>
              <a:t>Máy tính bỏ túi</a:t>
            </a:r>
            <a:endParaRPr lang="en-US" sz="2200" dirty="0"/>
          </a:p>
        </p:txBody>
      </p:sp>
      <p:sp>
        <p:nvSpPr>
          <p:cNvPr id="12" name="Shape 9"/>
          <p:cNvSpPr/>
          <p:nvPr/>
        </p:nvSpPr>
        <p:spPr>
          <a:xfrm>
            <a:off x="6195060" y="1554480"/>
            <a:ext cx="259461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7155180" y="1627632"/>
            <a:ext cx="1497330" cy="1385316"/>
          </a:xfrm>
          <a:prstGeom prst="rect">
            <a:avLst/>
          </a:prstGeom>
          <a:noFill/>
          <a:ln/>
        </p:spPr>
        <p:txBody>
          <a:bodyPr wrap="square" lIns="0" tIns="0" rIns="0" bIns="0" rtlCol="0" anchor="ctr"/>
          <a:lstStyle/>
          <a:p>
            <a:pPr marL="0" indent="0">
              <a:buNone/>
            </a:pPr>
            <a:r>
              <a:rPr lang="en-US" sz="2200" b="1" dirty="0">
                <a:solidFill>
                  <a:schemeClr val="tx1"/>
                </a:solidFill>
              </a:rPr>
              <a:t>Dịch tự động</a:t>
            </a:r>
            <a:endParaRPr lang="en-US" sz="2200" dirty="0"/>
          </a:p>
        </p:txBody>
      </p:sp>
      <p:sp>
        <p:nvSpPr>
          <p:cNvPr id="16" name="Shape 13"/>
          <p:cNvSpPr/>
          <p:nvPr/>
        </p:nvSpPr>
        <p:spPr>
          <a:xfrm>
            <a:off x="9018270" y="1554480"/>
            <a:ext cx="259461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920115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920115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9978390" y="1627632"/>
            <a:ext cx="1497330" cy="1385316"/>
          </a:xfrm>
          <a:prstGeom prst="rect">
            <a:avLst/>
          </a:prstGeom>
          <a:noFill/>
          <a:ln/>
        </p:spPr>
        <p:txBody>
          <a:bodyPr wrap="square" lIns="0" tIns="0" rIns="0" bIns="0" rtlCol="0" anchor="ctr"/>
          <a:lstStyle/>
          <a:p>
            <a:pPr marL="0" indent="0">
              <a:buNone/>
            </a:pPr>
            <a:r>
              <a:rPr lang="en-US" sz="2200" b="1" dirty="0">
                <a:solidFill>
                  <a:schemeClr val="tx1"/>
                </a:solidFill>
              </a:rPr>
              <a:t>Đèn cảm ứng bật khi có người</a:t>
            </a:r>
            <a:endParaRPr lang="en-US" sz="2200" dirty="0"/>
          </a:p>
        </p:txBody>
      </p:sp>
      <p:sp>
        <p:nvSpPr>
          <p:cNvPr id="20" name="Shape 17"/>
          <p:cNvSpPr/>
          <p:nvPr/>
        </p:nvSpPr>
        <p:spPr>
          <a:xfrm>
            <a:off x="548640" y="3314700"/>
            <a:ext cx="259461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1508760" y="3387852"/>
            <a:ext cx="1497330" cy="1385316"/>
          </a:xfrm>
          <a:prstGeom prst="rect">
            <a:avLst/>
          </a:prstGeom>
          <a:noFill/>
          <a:ln/>
        </p:spPr>
        <p:txBody>
          <a:bodyPr wrap="square" lIns="0" tIns="0" rIns="0" bIns="0" rtlCol="0" anchor="ctr"/>
          <a:lstStyle/>
          <a:p>
            <a:pPr marL="0" indent="0">
              <a:buNone/>
            </a:pPr>
            <a:r>
              <a:rPr lang="en-US" sz="2200" b="1" dirty="0">
                <a:solidFill>
                  <a:schemeClr val="tx1"/>
                </a:solidFill>
              </a:rPr>
              <a:t>Gõ chữ bằng giọng nói</a:t>
            </a:r>
            <a:endParaRPr lang="en-US" sz="2200" dirty="0"/>
          </a:p>
        </p:txBody>
      </p:sp>
      <p:sp>
        <p:nvSpPr>
          <p:cNvPr id="24" name="Shape 21"/>
          <p:cNvSpPr/>
          <p:nvPr/>
        </p:nvSpPr>
        <p:spPr>
          <a:xfrm>
            <a:off x="3371850" y="3314700"/>
            <a:ext cx="259461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25" name="Shape 22"/>
          <p:cNvSpPr/>
          <p:nvPr/>
        </p:nvSpPr>
        <p:spPr>
          <a:xfrm>
            <a:off x="355473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6" name="Text 23"/>
          <p:cNvSpPr txBox="1"/>
          <p:nvPr/>
        </p:nvSpPr>
        <p:spPr>
          <a:xfrm>
            <a:off x="355473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7" name="Text 24"/>
          <p:cNvSpPr txBox="1"/>
          <p:nvPr/>
        </p:nvSpPr>
        <p:spPr>
          <a:xfrm>
            <a:off x="4331970" y="3387852"/>
            <a:ext cx="1497330" cy="1385316"/>
          </a:xfrm>
          <a:prstGeom prst="rect">
            <a:avLst/>
          </a:prstGeom>
          <a:noFill/>
          <a:ln/>
        </p:spPr>
        <p:txBody>
          <a:bodyPr wrap="square" lIns="0" tIns="0" rIns="0" bIns="0" rtlCol="0" anchor="ctr"/>
          <a:lstStyle/>
          <a:p>
            <a:pPr marL="0" indent="0">
              <a:buNone/>
            </a:pPr>
            <a:r>
              <a:rPr lang="en-US" sz="2200" b="1" dirty="0">
                <a:solidFill>
                  <a:schemeClr val="tx1"/>
                </a:solidFill>
              </a:rPr>
              <a:t>Đồng hồ báo thức</a:t>
            </a:r>
            <a:endParaRPr lang="en-US" sz="2200" dirty="0"/>
          </a:p>
        </p:txBody>
      </p:sp>
      <p:sp>
        <p:nvSpPr>
          <p:cNvPr id="28" name="Shape 25"/>
          <p:cNvSpPr/>
          <p:nvPr/>
        </p:nvSpPr>
        <p:spPr>
          <a:xfrm>
            <a:off x="6195060" y="3314700"/>
            <a:ext cx="259461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29" name="Shape 26"/>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30" name="Text 27"/>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7</a:t>
            </a:r>
            <a:endParaRPr lang="en-US" sz="2000" dirty="0"/>
          </a:p>
        </p:txBody>
      </p:sp>
      <p:sp>
        <p:nvSpPr>
          <p:cNvPr id="31" name="Text 28"/>
          <p:cNvSpPr txBox="1"/>
          <p:nvPr/>
        </p:nvSpPr>
        <p:spPr>
          <a:xfrm>
            <a:off x="7155180" y="3387852"/>
            <a:ext cx="1497330" cy="1385316"/>
          </a:xfrm>
          <a:prstGeom prst="rect">
            <a:avLst/>
          </a:prstGeom>
          <a:noFill/>
          <a:ln/>
        </p:spPr>
        <p:txBody>
          <a:bodyPr wrap="square" lIns="0" tIns="0" rIns="0" bIns="0" rtlCol="0" anchor="ctr"/>
          <a:lstStyle/>
          <a:p>
            <a:pPr marL="0" indent="0">
              <a:buNone/>
            </a:pPr>
            <a:r>
              <a:rPr lang="en-US" sz="2200" b="1" dirty="0">
                <a:solidFill>
                  <a:schemeClr val="tx1"/>
                </a:solidFill>
              </a:rPr>
              <a:t>Gợi ý video</a:t>
            </a:r>
            <a:endParaRPr lang="en-US" sz="2200" dirty="0"/>
          </a:p>
        </p:txBody>
      </p:sp>
      <p:sp>
        <p:nvSpPr>
          <p:cNvPr id="32" name="Shape 29"/>
          <p:cNvSpPr/>
          <p:nvPr/>
        </p:nvSpPr>
        <p:spPr>
          <a:xfrm>
            <a:off x="9018270" y="3314700"/>
            <a:ext cx="259461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33" name="Shape 30"/>
          <p:cNvSpPr/>
          <p:nvPr/>
        </p:nvSpPr>
        <p:spPr>
          <a:xfrm>
            <a:off x="920115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34" name="Text 31"/>
          <p:cNvSpPr txBox="1"/>
          <p:nvPr/>
        </p:nvSpPr>
        <p:spPr>
          <a:xfrm>
            <a:off x="920115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8</a:t>
            </a:r>
            <a:endParaRPr lang="en-US" sz="2000" dirty="0"/>
          </a:p>
        </p:txBody>
      </p:sp>
      <p:sp>
        <p:nvSpPr>
          <p:cNvPr id="35" name="Text 32"/>
          <p:cNvSpPr txBox="1"/>
          <p:nvPr/>
        </p:nvSpPr>
        <p:spPr>
          <a:xfrm>
            <a:off x="9978390" y="3387852"/>
            <a:ext cx="1497330" cy="1385316"/>
          </a:xfrm>
          <a:prstGeom prst="rect">
            <a:avLst/>
          </a:prstGeom>
          <a:noFill/>
          <a:ln/>
        </p:spPr>
        <p:txBody>
          <a:bodyPr wrap="square" lIns="0" tIns="0" rIns="0" bIns="0" rtlCol="0" anchor="ctr"/>
          <a:lstStyle/>
          <a:p>
            <a:pPr marL="0" indent="0">
              <a:buNone/>
            </a:pPr>
            <a:r>
              <a:rPr lang="en-US" sz="2200" b="1" dirty="0">
                <a:solidFill>
                  <a:schemeClr val="tx1"/>
                </a:solidFill>
              </a:rPr>
              <a:t>Bảng tính tính điểm trung bình</a:t>
            </a:r>
            <a:endParaRPr lang="en-US" sz="2200" dirty="0"/>
          </a:p>
        </p:txBody>
      </p:sp>
      <p:sp>
        <p:nvSpPr>
          <p:cNvPr id="36" name="Shape 33"/>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37" name="Text 34"/>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Học từ dữ liệu, hay chỉ làm theo quy tắc cố định?</a:t>
            </a:r>
            <a:endParaRPr lang="en-US" sz="28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Một nơ-ron: </a:t>
            </a:r>
            <a:r>
              <a:rPr lang="en-US" sz="3200" b="1" dirty="0">
                <a:solidFill>
                  <a:schemeClr val="tx2"/>
                </a:solidFill>
              </a:rPr>
              <a:t>nhân</a:t>
            </a:r>
            <a:r>
              <a:rPr lang="en-US" sz="3200" dirty="0">
                <a:solidFill>
                  <a:schemeClr val="tx1"/>
                </a:solidFill>
              </a:rPr>
              <a:t> với trọng số, </a:t>
            </a:r>
            <a:r>
              <a:rPr lang="en-US" sz="3200" b="1" dirty="0">
                <a:solidFill>
                  <a:schemeClr val="tx2"/>
                </a:solidFill>
              </a:rPr>
              <a:t>cộng</a:t>
            </a:r>
            <a:r>
              <a:rPr lang="en-US" sz="3200" dirty="0">
                <a:solidFill>
                  <a:schemeClr val="tx1"/>
                </a:solidFill>
              </a:rPr>
              <a:t> lại, </a:t>
            </a:r>
            <a:r>
              <a:rPr lang="en-US" sz="3200" b="1" dirty="0">
                <a:solidFill>
                  <a:schemeClr val="tx2"/>
                </a:solidFill>
              </a:rPr>
              <a:t>so</a:t>
            </a:r>
            <a:r>
              <a:rPr lang="en-US" sz="3200" dirty="0">
                <a:solidFill>
                  <a:schemeClr val="tx1"/>
                </a:solidFill>
              </a:rPr>
              <a:t> với ngưỡng</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Mạng nơ-ron: nhiều nơ-ron xếp thành </a:t>
            </a:r>
            <a:r>
              <a:rPr lang="en-US" sz="3200" b="1" dirty="0">
                <a:solidFill>
                  <a:schemeClr val="tx2"/>
                </a:solidFill>
              </a:rPr>
              <a:t>lớp vào, lớp ẩn, lớp ra</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Huấn luyện là </a:t>
            </a:r>
            <a:r>
              <a:rPr lang="en-US" sz="3200" b="1" dirty="0">
                <a:solidFill>
                  <a:schemeClr val="tx2"/>
                </a:solidFill>
              </a:rPr>
              <a:t>chỉnh trọng số</a:t>
            </a:r>
            <a:r>
              <a:rPr lang="en-US" sz="3200" dirty="0">
                <a:solidFill>
                  <a:schemeClr val="tx1"/>
                </a:solidFill>
              </a:rPr>
              <a:t> dựa trên nhiều ví dụ có đáp án</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Hợp với việc </a:t>
            </a:r>
            <a:r>
              <a:rPr lang="en-US" sz="3200" b="1" dirty="0">
                <a:solidFill>
                  <a:schemeClr val="tx2"/>
                </a:solidFill>
              </a:rPr>
              <a:t>khó viết quy tắc mà có nhiều ví dụ</a:t>
            </a:r>
            <a:r>
              <a:rPr lang="en-US" sz="3200" dirty="0">
                <a:solidFill>
                  <a:schemeClr val="tx1"/>
                </a:solidFill>
              </a:rPr>
              <a:t>; kết quả vẫn có thể sai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Nêu ba ứng dụng của mạng nơ-ron nhân tạo ở ba lĩnh vực khác nhau. Với mỗi ứng dụng, ghi đầu vào và đầu ra.</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Vì sao nhận dạng chữ viết tay thường dùng mạng nơ-ron thay vì viết sẵn các quy tắc?</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40" name="Picture 39">
            <a:extLst>
              <a:ext uri="{FF2B5EF4-FFF2-40B4-BE49-F238E27FC236}">
                <a16:creationId xmlns:a16="http://schemas.microsoft.com/office/drawing/2014/main" id="{89A7351B-B717-C7D6-1B54-81AA1B57E5E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2393388564"/>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1677</Words>
  <Application>Microsoft Office PowerPoint</Application>
  <PresentationFormat>Widescreen</PresentationFormat>
  <Paragraphs>203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Mạng nơ-ron nhân tạo và những ứng dụng quanh ta</vt:lpstr>
      <vt:lpstr>Hôm nay chúng ta làm gì?</vt:lpstr>
      <vt:lpstr>Số 1 hay số 7?</vt:lpstr>
      <vt:lpstr>Quy tắc nào cũng có ngoại lệ</vt:lpstr>
      <vt:lpstr>Từ một nơ-ron đến một mạng</vt:lpstr>
      <vt:lpstr>Nơ-ron giấy: sáng nay Bình có đi xe đạp không?</vt:lpstr>
      <vt:lpstr>Em là nơ-ron: thử tính bốn buổi sáng</vt:lpstr>
      <vt:lpstr>Đáp án: chỉ cần nhân, cộng và so sánh</vt:lpstr>
      <vt:lpstr>Nơ-ron “học” bằng cách chỉnh trọng số</vt:lpstr>
      <vt:lpstr>Từ một nơ-ron đến một mạng ba lớp</vt:lpstr>
      <vt:lpstr>Ba đặc điểm cần nhớ</vt:lpstr>
      <vt:lpstr>Mạng nơ-ron ở quanh ta</vt:lpstr>
      <vt:lpstr>Nhiệm vụ nhóm: bảng ứng dụng theo lĩnh vực</vt:lpstr>
      <vt:lpstr>Trò chơi: có hay không có mạng nơ-ron?</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11.10. Mạng nơ-ron nhân tạo và những ứng dụng quanh ta</dc:title>
  <dc:subject>Trí tuệ nhân tạo</dc:subject>
  <cp:lastModifiedBy>Phạm Văn Tú</cp:lastModifiedBy>
  <cp:revision>1</cp:revision>
  <dcterms:created xsi:type="dcterms:W3CDTF">2026-10-08T11:06:08Z</dcterms:created>
  <dcterms:modified xsi:type="dcterms:W3CDTF">2026-10-10T03:38:24Z</dcterms:modified>
  <dc:description>Email: phamtund@gmail.com</dc:description>
  <dc:creator>Phạm Văn Tú</dc:creator>
  <cp:category>Trí tuệ nhân tạo</cp:category>
  <cp:keywords>Trí tuệ nhân tạo</cp:keywords>
</cp:coreProperties>
</file>