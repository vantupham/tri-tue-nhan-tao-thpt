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612F85C-783D-0C7C-6E5A-C40C78AFB879}">
          <p14:sldIdLst>
            <p14:sldId id="256"/>
            <p14:sldId id="257"/>
            <p14:sldId id="258"/>
          </p14:sldIdLst>
        </p14:section>
        <p14:section name="Năm khâu của việc học" id="{0585E41A-B85F-3CC4-393D-550B92BFC1B5}">
          <p14:sldIdLst>
            <p14:sldId id="259"/>
            <p14:sldId id="260"/>
            <p14:sldId id="261"/>
            <p14:sldId id="262"/>
            <p14:sldId id="263"/>
          </p14:sldIdLst>
        </p14:section>
        <p14:section name="Phân tích hội thoại" id="{534F778A-1FF8-D9BD-FE0D-8F6D020135FC}">
          <p14:sldIdLst>
            <p14:sldId id="264"/>
            <p14:sldId id="265"/>
            <p14:sldId id="266"/>
            <p14:sldId id="267"/>
            <p14:sldId id="268"/>
            <p14:sldId id="269"/>
          </p14:sldIdLst>
        </p14:section>
        <p14:section name="Tổng kết" id="{DFD20BEF-0CD4-1607-03BB-2E1BCDEC64A9}">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43DC1-B520-4279-9713-A83F470677E7}" v="1" dt="2026-10-10T03:36:08.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6:08.959" v="3"/>
      <pc:docMkLst>
        <pc:docMk/>
      </pc:docMkLst>
      <pc:sldChg chg="modSp mod">
        <pc:chgData name="Phạm Văn Tú" userId="67199c852bdd6d1b" providerId="LiveId" clId="{CB377567-0116-4044-BB7C-6E46B7A5C596}" dt="2026-10-10T03:35:55.942" v="2" actId="20577"/>
        <pc:sldMkLst>
          <pc:docMk/>
          <pc:sldMk cId="0" sldId="256"/>
        </pc:sldMkLst>
        <pc:spChg chg="mod">
          <ac:chgData name="Phạm Văn Tú" userId="67199c852bdd6d1b" providerId="LiveId" clId="{CB377567-0116-4044-BB7C-6E46B7A5C596}" dt="2026-10-10T03:35:55.942" v="2" actId="20577"/>
          <ac:spMkLst>
            <pc:docMk/>
            <pc:sldMk cId="0" sldId="256"/>
            <ac:spMk id="3" creationId="{00000000-0000-0000-0000-000000000000}"/>
          </ac:spMkLst>
        </pc:spChg>
      </pc:sldChg>
      <pc:sldChg chg="add">
        <pc:chgData name="Phạm Văn Tú" userId="67199c852bdd6d1b" providerId="LiveId" clId="{CB377567-0116-4044-BB7C-6E46B7A5C596}" dt="2026-10-10T03:36:08.959" v="3"/>
        <pc:sldMkLst>
          <pc:docMk/>
          <pc:sldMk cId="129775380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582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ba đoạn hội thoại (gia sư Toán, luyện nói tiếng Anh, thẻ ghi nhớ), Phiếu phân tích,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Câu hỏi của học sinh: giải giúp em phương trình x² − 5x + 6 = 0. Học sinh chọn và nêu lí do. Chốt: hai kiểu phản hồi là kết quả của hai cách thiết kế, hai cách sử dụng.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bắt đầu. Hỏi: khi học một bài mới, em trải qua những việc gì?</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Dựng năm khâu từ câu trả lời của lớp, rồi chiếu hình. Mời học sinh nêu cách đã dùng AI và xếp vào từng khâu. Nhấn dòng nền màu: AI giải thích mười lần, nhưng 'hiểu' phải xảy ra trong đầu em. Dễ nhầm: 'AI hỗ trợ học tập nghĩa là AI giải bài'; giải bài chỉ thuộc khâu 3 và là phần người học nên tự làm.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Rút ra từ công cụ thứ hai ở phần mở đầu: nó 'tốt' ở những điểm nào? Học sinh ghi sáu nguyên tắc kèm số thứ tự; sẽ dùng số để đánh dấu hội thoại.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với gần 1.000 học sinh trung học học Toán (Bastani và cộng sự, 2024; dẫn theo Knowledge at Wharton). Minh chứng cho nguyên tắc 1 và 4. Một nghiên cứu, không khái quát cho mọi trường hợp.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1, 2, 3, 4. Nguyên tắc 5 tự làm bằng bước kiểm chứng; nguyên tắc 6 kiểm tra ở phần cài đặt (Bài 11.5). Nhiều trợ lí AI hiện có chế độ học tập hoặc gia sư; nhưng người dùng cũng tự tạo được bằng câu lệnh.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Mỗi đoạn hội thoại có hai nhóm phân tích.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mẫu nhanh với ví dụ luyện viết trong Tài liệu học tập: AI hỏi gợi mở (nguyên tắc 1, 3, 4) nhưng lượt cuối khen quá mức, không căn cứ (vi phạm 3 và 5). AI khen sai cũng có hại như chỉ sai; khi AI khen, hỏi lại: dựa vào tiêu chí nào?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báo cáo. Ví dụ đoạn thẻ ghi nhớ: AI chỉ báo 'Sai' rồi chuyển thẻ (thiếu nguyên tắc 3), lặp lại cả thẻ đã thuộc (thiếu nguyên tắc 2). Phiếu phân tích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hoạt động 3: công cụ tốt là công cụ làm người học phải nghĩ nhiều hơn chứ không ít đi. Sáu nguyên tắc sẽ dùng lại ở Bài 11.7.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với câu hỏi “Em tự cài được kiểu phản hồi không?”. Hai em đọc câu lệnh của mình.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Vận dụng cá nhân, viết hai dòng vào vở.</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(thử một buổi học 20 phút với câu lệnh gia sư, mang ghi chép đến Bài 11.7).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85485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11.6 · AI hỗ trợ việc học như thế nào?</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AI hỗ trợ việc học như thế nào?</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11.6 · Chuyên đề 11.3: AI trong học tập và kĩ thuật prompt nâng cao</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Trình bày</a:t>
            </a:r>
            <a:r>
              <a:rPr lang="en-US" sz="2800" dirty="0">
                <a:solidFill>
                  <a:schemeClr val="tx1"/>
                </a:solidFill>
              </a:rPr>
              <a:t> AI hỗ trợ những khâu nào của việc học</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sáu nguyên tắc của một công cụ học tập tốt</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tích</a:t>
            </a:r>
            <a:r>
              <a:rPr lang="en-US" sz="2800" dirty="0">
                <a:solidFill>
                  <a:schemeClr val="tx1"/>
                </a:solidFill>
              </a:rPr>
              <a:t> một đoạn hội thoại giữa người học và AI</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Hai kiểu phản hồi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14'</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Năm khâu, sáu nguyên tắc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Phân tích hội thoại</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Cùng một câu hỏi, hai kiểu phản hồi</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Công cụ thứ nhất</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“Phương trình có hai nghiệm x = 2 và x = 3.”</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Công cụ thứ hai</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“Em thử tìm hai số có tổng bằng 5 và tích bằng 6 xem. Em tìm được hai số nào?”</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400" b="1" dirty="0">
                <a:solidFill>
                  <a:schemeClr val="tx1"/>
                </a:solidFill>
              </a:rPr>
              <a:t>Đang vội, em thích công cụ nào? Tuần sau kiểm tra, công cụ nào giúp hơn?</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Năm khâu của việc học</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14 phút</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Ở khâu nào cũng có phần chỉ em làm được</a:t>
            </a:r>
            <a:endParaRPr lang="en-US" sz="3800" dirty="0"/>
          </a:p>
        </p:txBody>
      </p:sp>
      <p:pic>
        <p:nvPicPr>
          <p:cNvPr id="4" name="Image 0" descr="Ở khâu nào cũng có phần chỉ em làm được"/>
          <p:cNvPicPr>
            <a:picLocks noChangeAspect="1"/>
          </p:cNvPicPr>
          <p:nvPr/>
        </p:nvPicPr>
        <p:blipFill>
          <a:blip r:embed="rId3"/>
          <a:stretch>
            <a:fillRect/>
          </a:stretch>
        </p:blipFill>
        <p:spPr>
          <a:xfrm>
            <a:off x="3184518" y="1463040"/>
            <a:ext cx="5792483"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nguyên tắc của một công cụ học tập tốt</a:t>
            </a:r>
            <a:endParaRPr lang="en-US" sz="3800" dirty="0"/>
          </a:p>
        </p:txBody>
      </p:sp>
      <p:sp>
        <p:nvSpPr>
          <p:cNvPr id="4" name="Shape 1"/>
          <p:cNvSpPr/>
          <p:nvPr/>
        </p:nvSpPr>
        <p:spPr>
          <a:xfrm>
            <a:off x="54864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Gợi mở từng bước, không đưa đáp án ngay</a:t>
            </a:r>
            <a:endParaRPr lang="en-US" sz="2600" dirty="0"/>
          </a:p>
        </p:txBody>
      </p:sp>
      <p:sp>
        <p:nvSpPr>
          <p:cNvPr id="8" name="Shape 5"/>
          <p:cNvSpPr/>
          <p:nvPr/>
        </p:nvSpPr>
        <p:spPr>
          <a:xfrm>
            <a:off x="619506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Điều chỉnh theo trình độ của từng người</a:t>
            </a:r>
            <a:endParaRPr lang="en-US" sz="2600" dirty="0"/>
          </a:p>
        </p:txBody>
      </p:sp>
      <p:sp>
        <p:nvSpPr>
          <p:cNvPr id="12" name="Shape 9"/>
          <p:cNvSpPr/>
          <p:nvPr/>
        </p:nvSpPr>
        <p:spPr>
          <a:xfrm>
            <a:off x="54864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16687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Phản hồi kịp thời, cụ thể, nêu vì sao</a:t>
            </a:r>
            <a:endParaRPr lang="en-US" sz="2600" dirty="0"/>
          </a:p>
        </p:txBody>
      </p:sp>
      <p:sp>
        <p:nvSpPr>
          <p:cNvPr id="16" name="Shape 13"/>
          <p:cNvSpPr/>
          <p:nvPr/>
        </p:nvSpPr>
        <p:spPr>
          <a:xfrm>
            <a:off x="619506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16687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Người học giữ quyền chủ động</a:t>
            </a:r>
            <a:endParaRPr lang="en-US" sz="2600" dirty="0"/>
          </a:p>
        </p:txBody>
      </p:sp>
      <p:sp>
        <p:nvSpPr>
          <p:cNvPr id="20" name="Shape 17"/>
          <p:cNvSpPr/>
          <p:nvPr/>
        </p:nvSpPr>
        <p:spPr>
          <a:xfrm>
            <a:off x="54864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470611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Cho phép kiểm chứng, nhận khi không chắc</a:t>
            </a:r>
            <a:endParaRPr lang="en-US" sz="2600" dirty="0"/>
          </a:p>
        </p:txBody>
      </p:sp>
      <p:sp>
        <p:nvSpPr>
          <p:cNvPr id="24" name="Shape 21"/>
          <p:cNvSpPr/>
          <p:nvPr/>
        </p:nvSpPr>
        <p:spPr>
          <a:xfrm>
            <a:off x="619506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4706112"/>
            <a:ext cx="4320540" cy="1164336"/>
          </a:xfrm>
          <a:prstGeom prst="rect">
            <a:avLst/>
          </a:prstGeom>
          <a:noFill/>
          <a:ln/>
        </p:spPr>
        <p:txBody>
          <a:bodyPr wrap="square" lIns="0" tIns="0" rIns="0" bIns="0" rtlCol="0" anchor="ctr"/>
          <a:lstStyle/>
          <a:p>
            <a:pPr marL="0" indent="0">
              <a:buNone/>
            </a:pPr>
            <a:r>
              <a:rPr lang="en-US" sz="2600" b="1" dirty="0">
                <a:solidFill>
                  <a:schemeClr val="tx1"/>
                </a:solidFill>
              </a:rPr>
              <a:t>An toàn, minh bạch về dữ liệu</a:t>
            </a:r>
            <a:endParaRPr lang="en-US" sz="26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Cùng công nghệ, hai thiết kế, hai kết quả</a:t>
            </a:r>
            <a:endParaRPr lang="en-US" sz="3800" dirty="0"/>
          </a:p>
        </p:txBody>
      </p:sp>
      <p:sp>
        <p:nvSpPr>
          <p:cNvPr id="4" name="Shape 1"/>
          <p:cNvSpPr/>
          <p:nvPr/>
        </p:nvSpPr>
        <p:spPr>
          <a:xfrm>
            <a:off x="548640" y="1554480"/>
            <a:ext cx="5394960" cy="352044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Trả lời thẳng</a:t>
            </a:r>
            <a:endParaRPr lang="en-US" sz="2400" dirty="0"/>
          </a:p>
          <a:p>
            <a:pPr marL="0" indent="0">
              <a:spcAft>
                <a:spcPts val="800"/>
              </a:spcAft>
              <a:buNone/>
            </a:pPr>
            <a:r>
              <a:rPr lang="en-US" sz="2400" dirty="0">
                <a:solidFill>
                  <a:schemeClr val="tx1"/>
                </a:solidFill>
              </a:rPr>
              <a:t>Luyện tập tốt hơn 48%, nhưng kiểm tra không có AI kém hơn 17%.</a:t>
            </a:r>
            <a:endParaRPr lang="en-US" sz="2400" dirty="0"/>
          </a:p>
        </p:txBody>
      </p:sp>
      <p:sp>
        <p:nvSpPr>
          <p:cNvPr id="6" name="Shape 3"/>
          <p:cNvSpPr/>
          <p:nvPr/>
        </p:nvSpPr>
        <p:spPr>
          <a:xfrm>
            <a:off x="6217920" y="1554480"/>
            <a:ext cx="5394960" cy="3520440"/>
          </a:xfrm>
          <a:prstGeom prst="roundRect">
            <a:avLst>
              <a:gd name="adj" fmla="val 3117"/>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Chỉ gợi ý</a:t>
            </a:r>
            <a:endParaRPr lang="en-US" sz="2400" dirty="0"/>
          </a:p>
          <a:p>
            <a:pPr marL="0" indent="0">
              <a:spcAft>
                <a:spcPts val="800"/>
              </a:spcAft>
              <a:buNone/>
            </a:pPr>
            <a:r>
              <a:rPr lang="en-US" sz="2400" dirty="0">
                <a:solidFill>
                  <a:schemeClr val="bg1"/>
                </a:solidFill>
              </a:rPr>
              <a:t>Luyện tập tốt hơn 127%, kiểm tra không bị kém đi.</a:t>
            </a:r>
            <a:endParaRPr lang="en-US" sz="2400" dirty="0"/>
          </a:p>
        </p:txBody>
      </p:sp>
      <p:sp>
        <p:nvSpPr>
          <p:cNvPr id="8" name="Shape 5"/>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Thiết kế gợi mở làm người học phải nghĩ nhiều hơn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Em tự cài được kiểu phản hồi “gia sư”</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“Em là học sinh lớp 11 đang ôn phương trình lượng giác. Hãy đóng vai gia sư: không đưa lời giải, mỗi lần chỉ hỏi em một câu hoặc cho một gợi ý nhỏ, chờ em trả lời rồi mới đi tiếp. Nếu em sai, hãy chỉ ra em sai ở bước nào và vì sao.”</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Câu lệnh này cài được những nguyên tắc nào?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Phân tích hội thoại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Sáu nhóm, ba đoạn hội thoại</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câu hỏi để soi một đoạn hội thoại</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AI đang hỗ trợ </a:t>
            </a:r>
            <a:r>
              <a:rPr lang="en-US" sz="3200" b="1" dirty="0">
                <a:solidFill>
                  <a:schemeClr val="tx2"/>
                </a:solidFill>
              </a:rPr>
              <a:t>khâu nào</a:t>
            </a:r>
            <a:r>
              <a:rPr lang="en-US" sz="3200" dirty="0">
                <a:solidFill>
                  <a:schemeClr val="tx1"/>
                </a:solidFill>
              </a:rPr>
              <a:t>?</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Thể hiện </a:t>
            </a:r>
            <a:r>
              <a:rPr lang="en-US" sz="3200" b="1" dirty="0">
                <a:solidFill>
                  <a:schemeClr val="tx2"/>
                </a:solidFill>
              </a:rPr>
              <a:t>nguyên tắc nào</a:t>
            </a:r>
            <a:r>
              <a:rPr lang="en-US" sz="3200" dirty="0">
                <a:solidFill>
                  <a:schemeClr val="tx1"/>
                </a:solidFill>
              </a:rPr>
              <a:t>, ở lượt lời nào?</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Nguyên tắc nào </a:t>
            </a:r>
            <a:r>
              <a:rPr lang="en-US" sz="3200" b="1" dirty="0">
                <a:solidFill>
                  <a:schemeClr val="tx2"/>
                </a:solidFill>
              </a:rPr>
              <a:t>thiếu hoặc bị vi phạm</a:t>
            </a:r>
            <a:r>
              <a:rPr lang="en-US" sz="3200" dirty="0">
                <a:solidFill>
                  <a:schemeClr val="tx1"/>
                </a:solidFill>
              </a:rPr>
              <a:t>?</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Ai</a:t>
            </a:r>
            <a:r>
              <a:rPr lang="en-US" sz="3200" dirty="0">
                <a:solidFill>
                  <a:schemeClr val="tx1"/>
                </a:solidFill>
              </a:rPr>
              <a:t> đang là người suy nghĩ?</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soi đoạn hội thoại</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Đánh dấu từng lượt lời của AI bằng số của nguyên tắc</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đoạn hội thoại của nhóm</a:t>
            </a:r>
            <a:endParaRPr lang="en-US" sz="2800" dirty="0"/>
          </a:p>
          <a:p>
            <a:pPr marL="342900" indent="-342900">
              <a:spcAft>
                <a:spcPts val="1200"/>
              </a:spcAft>
              <a:buSzPct val="100000"/>
              <a:buFont typeface="+mj-lt"/>
              <a:buAutoNum type="arabicPeriod"/>
            </a:pPr>
            <a:r>
              <a:rPr lang="en-US" sz="2800" dirty="0">
                <a:solidFill>
                  <a:schemeClr val="tx1"/>
                </a:solidFill>
              </a:rPr>
              <a:t>Trả lời bốn câu hỏi trên Phiếu phân tích</a:t>
            </a:r>
            <a:endParaRPr lang="en-US" sz="2800" dirty="0"/>
          </a:p>
          <a:p>
            <a:pPr marL="342900" indent="-342900">
              <a:spcAft>
                <a:spcPts val="1200"/>
              </a:spcAft>
              <a:buSzPct val="100000"/>
              <a:buFont typeface="+mj-lt"/>
              <a:buAutoNum type="arabicPeriod"/>
            </a:pPr>
            <a:r>
              <a:rPr lang="en-US" sz="2800" dirty="0">
                <a:solidFill>
                  <a:schemeClr val="tx1"/>
                </a:solidFill>
              </a:rPr>
              <a:t>Tìm điểm chưa tốt được cài sẵn và đề xuất cải tiến</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Gợi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Mỗi đoạn đều có một điểm chưa tốt. Hãy tìm xem AI thiếu giải thích, thiếu cá nhân hóa hay làm thay ở đâu.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Câu hỏi để soi mọi cách dùng</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Công cụ thay đổi rất nhanh.</a:t>
            </a:r>
            <a:endParaRPr lang="en-US" sz="2400" dirty="0"/>
          </a:p>
          <a:p>
            <a:pPr marL="0" indent="0">
              <a:buNone/>
            </a:pPr>
            <a:endParaRPr lang="en-US" sz="2400" dirty="0"/>
          </a:p>
          <a:p>
            <a:pPr marL="0" indent="0">
              <a:buNone/>
            </a:pPr>
            <a:r>
              <a:rPr lang="en-US" sz="2400" dirty="0">
                <a:solidFill>
                  <a:schemeClr val="tx1"/>
                </a:solidFill>
              </a:rPr>
              <a:t>Thầy cô biết em đã tiến bộ thế nào, biết hôm nay em mệt. Một bạn cùng lớp giải thích bằng đúng ví dụ mà chỉ lớp mình hiểu.</a:t>
            </a:r>
            <a:endParaRPr lang="en-US" sz="2400" dirty="0"/>
          </a:p>
          <a:p>
            <a:pPr marL="0" indent="0">
              <a:buNone/>
            </a:pPr>
            <a:endParaRPr lang="en-US" sz="2400" dirty="0"/>
          </a:p>
          <a:p>
            <a:pPr marL="0" indent="0">
              <a:buNone/>
            </a:pPr>
            <a:r>
              <a:rPr lang="en-US" sz="2400" dirty="0">
                <a:solidFill>
                  <a:schemeClr val="tx1"/>
                </a:solidFill>
              </a:rPr>
              <a:t>AI hỗ trợ việc học, nhưng việc học vẫn diễn ra giữa những con người.</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Trong lúc này, ai đang là người suy nghĩ?</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viết câu lệnh “người hướng dẫn”</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5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Viết một câu lệnh để AI hướng dẫn em học, không đưa đáp án ngay</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Yêu cầu AI hỏi lại em trước khi giải thích</a:t>
            </a:r>
            <a:endParaRPr lang="en-US" sz="2800" dirty="0"/>
          </a:p>
          <a:p>
            <a:pPr marL="342900" indent="-342900">
              <a:spcAft>
                <a:spcPts val="1200"/>
              </a:spcAft>
              <a:buSzPct val="100000"/>
              <a:buFont typeface="+mj-lt"/>
              <a:buAutoNum type="arabicPeriod"/>
            </a:pPr>
            <a:r>
              <a:rPr lang="en-US" sz="2800" dirty="0">
                <a:solidFill>
                  <a:schemeClr val="tx1"/>
                </a:solidFill>
              </a:rPr>
              <a:t>Yêu cầu gợi ý từng bước</a:t>
            </a:r>
            <a:endParaRPr lang="en-US" sz="2800" dirty="0"/>
          </a:p>
          <a:p>
            <a:pPr marL="342900" indent="-342900">
              <a:spcAft>
                <a:spcPts val="1200"/>
              </a:spcAft>
              <a:buSzPct val="100000"/>
              <a:buFont typeface="+mj-lt"/>
              <a:buAutoNum type="arabicPeriod"/>
            </a:pPr>
            <a:r>
              <a:rPr lang="en-US" sz="2800" dirty="0">
                <a:solidFill>
                  <a:schemeClr val="tx1"/>
                </a:solidFill>
              </a:rPr>
              <a:t>Chỉ xác nhận sau khi em đã thử</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Lưu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Viết trên giấy. Không đưa dữ liệu cá nhân vào câu lệnh.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Kế hoạch cho tuần này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Tuần này em có một bài khó ở một môn học.</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Em sẽ nhờ AI giúp ở khâu nào trong năm khâu của việc học, và tự làm khâu nào?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Việc học có </a:t>
            </a:r>
            <a:r>
              <a:rPr lang="en-US" sz="3200" b="1" dirty="0">
                <a:solidFill>
                  <a:schemeClr val="tx2"/>
                </a:solidFill>
              </a:rPr>
              <a:t>năm khâu</a:t>
            </a:r>
            <a:r>
              <a:rPr lang="en-US" sz="3200" dirty="0">
                <a:solidFill>
                  <a:schemeClr val="tx1"/>
                </a:solidFill>
              </a:rPr>
              <a:t>; khâu nào cũng có phần của em</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Sáu nguyên tắc</a:t>
            </a:r>
            <a:r>
              <a:rPr lang="en-US" sz="3200" dirty="0">
                <a:solidFill>
                  <a:schemeClr val="tx1"/>
                </a:solidFill>
              </a:rPr>
              <a:t> của công cụ tốt, đầu tiên là gợi mở</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Em có thể </a:t>
            </a:r>
            <a:r>
              <a:rPr lang="en-US" sz="3200" b="1" dirty="0">
                <a:solidFill>
                  <a:schemeClr val="tx2"/>
                </a:solidFill>
              </a:rPr>
              <a:t>tự cài</a:t>
            </a:r>
            <a:r>
              <a:rPr lang="en-US" sz="3200" dirty="0">
                <a:solidFill>
                  <a:schemeClr val="tx1"/>
                </a:solidFill>
              </a:rPr>
              <a:t> kiểu phản hồi gia sư bằng câu lệnh</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Luôn hỏi: </a:t>
            </a:r>
            <a:r>
              <a:rPr lang="en-US" sz="3200" b="1" dirty="0">
                <a:solidFill>
                  <a:schemeClr val="tx2"/>
                </a:solidFill>
              </a:rPr>
              <a:t>ai đang là người suy nghĩ?</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400" dirty="0">
                <a:solidFill>
                  <a:schemeClr val="tx1"/>
                </a:solidFill>
              </a:rPr>
              <a:t>Chọn một môn em đang học. Nêu cách AI có thể hỗ trợ em ở hai khâu khác nhau của việc học, và phần em phải tự làm ở mỗi khâu.</a:t>
            </a:r>
            <a:endParaRPr lang="en-US" sz="24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công cụ AI hỗ trợ học tập cần được thiết kế thế nào để người học thật sự tiến bộ? Nêu hai nguyên tắc em cho là quan trọng nhất và giải thích ngắn gọn.</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297753801"/>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1479</Words>
  <Application>Microsoft Office PowerPoint</Application>
  <PresentationFormat>Widescreen</PresentationFormat>
  <Paragraphs>153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AI hỗ trợ việc học như thế nào?</vt:lpstr>
      <vt:lpstr>Hôm nay chúng ta làm gì?</vt:lpstr>
      <vt:lpstr>Cùng một câu hỏi, hai kiểu phản hồi</vt:lpstr>
      <vt:lpstr>Năm khâu của việc học</vt:lpstr>
      <vt:lpstr>Ở khâu nào cũng có phần chỉ em làm được</vt:lpstr>
      <vt:lpstr>Sáu nguyên tắc của một công cụ học tập tốt</vt:lpstr>
      <vt:lpstr>Cùng công nghệ, hai thiết kế, hai kết quả</vt:lpstr>
      <vt:lpstr>Em tự cài được kiểu phản hồi “gia sư”</vt:lpstr>
      <vt:lpstr>Phân tích hội thoại</vt:lpstr>
      <vt:lpstr>Bốn câu hỏi để soi một đoạn hội thoại</vt:lpstr>
      <vt:lpstr>Nhiệm vụ nhóm: soi đoạn hội thoại</vt:lpstr>
      <vt:lpstr>Câu hỏi để soi mọi cách dùng</vt:lpstr>
      <vt:lpstr>Nhiệm vụ 2: viết câu lệnh “người hướng dẫn”</vt:lpstr>
      <vt:lpstr>Kế hoạch cho tuần này</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11.6. AI hỗ trợ việc học như thế nào?</dc:title>
  <dc:subject>Trí tuệ nhân tạo</dc:subject>
  <cp:lastModifiedBy>Phạm Văn Tú</cp:lastModifiedBy>
  <cp:revision>1</cp:revision>
  <dcterms:created xsi:type="dcterms:W3CDTF">2026-10-08T11:06:02Z</dcterms:created>
  <dcterms:modified xsi:type="dcterms:W3CDTF">2026-10-10T03:36:09Z</dcterms:modified>
  <dc:description>Email: phamtund@gmail.com</dc:description>
  <dc:creator>Phạm Văn Tú</dc:creator>
  <cp:category>Trí tuệ nhân tạo</cp:category>
  <cp:keywords>Trí tuệ nhân tạo</cp:keywords>
</cp:coreProperties>
</file>