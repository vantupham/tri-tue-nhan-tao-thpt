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8E1D6626-DA8A-772E-2E95-B96B4AE61AED}">
          <p14:sldIdLst>
            <p14:sldId id="256"/>
            <p14:sldId id="257"/>
            <p14:sldId id="258"/>
            <p14:sldId id="259"/>
          </p14:sldIdLst>
        </p14:section>
        <p14:section name="Hai trò chơi dữ liệu" id="{1EEB32E9-D7E0-80EA-7EBA-E7E3575D2D37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Ứng dụng nào dùng gì?" id="{1DE6F558-D887-1C1D-3360-3E2A71505F7C}">
          <p14:sldIdLst>
            <p14:sldId id="266"/>
            <p14:sldId id="267"/>
            <p14:sldId id="268"/>
            <p14:sldId id="269"/>
          </p14:sldIdLst>
        </p14:section>
        <p14:section name="Tổng kết" id="{C539B162-1257-3227-EF56-4E80F01F7831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E1FCB-9321-45F8-BC6D-DD404D89A50B}" v="1" dt="2026-10-10T03:38:59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Văn Tú" userId="67199c852bdd6d1b" providerId="LiveId" clId="{CB377567-0116-4044-BB7C-6E46B7A5C596}"/>
    <pc:docChg chg="addSld modSld">
      <pc:chgData name="Phạm Văn Tú" userId="67199c852bdd6d1b" providerId="LiveId" clId="{CB377567-0116-4044-BB7C-6E46B7A5C596}" dt="2026-10-10T03:38:59.020" v="3"/>
      <pc:docMkLst>
        <pc:docMk/>
      </pc:docMkLst>
      <pc:sldChg chg="modSp mod">
        <pc:chgData name="Phạm Văn Tú" userId="67199c852bdd6d1b" providerId="LiveId" clId="{CB377567-0116-4044-BB7C-6E46B7A5C596}" dt="2026-10-10T03:38:45.374" v="2" actId="20577"/>
        <pc:sldMkLst>
          <pc:docMk/>
          <pc:sldMk cId="0" sldId="256"/>
        </pc:sldMkLst>
        <pc:spChg chg="mod">
          <ac:chgData name="Phạm Văn Tú" userId="67199c852bdd6d1b" providerId="LiveId" clId="{CB377567-0116-4044-BB7C-6E46B7A5C596}" dt="2026-10-10T03:38:45.374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">
        <pc:chgData name="Phạm Văn Tú" userId="67199c852bdd6d1b" providerId="LiveId" clId="{CB377567-0116-4044-BB7C-6E46B7A5C596}" dt="2026-10-10T03:38:59.020" v="3"/>
        <pc:sldMkLst>
          <pc:docMk/>
          <pc:sldMk cId="4053770978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032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bị: Phiếu 'Lưới thư viện' (giấy kẻ ô), Phiếu 'Lọc tin nhắn', bộ 12 thẻ ứng dụng, Phiếu ra cửa.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nhanh mục tiêu.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1 (4 phút). Gợi ý: các nhóm đã có tên từ trước hay chưa. Dẫn đến hai bài toán: phân lớp và phân cụm.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Khái niệm NHÃN: câu trả lời đúng gắn sẵn cho một mẫu dữ liệu, thường do con người gắn. Mỗi lần bấm 'Báo cáo thư rác' là gắn một nhãn. Bên trái: đã có nhãn, cần gắn nhãn cho điểm mới. Bên phải: chưa có nhãn, cần tìm ra các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2 bắt đầu.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hỏi cho lớp: em rút ra quy luật gì từ các ví dụ đã có nhãn? Ví dụ giả định; phiếu của học sinh có đủ tám tin (xem Tài liệu học tập). Học sinh tự rút quy luật 3 phút. Quy luật khớp: vừa có liên kết lạ vừa giục làm ngay thì là rác; chỉ một trong hai thì chưa.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luật xếp vào 'rác', nhưng đây là tin thật của thầy: bộ lọc đã SAI. Vì trong các ví dụ chưa có tin hợp lệ nào có cả hai dấu hiệu. Chốt PHÂN LỚP: học từ ví dụ đã có nhãn để xếp mẫu mới vào nhóm biết trước; quy luật chỉ tốt bằng những ví dụ đã thấy. Dễ nhầm: máy phân lớp không 'biết đúng sai'; nó chỉ tìm quy luật nối đặc điểm với nhãn.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giả định trên Phiếu 'Lưới thư viện': a(1,1) b(1,2) c(2,1) d(2,2) e(5,6) f(6,5) g(6,7) h(7,6) i(1,7) k(2,8) l(2,6) m(1,6) n(8,1). Nhìn bảng số rất khó thấy gì; chấm lên lưới thì nhóm hiện 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Đáp án: cụm 1 (a, b, c, d) ít giờ ít sách; cụm 2 (e, f, g, h) nhiều giờ nhiều sách; cụm 3 (i, k, l, m) ít giờ nhiều sách (mượn về nhà đọc); n đứng riêng: ĐIỂM NGOẠI LỆ, ngồi 8 giờ nhưng mượn 1 cuốn (có thể đến tự học). Ba điều cần chốt: máy tìm cụm, con người đặt tên cụm; 'giống nhau' là gần nhau theo đặc điểm được chọn; có điểm không thuộc cụm nào. Dễ nhầm: phân cụm không có một đáp án đúng duy nhất; chia mấy cụm là lựa chọn.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Học sinh ghi bảng so sánh. Hai bài toán có thể nối tiếp: điện thoại gom ảnh thành cụm khuôn mặt (phân cụm); khi em gõ tên cho một cụm là gắn nhãn; ảnh mới chụp sẽ được hỏi 'đây có phải Lan không' (phân lớp).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 bắt đầu.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phút chữa. Đáp án theo phụ lục kế hoạch bài dạy. Bảng xếp thẻ là minh chứng đánh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Trong lưới thư viện, mỗi điểm là một bạn học sinh. Bạn n 'gần như không mượn sách' có thể là người chăm học nhất. Câu chuyện có thật: năm 2018 Reuters đưa tin một tập đoàn công nghệ ngừng công cụ AI chấm hồ sơ xin việc vì nó đánh giá thấp hồ sơ của phụ nữ; nó học từ hồ sơ mười năm trước, phần lớn của nam giới. Máy học đúng quy luật trong các nhãn cũ, nhưng nhãn cũ mang sẵn thiên lệch.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Tình huống giả định. (a) phân lớp: đã có nhãn thể loại. (b) phân cụm: chưa có nhãn, máy tự gom nhóm; con người đặt tên và kiểm tra các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4 (5 phút). Bốn tình huống của câu 1 in trên Phiếu ra cửa; đáp án: a PL, b PC, c PL, d PC. Dặn dò: phần Vận dụng (tự thu 12 đến 15 mẫu dữ liệu và khoanh cụm).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4F4-D6CA-6C2F-9B84-050806F8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9684-E8C6-B7CA-173E-C67E22F59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C13-1AE5-4B9C-2DB8-8AC62C19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ABBB-6B45-2E2E-903A-EB13E018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14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Bài 11.11 · Phân cụm và phân lớp: máy gom nhóm, máy gắn nhãn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Phân cụm và phân lớp: máy gom nhóm, máy gắn nhãn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Bài 11.11 · Chuyên đề 11.4: Bên trong hệ thống AI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Giáo dục trí tuệ nhân tạo </a:t>
            </a:r>
            <a:r>
              <a:rPr lang="en-US" sz="2400" dirty="0" err="1">
                <a:solidFill>
                  <a:schemeClr val="accent5"/>
                </a:solidFill>
              </a:rPr>
              <a:t>lớp</a:t>
            </a:r>
            <a:r>
              <a:rPr lang="en-US" sz="2400" dirty="0">
                <a:solidFill>
                  <a:schemeClr val="accent5"/>
                </a:solidFill>
              </a:rPr>
              <a:t> 11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49477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9477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49477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9477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95781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95781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95781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420856" y="28483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2085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Hôm nay chúng ta làm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Giải thích</a:t>
            </a:r>
            <a:r>
              <a:rPr lang="en-US" sz="2800" dirty="0">
                <a:solidFill>
                  <a:schemeClr val="tx1"/>
                </a:solidFill>
              </a:rPr>
              <a:t> phân lớp và phân cụm là gì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803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Phân biệt</a:t>
            </a:r>
            <a:r>
              <a:rPr lang="en-US" sz="2800" dirty="0">
                <a:solidFill>
                  <a:schemeClr val="tx1"/>
                </a:solidFill>
              </a:rPr>
              <a:t> hai bài toán bằng một câu hỏi về nhãn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Tự tay</a:t>
            </a:r>
            <a:r>
              <a:rPr lang="en-US" sz="2800" dirty="0">
                <a:solidFill>
                  <a:schemeClr val="tx1"/>
                </a:solidFill>
              </a:rPr>
              <a:t> làm một ví dụ phân cụm và một ví dụ phân lớp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45 phút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4'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Hai việc trông giống nhau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72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18'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172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Hai trò chơi dữ liệu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18'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464040" y="39227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Xếp thẻ ứng dụng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6725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46725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Phiếu ra cửa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Hai việc trông giống nhau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Hộp thư lọc thư rác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Nhóm có tên từ trước: “rác”, “không rác”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Máy xếp thư mới vào nhóm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Điện thoại gom ảnh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Không có tên nào cho trước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Máy tự tìm ra các nhóm ảnh giống nhau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Cả hai đều là xếp nhóm. Chúng khác nhau ở điểm nào?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Câu hỏi then chốt: dữ liệu đã có nhãn hay chưa?</a:t>
            </a:r>
            <a:endParaRPr lang="en-US" sz="3800" dirty="0"/>
          </a:p>
        </p:txBody>
      </p:sp>
      <p:pic>
        <p:nvPicPr>
          <p:cNvPr id="4" name="Image 0" descr="Câu hỏi then chốt: dữ liệu đã có nhãn hay chưa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17" y="1463040"/>
            <a:ext cx="9993086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Hai trò chơi dữ liệu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1 · 18 phút · Phát hai phiếu trò chơi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Trò chơi 1: em là bộ lọc tin nhắn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Tin nhắn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Liên kết lạ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Giục ngay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Nhãn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“Bạn trúng thưởng xe máy, bấm vào đây nhận hôm nay”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Có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Có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Rác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“Tối nay học nhóm ở nhà Lan nhé”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Không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Không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Thường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“Tài khoản sắp bị khóa, xác nhận ngay tại đường dẫn”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Có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Có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Rác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“Nhanh lên, xe sắp chạy rồi!”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Không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Có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Thường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“Xem tài liệu ôn tập ở đường dẫn của lớp”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Có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Không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Thường</a:t>
                      </a:r>
                      <a:endParaRPr lang="en-US" sz="20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Thử quy luật với một tin mới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Tin mới: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“Thầy gửi đường dẫn nộp bài, các em nộp trước 9 giờ tối nay.”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Có liên kết: có. Giục ngay: có.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Quy luật của em xếp tin này vào đâu? Có đúng không?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Trò chơi 2: lưới thư viện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7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13 bạn đọc, hai con số, không có nhãn nào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Chấm 13 điểm lên giấy kẻ ô: giờ ở thư viện, sách mượn về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Khoanh những điểm nằm gần nhau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Đặt tên cho từng nhóm em tìm được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Để ý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Có điểm nào đứng riêng, không thuộc nhóm nào không?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Ba cụm hiện ra, và một điểm đứng riêng</a:t>
            </a:r>
            <a:endParaRPr lang="en-US" sz="3800" dirty="0"/>
          </a:p>
        </p:txBody>
      </p:sp>
      <p:pic>
        <p:nvPicPr>
          <p:cNvPr id="4" name="Image 0" descr="Ba cụm hiện ra, và một điểm đứng riê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282" y="1463040"/>
            <a:ext cx="8690956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Đặt cạnh nhau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Phân lớp: gắn nhãn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Dữ liệu đã có nhãn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Các nhóm biết trước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“Cái mới này thuộc nhóm nào?”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Phân cụm: gom nhóm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Dữ liệu chưa có nhãn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Máy tự tìm nhóm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“Trong đống này có những nhóm nào?”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Một câu hỏi để phân biệt: dữ liệu đã có nhãn hay chưa?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Ứng dụng nào dùng gì?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2 · 18 phút · Xếp 12 thẻ ứng dụng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nhóm: xếp 12 thẻ ứng dụng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12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Mỗi thẻ là phân lớp hay phân cụm?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Hỏi: dữ liệu đã có nhãn chưa? Các nhóm biết trước chưa?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Xếp thẻ vào cột PL hoặc PC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Ghi căn cứ cho ba thẻ khó nhất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Ví dụ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Nhà sách muốn biết khách có những kiểu mua sắm nào: chưa có nhãn, chưa biết nhóm. Phân cụm.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Khi thứ được xếp nhóm là con người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9126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9126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69494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Nhãn có thể </a:t>
            </a:r>
            <a:r>
              <a:rPr lang="en-US" sz="3200" b="1" dirty="0">
                <a:solidFill>
                  <a:schemeClr val="tx2"/>
                </a:solidFill>
              </a:rPr>
              <a:t>đóng khung</a:t>
            </a:r>
            <a:r>
              <a:rPr lang="en-US" sz="3200" dirty="0">
                <a:solidFill>
                  <a:schemeClr val="tx1"/>
                </a:solidFill>
              </a:rPr>
              <a:t> một người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34061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34061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3048000"/>
            <a:ext cx="69494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Đặc điểm được chọn có thể </a:t>
            </a:r>
            <a:r>
              <a:rPr lang="en-US" sz="3200" b="1" dirty="0">
                <a:solidFill>
                  <a:schemeClr val="tx2"/>
                </a:solidFill>
              </a:rPr>
              <a:t>bỏ sót</a:t>
            </a:r>
            <a:r>
              <a:rPr lang="en-US" sz="3200" dirty="0">
                <a:solidFill>
                  <a:schemeClr val="tx1"/>
                </a:solidFill>
              </a:rPr>
              <a:t> điều quan trọng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48996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899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4541520"/>
            <a:ext cx="69494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Dữ liệu về con người là </a:t>
            </a:r>
            <a:r>
              <a:rPr lang="en-US" sz="3200" b="1" dirty="0">
                <a:solidFill>
                  <a:schemeClr val="tx2"/>
                </a:solidFill>
              </a:rPr>
              <a:t>dữ liệu cá nhân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8778240" y="1554480"/>
            <a:ext cx="2834640" cy="448056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006840" y="1737360"/>
            <a:ext cx="2377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Một cụm mô tả hành vi trong một tuần, không mô tả con người.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Thử nhanh: thư viện trường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Thư viện muốn làm hai việc: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(a) xếp sách mới vào các thể loại đã có sẵn;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(b) tìm xem bạn đọc chia thành những nhóm thói quen nào.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Việc nào là phân lớp, việc nào là phân cụm? Vì sao?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Ghi nhớ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Nhãn:</a:t>
            </a:r>
            <a:r>
              <a:rPr lang="en-US" sz="3200" dirty="0">
                <a:solidFill>
                  <a:schemeClr val="tx1"/>
                </a:solidFill>
              </a:rPr>
              <a:t> câu trả lời đúng gắn sẵn cho một mẫu dữ liệu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Phân lớp:</a:t>
            </a:r>
            <a:r>
              <a:rPr lang="en-US" sz="3200" dirty="0">
                <a:solidFill>
                  <a:schemeClr val="tx1"/>
                </a:solidFill>
              </a:rPr>
              <a:t> có nhãn, xếp mẫu mới vào nhóm biết trước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Phân cụm:</a:t>
            </a:r>
            <a:r>
              <a:rPr lang="en-US" sz="3200" dirty="0">
                <a:solidFill>
                  <a:schemeClr val="tx1"/>
                </a:solidFill>
              </a:rPr>
              <a:t> chưa có nhãn, máy tìm nhóm, người đặt tên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Quy luật máy học </a:t>
            </a:r>
            <a:r>
              <a:rPr lang="en-US" sz="3200" b="1" dirty="0">
                <a:solidFill>
                  <a:schemeClr val="tx2"/>
                </a:solidFill>
              </a:rPr>
              <a:t>chỉ tốt bằng dữ liệu và nhãn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Phiếu ra cửa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5 phút · Làm cá nhân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Ghi PL (phân lớp) hoặc PC (phân cụm) cho từng tình huống trên phiếu.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94960" y="356616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3794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235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70332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Nêu thêm một ứng dụng phân lớp và một ứng dụng phân cụm khác với các ví dụ trên.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FE57-DD6B-0941-A2BB-28D1A53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6725C-CB31-6472-2A29-F859C3B9EAD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9224" y="1289265"/>
            <a:ext cx="618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vi-VN" sz="4600" b="1" dirty="0">
                <a:solidFill>
                  <a:schemeClr val="bg1"/>
                </a:solidFill>
              </a:rPr>
              <a:t>Tài liệu tham khảo</a:t>
            </a:r>
            <a:endParaRPr lang="en-US" sz="4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FC6891-0F0B-8821-EA2F-EDAF20AF9F0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26948" y="3717036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2400" dirty="0"/>
              <a:t>https://montinhoc.vn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9A30BE-8829-96CA-B3B0-D88FAE88F21B}"/>
              </a:ext>
            </a:extLst>
          </p:cNvPr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28B981-D9D6-8DA6-85D8-DB014D5F0B3B}"/>
              </a:ext>
            </a:extLst>
          </p:cNvPr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3B1873D-3AEF-FF0E-20B7-19D134D3BF51}"/>
              </a:ext>
            </a:extLst>
          </p:cNvPr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058E345-0FEC-FED7-18D4-81DD99507C2D}"/>
              </a:ext>
            </a:extLst>
          </p:cNvPr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0D36E4-1991-CC37-B0B9-2B2D83E02A20}"/>
              </a:ext>
            </a:extLst>
          </p:cNvPr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6BB1C4-6469-F0A3-DD3E-4EBEF5F6CC38}"/>
              </a:ext>
            </a:extLst>
          </p:cNvPr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80B6E7E-7896-4EC1-4475-2FC646E1027E}"/>
              </a:ext>
            </a:extLst>
          </p:cNvPr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9D253D-1310-99A7-2103-35FF052B86F3}"/>
              </a:ext>
            </a:extLst>
          </p:cNvPr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093821-7F19-40FA-3D3D-44CFDC1F58DF}"/>
              </a:ext>
            </a:extLst>
          </p:cNvPr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BDD20-A61B-996B-BDB0-752F18E140AC}"/>
              </a:ext>
            </a:extLst>
          </p:cNvPr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174946-DDCB-CB27-9AF4-4001176FEF51}"/>
              </a:ext>
            </a:extLst>
          </p:cNvPr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FC1789-471C-2797-0415-2237AAA365EC}"/>
              </a:ext>
            </a:extLst>
          </p:cNvPr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5D154A-DE09-58FC-1981-2186A2BB8A5F}"/>
              </a:ext>
            </a:extLst>
          </p:cNvPr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C5CF0A1-4524-41B4-80B3-D3831B078A65}"/>
              </a:ext>
            </a:extLst>
          </p:cNvPr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C287EB0-1B4C-6D0A-A568-624FA2D80A3D}"/>
              </a:ext>
            </a:extLst>
          </p:cNvPr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472C28-2774-3B7F-EE38-D1FE26D725B5}"/>
              </a:ext>
            </a:extLst>
          </p:cNvPr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29B49FE-2351-7D5A-7739-412432860157}"/>
              </a:ext>
            </a:extLst>
          </p:cNvPr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800979-2DC3-4E1A-E90A-97154C0F5009}"/>
              </a:ext>
            </a:extLst>
          </p:cNvPr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059B07-EE5C-FABC-F332-9DC490CD1D79}"/>
              </a:ext>
            </a:extLst>
          </p:cNvPr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7534B69-69A3-698B-93D3-66A6B0094F65}"/>
              </a:ext>
            </a:extLst>
          </p:cNvPr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48344F8-1507-B882-7C9E-B332C5271B12}"/>
              </a:ext>
            </a:extLst>
          </p:cNvPr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D9300E0-4E52-5232-A0A0-0E7CE89D218D}"/>
              </a:ext>
            </a:extLst>
          </p:cNvPr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7B8293B-E487-0777-ACDD-B84258075045}"/>
              </a:ext>
            </a:extLst>
          </p:cNvPr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CD7407F-32A4-6AD6-0975-BE6C3451FAF0}"/>
              </a:ext>
            </a:extLst>
          </p:cNvPr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0667B1-079E-6CE7-39D0-356A6E4ECE2C}"/>
              </a:ext>
            </a:extLst>
          </p:cNvPr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B5CDD97-B920-3E27-DDF5-15D94164191C}"/>
              </a:ext>
            </a:extLst>
          </p:cNvPr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2A4D2EE-C00B-307E-06C9-1F7C1DC158DD}"/>
              </a:ext>
            </a:extLst>
          </p:cNvPr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768F21F-1608-C34F-D970-6ECA809A91B2}"/>
              </a:ext>
            </a:extLst>
          </p:cNvPr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AD95141-1285-BD10-8D1A-FFCAC904CE3D}"/>
              </a:ext>
            </a:extLst>
          </p:cNvPr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DF7ED9A-5847-6BA1-A757-A970A5CAE67C}"/>
              </a:ext>
            </a:extLst>
          </p:cNvPr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5226941-7C5E-0602-5D41-259AA60FB5B8}"/>
              </a:ext>
            </a:extLst>
          </p:cNvPr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B7C82DF-0D44-12FC-B608-14F2811EA2AE}"/>
              </a:ext>
            </a:extLst>
          </p:cNvPr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61ECE36-8002-A40B-5D82-6AA53B33E6BC}"/>
              </a:ext>
            </a:extLst>
          </p:cNvPr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6D1649A-4E60-5FE4-4461-EF6482CE2AEF}"/>
              </a:ext>
            </a:extLst>
          </p:cNvPr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9A7351B-B717-C7D6-1B54-81AA1B57E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94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70978"/>
      </p:ext>
    </p:extLst>
  </p:cSld>
  <p:clrMapOvr>
    <a:masterClrMapping/>
  </p:clrMapOvr>
</p:sld>
</file>

<file path=ppt/theme/theme1.xml><?xml version="1.0" encoding="utf-8"?>
<a:theme xmlns:a="http://schemas.openxmlformats.org/drawingml/2006/main" name="GiaoDucAI">
  <a:themeElements>
    <a:clrScheme name="GiaoDucAI">
      <a:dk1>
        <a:srgbClr val="17313A"/>
      </a:dk1>
      <a:lt1>
        <a:srgbClr val="FFFFFF"/>
      </a:lt1>
      <a:dk2>
        <a:srgbClr val="0F4C5C"/>
      </a:dk2>
      <a:lt2>
        <a:srgbClr val="E8F1F0"/>
      </a:lt2>
      <a:accent1>
        <a:srgbClr val="0F4C5C"/>
      </a:accent1>
      <a:accent2>
        <a:srgbClr val="F2A541"/>
      </a:accent2>
      <a:accent3>
        <a:srgbClr val="5FA8A0"/>
      </a:accent3>
      <a:accent4>
        <a:srgbClr val="C8553D"/>
      </a:accent4>
      <a:accent5>
        <a:srgbClr val="8FB8B3"/>
      </a:accent5>
      <a:accent6>
        <a:srgbClr val="6B7F86"/>
      </a:accent6>
      <a:hlink>
        <a:srgbClr val="0F4C5C"/>
      </a:hlink>
      <a:folHlink>
        <a:srgbClr val="6B7F86"/>
      </a:folHlink>
    </a:clrScheme>
    <a:fontScheme name="GiaoDuc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1615</Words>
  <Application>Microsoft Office PowerPoint</Application>
  <PresentationFormat>Widescreen</PresentationFormat>
  <Paragraphs>169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GiaoDucAI</vt:lpstr>
      <vt:lpstr>Phân cụm và phân lớp: máy gom nhóm, máy gắn nhãn</vt:lpstr>
      <vt:lpstr>Hôm nay chúng ta làm gì?</vt:lpstr>
      <vt:lpstr>Hai việc trông giống nhau</vt:lpstr>
      <vt:lpstr>Câu hỏi then chốt: dữ liệu đã có nhãn hay chưa?</vt:lpstr>
      <vt:lpstr>Hai trò chơi dữ liệu</vt:lpstr>
      <vt:lpstr>Trò chơi 1: em là bộ lọc tin nhắn</vt:lpstr>
      <vt:lpstr>Thử quy luật với một tin mới</vt:lpstr>
      <vt:lpstr>Trò chơi 2: lưới thư viện</vt:lpstr>
      <vt:lpstr>Ba cụm hiện ra, và một điểm đứng riêng</vt:lpstr>
      <vt:lpstr>Đặt cạnh nhau</vt:lpstr>
      <vt:lpstr>Ứng dụng nào dùng gì?</vt:lpstr>
      <vt:lpstr>Nhiệm vụ nhóm: xếp 12 thẻ ứng dụng</vt:lpstr>
      <vt:lpstr>Khi thứ được xếp nhóm là con người</vt:lpstr>
      <vt:lpstr>Thử nhanh: thư viện trường</vt:lpstr>
      <vt:lpstr>Ghi nhớ</vt:lpstr>
      <vt:lpstr>Phiếu ra cửa</vt:lpstr>
      <vt:lpstr>Tài liệu tham khảo</vt:lpstr>
    </vt:vector>
  </TitlesOfParts>
  <Company>0939725119</Company>
  <LinksUpToDate>false</LinksUpToDate>
  <SharedDoc>false</SharedDoc>
  <HyperlinksChanged>false</HyperlinksChanged>
  <AppVersion>16.0000</AppVersion>
  <Manager>Phạm Văn Tú</Manager>
  <HyperlinkBase>https://montinhoc.vn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Bài 11.11. Phân cụm và phân lớp: máy gom nhóm, máy gắn nhãn</dc:title>
  <dc:subject>Trí tuệ nhân tạo</dc:subject>
  <cp:lastModifiedBy>Phạm Văn Tú</cp:lastModifiedBy>
  <cp:revision>1</cp:revision>
  <dcterms:created xsi:type="dcterms:W3CDTF">2026-10-08T11:06:08Z</dcterms:created>
  <dcterms:modified xsi:type="dcterms:W3CDTF">2026-10-10T03:38:59Z</dcterms:modified>
  <dc:description>Email: phamtund@gmail.com</dc:description>
  <dc:creator>Phạm Văn Tú</dc:creator>
  <cp:category>Trí tuệ nhân tạo</cp:category>
  <cp:keywords>Trí tuệ nhân tạo</cp:keywords>
</cp:coreProperties>
</file>