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DF74D3E5-CEFA-19D0-BEF4-82C36D129368}">
          <p14:sldIdLst>
            <p14:sldId id="256"/>
            <p14:sldId id="257"/>
            <p14:sldId id="258"/>
          </p14:sldIdLst>
        </p14:section>
        <p14:section name="Hai con đường từ cùng một công cụ" id="{6D8AD9BC-68EA-5FC5-516E-8F3B754D0816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hân tích trường hợp" id="{DFA3617F-DA36-AB82-E243-0BE566416FA2}">
          <p14:sldIdLst>
            <p14:sldId id="265"/>
            <p14:sldId id="266"/>
            <p14:sldId id="267"/>
            <p14:sldId id="268"/>
            <p14:sldId id="269"/>
          </p14:sldIdLst>
        </p14:section>
        <p14:section name="Tổng kết" id="{1FEF31BE-EAC4-C2F8-7271-F173E4BB052D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E4D9B-34AD-495E-B567-D45F471357E1}" v="1" dt="2026-10-10T03:34:01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34:01.683" v="3"/>
      <pc:docMkLst>
        <pc:docMk/>
      </pc:docMkLst>
      <pc:sldChg chg="modSp mod">
        <pc:chgData name="Phạm Văn Tú" userId="67199c852bdd6d1b" providerId="LiveId" clId="{CB377567-0116-4044-BB7C-6E46B7A5C596}" dt="2026-10-10T03:33:36.401" v="2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33:36.401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34:01.683" v="3"/>
        <pc:sldMkLst>
          <pc:docMk/>
          <pc:sldMk cId="370756379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974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bị: Phiếu phân tích trường hợp, ba hồ sơ (y tế, lập trình, học tập), Phiếu ra cửa.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nhanh mục tiêu.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(5 phút). Tình huống giả định. Học sinh dự đoán và nêu lí do. Lưu ý: mấy tuần đầu bài của Nam thường điểm cao hơn. Chốt: công cụ không khác; khác ở chỗ AI LÀM PHẦN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bắt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cốt lõi là phần mà nếu không tự làm thì không giỏi lên: nghĩ ý và diễn đạt (bài viết), tìm cách giải (bài toán), hiểu chương trình chạy thế nào (lập trình). Dễ nhầm: không phải cứ để AI làm một phần là làm thay; dùng máy tính cầm tay trong bài Vật lí không phải làm thay, trong giờ luyện tính nhẩm thì có. Ranh giới phụ thuộc MỤC TIÊU của nhiệm vụ.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chuyện có thật: nghiên cứu của nhóm ở Đại học Pennsylvania với học sinh trung học ở Thổ Nhĩ Kì (Bastani và cộng sự, 2024; số liệu dẫn theo Knowledge at Wharton). Nhóm gia sư AI luyện tập tốt hơn 127%. Lưu ý với học sinh: đây là MỘT nghiên cứu, một môn, một nước; không nên khái quát cho mọi trường hợp.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 ba câu trả lời được: AI là người hỗ trợ. Câu nào bí: đó là chỗ AI đang làm thay.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Học sinh ghi bốn câu hỏi vào vở; sẽ dùng ngay ở hoạt động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Tình huống giả định. Cách A: nâng cao năng lực. Cách B: làm thay, và nguy hiểm vì liên quan sức khỏe. Liên hệ: Luật Trí tuệ nhân tạo (hiệu lực 01/3/2026) quản lí hệ thống AI theo mức rủi ro; việc càng hệ trọng càng không để máy tự quyết một mình.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 bắt đầu. Phát hồ sơ: y tế, lập trình,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phút báo cáo: mỗi hồ sơ một nhóm trình bày, nhóm cùng hồ sơ bổ sung. Phiếu phân tích là minh chứng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rộng ngắn (3 phút): tác nhân AI tự thực hiện chuỗi nhiều bước và dùng công cụ khác (tìm kiếm, gửi thư, đặt lịch). Điểm dừng: chỗ hệ thống phải chờ con người đồng ý. Quy tắc: đặt điểm dừng trước việc KHÓ RÚT LẠI (gửi, xóa, thanh toán, đăng công khai) và việc ẢNH HƯỞNG NGƯỜI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Đáp án: không. Cơ quan giải quyết tranh chấp bác bỏ: hãng chịu trách nhiệm về mọi thông tin trên trang của mình, dù do người hay chatbot đưa ra (vụ Moffatt v. Air Canada, 2024; dẫn theo McCarthy Tétrault).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Vận dụng cá nhân, 2 phút viết vào vở, không cần chia sẻ nếu học sinh không muốn. Dùng bốn câu hỏi phân tích vừa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(5 phút). Không cho điểm. Dặn dò: phần Vận dụng (thỏa thuận với chính mình).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9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11.2 · AI: nâng cao năng lực hay làm thay con người?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AI: nâng cao năng lực hay làm thay con người?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11.2 · Chuyên đề 11.1: Dùng AI an toàn để nâng cao năng lực bản thân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11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Phân biệt</a:t>
            </a:r>
            <a:r>
              <a:rPr lang="en-US" sz="2800" dirty="0">
                <a:solidFill>
                  <a:schemeClr val="tx1"/>
                </a:solidFill>
              </a:rPr>
              <a:t> dùng AI để giỏi lên với để AI làm thay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Dùng</a:t>
            </a:r>
            <a:r>
              <a:rPr lang="en-US" sz="2800" dirty="0">
                <a:solidFill>
                  <a:schemeClr val="tx1"/>
                </a:solidFill>
              </a:rPr>
              <a:t> bốn câu hỏi để phân tích một tình huống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Nêu</a:t>
            </a:r>
            <a:r>
              <a:rPr lang="en-US" sz="2800" dirty="0">
                <a:solidFill>
                  <a:schemeClr val="tx1"/>
                </a:solidFill>
              </a:rPr>
              <a:t> ba dấu hiệu em vẫn giữ quyền kiểm soát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Lan và Nam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12'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Hai con đường, ba dấu hiệu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23'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Phân tích trường hợp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Lan và Nam cùng học viết tiếng Anh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Tự viết đoạn văn trước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Nhờ AI gạch dưới chỗ sai, không sửa hộ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Tự sửa, ghi lỗi vào sổ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Nam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Nhập đề bài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Nhận đoạn văn AI viết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Đổi vài từ rồi nộp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Ba tháng sau, kiểm tra tại lớp, không thiết bị: ai viết tốt hơn?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Hai con đường từ cùng một công cụ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1 · 12 phút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Ai làm phần cốt lõi?</a:t>
            </a:r>
            <a:endParaRPr lang="en-US" sz="3800" dirty="0"/>
          </a:p>
        </p:txBody>
      </p:sp>
      <p:pic>
        <p:nvPicPr>
          <p:cNvPr id="4" name="Image 0" descr="Ai làm phần cốt lõi?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463040"/>
            <a:ext cx="9637776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Bằng chứng: gần 1.000 học sinh luyện Toán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+48%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Trợ lí trả lời thẳng: làm bài luyện tập tốt hơn nhóm không dùng AI.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32816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602480" y="178308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−17%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Cũng nhóm đó: bài kiểm tra không có AI lại kém hơn.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10768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382000" y="178308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Không kém đi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Nhóm dùng “gia sư AI” chỉ gợi ý, không đưa đáp án.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Làm bài tốt hơn khi có AI chưa chắc là học được nhiều hơn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dấu hiệu em vẫn giữ quyền kiểm soát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Hiểu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Giải thích lại được bằng lời của mình.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Thử: gấp máy, nói cho bạn nghe một phút.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2816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0248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6024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60248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Kiểm tra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Tự phát hiện được chỗ sai của AI.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Thử: tìm một chỗ cần sửa.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10768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8200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3820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838200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Quyết định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Có thể không làm theo gợi ý của AI.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Thử: nêu lí do giữ hay bỏ.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Bốn câu hỏi để phân tích một tình huống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</a:t>
            </a:r>
            <a:r>
              <a:rPr lang="en-US" sz="3200" dirty="0">
                <a:solidFill>
                  <a:schemeClr val="tx1"/>
                </a:solidFill>
              </a:rPr>
              <a:t> quyết định cuối cùng?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Con người có </a:t>
            </a:r>
            <a:r>
              <a:rPr lang="en-US" sz="3200" b="1" dirty="0">
                <a:solidFill>
                  <a:schemeClr val="tx2"/>
                </a:solidFill>
              </a:rPr>
              <a:t>đủ hiểu để kiểm tra</a:t>
            </a:r>
            <a:r>
              <a:rPr lang="en-US" sz="3200" dirty="0">
                <a:solidFill>
                  <a:schemeClr val="tx1"/>
                </a:solidFill>
              </a:rPr>
              <a:t> không?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Khi sai, </a:t>
            </a:r>
            <a:r>
              <a:rPr lang="en-US" sz="3200" b="1" dirty="0">
                <a:solidFill>
                  <a:schemeClr val="tx2"/>
                </a:solidFill>
              </a:rPr>
              <a:t>ai phát hiện</a:t>
            </a:r>
            <a:r>
              <a:rPr lang="en-US" sz="3200" dirty="0">
                <a:solidFill>
                  <a:schemeClr val="tx1"/>
                </a:solidFill>
              </a:rPr>
              <a:t>, ai chịu trách nhiệm?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Sau một thời gian, năng lực </a:t>
            </a:r>
            <a:r>
              <a:rPr lang="en-US" sz="3200" b="1" dirty="0">
                <a:solidFill>
                  <a:schemeClr val="tx2"/>
                </a:solidFill>
              </a:rPr>
              <a:t>tăng hay giảm</a:t>
            </a:r>
            <a:r>
              <a:rPr lang="en-US" sz="3200" dirty="0">
                <a:solidFill>
                  <a:schemeClr val="tx1"/>
                </a:solidFill>
              </a:rPr>
              <a:t>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Thử phân tích: phần mềm AI đọc phim X-quang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Cách A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Cách B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Cách dùng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AI khoanh vùng nghi ngờ, bác sĩ kết luận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AI in kết luận, đưa thẳng cho bệnh nhân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Ai quyết định?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Bác sĩ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Phần mềm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Khi sai?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Bác sĩ có cơ hội phát hiện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Không ai phát hiện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Năng lực?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Có thêm “đôi mắt thứ hai”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Kĩ năng đọc phim mai một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Phân tích trường hợp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23 phút · Làm việc nhóm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nhóm: bốn câu hỏi cho một hồ sơ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15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Mỗi nhóm nhận một hồ sơ và trả lời bốn câu hỏi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Đọc hồ sơ, gạch chân chỗ AI tham gia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Trả lời bốn câu hỏi, có dẫn chi tiết trong hồ sơ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Đề xuất một thay đổi để nghiêng về nâng cao năng lực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Kết luận của nhóm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Nâng cao năng lực, làm thay, hay “còn tùy”? Nếu còn tùy: tùy vào điều gì?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Khi AI không chỉ trả lời mà còn hành động</a:t>
            </a:r>
            <a:endParaRPr lang="en-US" sz="3800" dirty="0"/>
          </a:p>
        </p:txBody>
      </p:sp>
      <p:pic>
        <p:nvPicPr>
          <p:cNvPr id="4" name="Image 0" descr="Khi AI không chỉ trả lời mà còn hành độ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356" y="1463040"/>
            <a:ext cx="7934808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Trao việc không phải là trao trách nhiệm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Canada, năm 2024. Chatbot của một hãng hàng không hướng dẫn sai cho hành khách về chính sách giảm giá vé.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Hãng lập luận: chatbot phải tự chịu trách nhiệm về lời nói của nó.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Theo em, lập luận đó có được chấp nhận không?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Tự soi một việc của em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Em nhớ lại lần gần nhất mình dùng AI cho một bài tập ở bất kì môn nào.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Trong lần đó, ai làm phần cốt lõi: em hay AI? Lần sau em sẽ đổi điều gì?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Khác biệt nằm ở chỗ </a:t>
            </a:r>
            <a:r>
              <a:rPr lang="en-US" sz="3200" b="1" dirty="0">
                <a:solidFill>
                  <a:schemeClr val="tx2"/>
                </a:solidFill>
              </a:rPr>
              <a:t>ai làm phần cốt lõi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Làm bài tốt hơn khi có AI </a:t>
            </a:r>
            <a:r>
              <a:rPr lang="en-US" sz="3200" b="1" dirty="0">
                <a:solidFill>
                  <a:schemeClr val="tx2"/>
                </a:solidFill>
              </a:rPr>
              <a:t>chưa chắc</a:t>
            </a:r>
            <a:r>
              <a:rPr lang="en-US" sz="3200" dirty="0">
                <a:solidFill>
                  <a:schemeClr val="tx1"/>
                </a:solidFill>
              </a:rPr>
              <a:t> là học được nhiều hơn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Ba dấu hiệu: </a:t>
            </a:r>
            <a:r>
              <a:rPr lang="en-US" sz="3200" b="1" dirty="0">
                <a:solidFill>
                  <a:schemeClr val="tx2"/>
                </a:solidFill>
              </a:rPr>
              <a:t>hiểu, kiểm tra, quyết định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Tác nhân AI cần </a:t>
            </a:r>
            <a:r>
              <a:rPr lang="en-US" sz="3200" b="1" dirty="0">
                <a:solidFill>
                  <a:schemeClr val="tx2"/>
                </a:solidFill>
              </a:rPr>
              <a:t>điểm dừng</a:t>
            </a:r>
            <a:r>
              <a:rPr lang="en-US" sz="3200" dirty="0">
                <a:solidFill>
                  <a:schemeClr val="tx1"/>
                </a:solidFill>
              </a:rPr>
              <a:t> trước việc khó rút lại</a:t>
            </a:r>
            <a:endParaRPr lang="en-US" sz="3200" dirty="0"/>
          </a:p>
        </p:txBody>
      </p:sp>
      <p:sp>
        <p:nvSpPr>
          <p:cNvPr id="16" name="Shape 13"/>
          <p:cNvSpPr/>
          <p:nvPr/>
        </p:nvSpPr>
        <p:spPr>
          <a:xfrm>
            <a:off x="8778240" y="1554480"/>
            <a:ext cx="2834640" cy="448056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006840" y="1737360"/>
            <a:ext cx="2377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Dùng AI để giỏi lên, không để khỏi phải nghĩ.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Một nông dân dùng ứng dụng AI chụp ảnh lá để chẩn đoán bệnh cây và gợi ý thuốc. Nêu một lợi ích về năng lực của người nông dân và một điểm người nông dân phải tự kiểm soát.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394960" y="356616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3794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70332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Chọn một việc học tập của em có thể dùng AI. Viết một cách dùng làm em giỏi lên và một cách dùng khiến em không tiến bộ.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9A7351B-B717-C7D6-1B54-81AA1B57E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63790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1460</Words>
  <Application>Microsoft Office PowerPoint</Application>
  <PresentationFormat>Widescreen</PresentationFormat>
  <Paragraphs>162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AI: nâng cao năng lực hay làm thay con người?</vt:lpstr>
      <vt:lpstr>Hôm nay chúng ta làm gì?</vt:lpstr>
      <vt:lpstr>Lan và Nam cùng học viết tiếng Anh</vt:lpstr>
      <vt:lpstr>Hai con đường từ cùng một công cụ</vt:lpstr>
      <vt:lpstr>Ai làm phần cốt lõi?</vt:lpstr>
      <vt:lpstr>Bằng chứng: gần 1.000 học sinh luyện Toán</vt:lpstr>
      <vt:lpstr>Ba dấu hiệu em vẫn giữ quyền kiểm soát</vt:lpstr>
      <vt:lpstr>Bốn câu hỏi để phân tích một tình huống</vt:lpstr>
      <vt:lpstr>Thử phân tích: phần mềm AI đọc phim X-quang</vt:lpstr>
      <vt:lpstr>Phân tích trường hợp</vt:lpstr>
      <vt:lpstr>Nhiệm vụ nhóm: bốn câu hỏi cho một hồ sơ</vt:lpstr>
      <vt:lpstr>Khi AI không chỉ trả lời mà còn hành động</vt:lpstr>
      <vt:lpstr>Trao việc không phải là trao trách nhiệm</vt:lpstr>
      <vt:lpstr>Tự soi một việc của em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11.2. AI: nâng cao năng lực hay làm thay con người?</dc:title>
  <dc:subject>Trí tuệ nhân tạo</dc:subject>
  <cp:lastModifiedBy>Phạm Văn Tú</cp:lastModifiedBy>
  <cp:revision>1</cp:revision>
  <dcterms:created xsi:type="dcterms:W3CDTF">2026-10-08T11:06:01Z</dcterms:created>
  <dcterms:modified xsi:type="dcterms:W3CDTF">2026-10-10T03:34:06Z</dcterms:modified>
  <dc:description>Email: phamtund@gmail.com</dc:description>
  <dc:creator>Phạm Văn Tú</dc:creator>
  <cp:category>Trí tuệ nhân tạo</cp:category>
  <cp:keywords>Trí tuệ nhân tạo</cp:keywords>
</cp:coreProperties>
</file>