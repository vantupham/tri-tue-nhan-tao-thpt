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ở đầu" id="{9854B12A-7BBB-7FEC-C53C-13366E683DAA}">
          <p14:sldIdLst>
            <p14:sldId id="256"/>
            <p14:sldId id="257"/>
            <p14:sldId id="258"/>
            <p14:sldId id="259"/>
            <p14:sldId id="260"/>
            <p14:sldId id="261"/>
            <p14:sldId id="262"/>
            <p14:sldId id="263"/>
          </p14:sldIdLst>
        </p14:section>
        <p14:section name="Phân loại 12 thẻ" id="{AB4F790F-D769-FC37-5A18-FFF6098B9DC2}">
          <p14:sldIdLst>
            <p14:sldId id="264"/>
            <p14:sldId id="265"/>
            <p14:sldId id="266"/>
            <p14:sldId id="267"/>
            <p14:sldId id="268"/>
            <p14:sldId id="269"/>
          </p14:sldIdLst>
        </p14:section>
        <p14:section name="Tổng kết" id="{829A3CF7-73FB-EB29-BE0D-3F8277902A6E}">
          <p14:sldIdLst>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87B03BB-244B-45CD-AA0C-45FA1389B477}" v="1" dt="2026-10-10T03:34:33.32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47" d="100"/>
          <a:sy n="147" d="100"/>
        </p:scale>
        <p:origin x="100" y="40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hạm Văn Tú" userId="67199c852bdd6d1b" providerId="LiveId" clId="{CB377567-0116-4044-BB7C-6E46B7A5C596}"/>
    <pc:docChg chg="addSld modSld">
      <pc:chgData name="Phạm Văn Tú" userId="67199c852bdd6d1b" providerId="LiveId" clId="{CB377567-0116-4044-BB7C-6E46B7A5C596}" dt="2026-10-10T03:34:33.308" v="2"/>
      <pc:docMkLst>
        <pc:docMk/>
      </pc:docMkLst>
      <pc:sldChg chg="modSp mod">
        <pc:chgData name="Phạm Văn Tú" userId="67199c852bdd6d1b" providerId="LiveId" clId="{CB377567-0116-4044-BB7C-6E46B7A5C596}" dt="2026-10-10T03:34:19.872" v="1" actId="20577"/>
        <pc:sldMkLst>
          <pc:docMk/>
          <pc:sldMk cId="0" sldId="256"/>
        </pc:sldMkLst>
        <pc:spChg chg="mod">
          <ac:chgData name="Phạm Văn Tú" userId="67199c852bdd6d1b" providerId="LiveId" clId="{CB377567-0116-4044-BB7C-6E46B7A5C596}" dt="2026-10-10T03:34:19.872" v="1" actId="20577"/>
          <ac:spMkLst>
            <pc:docMk/>
            <pc:sldMk cId="0" sldId="256"/>
            <ac:spMk id="3" creationId="{00000000-0000-0000-0000-000000000000}"/>
          </ac:spMkLst>
        </pc:spChg>
      </pc:sldChg>
      <pc:sldChg chg="add">
        <pc:chgData name="Phạm Văn Tú" userId="67199c852bdd6d1b" providerId="LiveId" clId="{CB377567-0116-4044-BB7C-6E46B7A5C596}" dt="2026-10-10T03:34:33.308" v="2"/>
        <pc:sldMkLst>
          <pc:docMk/>
          <pc:sldMk cId="1749415634" sldId="272"/>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918512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Chuẩn bị: bộ 12 thẻ tình huống cho mỗi nhóm, bảng phân loại khổ A3, Phiếu ra cửa.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Nêu nhanh mục tiêu.</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1 (5 phút). Tình huống giả định, dựng theo các dấu hiệu cơ quan công an đã cảnh báo. Hỏi thêm: chi tiết nào khiến em nghi ngờ? Chốt: Hà CHƯA mất gì, nhưng nguy cơ ở rất gần.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2 (12 phút). Dễ nhầm: 'chưa có chuyện gì thì chưa cần làm gì'. Đây chính là lúc cần làm nhất; có thứ không lấy lại được, như một tấm ảnh đã bị phát tán.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bốn nhóm; học sinh kẻ bảng bốn nhóm vào vở. Nhóm 1: mọi thứ đưa vào công cụ AI đều rời khỏi máy mình; dữ liệu của người khác thì mình không có quyền quyết định thay. Nhóm 3: pháp luật về bản quyền với sản phẩm AI đang được hoàn thiện; giữ ba thói quen: không tải lên thứ không phải của mình, ghi nguồn, nói rõ phần do AI tạo. Nhóm 4: rủi ro đến từ lựa chọn của chính người học.</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Đọc theo hàng. Hỏi học sinh thêm một ví dụ cho mỗi ô.</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 cảnh báo của Bộ Công an (dẫn theo Báo Pháp Luật TP.HCM). Dấu hiệu khác: lấy cớ sóng yếu để ngắt giữa chừng. Khuyến cáo: không chuyển tiền chỉ vì một cuộc gọi video; không chia sẻ tràn lan hình ảnh, video rõ mặt rõ giọng. Luật An ninh mạng 2025 cấm dùng AI giả mạo hình ảnh, video, giọng nói của người khác trái pháp luật.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Bước 2: đừng xóa vội vì xấu hổ; bằng chứng là thứ giúp người lớn giúp được em. Bước 3: tùy mức độ là cha mẹ, thầy cô, ngân hàng, cơ quan công an, nền tảng. Bước 4: tự hỏi mình đã bỏ bước nào trong quy trình bảy bước.</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3 bắt đầu. Phát bộ 12 thẻ.</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phút chữa: giáo viên đọc từng thẻ, các nhóm giơ bảng. Thẻ gây tranh luận: mời hai nhóm nêu căn cứ. Bảng phân loại là minh chứng đánh giá.</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Dùng nếu còn thời gian hoặc để làm mẫu trước khi phát thẻ. Gợi ý: a) R, nhóm 1 và 2 (nguyên liệu cho giả mạo). b) S, nhóm 2. c) S, nhóm 1 (dữ liệu của người khác đã rời khỏi máy).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Nhìn lại bốn nhóm từ phía ngược lại. Ghép mặt bạn có thể làm tổn thương thật sự và có thể vi phạm pháp luật.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Tình huống giả định. Chưa bấm: mới là rủi ro. Nếu đã bấm và nhập mật khẩu: thành sự cố.</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Kênh khác: gọi lại số quen của người thân, hỏi trực tiếp giáo viên, vào trang chính thức của trường.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HOẠT ĐỘNG 4 (5 phút). Ba tình huống của câu 1 in trên Phiếu ra cửa (phụ lục kế hoạch bài dạy). Dặn dò: phần Vận dụng (thống nhất với gia đình cách xác minh cuộc gọi khẩn cấp liên quan đến tiền).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D14F4-D6CA-6C2F-9B84-050806F8EE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BE9684-E8C6-B7CA-173E-C67E22F59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9CE0C13-1AE5-4B9C-2DB8-8AC62C19D24B}"/>
              </a:ext>
            </a:extLst>
          </p:cNvPr>
          <p:cNvSpPr>
            <a:spLocks noGrp="1"/>
          </p:cNvSpPr>
          <p:nvPr>
            <p:ph type="body" idx="1"/>
          </p:nvPr>
        </p:nvSpPr>
        <p:spPr/>
        <p:txBody>
          <a:bodyPr/>
          <a:lstStyle/>
          <a:p>
            <a:r>
              <a:rPr lang="en-US" dirty="0"/>
              <a:t>HOẠT ĐỘNG 3.</a:t>
            </a:r>
          </a:p>
        </p:txBody>
      </p:sp>
      <p:sp>
        <p:nvSpPr>
          <p:cNvPr id="4" name="Slide Number Placeholder 3">
            <a:extLst>
              <a:ext uri="{FF2B5EF4-FFF2-40B4-BE49-F238E27FC236}">
                <a16:creationId xmlns:a16="http://schemas.microsoft.com/office/drawing/2014/main" id="{DF53ABBB-6B45-2E2E-903A-EB13E0184A20}"/>
              </a:ext>
            </a:extLst>
          </p:cNvPr>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323990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rtlCol="0"/>
          <a:lstStyle>
            <a:lvl1pPr marL="0" indent="0" algn="l">
              <a:buNone/>
              <a:defRPr lang="en-US" sz="4600" b="1" dirty="0">
                <a:solidFill>
                  <a:schemeClr val="bg1"/>
                </a:solidFill>
              </a:defRPr>
            </a:lvl1pPr>
          </a:lstStyle>
          <a:p>
            <a:pPr marL="0" indent="0" algn="l">
              <a:buNone/>
            </a:pP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rtlCol="0"/>
          <a:lstStyle>
            <a:lvl1pPr marL="0" indent="0" algn="l">
              <a:buNone/>
              <a:defRPr lang="en-US" sz="2400" dirty="0">
                <a:solidFill>
                  <a:schemeClr val="accent5"/>
                </a:solidFill>
              </a:defRPr>
            </a:lvl1pPr>
          </a:lstStyle>
          <a:p>
            <a:pPr marL="0" indent="0" algn="l">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p:nvPr/>
        </p:nvSpPr>
        <p:spPr>
          <a:xfrm>
            <a:off x="548640" y="6382512"/>
            <a:ext cx="8229600" cy="274320"/>
          </a:xfrm>
          <a:prstGeom prst="rect">
            <a:avLst/>
          </a:prstGeom>
          <a:noFill/>
          <a:ln/>
        </p:spPr>
        <p:txBody>
          <a:bodyPr wrap="square" lIns="0" tIns="0" rIns="0" bIns="0" rtlCol="0" anchor="ctr"/>
          <a:lstStyle/>
          <a:p>
            <a:pPr marL="0" indent="0">
              <a:buNone/>
            </a:pPr>
            <a:r>
              <a:rPr lang="en-US" sz="1200" dirty="0">
                <a:solidFill>
                  <a:schemeClr val="accent6"/>
                </a:solidFill>
              </a:rPr>
              <a:t>Bài 11.3 · Nhận diện và phân loại rủi ro, sự cố khi dùng AI</a:t>
            </a:r>
            <a:endParaRPr lang="en-US" sz="1200" dirty="0"/>
          </a:p>
        </p:txBody>
      </p:sp>
      <p:sp>
        <p:nvSpPr>
          <p:cNvPr id="3" name="Text 1"/>
          <p:cNvSpPr>
            <a:spLocks noGrp="1"/>
          </p:cNvSpPr>
          <p:nvPr>
            <p:ph type="title" idx="101" hasCustomPrompt="1"/>
          </p:nvPr>
        </p:nvSpPr>
        <p:spPr>
          <a:xfrm>
            <a:off x="548640" y="365760"/>
            <a:ext cx="11064240" cy="914400"/>
          </a:xfrm>
          <a:prstGeom prst="rect">
            <a:avLst/>
          </a:prstGeom>
          <a:noFill/>
          <a:ln/>
        </p:spPr>
        <p:txBody>
          <a:bodyPr wrap="square" rtlCol="0"/>
          <a:lstStyle>
            <a:lvl1pPr marL="0" indent="0" algn="l">
              <a:buNone/>
              <a:defRPr lang="en-US" sz="3800" b="1" dirty="0">
                <a:solidFill>
                  <a:schemeClr val="tx2"/>
                </a:solidFill>
              </a:defRPr>
            </a:lvl1pPr>
          </a:lstStyle>
          <a:p>
            <a:pPr marL="0" indent="0" algn="l">
              <a:buNone/>
            </a:pPr>
            <a:endParaRPr lang="en-US" sz="3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Nhận diện và phân loại rủi ro, sự cố khi dùng AI</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Bài 11.3 · Chuyên đề 11.1: Dùng AI an toàn để nâng cao năng lực bản thân</a:t>
            </a:r>
            <a:endParaRPr lang="en-US" sz="2400" dirty="0"/>
          </a:p>
          <a:p>
            <a:pPr marL="0" indent="0" algn="l">
              <a:buNone/>
            </a:pPr>
            <a:r>
              <a:rPr lang="en-US" sz="2400" dirty="0">
                <a:solidFill>
                  <a:schemeClr val="accent5"/>
                </a:solidFill>
              </a:rPr>
              <a:t>Giáo dục trí tuệ nhân tạo lớp 11 </a:t>
            </a:r>
            <a:endParaRPr lang="en-US" sz="2400" dirty="0"/>
          </a:p>
        </p:txBody>
      </p:sp>
      <p:sp>
        <p:nvSpPr>
          <p:cNvPr id="5" name="Shape 2"/>
          <p:cNvSpPr/>
          <p:nvPr/>
        </p:nvSpPr>
        <p:spPr>
          <a:xfrm>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263140"/>
            <a:ext cx="1463040" cy="116586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263140"/>
            <a:ext cx="1463040" cy="1943100"/>
          </a:xfrm>
          <a:prstGeom prst="line">
            <a:avLst/>
          </a:prstGeom>
          <a:noFill/>
          <a:ln w="9525">
            <a:solidFill>
              <a:schemeClr val="accent3"/>
            </a:solidFill>
            <a:prstDash val="solid"/>
          </a:ln>
        </p:spPr>
        <p:txBody>
          <a:bodyPr/>
          <a:lstStyle/>
          <a:p>
            <a:endParaRPr lang="en-US"/>
          </a:p>
        </p:txBody>
      </p:sp>
      <p:sp>
        <p:nvSpPr>
          <p:cNvPr id="8" name="Shape 5"/>
          <p:cNvSpPr/>
          <p:nvPr/>
        </p:nvSpPr>
        <p:spPr>
          <a:xfrm flipV="1">
            <a:off x="8686800" y="2651760"/>
            <a:ext cx="1463040" cy="388620"/>
          </a:xfrm>
          <a:prstGeom prst="line">
            <a:avLst/>
          </a:prstGeom>
          <a:noFill/>
          <a:ln w="9525">
            <a:solidFill>
              <a:schemeClr val="accent3"/>
            </a:solidFill>
            <a:prstDash val="solid"/>
          </a:ln>
        </p:spPr>
        <p:txBody>
          <a:bodyPr/>
          <a:lstStyle/>
          <a:p>
            <a:endParaRPr lang="en-US"/>
          </a:p>
        </p:txBody>
      </p:sp>
      <p:sp>
        <p:nvSpPr>
          <p:cNvPr id="9" name="Shape 6"/>
          <p:cNvSpPr/>
          <p:nvPr/>
        </p:nvSpPr>
        <p:spPr>
          <a:xfrm>
            <a:off x="8686800" y="3040380"/>
            <a:ext cx="1463040" cy="388620"/>
          </a:xfrm>
          <a:prstGeom prst="line">
            <a:avLst/>
          </a:prstGeom>
          <a:noFill/>
          <a:ln w="9525">
            <a:solidFill>
              <a:schemeClr val="accent3"/>
            </a:solidFill>
            <a:prstDash val="solid"/>
          </a:ln>
        </p:spPr>
        <p:txBody>
          <a:bodyPr/>
          <a:lstStyle/>
          <a:p>
            <a:endParaRPr lang="en-US"/>
          </a:p>
        </p:txBody>
      </p:sp>
      <p:sp>
        <p:nvSpPr>
          <p:cNvPr id="10" name="Shape 7"/>
          <p:cNvSpPr/>
          <p:nvPr/>
        </p:nvSpPr>
        <p:spPr>
          <a:xfrm>
            <a:off x="8686800" y="3040380"/>
            <a:ext cx="1463040" cy="1165860"/>
          </a:xfrm>
          <a:prstGeom prst="line">
            <a:avLst/>
          </a:prstGeom>
          <a:noFill/>
          <a:ln w="9525">
            <a:solidFill>
              <a:schemeClr val="accent3"/>
            </a:solidFill>
            <a:prstDash val="solid"/>
          </a:ln>
        </p:spPr>
        <p:txBody>
          <a:bodyPr/>
          <a:lstStyle/>
          <a:p>
            <a:endParaRPr lang="en-US"/>
          </a:p>
        </p:txBody>
      </p:sp>
      <p:sp>
        <p:nvSpPr>
          <p:cNvPr id="11" name="Shape 8"/>
          <p:cNvSpPr/>
          <p:nvPr/>
        </p:nvSpPr>
        <p:spPr>
          <a:xfrm flipV="1">
            <a:off x="8686800" y="2651760"/>
            <a:ext cx="1463040" cy="1165860"/>
          </a:xfrm>
          <a:prstGeom prst="line">
            <a:avLst/>
          </a:prstGeom>
          <a:noFill/>
          <a:ln w="9525">
            <a:solidFill>
              <a:schemeClr val="accent3"/>
            </a:solidFill>
            <a:prstDash val="solid"/>
          </a:ln>
        </p:spPr>
        <p:txBody>
          <a:bodyPr/>
          <a:lstStyle/>
          <a:p>
            <a:endParaRPr lang="en-US"/>
          </a:p>
        </p:txBody>
      </p:sp>
      <p:sp>
        <p:nvSpPr>
          <p:cNvPr id="12" name="Shape 9"/>
          <p:cNvSpPr/>
          <p:nvPr/>
        </p:nvSpPr>
        <p:spPr>
          <a:xfrm flipV="1">
            <a:off x="8686800" y="3429000"/>
            <a:ext cx="1463040" cy="388620"/>
          </a:xfrm>
          <a:prstGeom prst="line">
            <a:avLst/>
          </a:prstGeom>
          <a:noFill/>
          <a:ln w="9525">
            <a:solidFill>
              <a:schemeClr val="accent3"/>
            </a:solidFill>
            <a:prstDash val="solid"/>
          </a:ln>
        </p:spPr>
        <p:txBody>
          <a:bodyPr/>
          <a:lstStyle/>
          <a:p>
            <a:endParaRPr lang="en-US"/>
          </a:p>
        </p:txBody>
      </p:sp>
      <p:sp>
        <p:nvSpPr>
          <p:cNvPr id="13" name="Shape 10"/>
          <p:cNvSpPr/>
          <p:nvPr/>
        </p:nvSpPr>
        <p:spPr>
          <a:xfrm>
            <a:off x="8686800" y="3817620"/>
            <a:ext cx="1463040" cy="38862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2651760"/>
            <a:ext cx="1463040" cy="194310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429000"/>
            <a:ext cx="1463040" cy="1165860"/>
          </a:xfrm>
          <a:prstGeom prst="line">
            <a:avLst/>
          </a:prstGeom>
          <a:noFill/>
          <a:ln w="9525">
            <a:solidFill>
              <a:schemeClr val="accent3"/>
            </a:solidFill>
            <a:prstDash val="solid"/>
          </a:ln>
        </p:spPr>
        <p:txBody>
          <a:bodyPr/>
          <a:lstStyle/>
          <a:p>
            <a:endParaRPr lang="en-US"/>
          </a:p>
        </p:txBody>
      </p:sp>
      <p:sp>
        <p:nvSpPr>
          <p:cNvPr id="16" name="Shape 13"/>
          <p:cNvSpPr/>
          <p:nvPr/>
        </p:nvSpPr>
        <p:spPr>
          <a:xfrm flipV="1">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65176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65176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flipV="1">
            <a:off x="10149840" y="3040380"/>
            <a:ext cx="1463040" cy="388620"/>
          </a:xfrm>
          <a:prstGeom prst="line">
            <a:avLst/>
          </a:prstGeom>
          <a:noFill/>
          <a:ln w="9525">
            <a:solidFill>
              <a:schemeClr val="accent3"/>
            </a:solidFill>
            <a:prstDash val="solid"/>
          </a:ln>
        </p:spPr>
        <p:txBody>
          <a:bodyPr/>
          <a:lstStyle/>
          <a:p>
            <a:endParaRPr lang="en-US"/>
          </a:p>
        </p:txBody>
      </p:sp>
      <p:sp>
        <p:nvSpPr>
          <p:cNvPr id="20" name="Shape 17"/>
          <p:cNvSpPr/>
          <p:nvPr/>
        </p:nvSpPr>
        <p:spPr>
          <a:xfrm>
            <a:off x="10149840" y="342900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flipV="1">
            <a:off x="10149840" y="3040380"/>
            <a:ext cx="1463040" cy="1165860"/>
          </a:xfrm>
          <a:prstGeom prst="line">
            <a:avLst/>
          </a:prstGeom>
          <a:noFill/>
          <a:ln w="9525">
            <a:solidFill>
              <a:schemeClr val="accent3"/>
            </a:solidFill>
            <a:prstDash val="solid"/>
          </a:ln>
        </p:spPr>
        <p:txBody>
          <a:bodyPr/>
          <a:lstStyle/>
          <a:p>
            <a:endParaRPr lang="en-US"/>
          </a:p>
        </p:txBody>
      </p:sp>
      <p:sp>
        <p:nvSpPr>
          <p:cNvPr id="22" name="Shape 19"/>
          <p:cNvSpPr/>
          <p:nvPr/>
        </p:nvSpPr>
        <p:spPr>
          <a:xfrm flipV="1">
            <a:off x="10149840" y="3817620"/>
            <a:ext cx="1463040" cy="388620"/>
          </a:xfrm>
          <a:prstGeom prst="line">
            <a:avLst/>
          </a:prstGeom>
          <a:noFill/>
          <a:ln w="9525">
            <a:solidFill>
              <a:schemeClr val="accent3"/>
            </a:solidFill>
            <a:prstDash val="solid"/>
          </a:ln>
        </p:spPr>
        <p:txBody>
          <a:bodyPr/>
          <a:lstStyle/>
          <a:p>
            <a:endParaRPr lang="en-US"/>
          </a:p>
        </p:txBody>
      </p:sp>
      <p:sp>
        <p:nvSpPr>
          <p:cNvPr id="23" name="Shape 20"/>
          <p:cNvSpPr/>
          <p:nvPr/>
        </p:nvSpPr>
        <p:spPr>
          <a:xfrm>
            <a:off x="849477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4" name="Shape 21"/>
          <p:cNvSpPr/>
          <p:nvPr/>
        </p:nvSpPr>
        <p:spPr>
          <a:xfrm>
            <a:off x="849477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5" name="Shape 22"/>
          <p:cNvSpPr/>
          <p:nvPr/>
        </p:nvSpPr>
        <p:spPr>
          <a:xfrm>
            <a:off x="849477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6" name="Shape 23"/>
          <p:cNvSpPr/>
          <p:nvPr/>
        </p:nvSpPr>
        <p:spPr>
          <a:xfrm>
            <a:off x="849477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7" name="Shape 24"/>
          <p:cNvSpPr/>
          <p:nvPr/>
        </p:nvSpPr>
        <p:spPr>
          <a:xfrm>
            <a:off x="995781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8" name="Shape 25"/>
          <p:cNvSpPr/>
          <p:nvPr/>
        </p:nvSpPr>
        <p:spPr>
          <a:xfrm>
            <a:off x="995781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29" name="Shape 26"/>
          <p:cNvSpPr/>
          <p:nvPr/>
        </p:nvSpPr>
        <p:spPr>
          <a:xfrm>
            <a:off x="995781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11420856" y="284835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1" name="Shape 28"/>
          <p:cNvSpPr/>
          <p:nvPr/>
        </p:nvSpPr>
        <p:spPr>
          <a:xfrm>
            <a:off x="11420856" y="362559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Hôm nay chúng ta làm gì?</a:t>
            </a:r>
            <a:endParaRPr lang="en-US" sz="3800" dirty="0"/>
          </a:p>
        </p:txBody>
      </p:sp>
      <p:sp>
        <p:nvSpPr>
          <p:cNvPr id="4" name="Shape 1"/>
          <p:cNvSpPr/>
          <p:nvPr/>
        </p:nvSpPr>
        <p:spPr>
          <a:xfrm>
            <a:off x="548640" y="164592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64592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1</a:t>
            </a:r>
            <a:endParaRPr lang="en-US" sz="2700" dirty="0"/>
          </a:p>
        </p:txBody>
      </p:sp>
      <p:sp>
        <p:nvSpPr>
          <p:cNvPr id="6" name="Text 3"/>
          <p:cNvSpPr txBox="1"/>
          <p:nvPr/>
        </p:nvSpPr>
        <p:spPr>
          <a:xfrm>
            <a:off x="1645920" y="155448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Phân biệt</a:t>
            </a:r>
            <a:r>
              <a:rPr lang="en-US" sz="2800" dirty="0">
                <a:solidFill>
                  <a:schemeClr val="tx1"/>
                </a:solidFill>
              </a:rPr>
              <a:t> rủi ro với sự cố</a:t>
            </a:r>
            <a:endParaRPr lang="en-US" sz="2800" dirty="0"/>
          </a:p>
        </p:txBody>
      </p:sp>
      <p:sp>
        <p:nvSpPr>
          <p:cNvPr id="7" name="Shape 4"/>
          <p:cNvSpPr/>
          <p:nvPr/>
        </p:nvSpPr>
        <p:spPr>
          <a:xfrm>
            <a:off x="548640" y="2971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971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2</a:t>
            </a:r>
            <a:endParaRPr lang="en-US" sz="2700" dirty="0"/>
          </a:p>
        </p:txBody>
      </p:sp>
      <p:sp>
        <p:nvSpPr>
          <p:cNvPr id="9" name="Text 6"/>
          <p:cNvSpPr txBox="1"/>
          <p:nvPr/>
        </p:nvSpPr>
        <p:spPr>
          <a:xfrm>
            <a:off x="1645920" y="288036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Xếp</a:t>
            </a:r>
            <a:r>
              <a:rPr lang="en-US" sz="2800" dirty="0">
                <a:solidFill>
                  <a:schemeClr val="tx1"/>
                </a:solidFill>
              </a:rPr>
              <a:t> một tình huống vào một trong bốn nhóm</a:t>
            </a:r>
            <a:endParaRPr lang="en-US" sz="2800" dirty="0"/>
          </a:p>
        </p:txBody>
      </p:sp>
      <p:sp>
        <p:nvSpPr>
          <p:cNvPr id="10" name="Shape 7"/>
          <p:cNvSpPr/>
          <p:nvPr/>
        </p:nvSpPr>
        <p:spPr>
          <a:xfrm>
            <a:off x="548640" y="429768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29768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3</a:t>
            </a:r>
            <a:endParaRPr lang="en-US" sz="2700" dirty="0"/>
          </a:p>
        </p:txBody>
      </p:sp>
      <p:sp>
        <p:nvSpPr>
          <p:cNvPr id="12" name="Text 9"/>
          <p:cNvSpPr txBox="1"/>
          <p:nvPr/>
        </p:nvSpPr>
        <p:spPr>
          <a:xfrm>
            <a:off x="1645920" y="4206240"/>
            <a:ext cx="6309360" cy="1005840"/>
          </a:xfrm>
          <a:prstGeom prst="rect">
            <a:avLst/>
          </a:prstGeom>
          <a:noFill/>
          <a:ln/>
        </p:spPr>
        <p:txBody>
          <a:bodyPr wrap="square" lIns="0" tIns="0" rIns="0" bIns="0" rtlCol="0" anchor="ctr"/>
          <a:lstStyle/>
          <a:p>
            <a:pPr marL="0" indent="0">
              <a:buNone/>
            </a:pPr>
            <a:r>
              <a:rPr lang="en-US" sz="2800" b="1" dirty="0">
                <a:solidFill>
                  <a:schemeClr val="tx2"/>
                </a:solidFill>
              </a:rPr>
              <a:t>Nêu</a:t>
            </a:r>
            <a:r>
              <a:rPr lang="en-US" sz="2800" dirty="0">
                <a:solidFill>
                  <a:schemeClr val="tx1"/>
                </a:solidFill>
              </a:rPr>
              <a:t> cách phòng và bốn bước ứng phó</a:t>
            </a:r>
            <a:endParaRPr lang="en-US" sz="2800" dirty="0"/>
          </a:p>
        </p:txBody>
      </p:sp>
      <p:sp>
        <p:nvSpPr>
          <p:cNvPr id="13" name="Shape 10"/>
          <p:cNvSpPr/>
          <p:nvPr/>
        </p:nvSpPr>
        <p:spPr>
          <a:xfrm>
            <a:off x="8412480" y="1554480"/>
            <a:ext cx="3200400" cy="4023360"/>
          </a:xfrm>
          <a:prstGeom prst="roundRect">
            <a:avLst>
              <a:gd name="adj" fmla="val 3429"/>
            </a:avLst>
          </a:prstGeom>
          <a:solidFill>
            <a:schemeClr val="bg2"/>
          </a:solidFill>
          <a:ln w="12700">
            <a:solidFill>
              <a:schemeClr val="bg2"/>
            </a:solidFill>
            <a:prstDash val="solid"/>
          </a:ln>
        </p:spPr>
        <p:txBody>
          <a:bodyPr/>
          <a:lstStyle/>
          <a:p>
            <a:endParaRPr lang="en-US"/>
          </a:p>
        </p:txBody>
      </p:sp>
      <p:sp>
        <p:nvSpPr>
          <p:cNvPr id="14" name="Text 11"/>
          <p:cNvSpPr txBox="1"/>
          <p:nvPr/>
        </p:nvSpPr>
        <p:spPr>
          <a:xfrm>
            <a:off x="8686800" y="1737360"/>
            <a:ext cx="2743200" cy="457200"/>
          </a:xfrm>
          <a:prstGeom prst="rect">
            <a:avLst/>
          </a:prstGeom>
          <a:noFill/>
          <a:ln/>
        </p:spPr>
        <p:txBody>
          <a:bodyPr wrap="square" lIns="0" tIns="0" rIns="0" bIns="0" rtlCol="0" anchor="t"/>
          <a:lstStyle/>
          <a:p>
            <a:pPr marL="0" indent="0">
              <a:buNone/>
            </a:pPr>
            <a:r>
              <a:rPr lang="en-US" sz="2200" b="1" dirty="0">
                <a:solidFill>
                  <a:schemeClr val="tx2"/>
                </a:solidFill>
              </a:rPr>
              <a:t>45 phút</a:t>
            </a:r>
            <a:endParaRPr lang="en-US" sz="2200" dirty="0"/>
          </a:p>
        </p:txBody>
      </p:sp>
      <p:sp>
        <p:nvSpPr>
          <p:cNvPr id="15" name="Text 12"/>
          <p:cNvSpPr txBox="1"/>
          <p:nvPr/>
        </p:nvSpPr>
        <p:spPr>
          <a:xfrm>
            <a:off x="8686800" y="2423160"/>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16" name="Text 13"/>
          <p:cNvSpPr txBox="1"/>
          <p:nvPr/>
        </p:nvSpPr>
        <p:spPr>
          <a:xfrm>
            <a:off x="9464040" y="2423160"/>
            <a:ext cx="2057400" cy="640080"/>
          </a:xfrm>
          <a:prstGeom prst="rect">
            <a:avLst/>
          </a:prstGeom>
          <a:noFill/>
          <a:ln/>
        </p:spPr>
        <p:txBody>
          <a:bodyPr wrap="square" lIns="0" tIns="0" rIns="0" bIns="0" rtlCol="0" anchor="ctr"/>
          <a:lstStyle/>
          <a:p>
            <a:pPr marL="0" indent="0">
              <a:buNone/>
            </a:pPr>
            <a:r>
              <a:rPr lang="en-US" sz="2000" dirty="0">
                <a:solidFill>
                  <a:schemeClr val="tx1"/>
                </a:solidFill>
              </a:rPr>
              <a:t>Cuộc gọi của “mẹ”</a:t>
            </a:r>
            <a:endParaRPr lang="en-US" sz="2000" dirty="0"/>
          </a:p>
        </p:txBody>
      </p:sp>
      <p:sp>
        <p:nvSpPr>
          <p:cNvPr id="17" name="Text 14"/>
          <p:cNvSpPr txBox="1"/>
          <p:nvPr/>
        </p:nvSpPr>
        <p:spPr>
          <a:xfrm>
            <a:off x="8686800" y="3172968"/>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12'</a:t>
            </a:r>
            <a:endParaRPr lang="en-US" sz="2600" dirty="0"/>
          </a:p>
        </p:txBody>
      </p:sp>
      <p:sp>
        <p:nvSpPr>
          <p:cNvPr id="18" name="Text 15"/>
          <p:cNvSpPr txBox="1"/>
          <p:nvPr/>
        </p:nvSpPr>
        <p:spPr>
          <a:xfrm>
            <a:off x="9464040" y="3172968"/>
            <a:ext cx="2057400" cy="640080"/>
          </a:xfrm>
          <a:prstGeom prst="rect">
            <a:avLst/>
          </a:prstGeom>
          <a:noFill/>
          <a:ln/>
        </p:spPr>
        <p:txBody>
          <a:bodyPr wrap="square" lIns="0" tIns="0" rIns="0" bIns="0" rtlCol="0" anchor="ctr"/>
          <a:lstStyle/>
          <a:p>
            <a:pPr marL="0" indent="0">
              <a:buNone/>
            </a:pPr>
            <a:r>
              <a:rPr lang="en-US" sz="2000" dirty="0">
                <a:solidFill>
                  <a:schemeClr val="tx1"/>
                </a:solidFill>
              </a:rPr>
              <a:t>Rủi ro, sự cố, bốn nhóm</a:t>
            </a:r>
            <a:endParaRPr lang="en-US" sz="2000" dirty="0"/>
          </a:p>
        </p:txBody>
      </p:sp>
      <p:sp>
        <p:nvSpPr>
          <p:cNvPr id="19" name="Text 16"/>
          <p:cNvSpPr txBox="1"/>
          <p:nvPr/>
        </p:nvSpPr>
        <p:spPr>
          <a:xfrm>
            <a:off x="8686800" y="3922776"/>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23'</a:t>
            </a:r>
            <a:endParaRPr lang="en-US" sz="2600" dirty="0"/>
          </a:p>
        </p:txBody>
      </p:sp>
      <p:sp>
        <p:nvSpPr>
          <p:cNvPr id="20" name="Text 17"/>
          <p:cNvSpPr txBox="1"/>
          <p:nvPr/>
        </p:nvSpPr>
        <p:spPr>
          <a:xfrm>
            <a:off x="9464040" y="3922776"/>
            <a:ext cx="2057400" cy="640080"/>
          </a:xfrm>
          <a:prstGeom prst="rect">
            <a:avLst/>
          </a:prstGeom>
          <a:noFill/>
          <a:ln/>
        </p:spPr>
        <p:txBody>
          <a:bodyPr wrap="square" lIns="0" tIns="0" rIns="0" bIns="0" rtlCol="0" anchor="ctr"/>
          <a:lstStyle/>
          <a:p>
            <a:pPr marL="0" indent="0">
              <a:buNone/>
            </a:pPr>
            <a:r>
              <a:rPr lang="en-US" sz="2000" dirty="0">
                <a:solidFill>
                  <a:schemeClr val="tx1"/>
                </a:solidFill>
              </a:rPr>
              <a:t>Phân loại 12 thẻ</a:t>
            </a:r>
            <a:endParaRPr lang="en-US" sz="2000" dirty="0"/>
          </a:p>
        </p:txBody>
      </p:sp>
      <p:sp>
        <p:nvSpPr>
          <p:cNvPr id="21" name="Text 18"/>
          <p:cNvSpPr txBox="1"/>
          <p:nvPr/>
        </p:nvSpPr>
        <p:spPr>
          <a:xfrm>
            <a:off x="8686800" y="4672584"/>
            <a:ext cx="731520" cy="640080"/>
          </a:xfrm>
          <a:prstGeom prst="rect">
            <a:avLst/>
          </a:prstGeom>
          <a:noFill/>
          <a:ln/>
        </p:spPr>
        <p:txBody>
          <a:bodyPr wrap="square" lIns="0" tIns="0" rIns="0" bIns="0" rtlCol="0" anchor="ctr"/>
          <a:lstStyle/>
          <a:p>
            <a:pPr marL="0" indent="0">
              <a:buNone/>
            </a:pPr>
            <a:r>
              <a:rPr lang="en-US" sz="2600" b="1" dirty="0">
                <a:solidFill>
                  <a:schemeClr val="accent4"/>
                </a:solidFill>
              </a:rPr>
              <a:t>5'</a:t>
            </a:r>
            <a:endParaRPr lang="en-US" sz="2600" dirty="0"/>
          </a:p>
        </p:txBody>
      </p:sp>
      <p:sp>
        <p:nvSpPr>
          <p:cNvPr id="22" name="Text 19"/>
          <p:cNvSpPr txBox="1"/>
          <p:nvPr/>
        </p:nvSpPr>
        <p:spPr>
          <a:xfrm>
            <a:off x="9464040" y="4672584"/>
            <a:ext cx="2057400" cy="640080"/>
          </a:xfrm>
          <a:prstGeom prst="rect">
            <a:avLst/>
          </a:prstGeom>
          <a:noFill/>
          <a:ln/>
        </p:spPr>
        <p:txBody>
          <a:bodyPr wrap="square" lIns="0" tIns="0" rIns="0" bIns="0" rtlCol="0" anchor="ctr"/>
          <a:lstStyle/>
          <a:p>
            <a:pPr marL="0" indent="0">
              <a:buNone/>
            </a:pPr>
            <a:r>
              <a:rPr lang="en-US" sz="2000" dirty="0">
                <a:solidFill>
                  <a:schemeClr val="tx1"/>
                </a:solidFill>
              </a:rPr>
              <a:t>Phiếu ra cửa</a:t>
            </a:r>
            <a:endParaRPr lang="en-US" sz="20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Cuộc gọi của “mẹ”</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400" dirty="0">
                <a:solidFill>
                  <a:schemeClr val="tx1"/>
                </a:solidFill>
              </a:rPr>
              <a:t>Giờ ra chơi, Hà nhận cuộc gọi video từ tài khoản của mẹ. Hình hơi nhòe, tiếng chập chờn, nhưng đúng mặt và giọng mẹ:</a:t>
            </a:r>
            <a:endParaRPr lang="en-US" sz="2400" dirty="0"/>
          </a:p>
          <a:p>
            <a:pPr marL="0" indent="0">
              <a:buNone/>
            </a:pPr>
            <a:endParaRPr lang="en-US" sz="2400" dirty="0"/>
          </a:p>
          <a:p>
            <a:pPr marL="0" indent="0">
              <a:buNone/>
            </a:pPr>
            <a:r>
              <a:rPr lang="en-US" sz="2400" dirty="0">
                <a:solidFill>
                  <a:schemeClr val="tx1"/>
                </a:solidFill>
              </a:rPr>
              <a:t>“Mẹ đang ở bệnh viện, điện thoại sắp hết pin. Con chuyển gấp hai triệu vào số tài khoản mẹ nhắn.”</a:t>
            </a:r>
            <a:endParaRPr lang="en-US" sz="2400" dirty="0"/>
          </a:p>
          <a:p>
            <a:pPr marL="0" indent="0">
              <a:buNone/>
            </a:pPr>
            <a:endParaRPr lang="en-US" sz="2400" dirty="0"/>
          </a:p>
          <a:p>
            <a:pPr marL="0" indent="0">
              <a:buNone/>
            </a:pPr>
            <a:r>
              <a:rPr lang="en-US" sz="2400" dirty="0">
                <a:solidFill>
                  <a:schemeClr val="tx1"/>
                </a:solidFill>
              </a:rPr>
              <a:t>Cuộc gọi tắt sau mười giây. Tài khoản mang tên người lạ.</a:t>
            </a:r>
            <a:endParaRPr lang="en-US" sz="24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Nếu là Hà, em làm gì trong ba phút tiếp theo?</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Rủi ro và sự cố: chưa xảy ra và đã xảy ra</a:t>
            </a:r>
            <a:endParaRPr lang="en-US" sz="3800" dirty="0"/>
          </a:p>
        </p:txBody>
      </p:sp>
      <p:sp>
        <p:nvSpPr>
          <p:cNvPr id="4" name="Shape 1"/>
          <p:cNvSpPr/>
          <p:nvPr/>
        </p:nvSpPr>
        <p:spPr>
          <a:xfrm>
            <a:off x="548640" y="1554480"/>
            <a:ext cx="5394960" cy="3246120"/>
          </a:xfrm>
          <a:prstGeom prst="roundRect">
            <a:avLst>
              <a:gd name="adj" fmla="val 338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4754880" cy="640080"/>
          </a:xfrm>
          <a:prstGeom prst="rect">
            <a:avLst/>
          </a:prstGeom>
          <a:noFill/>
          <a:ln/>
        </p:spPr>
        <p:txBody>
          <a:bodyPr wrap="square" lIns="0" tIns="0" rIns="0" bIns="0" rtlCol="0" anchor="ctr"/>
          <a:lstStyle/>
          <a:p>
            <a:pPr marL="0" indent="0">
              <a:buNone/>
            </a:pPr>
            <a:r>
              <a:rPr lang="en-US" sz="3000" b="1" dirty="0">
                <a:solidFill>
                  <a:schemeClr val="tx2"/>
                </a:solidFill>
              </a:rPr>
              <a:t>Rủi ro</a:t>
            </a:r>
            <a:endParaRPr lang="en-US" sz="3000" dirty="0"/>
          </a:p>
        </p:txBody>
      </p:sp>
      <p:sp>
        <p:nvSpPr>
          <p:cNvPr id="6" name="Text 3"/>
          <p:cNvSpPr txBox="1"/>
          <p:nvPr/>
        </p:nvSpPr>
        <p:spPr>
          <a:xfrm>
            <a:off x="86868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tx1"/>
                </a:solidFill>
              </a:rPr>
              <a:t>Điều có hại có thể xảy ra</a:t>
            </a:r>
            <a:endParaRPr lang="en-US" sz="2400" dirty="0"/>
          </a:p>
          <a:p>
            <a:pPr marL="342900" indent="-342900">
              <a:spcAft>
                <a:spcPts val="1000"/>
              </a:spcAft>
              <a:buSzPct val="100000"/>
              <a:buChar char="•"/>
            </a:pPr>
            <a:r>
              <a:rPr lang="en-US" sz="2400" dirty="0">
                <a:solidFill>
                  <a:schemeClr val="tx1"/>
                </a:solidFill>
              </a:rPr>
              <a:t>Trời nhiều mây đen</a:t>
            </a:r>
            <a:endParaRPr lang="en-US" sz="2400" dirty="0"/>
          </a:p>
          <a:p>
            <a:pPr marL="342900" indent="-342900">
              <a:spcAft>
                <a:spcPts val="1000"/>
              </a:spcAft>
              <a:buSzPct val="100000"/>
              <a:buChar char="•"/>
            </a:pPr>
            <a:r>
              <a:rPr lang="en-US" sz="2400" dirty="0">
                <a:solidFill>
                  <a:schemeClr val="tx1"/>
                </a:solidFill>
              </a:rPr>
              <a:t>Việc cần làm: phòng</a:t>
            </a:r>
            <a:endParaRPr lang="en-US" sz="2400" dirty="0"/>
          </a:p>
        </p:txBody>
      </p:sp>
      <p:sp>
        <p:nvSpPr>
          <p:cNvPr id="7" name="Shape 4"/>
          <p:cNvSpPr/>
          <p:nvPr/>
        </p:nvSpPr>
        <p:spPr>
          <a:xfrm>
            <a:off x="6217920" y="1554480"/>
            <a:ext cx="5394960" cy="3246120"/>
          </a:xfrm>
          <a:prstGeom prst="roundRect">
            <a:avLst>
              <a:gd name="adj" fmla="val 3380"/>
            </a:avLst>
          </a:prstGeom>
          <a:solidFill>
            <a:schemeClr val="tx2"/>
          </a:solidFill>
          <a:ln w="12700">
            <a:solidFill>
              <a:schemeClr val="tx2"/>
            </a:solidFill>
            <a:prstDash val="solid"/>
          </a:ln>
        </p:spPr>
        <p:txBody>
          <a:bodyPr/>
          <a:lstStyle/>
          <a:p>
            <a:endParaRPr lang="en-US"/>
          </a:p>
        </p:txBody>
      </p:sp>
      <p:sp>
        <p:nvSpPr>
          <p:cNvPr id="8" name="Text 5"/>
          <p:cNvSpPr txBox="1"/>
          <p:nvPr/>
        </p:nvSpPr>
        <p:spPr>
          <a:xfrm>
            <a:off x="6537960" y="1783080"/>
            <a:ext cx="4754880" cy="640080"/>
          </a:xfrm>
          <a:prstGeom prst="rect">
            <a:avLst/>
          </a:prstGeom>
          <a:noFill/>
          <a:ln/>
        </p:spPr>
        <p:txBody>
          <a:bodyPr wrap="square" lIns="0" tIns="0" rIns="0" bIns="0" rtlCol="0" anchor="ctr"/>
          <a:lstStyle/>
          <a:p>
            <a:pPr marL="0" indent="0">
              <a:buNone/>
            </a:pPr>
            <a:r>
              <a:rPr lang="en-US" sz="3000" b="1" dirty="0">
                <a:solidFill>
                  <a:schemeClr val="accent2"/>
                </a:solidFill>
              </a:rPr>
              <a:t>Sự cố</a:t>
            </a:r>
            <a:endParaRPr lang="en-US" sz="3000" dirty="0"/>
          </a:p>
        </p:txBody>
      </p:sp>
      <p:sp>
        <p:nvSpPr>
          <p:cNvPr id="9" name="Text 6"/>
          <p:cNvSpPr txBox="1"/>
          <p:nvPr/>
        </p:nvSpPr>
        <p:spPr>
          <a:xfrm>
            <a:off x="6537960" y="251460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2400" dirty="0">
                <a:solidFill>
                  <a:schemeClr val="bg1"/>
                </a:solidFill>
              </a:rPr>
              <a:t>Điều có hại đã xảy ra</a:t>
            </a:r>
            <a:endParaRPr lang="en-US" sz="2400" dirty="0"/>
          </a:p>
          <a:p>
            <a:pPr marL="342900" indent="-342900">
              <a:spcAft>
                <a:spcPts val="1000"/>
              </a:spcAft>
              <a:buSzPct val="100000"/>
              <a:buChar char="•"/>
            </a:pPr>
            <a:r>
              <a:rPr lang="en-US" sz="2400" dirty="0">
                <a:solidFill>
                  <a:schemeClr val="bg1"/>
                </a:solidFill>
              </a:rPr>
              <a:t>Bị ướt</a:t>
            </a:r>
            <a:endParaRPr lang="en-US" sz="2400" dirty="0"/>
          </a:p>
          <a:p>
            <a:pPr marL="342900" indent="-342900">
              <a:spcAft>
                <a:spcPts val="1000"/>
              </a:spcAft>
              <a:buSzPct val="100000"/>
              <a:buChar char="•"/>
            </a:pPr>
            <a:r>
              <a:rPr lang="en-US" sz="2400" dirty="0">
                <a:solidFill>
                  <a:schemeClr val="bg1"/>
                </a:solidFill>
              </a:rPr>
              <a:t>Việc cần làm: ứng phó</a:t>
            </a:r>
            <a:endParaRPr lang="en-US" sz="2400" dirty="0"/>
          </a:p>
        </p:txBody>
      </p:sp>
      <p:sp>
        <p:nvSpPr>
          <p:cNvPr id="10" name="Shape 7"/>
          <p:cNvSpPr/>
          <p:nvPr/>
        </p:nvSpPr>
        <p:spPr>
          <a:xfrm>
            <a:off x="548640" y="5029200"/>
            <a:ext cx="11064240" cy="914400"/>
          </a:xfrm>
          <a:prstGeom prst="roundRect">
            <a:avLst>
              <a:gd name="adj" fmla="val 12000"/>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868680" y="5029200"/>
            <a:ext cx="10424160" cy="914400"/>
          </a:xfrm>
          <a:prstGeom prst="rect">
            <a:avLst/>
          </a:prstGeom>
          <a:noFill/>
          <a:ln/>
        </p:spPr>
        <p:txBody>
          <a:bodyPr wrap="square" lIns="0" tIns="0" rIns="0" bIns="0" rtlCol="0" anchor="ctr"/>
          <a:lstStyle/>
          <a:p>
            <a:pPr marL="0" indent="0">
              <a:buNone/>
            </a:pPr>
            <a:r>
              <a:rPr lang="en-US" sz="2800" b="1" dirty="0">
                <a:solidFill>
                  <a:schemeClr val="tx1"/>
                </a:solidFill>
              </a:rPr>
              <a:t>Phòng mất vài phút. Khắc phục có thể mất nhiều tuần</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Bốn nhóm rủi ro thường gặp với học sinh</a:t>
            </a:r>
            <a:endParaRPr lang="en-US" sz="3800" dirty="0"/>
          </a:p>
        </p:txBody>
      </p:sp>
      <p:sp>
        <p:nvSpPr>
          <p:cNvPr id="4" name="Shape 1"/>
          <p:cNvSpPr/>
          <p:nvPr/>
        </p:nvSpPr>
        <p:spPr>
          <a:xfrm>
            <a:off x="54864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933956"/>
          </a:xfrm>
          <a:prstGeom prst="rect">
            <a:avLst/>
          </a:prstGeom>
          <a:noFill/>
          <a:ln/>
        </p:spPr>
        <p:txBody>
          <a:bodyPr wrap="square" lIns="0" tIns="0" rIns="0" bIns="0" rtlCol="0" anchor="ctr"/>
          <a:lstStyle/>
          <a:p>
            <a:pPr marL="0" indent="0">
              <a:buNone/>
            </a:pPr>
            <a:r>
              <a:rPr lang="en-US" sz="2600" b="1" dirty="0">
                <a:solidFill>
                  <a:schemeClr val="tx1"/>
                </a:solidFill>
              </a:rPr>
              <a:t>Dữ liệu và quyền riêng tư</a:t>
            </a:r>
            <a:endParaRPr lang="en-US" sz="2600" dirty="0"/>
          </a:p>
        </p:txBody>
      </p:sp>
      <p:sp>
        <p:nvSpPr>
          <p:cNvPr id="8" name="Shape 5"/>
          <p:cNvSpPr/>
          <p:nvPr/>
        </p:nvSpPr>
        <p:spPr>
          <a:xfrm>
            <a:off x="6195060" y="155448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2974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2974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933956"/>
          </a:xfrm>
          <a:prstGeom prst="rect">
            <a:avLst/>
          </a:prstGeom>
          <a:noFill/>
          <a:ln/>
        </p:spPr>
        <p:txBody>
          <a:bodyPr wrap="square" lIns="0" tIns="0" rIns="0" bIns="0" rtlCol="0" anchor="ctr"/>
          <a:lstStyle/>
          <a:p>
            <a:pPr marL="0" indent="0">
              <a:buNone/>
            </a:pPr>
            <a:r>
              <a:rPr lang="en-US" sz="2600" b="1" dirty="0">
                <a:solidFill>
                  <a:schemeClr val="tx1"/>
                </a:solidFill>
              </a:rPr>
              <a:t>Giả mạo và thông tin sai</a:t>
            </a:r>
            <a:endParaRPr lang="en-US" sz="2600" dirty="0"/>
          </a:p>
        </p:txBody>
      </p:sp>
      <p:sp>
        <p:nvSpPr>
          <p:cNvPr id="12" name="Shape 9"/>
          <p:cNvSpPr/>
          <p:nvPr/>
        </p:nvSpPr>
        <p:spPr>
          <a:xfrm>
            <a:off x="54864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936492"/>
            <a:ext cx="4320540" cy="1933956"/>
          </a:xfrm>
          <a:prstGeom prst="rect">
            <a:avLst/>
          </a:prstGeom>
          <a:noFill/>
          <a:ln/>
        </p:spPr>
        <p:txBody>
          <a:bodyPr wrap="square" lIns="0" tIns="0" rIns="0" bIns="0" rtlCol="0" anchor="ctr"/>
          <a:lstStyle/>
          <a:p>
            <a:pPr marL="0" indent="0">
              <a:buNone/>
            </a:pPr>
            <a:r>
              <a:rPr lang="en-US" sz="2600" b="1" dirty="0">
                <a:solidFill>
                  <a:schemeClr val="tx1"/>
                </a:solidFill>
              </a:rPr>
              <a:t>Bản quyền</a:t>
            </a:r>
            <a:endParaRPr lang="en-US" sz="2600" dirty="0"/>
          </a:p>
        </p:txBody>
      </p:sp>
      <p:sp>
        <p:nvSpPr>
          <p:cNvPr id="16" name="Shape 13"/>
          <p:cNvSpPr/>
          <p:nvPr/>
        </p:nvSpPr>
        <p:spPr>
          <a:xfrm>
            <a:off x="6195060" y="3863340"/>
            <a:ext cx="5417820" cy="2080260"/>
          </a:xfrm>
          <a:prstGeom prst="roundRect">
            <a:avLst>
              <a:gd name="adj" fmla="val 5275"/>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460629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460629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936492"/>
            <a:ext cx="4320540" cy="1933956"/>
          </a:xfrm>
          <a:prstGeom prst="rect">
            <a:avLst/>
          </a:prstGeom>
          <a:noFill/>
          <a:ln/>
        </p:spPr>
        <p:txBody>
          <a:bodyPr wrap="square" lIns="0" tIns="0" rIns="0" bIns="0" rtlCol="0" anchor="ctr"/>
          <a:lstStyle/>
          <a:p>
            <a:pPr marL="0" indent="0">
              <a:buNone/>
            </a:pPr>
            <a:r>
              <a:rPr lang="en-US" sz="2600" b="1" dirty="0">
                <a:solidFill>
                  <a:schemeClr val="tx1"/>
                </a:solidFill>
              </a:rPr>
              <a:t>Trung thực học thuật</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Mỗi nhóm: một rủi ro, một sự cố</a:t>
            </a:r>
            <a:endParaRPr lang="en-US" sz="3800" dirty="0"/>
          </a:p>
        </p:txBody>
      </p:sp>
      <p:pic>
        <p:nvPicPr>
          <p:cNvPr id="4" name="Image 0" descr="Mỗi nhóm: một rủi ro, một sự cố"/>
          <p:cNvPicPr>
            <a:picLocks noChangeAspect="1"/>
          </p:cNvPicPr>
          <p:nvPr/>
        </p:nvPicPr>
        <p:blipFill>
          <a:blip r:embed="rId3"/>
          <a:stretch>
            <a:fillRect/>
          </a:stretch>
        </p:blipFill>
        <p:spPr>
          <a:xfrm>
            <a:off x="2225650" y="1463040"/>
            <a:ext cx="7710221" cy="4663440"/>
          </a:xfrm>
          <a:prstGeom prst="rect">
            <a:avLst/>
          </a:prstGeom>
        </p:spPr>
      </p:pic>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Dấu hiệu một cuộc gọi video giả mạo</a:t>
            </a:r>
            <a:endParaRPr lang="en-US" sz="3800" dirty="0"/>
          </a:p>
        </p:txBody>
      </p:sp>
      <p:sp>
        <p:nvSpPr>
          <p:cNvPr id="4" name="Shape 1"/>
          <p:cNvSpPr/>
          <p:nvPr/>
        </p:nvSpPr>
        <p:spPr>
          <a:xfrm>
            <a:off x="54864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1</a:t>
            </a:r>
            <a:endParaRPr lang="en-US" sz="2000" dirty="0"/>
          </a:p>
        </p:txBody>
      </p:sp>
      <p:sp>
        <p:nvSpPr>
          <p:cNvPr id="7" name="Text 4"/>
          <p:cNvSpPr txBox="1"/>
          <p:nvPr/>
        </p:nvSpPr>
        <p:spPr>
          <a:xfrm>
            <a:off x="150876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Cuộc gọi rất ngắn, chỉ vài giây</a:t>
            </a:r>
            <a:endParaRPr lang="en-US" sz="2600" dirty="0"/>
          </a:p>
        </p:txBody>
      </p:sp>
      <p:sp>
        <p:nvSpPr>
          <p:cNvPr id="8" name="Shape 5"/>
          <p:cNvSpPr/>
          <p:nvPr/>
        </p:nvSpPr>
        <p:spPr>
          <a:xfrm>
            <a:off x="6195060" y="155448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9" name="Shape 6"/>
          <p:cNvSpPr/>
          <p:nvPr/>
        </p:nvSpPr>
        <p:spPr>
          <a:xfrm>
            <a:off x="6377940" y="202311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6377940" y="202311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2</a:t>
            </a:r>
            <a:endParaRPr lang="en-US" sz="2000" dirty="0"/>
          </a:p>
        </p:txBody>
      </p:sp>
      <p:sp>
        <p:nvSpPr>
          <p:cNvPr id="11" name="Text 8"/>
          <p:cNvSpPr txBox="1"/>
          <p:nvPr/>
        </p:nvSpPr>
        <p:spPr>
          <a:xfrm>
            <a:off x="7155180" y="162763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Khuôn mặt thiếu cảm xúc, tư thế gượng</a:t>
            </a:r>
            <a:endParaRPr lang="en-US" sz="2600" dirty="0"/>
          </a:p>
        </p:txBody>
      </p:sp>
      <p:sp>
        <p:nvSpPr>
          <p:cNvPr id="12" name="Shape 9"/>
          <p:cNvSpPr/>
          <p:nvPr/>
        </p:nvSpPr>
        <p:spPr>
          <a:xfrm>
            <a:off x="54864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3</a:t>
            </a:r>
            <a:endParaRPr lang="en-US" sz="2000" dirty="0"/>
          </a:p>
        </p:txBody>
      </p:sp>
      <p:sp>
        <p:nvSpPr>
          <p:cNvPr id="15" name="Text 12"/>
          <p:cNvSpPr txBox="1"/>
          <p:nvPr/>
        </p:nvSpPr>
        <p:spPr>
          <a:xfrm>
            <a:off x="150876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Tiếng không khớp với cử động môi</a:t>
            </a:r>
            <a:endParaRPr lang="en-US" sz="2600" dirty="0"/>
          </a:p>
        </p:txBody>
      </p:sp>
      <p:sp>
        <p:nvSpPr>
          <p:cNvPr id="16" name="Shape 13"/>
          <p:cNvSpPr/>
          <p:nvPr/>
        </p:nvSpPr>
        <p:spPr>
          <a:xfrm>
            <a:off x="6195060" y="3314700"/>
            <a:ext cx="5417820" cy="1531620"/>
          </a:xfrm>
          <a:prstGeom prst="roundRect">
            <a:avLst>
              <a:gd name="adj" fmla="val 7164"/>
            </a:avLst>
          </a:prstGeom>
          <a:solidFill>
            <a:schemeClr val="bg2"/>
          </a:solidFill>
          <a:ln w="12700">
            <a:solidFill>
              <a:schemeClr val="bg2"/>
            </a:solidFill>
            <a:prstDash val="solid"/>
          </a:ln>
        </p:spPr>
        <p:txBody>
          <a:bodyPr/>
          <a:lstStyle/>
          <a:p>
            <a:endParaRPr lang="en-US"/>
          </a:p>
        </p:txBody>
      </p:sp>
      <p:sp>
        <p:nvSpPr>
          <p:cNvPr id="17" name="Shape 14"/>
          <p:cNvSpPr/>
          <p:nvPr/>
        </p:nvSpPr>
        <p:spPr>
          <a:xfrm>
            <a:off x="6377940" y="378333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8" name="Text 15"/>
          <p:cNvSpPr txBox="1"/>
          <p:nvPr/>
        </p:nvSpPr>
        <p:spPr>
          <a:xfrm>
            <a:off x="6377940" y="378333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4</a:t>
            </a:r>
            <a:endParaRPr lang="en-US" sz="2000" dirty="0"/>
          </a:p>
        </p:txBody>
      </p:sp>
      <p:sp>
        <p:nvSpPr>
          <p:cNvPr id="19" name="Text 16"/>
          <p:cNvSpPr txBox="1"/>
          <p:nvPr/>
        </p:nvSpPr>
        <p:spPr>
          <a:xfrm>
            <a:off x="7155180" y="3387852"/>
            <a:ext cx="4320540" cy="1385316"/>
          </a:xfrm>
          <a:prstGeom prst="rect">
            <a:avLst/>
          </a:prstGeom>
          <a:noFill/>
          <a:ln/>
        </p:spPr>
        <p:txBody>
          <a:bodyPr wrap="square" lIns="0" tIns="0" rIns="0" bIns="0" rtlCol="0" anchor="ctr"/>
          <a:lstStyle/>
          <a:p>
            <a:pPr marL="0" indent="0">
              <a:buNone/>
            </a:pPr>
            <a:r>
              <a:rPr lang="en-US" sz="2600" b="1" dirty="0">
                <a:solidFill>
                  <a:schemeClr val="tx1"/>
                </a:solidFill>
              </a:rPr>
              <a:t>Tài khoản nhận tiền không đúng tên người gọi</a:t>
            </a:r>
            <a:endParaRPr lang="en-US" sz="2600" dirty="0"/>
          </a:p>
        </p:txBody>
      </p:sp>
      <p:sp>
        <p:nvSpPr>
          <p:cNvPr id="20" name="Shape 17"/>
          <p:cNvSpPr/>
          <p:nvPr/>
        </p:nvSpPr>
        <p:spPr>
          <a:xfrm>
            <a:off x="548640" y="5074920"/>
            <a:ext cx="11064240" cy="868680"/>
          </a:xfrm>
          <a:prstGeom prst="roundRect">
            <a:avLst>
              <a:gd name="adj" fmla="val 12632"/>
            </a:avLst>
          </a:prstGeom>
          <a:solidFill>
            <a:schemeClr val="tx2"/>
          </a:solidFill>
          <a:ln w="12700">
            <a:solidFill>
              <a:schemeClr val="tx2"/>
            </a:solidFill>
            <a:prstDash val="solid"/>
          </a:ln>
        </p:spPr>
        <p:txBody>
          <a:bodyPr/>
          <a:lstStyle/>
          <a:p>
            <a:endParaRPr lang="en-US"/>
          </a:p>
        </p:txBody>
      </p:sp>
      <p:sp>
        <p:nvSpPr>
          <p:cNvPr id="21" name="Text 18"/>
          <p:cNvSpPr txBox="1"/>
          <p:nvPr/>
        </p:nvSpPr>
        <p:spPr>
          <a:xfrm>
            <a:off x="868680" y="5074920"/>
            <a:ext cx="10424160" cy="868680"/>
          </a:xfrm>
          <a:prstGeom prst="rect">
            <a:avLst/>
          </a:prstGeom>
          <a:noFill/>
          <a:ln/>
        </p:spPr>
        <p:txBody>
          <a:bodyPr wrap="square" lIns="0" tIns="0" rIns="0" bIns="0" rtlCol="0" anchor="ctr"/>
          <a:lstStyle/>
          <a:p>
            <a:pPr marL="0" indent="0">
              <a:buNone/>
            </a:pPr>
            <a:r>
              <a:rPr lang="en-US" sz="2800" b="1" dirty="0">
                <a:solidFill>
                  <a:schemeClr val="bg1"/>
                </a:solidFill>
              </a:rPr>
              <a:t>Gọi lại bằng số điện thoại thường trước khi làm theo</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Khi sự cố đã xảy ra: bốn bước ứng phó</a:t>
            </a:r>
            <a:endParaRPr lang="en-US" sz="3800" dirty="0"/>
          </a:p>
        </p:txBody>
      </p:sp>
      <p:pic>
        <p:nvPicPr>
          <p:cNvPr id="4" name="Image 0" descr="Khi sự cố đã xảy ra: bốn bước ứng phó"/>
          <p:cNvPicPr>
            <a:picLocks noChangeAspect="1"/>
          </p:cNvPicPr>
          <p:nvPr/>
        </p:nvPicPr>
        <p:blipFill>
          <a:blip r:embed="rId3"/>
          <a:stretch>
            <a:fillRect/>
          </a:stretch>
        </p:blipFill>
        <p:spPr>
          <a:xfrm>
            <a:off x="548640" y="1889268"/>
            <a:ext cx="11064240" cy="3033743"/>
          </a:xfrm>
          <a:prstGeom prst="rect">
            <a:avLst/>
          </a:prstGeom>
        </p:spPr>
      </p:pic>
      <p:sp>
        <p:nvSpPr>
          <p:cNvPr id="5" name="Shape 1"/>
          <p:cNvSpPr/>
          <p:nvPr/>
        </p:nvSpPr>
        <p:spPr>
          <a:xfrm>
            <a:off x="548640" y="5440680"/>
            <a:ext cx="11064240" cy="777240"/>
          </a:xfrm>
          <a:prstGeom prst="roundRect">
            <a:avLst>
              <a:gd name="adj" fmla="val 14118"/>
            </a:avLst>
          </a:prstGeom>
          <a:solidFill>
            <a:schemeClr val="accent2"/>
          </a:solidFill>
          <a:ln w="12700">
            <a:solidFill>
              <a:schemeClr val="accent2"/>
            </a:solidFill>
            <a:prstDash val="solid"/>
          </a:ln>
        </p:spPr>
        <p:txBody>
          <a:bodyPr/>
          <a:lstStyle/>
          <a:p>
            <a:endParaRPr lang="en-US"/>
          </a:p>
        </p:txBody>
      </p:sp>
      <p:sp>
        <p:nvSpPr>
          <p:cNvPr id="6" name="Text 2"/>
          <p:cNvSpPr txBox="1"/>
          <p:nvPr/>
        </p:nvSpPr>
        <p:spPr>
          <a:xfrm>
            <a:off x="868680" y="5440680"/>
            <a:ext cx="10424160" cy="777240"/>
          </a:xfrm>
          <a:prstGeom prst="rect">
            <a:avLst/>
          </a:prstGeom>
          <a:noFill/>
          <a:ln/>
        </p:spPr>
        <p:txBody>
          <a:bodyPr wrap="square" lIns="0" tIns="0" rIns="0" bIns="0" rtlCol="0" anchor="ctr"/>
          <a:lstStyle/>
          <a:p>
            <a:pPr marL="0" indent="0">
              <a:buNone/>
            </a:pPr>
            <a:r>
              <a:rPr lang="en-US" sz="2800" b="1" dirty="0">
                <a:solidFill>
                  <a:schemeClr val="tx1"/>
                </a:solidFill>
              </a:rPr>
              <a:t>Không xử lí một mình và không giấu</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Phân loại 12 thẻ</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Phần 2 · 23 phút · Làm việc nhóm</a:t>
            </a:r>
            <a:endParaRPr lang="en-US" sz="2400" dirty="0"/>
          </a:p>
        </p:txBody>
      </p:sp>
      <p:sp>
        <p:nvSpPr>
          <p:cNvPr id="5" name="Shape 2"/>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Nhiệm vụ nhóm: rủi ro hay sự cố, nhóm nào?</a:t>
            </a:r>
            <a:endParaRPr lang="en-US" sz="3800" dirty="0"/>
          </a:p>
        </p:txBody>
      </p:sp>
      <p:sp>
        <p:nvSpPr>
          <p:cNvPr id="4" name="Shape 1"/>
          <p:cNvSpPr/>
          <p:nvPr/>
        </p:nvSpPr>
        <p:spPr>
          <a:xfrm>
            <a:off x="548640" y="1554480"/>
            <a:ext cx="1828800" cy="1188720"/>
          </a:xfrm>
          <a:prstGeom prst="roundRect">
            <a:avLst>
              <a:gd name="adj" fmla="val 9231"/>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554480"/>
            <a:ext cx="1828800" cy="1188720"/>
          </a:xfrm>
          <a:prstGeom prst="rect">
            <a:avLst/>
          </a:prstGeom>
          <a:noFill/>
          <a:ln/>
        </p:spPr>
        <p:txBody>
          <a:bodyPr wrap="square" lIns="0" tIns="0" rIns="0" bIns="0" rtlCol="0" anchor="ctr"/>
          <a:lstStyle/>
          <a:p>
            <a:pPr marL="0" indent="0" algn="ctr">
              <a:buNone/>
            </a:pPr>
            <a:r>
              <a:rPr lang="en-US" sz="3000" b="1" dirty="0">
                <a:solidFill>
                  <a:schemeClr val="tx1"/>
                </a:solidFill>
              </a:rPr>
              <a:t>15 phút</a:t>
            </a:r>
            <a:endParaRPr lang="en-US" sz="3000" dirty="0"/>
          </a:p>
        </p:txBody>
      </p:sp>
      <p:sp>
        <p:nvSpPr>
          <p:cNvPr id="6" name="Text 3"/>
          <p:cNvSpPr txBox="1"/>
          <p:nvPr/>
        </p:nvSpPr>
        <p:spPr>
          <a:xfrm>
            <a:off x="2651760" y="1554480"/>
            <a:ext cx="4754880" cy="1188720"/>
          </a:xfrm>
          <a:prstGeom prst="rect">
            <a:avLst/>
          </a:prstGeom>
          <a:noFill/>
          <a:ln/>
        </p:spPr>
        <p:txBody>
          <a:bodyPr wrap="square" lIns="0" tIns="0" rIns="0" bIns="0" rtlCol="0" anchor="ctr"/>
          <a:lstStyle/>
          <a:p>
            <a:pPr marL="0" indent="0">
              <a:buNone/>
            </a:pPr>
            <a:r>
              <a:rPr lang="en-US" sz="3000" b="1" dirty="0">
                <a:solidFill>
                  <a:schemeClr val="tx2"/>
                </a:solidFill>
              </a:rPr>
              <a:t>Xếp 12 thẻ tình huống vào bảng phân loại</a:t>
            </a:r>
            <a:endParaRPr lang="en-US" sz="3000" dirty="0"/>
          </a:p>
        </p:txBody>
      </p:sp>
      <p:sp>
        <p:nvSpPr>
          <p:cNvPr id="7" name="Text 4"/>
          <p:cNvSpPr txBox="1"/>
          <p:nvPr/>
        </p:nvSpPr>
        <p:spPr>
          <a:xfrm>
            <a:off x="548640" y="3017520"/>
            <a:ext cx="6858000" cy="2926080"/>
          </a:xfrm>
          <a:prstGeom prst="rect">
            <a:avLst/>
          </a:prstGeom>
          <a:noFill/>
          <a:ln/>
        </p:spPr>
        <p:txBody>
          <a:bodyPr wrap="square" lIns="0" tIns="0" rIns="0" bIns="0" rtlCol="0" anchor="t"/>
          <a:lstStyle/>
          <a:p>
            <a:pPr marL="342900" indent="-342900">
              <a:spcAft>
                <a:spcPts val="1200"/>
              </a:spcAft>
              <a:buSzPct val="100000"/>
              <a:buFont typeface="+mj-lt"/>
              <a:buAutoNum type="arabicPeriod"/>
            </a:pPr>
            <a:r>
              <a:rPr lang="en-US" sz="2800" dirty="0">
                <a:solidFill>
                  <a:schemeClr val="tx1"/>
                </a:solidFill>
              </a:rPr>
              <a:t>Với mỗi thẻ: ghi R (rủi ro) hoặc S (sự cố)</a:t>
            </a:r>
            <a:endParaRPr lang="en-US" sz="2800" dirty="0"/>
          </a:p>
          <a:p>
            <a:pPr marL="342900" indent="-342900">
              <a:spcAft>
                <a:spcPts val="1200"/>
              </a:spcAft>
              <a:buSzPct val="100000"/>
              <a:buFont typeface="+mj-lt"/>
              <a:buAutoNum type="arabicPeriod"/>
            </a:pPr>
            <a:r>
              <a:rPr lang="en-US" sz="2800" dirty="0">
                <a:solidFill>
                  <a:schemeClr val="tx1"/>
                </a:solidFill>
              </a:rPr>
              <a:t>Xếp thẻ vào một trong bốn nhóm</a:t>
            </a:r>
            <a:endParaRPr lang="en-US" sz="2800" dirty="0"/>
          </a:p>
          <a:p>
            <a:pPr marL="342900" indent="-342900">
              <a:spcAft>
                <a:spcPts val="1200"/>
              </a:spcAft>
              <a:buSzPct val="100000"/>
              <a:buFont typeface="+mj-lt"/>
              <a:buAutoNum type="arabicPeriod"/>
            </a:pPr>
            <a:r>
              <a:rPr lang="en-US" sz="2800" dirty="0">
                <a:solidFill>
                  <a:schemeClr val="tx1"/>
                </a:solidFill>
              </a:rPr>
              <a:t>Chọn hai thẻ: viết cách phòng hoặc cách ứng phó</a:t>
            </a:r>
            <a:endParaRPr lang="en-US" sz="2800" dirty="0"/>
          </a:p>
        </p:txBody>
      </p:sp>
      <p:sp>
        <p:nvSpPr>
          <p:cNvPr id="8" name="Shape 5"/>
          <p:cNvSpPr/>
          <p:nvPr/>
        </p:nvSpPr>
        <p:spPr>
          <a:xfrm>
            <a:off x="7772400" y="1554480"/>
            <a:ext cx="3840480" cy="4389120"/>
          </a:xfrm>
          <a:prstGeom prst="roundRect">
            <a:avLst>
              <a:gd name="adj" fmla="val 2857"/>
            </a:avLst>
          </a:prstGeom>
          <a:solidFill>
            <a:schemeClr val="tx2"/>
          </a:solidFill>
          <a:ln w="12700">
            <a:solidFill>
              <a:schemeClr val="tx2"/>
            </a:solidFill>
            <a:prstDash val="solid"/>
          </a:ln>
        </p:spPr>
        <p:txBody>
          <a:bodyPr/>
          <a:lstStyle/>
          <a:p>
            <a:endParaRPr lang="en-US"/>
          </a:p>
        </p:txBody>
      </p:sp>
      <p:sp>
        <p:nvSpPr>
          <p:cNvPr id="9" name="Text 6"/>
          <p:cNvSpPr txBox="1"/>
          <p:nvPr/>
        </p:nvSpPr>
        <p:spPr>
          <a:xfrm>
            <a:off x="8092440" y="1783080"/>
            <a:ext cx="3200400" cy="548640"/>
          </a:xfrm>
          <a:prstGeom prst="rect">
            <a:avLst/>
          </a:prstGeom>
          <a:noFill/>
          <a:ln/>
        </p:spPr>
        <p:txBody>
          <a:bodyPr wrap="square" lIns="0" tIns="0" rIns="0" bIns="0" rtlCol="0" anchor="t"/>
          <a:lstStyle/>
          <a:p>
            <a:pPr marL="0" indent="0">
              <a:buNone/>
            </a:pPr>
            <a:r>
              <a:rPr lang="en-US" sz="2200" b="1" dirty="0">
                <a:solidFill>
                  <a:schemeClr val="accent2"/>
                </a:solidFill>
              </a:rPr>
              <a:t>Lưu ý</a:t>
            </a:r>
            <a:endParaRPr lang="en-US" sz="2200" dirty="0"/>
          </a:p>
        </p:txBody>
      </p:sp>
      <p:sp>
        <p:nvSpPr>
          <p:cNvPr id="10" name="Text 7"/>
          <p:cNvSpPr txBox="1"/>
          <p:nvPr/>
        </p:nvSpPr>
        <p:spPr>
          <a:xfrm>
            <a:off x="8092440" y="2423160"/>
            <a:ext cx="3200400" cy="3291840"/>
          </a:xfrm>
          <a:prstGeom prst="rect">
            <a:avLst/>
          </a:prstGeom>
          <a:noFill/>
          <a:ln/>
        </p:spPr>
        <p:txBody>
          <a:bodyPr wrap="square" lIns="0" tIns="0" rIns="0" bIns="0" rtlCol="0" anchor="t"/>
          <a:lstStyle/>
          <a:p>
            <a:pPr marL="0" indent="0">
              <a:buNone/>
            </a:pPr>
            <a:r>
              <a:rPr lang="en-US" sz="2800" dirty="0">
                <a:solidFill>
                  <a:schemeClr val="bg1"/>
                </a:solidFill>
              </a:rPr>
              <a:t>Có thẻ thuộc hơn một nhóm. Nhóm hãy nêu căn cứ cho lựa chọn của mình.</a:t>
            </a:r>
            <a:endParaRPr lang="en-US" sz="28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Thử nhanh: R hay S? Nhóm mấy?</a:t>
            </a:r>
            <a:endParaRPr lang="en-US" sz="3800" dirty="0"/>
          </a:p>
        </p:txBody>
      </p:sp>
      <p:sp>
        <p:nvSpPr>
          <p:cNvPr id="4" name="Shape 1"/>
          <p:cNvSpPr/>
          <p:nvPr/>
        </p:nvSpPr>
        <p:spPr>
          <a:xfrm>
            <a:off x="548640" y="1554480"/>
            <a:ext cx="1106424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5" name="Shape 2"/>
          <p:cNvSpPr/>
          <p:nvPr/>
        </p:nvSpPr>
        <p:spPr>
          <a:xfrm>
            <a:off x="731520" y="191262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6" name="Text 3"/>
          <p:cNvSpPr txBox="1"/>
          <p:nvPr/>
        </p:nvSpPr>
        <p:spPr>
          <a:xfrm>
            <a:off x="731520" y="191262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a</a:t>
            </a:r>
            <a:endParaRPr lang="en-US" sz="2000" dirty="0"/>
          </a:p>
        </p:txBody>
      </p:sp>
      <p:sp>
        <p:nvSpPr>
          <p:cNvPr id="7" name="Text 4"/>
          <p:cNvSpPr txBox="1"/>
          <p:nvPr/>
        </p:nvSpPr>
        <p:spPr>
          <a:xfrm>
            <a:off x="1508760" y="1627632"/>
            <a:ext cx="9966960" cy="1164336"/>
          </a:xfrm>
          <a:prstGeom prst="rect">
            <a:avLst/>
          </a:prstGeom>
          <a:noFill/>
          <a:ln/>
        </p:spPr>
        <p:txBody>
          <a:bodyPr wrap="square" lIns="0" tIns="0" rIns="0" bIns="0" rtlCol="0" anchor="ctr"/>
          <a:lstStyle/>
          <a:p>
            <a:pPr marL="0" indent="0">
              <a:buNone/>
            </a:pPr>
            <a:r>
              <a:rPr lang="en-US" sz="2600" b="1" dirty="0">
                <a:solidFill>
                  <a:schemeClr val="tx1"/>
                </a:solidFill>
              </a:rPr>
              <a:t>Trang cá nhân của Linh công khai hơn 200 ảnh rõ mặt</a:t>
            </a:r>
            <a:endParaRPr lang="en-US" sz="2600" dirty="0"/>
          </a:p>
        </p:txBody>
      </p:sp>
      <p:sp>
        <p:nvSpPr>
          <p:cNvPr id="8" name="Shape 5"/>
          <p:cNvSpPr/>
          <p:nvPr/>
        </p:nvSpPr>
        <p:spPr>
          <a:xfrm>
            <a:off x="548640" y="3093720"/>
            <a:ext cx="1106424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9" name="Shape 6"/>
          <p:cNvSpPr/>
          <p:nvPr/>
        </p:nvSpPr>
        <p:spPr>
          <a:xfrm>
            <a:off x="731520" y="345186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0" name="Text 7"/>
          <p:cNvSpPr txBox="1"/>
          <p:nvPr/>
        </p:nvSpPr>
        <p:spPr>
          <a:xfrm>
            <a:off x="731520" y="345186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b</a:t>
            </a:r>
            <a:endParaRPr lang="en-US" sz="2000" dirty="0"/>
          </a:p>
        </p:txBody>
      </p:sp>
      <p:sp>
        <p:nvSpPr>
          <p:cNvPr id="11" name="Text 8"/>
          <p:cNvSpPr txBox="1"/>
          <p:nvPr/>
        </p:nvSpPr>
        <p:spPr>
          <a:xfrm>
            <a:off x="1508760" y="3166872"/>
            <a:ext cx="9966960" cy="1164336"/>
          </a:xfrm>
          <a:prstGeom prst="rect">
            <a:avLst/>
          </a:prstGeom>
          <a:noFill/>
          <a:ln/>
        </p:spPr>
        <p:txBody>
          <a:bodyPr wrap="square" lIns="0" tIns="0" rIns="0" bIns="0" rtlCol="0" anchor="ctr"/>
          <a:lstStyle/>
          <a:p>
            <a:pPr marL="0" indent="0">
              <a:buNone/>
            </a:pPr>
            <a:r>
              <a:rPr lang="en-US" sz="2600" b="1" dirty="0">
                <a:solidFill>
                  <a:schemeClr val="tx1"/>
                </a:solidFill>
              </a:rPr>
              <a:t>Bài thuyết trình có một câu “theo thống kê” do AI viết, không ai tìm được nguồn</a:t>
            </a:r>
            <a:endParaRPr lang="en-US" sz="2600" dirty="0"/>
          </a:p>
        </p:txBody>
      </p:sp>
      <p:sp>
        <p:nvSpPr>
          <p:cNvPr id="12" name="Shape 9"/>
          <p:cNvSpPr/>
          <p:nvPr/>
        </p:nvSpPr>
        <p:spPr>
          <a:xfrm>
            <a:off x="548640" y="4632960"/>
            <a:ext cx="11064240" cy="1310640"/>
          </a:xfrm>
          <a:prstGeom prst="roundRect">
            <a:avLst>
              <a:gd name="adj" fmla="val 8372"/>
            </a:avLst>
          </a:prstGeom>
          <a:solidFill>
            <a:schemeClr val="bg2"/>
          </a:solidFill>
          <a:ln w="12700">
            <a:solidFill>
              <a:schemeClr val="bg2"/>
            </a:solidFill>
            <a:prstDash val="solid"/>
          </a:ln>
        </p:spPr>
        <p:txBody>
          <a:bodyPr/>
          <a:lstStyle/>
          <a:p>
            <a:endParaRPr lang="en-US"/>
          </a:p>
        </p:txBody>
      </p:sp>
      <p:sp>
        <p:nvSpPr>
          <p:cNvPr id="13" name="Shape 10"/>
          <p:cNvSpPr/>
          <p:nvPr/>
        </p:nvSpPr>
        <p:spPr>
          <a:xfrm>
            <a:off x="731520" y="4991100"/>
            <a:ext cx="594360" cy="59436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731520" y="4991100"/>
            <a:ext cx="594360" cy="594360"/>
          </a:xfrm>
          <a:prstGeom prst="rect">
            <a:avLst/>
          </a:prstGeom>
          <a:noFill/>
          <a:ln/>
        </p:spPr>
        <p:txBody>
          <a:bodyPr wrap="square" lIns="0" tIns="0" rIns="0" bIns="0" rtlCol="0" anchor="ctr"/>
          <a:lstStyle/>
          <a:p>
            <a:pPr marL="0" indent="0" algn="ctr">
              <a:buNone/>
            </a:pPr>
            <a:r>
              <a:rPr lang="en-US" sz="2000" b="1" dirty="0">
                <a:solidFill>
                  <a:schemeClr val="tx1"/>
                </a:solidFill>
              </a:rPr>
              <a:t>c</a:t>
            </a:r>
            <a:endParaRPr lang="en-US" sz="2000" dirty="0"/>
          </a:p>
        </p:txBody>
      </p:sp>
      <p:sp>
        <p:nvSpPr>
          <p:cNvPr id="15" name="Text 12"/>
          <p:cNvSpPr txBox="1"/>
          <p:nvPr/>
        </p:nvSpPr>
        <p:spPr>
          <a:xfrm>
            <a:off x="1508760" y="4706112"/>
            <a:ext cx="9966960" cy="1164336"/>
          </a:xfrm>
          <a:prstGeom prst="rect">
            <a:avLst/>
          </a:prstGeom>
          <a:noFill/>
          <a:ln/>
        </p:spPr>
        <p:txBody>
          <a:bodyPr wrap="square" lIns="0" tIns="0" rIns="0" bIns="0" rtlCol="0" anchor="ctr"/>
          <a:lstStyle/>
          <a:p>
            <a:pPr marL="0" indent="0">
              <a:buNone/>
            </a:pPr>
            <a:r>
              <a:rPr lang="en-US" sz="2600" b="1" dirty="0">
                <a:solidFill>
                  <a:schemeClr val="tx1"/>
                </a:solidFill>
              </a:rPr>
              <a:t>Mai dán danh sách họ tên, số điện thoại phụ huynh cả lớp vào công cụ AI</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Em cũng có thể gây rủi ro cho người khác</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028700"/>
          </a:xfrm>
          <a:prstGeom prst="rect">
            <a:avLst/>
          </a:prstGeom>
          <a:noFill/>
          <a:ln/>
        </p:spPr>
        <p:txBody>
          <a:bodyPr wrap="square" lIns="0" tIns="0" rIns="0" bIns="0" rtlCol="0" anchor="ctr"/>
          <a:lstStyle/>
          <a:p>
            <a:pPr marL="0" indent="0">
              <a:buNone/>
            </a:pPr>
            <a:r>
              <a:rPr lang="en-US" sz="3200" dirty="0">
                <a:solidFill>
                  <a:schemeClr val="tx1"/>
                </a:solidFill>
              </a:rPr>
              <a:t>Đưa ảnh của bạn vào AI khi chưa hỏi</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6949440" cy="1028700"/>
          </a:xfrm>
          <a:prstGeom prst="rect">
            <a:avLst/>
          </a:prstGeom>
          <a:noFill/>
          <a:ln/>
        </p:spPr>
        <p:txBody>
          <a:bodyPr wrap="square" lIns="0" tIns="0" rIns="0" bIns="0" rtlCol="0" anchor="ctr"/>
          <a:lstStyle/>
          <a:p>
            <a:pPr marL="0" indent="0">
              <a:buNone/>
            </a:pPr>
            <a:r>
              <a:rPr lang="en-US" sz="3200" dirty="0">
                <a:solidFill>
                  <a:schemeClr val="tx1"/>
                </a:solidFill>
              </a:rPr>
              <a:t>Chia sẻ tiếp một tin chưa kiểm chứng</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6949440" cy="1028700"/>
          </a:xfrm>
          <a:prstGeom prst="rect">
            <a:avLst/>
          </a:prstGeom>
          <a:noFill/>
          <a:ln/>
        </p:spPr>
        <p:txBody>
          <a:bodyPr wrap="square" lIns="0" tIns="0" rIns="0" bIns="0" rtlCol="0" anchor="ctr"/>
          <a:lstStyle/>
          <a:p>
            <a:pPr marL="0" indent="0">
              <a:buNone/>
            </a:pPr>
            <a:r>
              <a:rPr lang="en-US" sz="3200" dirty="0">
                <a:solidFill>
                  <a:schemeClr val="tx1"/>
                </a:solidFill>
              </a:rPr>
              <a:t>“Ghép mặt cho vui” một bạn trong lớp</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6949440" cy="1028700"/>
          </a:xfrm>
          <a:prstGeom prst="rect">
            <a:avLst/>
          </a:prstGeom>
          <a:noFill/>
          <a:ln/>
        </p:spPr>
        <p:txBody>
          <a:bodyPr wrap="square" lIns="0" tIns="0" rIns="0" bIns="0" rtlCol="0" anchor="ctr"/>
          <a:lstStyle/>
          <a:p>
            <a:pPr marL="0" indent="0">
              <a:buNone/>
            </a:pPr>
            <a:r>
              <a:rPr lang="en-US" sz="3200" dirty="0">
                <a:solidFill>
                  <a:schemeClr val="tx1"/>
                </a:solidFill>
              </a:rPr>
              <a:t>Nộp bài không trung thực</a:t>
            </a:r>
            <a:endParaRPr lang="en-US" sz="3200" dirty="0"/>
          </a:p>
        </p:txBody>
      </p:sp>
      <p:sp>
        <p:nvSpPr>
          <p:cNvPr id="16" name="Shape 13"/>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7" name="Text 14"/>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An toàn gồm hai chiều: không để mình bị hại và không gây hại cho người khác.</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Thử ngay với một tin nhắn</a:t>
            </a:r>
            <a:endParaRPr lang="en-US" sz="3800" dirty="0"/>
          </a:p>
        </p:txBody>
      </p:sp>
      <p:sp>
        <p:nvSpPr>
          <p:cNvPr id="4" name="Shape 1"/>
          <p:cNvSpPr/>
          <p:nvPr/>
        </p:nvSpPr>
        <p:spPr>
          <a:xfrm>
            <a:off x="548640" y="1554480"/>
            <a:ext cx="6583680" cy="4389120"/>
          </a:xfrm>
          <a:prstGeom prst="roundRect">
            <a:avLst>
              <a:gd name="adj" fmla="val 2500"/>
            </a:avLst>
          </a:prstGeom>
          <a:solidFill>
            <a:schemeClr val="bg2"/>
          </a:solidFill>
          <a:ln w="12700">
            <a:solidFill>
              <a:schemeClr val="bg2"/>
            </a:solidFill>
            <a:prstDash val="solid"/>
          </a:ln>
        </p:spPr>
        <p:txBody>
          <a:bodyPr/>
          <a:lstStyle/>
          <a:p>
            <a:endParaRPr lang="en-US"/>
          </a:p>
        </p:txBody>
      </p:sp>
      <p:sp>
        <p:nvSpPr>
          <p:cNvPr id="5" name="Text 2"/>
          <p:cNvSpPr txBox="1"/>
          <p:nvPr/>
        </p:nvSpPr>
        <p:spPr>
          <a:xfrm>
            <a:off x="868680" y="1783080"/>
            <a:ext cx="5943600" cy="3931920"/>
          </a:xfrm>
          <a:prstGeom prst="rect">
            <a:avLst/>
          </a:prstGeom>
          <a:noFill/>
          <a:ln/>
        </p:spPr>
        <p:txBody>
          <a:bodyPr wrap="square" lIns="0" tIns="0" rIns="0" bIns="0" rtlCol="0" anchor="ctr"/>
          <a:lstStyle/>
          <a:p>
            <a:pPr marL="0" indent="0">
              <a:buNone/>
            </a:pPr>
            <a:r>
              <a:rPr lang="en-US" sz="2800" dirty="0">
                <a:solidFill>
                  <a:schemeClr val="tx1"/>
                </a:solidFill>
              </a:rPr>
              <a:t>Em nhận tin nhắn từ số lạ: “Bấm vào đường dẫn này để xem điểm thi sớm.” Em chưa bấm.</a:t>
            </a:r>
            <a:endParaRPr lang="en-US" sz="2800" dirty="0"/>
          </a:p>
        </p:txBody>
      </p:sp>
      <p:sp>
        <p:nvSpPr>
          <p:cNvPr id="6" name="Shape 3"/>
          <p:cNvSpPr/>
          <p:nvPr/>
        </p:nvSpPr>
        <p:spPr>
          <a:xfrm>
            <a:off x="7406640" y="1554480"/>
            <a:ext cx="4206240" cy="4389120"/>
          </a:xfrm>
          <a:prstGeom prst="roundRect">
            <a:avLst>
              <a:gd name="adj" fmla="val 2609"/>
            </a:avLst>
          </a:prstGeom>
          <a:solidFill>
            <a:schemeClr val="tx2"/>
          </a:solidFill>
          <a:ln w="12700">
            <a:solidFill>
              <a:schemeClr val="tx2"/>
            </a:solidFill>
            <a:prstDash val="solid"/>
          </a:ln>
        </p:spPr>
        <p:txBody>
          <a:bodyPr/>
          <a:lstStyle/>
          <a:p>
            <a:endParaRPr lang="en-US"/>
          </a:p>
        </p:txBody>
      </p:sp>
      <p:sp>
        <p:nvSpPr>
          <p:cNvPr id="7" name="Shape 4"/>
          <p:cNvSpPr/>
          <p:nvPr/>
        </p:nvSpPr>
        <p:spPr>
          <a:xfrm>
            <a:off x="7726680" y="1828800"/>
            <a:ext cx="822960" cy="82296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7726680" y="1828800"/>
            <a:ext cx="822960" cy="822960"/>
          </a:xfrm>
          <a:prstGeom prst="rect">
            <a:avLst/>
          </a:prstGeom>
          <a:noFill/>
          <a:ln/>
        </p:spPr>
        <p:txBody>
          <a:bodyPr wrap="square" lIns="0" tIns="0" rIns="0" bIns="0" rtlCol="0" anchor="ctr"/>
          <a:lstStyle/>
          <a:p>
            <a:pPr marL="0" indent="0" algn="ctr">
              <a:buNone/>
            </a:pPr>
            <a:r>
              <a:rPr lang="en-US" sz="2700" b="1" dirty="0">
                <a:solidFill>
                  <a:schemeClr val="tx1"/>
                </a:solidFill>
              </a:rPr>
              <a:t>?</a:t>
            </a:r>
            <a:endParaRPr lang="en-US" sz="2700" dirty="0"/>
          </a:p>
        </p:txBody>
      </p:sp>
      <p:sp>
        <p:nvSpPr>
          <p:cNvPr id="9" name="Text 6"/>
          <p:cNvSpPr txBox="1"/>
          <p:nvPr/>
        </p:nvSpPr>
        <p:spPr>
          <a:xfrm>
            <a:off x="7726680" y="2834640"/>
            <a:ext cx="3566160" cy="2926080"/>
          </a:xfrm>
          <a:prstGeom prst="rect">
            <a:avLst/>
          </a:prstGeom>
          <a:noFill/>
          <a:ln/>
        </p:spPr>
        <p:txBody>
          <a:bodyPr wrap="square" lIns="0" tIns="0" rIns="0" bIns="0" rtlCol="0" anchor="t"/>
          <a:lstStyle/>
          <a:p>
            <a:pPr marL="0" indent="0">
              <a:buNone/>
            </a:pPr>
            <a:r>
              <a:rPr lang="en-US" sz="3200" b="1" dirty="0">
                <a:solidFill>
                  <a:schemeClr val="bg1"/>
                </a:solidFill>
              </a:rPr>
              <a:t>Lúc này là rủi ro hay đã là sự cố? Em làm gì trước tiên?</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Ba việc làm ngay khi thấy nghi ngờ</a:t>
            </a:r>
            <a:endParaRPr lang="en-US" sz="3800" dirty="0"/>
          </a:p>
        </p:txBody>
      </p:sp>
      <p:sp>
        <p:nvSpPr>
          <p:cNvPr id="4" name="Shape 1"/>
          <p:cNvSpPr/>
          <p:nvPr/>
        </p:nvSpPr>
        <p:spPr>
          <a:xfrm>
            <a:off x="548640" y="191262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91262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Dừng lại</a:t>
            </a:r>
            <a:r>
              <a:rPr lang="en-US" sz="3200" dirty="0">
                <a:solidFill>
                  <a:schemeClr val="tx1"/>
                </a:solidFill>
              </a:rPr>
              <a:t>, chưa làm theo yêu cầu</a:t>
            </a:r>
            <a:endParaRPr lang="en-US" sz="3200" dirty="0"/>
          </a:p>
        </p:txBody>
      </p:sp>
      <p:sp>
        <p:nvSpPr>
          <p:cNvPr id="7" name="Shape 4"/>
          <p:cNvSpPr/>
          <p:nvPr/>
        </p:nvSpPr>
        <p:spPr>
          <a:xfrm>
            <a:off x="548640" y="340614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340614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304800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Kiểm tra</a:t>
            </a:r>
            <a:r>
              <a:rPr lang="en-US" sz="3200" dirty="0">
                <a:solidFill>
                  <a:schemeClr val="tx1"/>
                </a:solidFill>
              </a:rPr>
              <a:t> qua một kênh khác em đã biết</a:t>
            </a:r>
            <a:endParaRPr lang="en-US" sz="3200" dirty="0"/>
          </a:p>
        </p:txBody>
      </p:sp>
      <p:sp>
        <p:nvSpPr>
          <p:cNvPr id="10" name="Shape 7"/>
          <p:cNvSpPr/>
          <p:nvPr/>
        </p:nvSpPr>
        <p:spPr>
          <a:xfrm>
            <a:off x="548640" y="489966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489966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4541520"/>
            <a:ext cx="6949440" cy="1402080"/>
          </a:xfrm>
          <a:prstGeom prst="rect">
            <a:avLst/>
          </a:prstGeom>
          <a:noFill/>
          <a:ln/>
        </p:spPr>
        <p:txBody>
          <a:bodyPr wrap="square" lIns="0" tIns="0" rIns="0" bIns="0" rtlCol="0" anchor="ctr"/>
          <a:lstStyle/>
          <a:p>
            <a:pPr marL="0" indent="0">
              <a:buNone/>
            </a:pPr>
            <a:r>
              <a:rPr lang="en-US" sz="3200" b="1" dirty="0">
                <a:solidFill>
                  <a:schemeClr val="tx2"/>
                </a:solidFill>
              </a:rPr>
              <a:t>Báo</a:t>
            </a:r>
            <a:r>
              <a:rPr lang="en-US" sz="3200" dirty="0">
                <a:solidFill>
                  <a:schemeClr val="tx1"/>
                </a:solidFill>
              </a:rPr>
              <a:t> cho người lớn em tin cậy</a:t>
            </a:r>
            <a:endParaRPr lang="en-US" sz="3200" dirty="0"/>
          </a:p>
        </p:txBody>
      </p:sp>
      <p:sp>
        <p:nvSpPr>
          <p:cNvPr id="13" name="Shape 10"/>
          <p:cNvSpPr/>
          <p:nvPr/>
        </p:nvSpPr>
        <p:spPr>
          <a:xfrm>
            <a:off x="8778240" y="1554480"/>
            <a:ext cx="2834640" cy="4480560"/>
          </a:xfrm>
          <a:prstGeom prst="roundRect">
            <a:avLst>
              <a:gd name="adj" fmla="val 3871"/>
            </a:avLst>
          </a:prstGeom>
          <a:solidFill>
            <a:schemeClr val="tx2"/>
          </a:solidFill>
          <a:ln w="12700">
            <a:solidFill>
              <a:schemeClr val="tx2"/>
            </a:solidFill>
            <a:prstDash val="solid"/>
          </a:ln>
        </p:spPr>
        <p:txBody>
          <a:bodyPr/>
          <a:lstStyle/>
          <a:p>
            <a:endParaRPr lang="en-US"/>
          </a:p>
        </p:txBody>
      </p:sp>
      <p:sp>
        <p:nvSpPr>
          <p:cNvPr id="14" name="Text 11"/>
          <p:cNvSpPr txBox="1"/>
          <p:nvPr/>
        </p:nvSpPr>
        <p:spPr>
          <a:xfrm>
            <a:off x="9006840" y="1737360"/>
            <a:ext cx="2377440" cy="4114800"/>
          </a:xfrm>
          <a:prstGeom prst="rect">
            <a:avLst/>
          </a:prstGeom>
          <a:noFill/>
          <a:ln/>
        </p:spPr>
        <p:txBody>
          <a:bodyPr wrap="square" lIns="0" tIns="0" rIns="0" bIns="0" rtlCol="0" anchor="ctr"/>
          <a:lstStyle/>
          <a:p>
            <a:pPr marL="0" indent="0">
              <a:buNone/>
            </a:pPr>
            <a:r>
              <a:rPr lang="en-US" sz="2600" b="1" dirty="0">
                <a:solidFill>
                  <a:schemeClr val="bg1"/>
                </a:solidFill>
              </a:rPr>
              <a:t>Vội vàng là thứ kẻ lừa đảo cần nhất.</a:t>
            </a:r>
            <a:endParaRPr lang="en-US" sz="26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548640" y="365760"/>
            <a:ext cx="11064240" cy="914400"/>
          </a:xfrm>
          <a:prstGeom prst="rect">
            <a:avLst/>
          </a:prstGeom>
          <a:noFill/>
          <a:ln/>
        </p:spPr>
        <p:txBody>
          <a:bodyPr wrap="square" lIns="0" tIns="0" rIns="0" bIns="0" rtlCol="0" anchor="ctr"/>
          <a:lstStyle/>
          <a:p>
            <a:pPr marL="0" indent="0" algn="l">
              <a:buNone/>
            </a:pPr>
            <a:r>
              <a:rPr lang="en-US" sz="3800" b="1" dirty="0">
                <a:solidFill>
                  <a:schemeClr val="tx2"/>
                </a:solidFill>
              </a:rPr>
              <a:t>Ghi nhớ</a:t>
            </a:r>
            <a:endParaRPr lang="en-US" sz="3800" dirty="0"/>
          </a:p>
        </p:txBody>
      </p:sp>
      <p:sp>
        <p:nvSpPr>
          <p:cNvPr id="4" name="Shape 1"/>
          <p:cNvSpPr/>
          <p:nvPr/>
        </p:nvSpPr>
        <p:spPr>
          <a:xfrm>
            <a:off x="548640" y="172593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5" name="Text 2"/>
          <p:cNvSpPr txBox="1"/>
          <p:nvPr/>
        </p:nvSpPr>
        <p:spPr>
          <a:xfrm>
            <a:off x="548640" y="172593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1</a:t>
            </a:r>
            <a:endParaRPr lang="en-US" sz="2300" dirty="0"/>
          </a:p>
        </p:txBody>
      </p:sp>
      <p:sp>
        <p:nvSpPr>
          <p:cNvPr id="6" name="Text 3"/>
          <p:cNvSpPr txBox="1"/>
          <p:nvPr/>
        </p:nvSpPr>
        <p:spPr>
          <a:xfrm>
            <a:off x="1508760" y="1554480"/>
            <a:ext cx="10058400" cy="1028700"/>
          </a:xfrm>
          <a:prstGeom prst="rect">
            <a:avLst/>
          </a:prstGeom>
          <a:noFill/>
          <a:ln/>
        </p:spPr>
        <p:txBody>
          <a:bodyPr wrap="square" lIns="0" tIns="0" rIns="0" bIns="0" rtlCol="0" anchor="ctr"/>
          <a:lstStyle/>
          <a:p>
            <a:pPr marL="0" indent="0">
              <a:buNone/>
            </a:pPr>
            <a:r>
              <a:rPr lang="en-US" sz="3200" b="1" dirty="0">
                <a:solidFill>
                  <a:schemeClr val="tx2"/>
                </a:solidFill>
              </a:rPr>
              <a:t>Rủi ro</a:t>
            </a:r>
            <a:r>
              <a:rPr lang="en-US" sz="3200" dirty="0">
                <a:solidFill>
                  <a:schemeClr val="tx1"/>
                </a:solidFill>
              </a:rPr>
              <a:t> thì phòng, </a:t>
            </a:r>
            <a:r>
              <a:rPr lang="en-US" sz="3200" b="1" dirty="0">
                <a:solidFill>
                  <a:schemeClr val="tx2"/>
                </a:solidFill>
              </a:rPr>
              <a:t>sự cố</a:t>
            </a:r>
            <a:r>
              <a:rPr lang="en-US" sz="3200" dirty="0">
                <a:solidFill>
                  <a:schemeClr val="tx1"/>
                </a:solidFill>
              </a:rPr>
              <a:t> thì ứng phó</a:t>
            </a:r>
            <a:endParaRPr lang="en-US" sz="3200" dirty="0"/>
          </a:p>
        </p:txBody>
      </p:sp>
      <p:sp>
        <p:nvSpPr>
          <p:cNvPr id="7" name="Shape 4"/>
          <p:cNvSpPr/>
          <p:nvPr/>
        </p:nvSpPr>
        <p:spPr>
          <a:xfrm>
            <a:off x="548640" y="284607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8" name="Text 5"/>
          <p:cNvSpPr txBox="1"/>
          <p:nvPr/>
        </p:nvSpPr>
        <p:spPr>
          <a:xfrm>
            <a:off x="548640" y="284607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2</a:t>
            </a:r>
            <a:endParaRPr lang="en-US" sz="2300" dirty="0"/>
          </a:p>
        </p:txBody>
      </p:sp>
      <p:sp>
        <p:nvSpPr>
          <p:cNvPr id="9" name="Text 6"/>
          <p:cNvSpPr txBox="1"/>
          <p:nvPr/>
        </p:nvSpPr>
        <p:spPr>
          <a:xfrm>
            <a:off x="1508760" y="267462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Bốn nhóm: </a:t>
            </a:r>
            <a:r>
              <a:rPr lang="en-US" sz="3200" b="1" dirty="0">
                <a:solidFill>
                  <a:schemeClr val="tx2"/>
                </a:solidFill>
              </a:rPr>
              <a:t>dữ liệu; giả mạo; bản quyền; trung thực</a:t>
            </a:r>
            <a:endParaRPr lang="en-US" sz="3200" dirty="0"/>
          </a:p>
        </p:txBody>
      </p:sp>
      <p:sp>
        <p:nvSpPr>
          <p:cNvPr id="10" name="Shape 7"/>
          <p:cNvSpPr/>
          <p:nvPr/>
        </p:nvSpPr>
        <p:spPr>
          <a:xfrm>
            <a:off x="548640" y="396621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48640" y="396621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3</a:t>
            </a:r>
            <a:endParaRPr lang="en-US" sz="2300" dirty="0"/>
          </a:p>
        </p:txBody>
      </p:sp>
      <p:sp>
        <p:nvSpPr>
          <p:cNvPr id="12" name="Text 9"/>
          <p:cNvSpPr txBox="1"/>
          <p:nvPr/>
        </p:nvSpPr>
        <p:spPr>
          <a:xfrm>
            <a:off x="1508760" y="379476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Cuộc gọi đáng ngờ: </a:t>
            </a:r>
            <a:r>
              <a:rPr lang="en-US" sz="3200" b="1" dirty="0">
                <a:solidFill>
                  <a:schemeClr val="tx2"/>
                </a:solidFill>
              </a:rPr>
              <a:t>xác minh qua kênh khác</a:t>
            </a:r>
            <a:endParaRPr lang="en-US" sz="3200" dirty="0"/>
          </a:p>
        </p:txBody>
      </p:sp>
      <p:sp>
        <p:nvSpPr>
          <p:cNvPr id="13" name="Shape 10"/>
          <p:cNvSpPr/>
          <p:nvPr/>
        </p:nvSpPr>
        <p:spPr>
          <a:xfrm>
            <a:off x="548640" y="5086350"/>
            <a:ext cx="685800" cy="685800"/>
          </a:xfrm>
          <a:prstGeom prst="ellipse">
            <a:avLst/>
          </a:prstGeom>
          <a:solidFill>
            <a:schemeClr val="accent2"/>
          </a:solidFill>
          <a:ln w="12700">
            <a:solidFill>
              <a:schemeClr val="accent2"/>
            </a:solidFill>
            <a:prstDash val="solid"/>
          </a:ln>
        </p:spPr>
        <p:txBody>
          <a:bodyPr/>
          <a:lstStyle/>
          <a:p>
            <a:endParaRPr lang="en-US"/>
          </a:p>
        </p:txBody>
      </p:sp>
      <p:sp>
        <p:nvSpPr>
          <p:cNvPr id="14" name="Text 11"/>
          <p:cNvSpPr txBox="1"/>
          <p:nvPr/>
        </p:nvSpPr>
        <p:spPr>
          <a:xfrm>
            <a:off x="548640" y="5086350"/>
            <a:ext cx="685800" cy="685800"/>
          </a:xfrm>
          <a:prstGeom prst="rect">
            <a:avLst/>
          </a:prstGeom>
          <a:noFill/>
          <a:ln/>
        </p:spPr>
        <p:txBody>
          <a:bodyPr wrap="square" lIns="0" tIns="0" rIns="0" bIns="0" rtlCol="0" anchor="ctr"/>
          <a:lstStyle/>
          <a:p>
            <a:pPr marL="0" indent="0" algn="ctr">
              <a:buNone/>
            </a:pPr>
            <a:r>
              <a:rPr lang="en-US" sz="2300" b="1" dirty="0">
                <a:solidFill>
                  <a:schemeClr val="tx1"/>
                </a:solidFill>
              </a:rPr>
              <a:t>4</a:t>
            </a:r>
            <a:endParaRPr lang="en-US" sz="2300" dirty="0"/>
          </a:p>
        </p:txBody>
      </p:sp>
      <p:sp>
        <p:nvSpPr>
          <p:cNvPr id="15" name="Text 12"/>
          <p:cNvSpPr txBox="1"/>
          <p:nvPr/>
        </p:nvSpPr>
        <p:spPr>
          <a:xfrm>
            <a:off x="1508760" y="4914900"/>
            <a:ext cx="10058400" cy="1028700"/>
          </a:xfrm>
          <a:prstGeom prst="rect">
            <a:avLst/>
          </a:prstGeom>
          <a:noFill/>
          <a:ln/>
        </p:spPr>
        <p:txBody>
          <a:bodyPr wrap="square" lIns="0" tIns="0" rIns="0" bIns="0" rtlCol="0" anchor="ctr"/>
          <a:lstStyle/>
          <a:p>
            <a:pPr marL="0" indent="0">
              <a:buNone/>
            </a:pPr>
            <a:r>
              <a:rPr lang="en-US" sz="3200" dirty="0">
                <a:solidFill>
                  <a:schemeClr val="tx1"/>
                </a:solidFill>
              </a:rPr>
              <a:t>Ứng phó: </a:t>
            </a:r>
            <a:r>
              <a:rPr lang="en-US" sz="3200" b="1" dirty="0">
                <a:solidFill>
                  <a:schemeClr val="tx2"/>
                </a:solidFill>
              </a:rPr>
              <a:t>dừng, lưu bằng chứng, báo, khắc phục</a:t>
            </a:r>
            <a:endParaRPr lang="en-US" sz="3200" dirty="0"/>
          </a:p>
        </p:txBody>
      </p:sp>
      <p:sp>
        <p:nvSpPr>
          <p:cNvPr id="25" name="Slide Number Placeholder 0"/>
          <p:cNvSpPr>
            <a:spLocks noGrp="1"/>
          </p:cNvSpPr>
          <p:nvPr>
            <p:ph type="sldNum" sz="quarter" idx="4294967295"/>
          </p:nvPr>
        </p:nvSpPr>
        <p:spPr>
          <a:xfrm>
            <a:off x="11155680" y="6382512"/>
            <a:ext cx="640080" cy="274320"/>
          </a:xfrm>
          <a:prstGeom prst="rect">
            <a:avLst/>
          </a:prstGeom>
          <a:extLst>
            <a:ext uri="{C572A759-6A51-4108-AA02-DFA0A04FC94B}">
              <ma14:wrappingTextBoxFlag xmlns:ma14="http://schemas.microsoft.com/office/mac/drawingml/2011/main" xmlns="" val="0"/>
            </a:ext>
          </a:extLst>
        </p:spPr>
        <p:txBody>
          <a:bodyPr/>
          <a:lstStyle>
            <a:lvl1pPr>
              <a:defRPr sz="12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828800"/>
            <a:ext cx="7498080" cy="2286000"/>
          </a:xfrm>
          <a:prstGeom prst="rect">
            <a:avLst/>
          </a:prstGeom>
          <a:noFill/>
          <a:ln/>
        </p:spPr>
        <p:txBody>
          <a:bodyPr wrap="square" lIns="0" tIns="0" rIns="0" bIns="0" rtlCol="0" anchor="b"/>
          <a:lstStyle/>
          <a:p>
            <a:pPr marL="0" indent="0" algn="l">
              <a:buNone/>
            </a:pPr>
            <a:r>
              <a:rPr lang="en-US" sz="4600" b="1" dirty="0">
                <a:solidFill>
                  <a:schemeClr val="bg1"/>
                </a:solidFill>
              </a:rPr>
              <a:t>Phiếu ra cửa</a:t>
            </a:r>
            <a:endParaRPr lang="en-US" sz="4600" dirty="0"/>
          </a:p>
        </p:txBody>
      </p:sp>
      <p:sp>
        <p:nvSpPr>
          <p:cNvPr id="3" name="Text 0"/>
          <p:cNvSpPr>
            <a:spLocks noGrp="1"/>
          </p:cNvSpPr>
          <p:nvPr>
            <p:ph type="body" idx="101" hasCustomPrompt="1"/>
          </p:nvPr>
        </p:nvSpPr>
        <p:spPr>
          <a:xfrm>
            <a:off x="731520" y="4389120"/>
            <a:ext cx="7863840" cy="1371600"/>
          </a:xfrm>
          <a:prstGeom prst="rect">
            <a:avLst/>
          </a:prstGeom>
          <a:noFill/>
          <a:ln/>
        </p:spPr>
        <p:txBody>
          <a:bodyPr wrap="square" lIns="0" tIns="0" rIns="0" bIns="0" rtlCol="0" anchor="t"/>
          <a:lstStyle/>
          <a:p>
            <a:pPr marL="0" indent="0" algn="l">
              <a:buNone/>
            </a:pPr>
            <a:r>
              <a:rPr lang="en-US" sz="2400" dirty="0">
                <a:solidFill>
                  <a:schemeClr val="accent5"/>
                </a:solidFill>
              </a:rPr>
              <a:t>5 phút · Làm cá nhân</a:t>
            </a:r>
            <a:endParaRPr lang="en-US" sz="2400" dirty="0"/>
          </a:p>
        </p:txBody>
      </p:sp>
      <p:sp>
        <p:nvSpPr>
          <p:cNvPr id="5" name="Shape 2"/>
          <p:cNvSpPr/>
          <p:nvPr/>
        </p:nvSpPr>
        <p:spPr>
          <a:xfrm>
            <a:off x="5394960" y="96012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6" name="Shape 3"/>
          <p:cNvSpPr/>
          <p:nvPr/>
        </p:nvSpPr>
        <p:spPr>
          <a:xfrm>
            <a:off x="5623560" y="118872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7" name="Text 4"/>
          <p:cNvSpPr txBox="1"/>
          <p:nvPr/>
        </p:nvSpPr>
        <p:spPr>
          <a:xfrm>
            <a:off x="5623560" y="118872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1</a:t>
            </a:r>
            <a:endParaRPr lang="en-US" sz="2100" dirty="0"/>
          </a:p>
        </p:txBody>
      </p:sp>
      <p:sp>
        <p:nvSpPr>
          <p:cNvPr id="8" name="Text 5"/>
          <p:cNvSpPr txBox="1"/>
          <p:nvPr/>
        </p:nvSpPr>
        <p:spPr>
          <a:xfrm>
            <a:off x="6446520" y="1097280"/>
            <a:ext cx="4983480" cy="2057400"/>
          </a:xfrm>
          <a:prstGeom prst="rect">
            <a:avLst/>
          </a:prstGeom>
          <a:noFill/>
          <a:ln/>
        </p:spPr>
        <p:txBody>
          <a:bodyPr wrap="square" lIns="0" tIns="0" rIns="0" bIns="0" rtlCol="0" anchor="ctr"/>
          <a:lstStyle/>
          <a:p>
            <a:pPr marL="0" indent="0">
              <a:buNone/>
            </a:pPr>
            <a:r>
              <a:rPr lang="en-US" sz="2600" dirty="0">
                <a:solidFill>
                  <a:schemeClr val="tx1"/>
                </a:solidFill>
              </a:rPr>
              <a:t>Với mỗi tình huống trên phiếu, ghi nhóm (1 đến 4) và R hoặc S.</a:t>
            </a:r>
            <a:endParaRPr lang="en-US" sz="2600" dirty="0"/>
          </a:p>
        </p:txBody>
      </p:sp>
      <p:sp>
        <p:nvSpPr>
          <p:cNvPr id="9" name="Shape 6"/>
          <p:cNvSpPr/>
          <p:nvPr/>
        </p:nvSpPr>
        <p:spPr>
          <a:xfrm>
            <a:off x="5394960" y="3566160"/>
            <a:ext cx="6217920" cy="2331720"/>
          </a:xfrm>
          <a:prstGeom prst="roundRect">
            <a:avLst>
              <a:gd name="adj" fmla="val 4706"/>
            </a:avLst>
          </a:prstGeom>
          <a:solidFill>
            <a:schemeClr val="bg1"/>
          </a:solidFill>
          <a:ln w="12700">
            <a:solidFill>
              <a:schemeClr val="bg1"/>
            </a:solidFill>
            <a:prstDash val="solid"/>
          </a:ln>
        </p:spPr>
        <p:txBody>
          <a:bodyPr/>
          <a:lstStyle/>
          <a:p>
            <a:endParaRPr lang="en-US"/>
          </a:p>
        </p:txBody>
      </p:sp>
      <p:sp>
        <p:nvSpPr>
          <p:cNvPr id="10" name="Shape 7"/>
          <p:cNvSpPr/>
          <p:nvPr/>
        </p:nvSpPr>
        <p:spPr>
          <a:xfrm>
            <a:off x="5623560" y="3794760"/>
            <a:ext cx="640080" cy="640080"/>
          </a:xfrm>
          <a:prstGeom prst="ellipse">
            <a:avLst/>
          </a:prstGeom>
          <a:solidFill>
            <a:schemeClr val="accent2"/>
          </a:solidFill>
          <a:ln w="12700">
            <a:solidFill>
              <a:schemeClr val="accent2"/>
            </a:solidFill>
            <a:prstDash val="solid"/>
          </a:ln>
        </p:spPr>
        <p:txBody>
          <a:bodyPr/>
          <a:lstStyle/>
          <a:p>
            <a:endParaRPr lang="en-US"/>
          </a:p>
        </p:txBody>
      </p:sp>
      <p:sp>
        <p:nvSpPr>
          <p:cNvPr id="11" name="Text 8"/>
          <p:cNvSpPr txBox="1"/>
          <p:nvPr/>
        </p:nvSpPr>
        <p:spPr>
          <a:xfrm>
            <a:off x="5623560" y="3794760"/>
            <a:ext cx="640080" cy="640080"/>
          </a:xfrm>
          <a:prstGeom prst="rect">
            <a:avLst/>
          </a:prstGeom>
          <a:noFill/>
          <a:ln/>
        </p:spPr>
        <p:txBody>
          <a:bodyPr wrap="square" lIns="0" tIns="0" rIns="0" bIns="0" rtlCol="0" anchor="ctr"/>
          <a:lstStyle/>
          <a:p>
            <a:pPr marL="0" indent="0" algn="ctr">
              <a:buNone/>
            </a:pPr>
            <a:r>
              <a:rPr lang="en-US" sz="2100" b="1" dirty="0">
                <a:solidFill>
                  <a:schemeClr val="tx1"/>
                </a:solidFill>
              </a:rPr>
              <a:t>2</a:t>
            </a:r>
            <a:endParaRPr lang="en-US" sz="2100" dirty="0"/>
          </a:p>
        </p:txBody>
      </p:sp>
      <p:sp>
        <p:nvSpPr>
          <p:cNvPr id="12" name="Text 9"/>
          <p:cNvSpPr txBox="1"/>
          <p:nvPr/>
        </p:nvSpPr>
        <p:spPr>
          <a:xfrm>
            <a:off x="6446520" y="3703320"/>
            <a:ext cx="4983480" cy="2057400"/>
          </a:xfrm>
          <a:prstGeom prst="rect">
            <a:avLst/>
          </a:prstGeom>
          <a:noFill/>
          <a:ln/>
        </p:spPr>
        <p:txBody>
          <a:bodyPr wrap="square" lIns="0" tIns="0" rIns="0" bIns="0" rtlCol="0" anchor="ctr"/>
          <a:lstStyle/>
          <a:p>
            <a:pPr marL="0" indent="0">
              <a:buNone/>
            </a:pPr>
            <a:r>
              <a:rPr lang="en-US" sz="2600" dirty="0">
                <a:solidFill>
                  <a:schemeClr val="tx1"/>
                </a:solidFill>
              </a:rPr>
              <a:t>Chọn một tình huống ở câu 1: nó có thể vi phạm quy định nào? Em sẽ làm gì?</a:t>
            </a:r>
            <a:endParaRPr lang="en-US" sz="2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60FE57-DD6B-0941-A2BB-28D1A5388928}"/>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A6725C-CB31-6472-2A29-F859C3B9EAD2}"/>
              </a:ext>
            </a:extLst>
          </p:cNvPr>
          <p:cNvSpPr>
            <a:spLocks noGrp="1"/>
          </p:cNvSpPr>
          <p:nvPr>
            <p:ph type="title" idx="100" hasCustomPrompt="1"/>
          </p:nvPr>
        </p:nvSpPr>
        <p:spPr>
          <a:xfrm>
            <a:off x="649224" y="1289265"/>
            <a:ext cx="6187440" cy="1645920"/>
          </a:xfrm>
          <a:prstGeom prst="rect">
            <a:avLst/>
          </a:prstGeom>
          <a:noFill/>
          <a:ln/>
        </p:spPr>
        <p:txBody>
          <a:bodyPr wrap="square" lIns="0" tIns="0" rIns="0" bIns="0" rtlCol="0" anchor="b"/>
          <a:lstStyle/>
          <a:p>
            <a:pPr marL="0" indent="0" algn="l">
              <a:buNone/>
            </a:pPr>
            <a:r>
              <a:rPr lang="vi-VN" sz="4600" b="1" dirty="0">
                <a:solidFill>
                  <a:schemeClr val="bg1"/>
                </a:solidFill>
              </a:rPr>
              <a:t>Tài liệu tham khảo</a:t>
            </a:r>
            <a:endParaRPr lang="en-US" sz="4600" dirty="0"/>
          </a:p>
        </p:txBody>
      </p:sp>
      <p:sp>
        <p:nvSpPr>
          <p:cNvPr id="3" name="Text 0">
            <a:extLst>
              <a:ext uri="{FF2B5EF4-FFF2-40B4-BE49-F238E27FC236}">
                <a16:creationId xmlns:a16="http://schemas.microsoft.com/office/drawing/2014/main" id="{84FC6891-0F0B-8821-EA2F-EDAF20AF9F0E}"/>
              </a:ext>
            </a:extLst>
          </p:cNvPr>
          <p:cNvSpPr>
            <a:spLocks noGrp="1"/>
          </p:cNvSpPr>
          <p:nvPr>
            <p:ph type="body" idx="101" hasCustomPrompt="1"/>
          </p:nvPr>
        </p:nvSpPr>
        <p:spPr>
          <a:xfrm>
            <a:off x="726948" y="3717036"/>
            <a:ext cx="7863840" cy="1371600"/>
          </a:xfrm>
          <a:prstGeom prst="rect">
            <a:avLst/>
          </a:prstGeom>
          <a:noFill/>
          <a:ln/>
        </p:spPr>
        <p:txBody>
          <a:bodyPr wrap="square" lIns="0" tIns="0" rIns="0" bIns="0" rtlCol="0" anchor="t"/>
          <a:lstStyle/>
          <a:p>
            <a:pPr marL="0" indent="0" algn="l">
              <a:buNone/>
            </a:pPr>
            <a:r>
              <a:rPr lang="vi-VN" sz="2400" dirty="0"/>
              <a:t>https://montinhoc.vn</a:t>
            </a:r>
            <a:endParaRPr lang="en-US" sz="2400" dirty="0"/>
          </a:p>
        </p:txBody>
      </p:sp>
      <p:sp>
        <p:nvSpPr>
          <p:cNvPr id="5" name="Shape 2">
            <a:extLst>
              <a:ext uri="{FF2B5EF4-FFF2-40B4-BE49-F238E27FC236}">
                <a16:creationId xmlns:a16="http://schemas.microsoft.com/office/drawing/2014/main" id="{9C9A30BE-8829-96CA-B3B0-D88FAE88F21B}"/>
              </a:ext>
            </a:extLst>
          </p:cNvPr>
          <p:cNvSpPr/>
          <p:nvPr/>
        </p:nvSpPr>
        <p:spPr>
          <a:xfrm flipV="1">
            <a:off x="8686800" y="2263140"/>
            <a:ext cx="1463040" cy="388620"/>
          </a:xfrm>
          <a:prstGeom prst="line">
            <a:avLst/>
          </a:prstGeom>
          <a:noFill/>
          <a:ln w="9525">
            <a:solidFill>
              <a:schemeClr val="accent3"/>
            </a:solidFill>
            <a:prstDash val="solid"/>
          </a:ln>
        </p:spPr>
        <p:txBody>
          <a:bodyPr/>
          <a:lstStyle/>
          <a:p>
            <a:endParaRPr lang="en-US"/>
          </a:p>
        </p:txBody>
      </p:sp>
      <p:sp>
        <p:nvSpPr>
          <p:cNvPr id="6" name="Shape 3">
            <a:extLst>
              <a:ext uri="{FF2B5EF4-FFF2-40B4-BE49-F238E27FC236}">
                <a16:creationId xmlns:a16="http://schemas.microsoft.com/office/drawing/2014/main" id="{7028B981-D9D6-8DA6-85D8-DB014D5F0B3B}"/>
              </a:ext>
            </a:extLst>
          </p:cNvPr>
          <p:cNvSpPr/>
          <p:nvPr/>
        </p:nvSpPr>
        <p:spPr>
          <a:xfrm>
            <a:off x="8686800" y="2651760"/>
            <a:ext cx="1463040" cy="388620"/>
          </a:xfrm>
          <a:prstGeom prst="line">
            <a:avLst/>
          </a:prstGeom>
          <a:noFill/>
          <a:ln w="9525">
            <a:solidFill>
              <a:schemeClr val="accent3"/>
            </a:solidFill>
            <a:prstDash val="solid"/>
          </a:ln>
        </p:spPr>
        <p:txBody>
          <a:bodyPr/>
          <a:lstStyle/>
          <a:p>
            <a:endParaRPr lang="en-US"/>
          </a:p>
        </p:txBody>
      </p:sp>
      <p:sp>
        <p:nvSpPr>
          <p:cNvPr id="7" name="Shape 4">
            <a:extLst>
              <a:ext uri="{FF2B5EF4-FFF2-40B4-BE49-F238E27FC236}">
                <a16:creationId xmlns:a16="http://schemas.microsoft.com/office/drawing/2014/main" id="{B3B1873D-3AEF-FF0E-20B7-19D134D3BF51}"/>
              </a:ext>
            </a:extLst>
          </p:cNvPr>
          <p:cNvSpPr/>
          <p:nvPr/>
        </p:nvSpPr>
        <p:spPr>
          <a:xfrm>
            <a:off x="8686800" y="2651760"/>
            <a:ext cx="1463040" cy="1165860"/>
          </a:xfrm>
          <a:prstGeom prst="line">
            <a:avLst/>
          </a:prstGeom>
          <a:noFill/>
          <a:ln w="9525">
            <a:solidFill>
              <a:schemeClr val="accent3"/>
            </a:solidFill>
            <a:prstDash val="solid"/>
          </a:ln>
        </p:spPr>
        <p:txBody>
          <a:bodyPr/>
          <a:lstStyle/>
          <a:p>
            <a:endParaRPr lang="en-US"/>
          </a:p>
        </p:txBody>
      </p:sp>
      <p:sp>
        <p:nvSpPr>
          <p:cNvPr id="8" name="Shape 5">
            <a:extLst>
              <a:ext uri="{FF2B5EF4-FFF2-40B4-BE49-F238E27FC236}">
                <a16:creationId xmlns:a16="http://schemas.microsoft.com/office/drawing/2014/main" id="{9058E345-0FEC-FED7-18D4-81DD99507C2D}"/>
              </a:ext>
            </a:extLst>
          </p:cNvPr>
          <p:cNvSpPr/>
          <p:nvPr/>
        </p:nvSpPr>
        <p:spPr>
          <a:xfrm>
            <a:off x="8686800" y="2651760"/>
            <a:ext cx="1463040" cy="1943100"/>
          </a:xfrm>
          <a:prstGeom prst="line">
            <a:avLst/>
          </a:prstGeom>
          <a:noFill/>
          <a:ln w="9525">
            <a:solidFill>
              <a:schemeClr val="accent3"/>
            </a:solidFill>
            <a:prstDash val="solid"/>
          </a:ln>
        </p:spPr>
        <p:txBody>
          <a:bodyPr/>
          <a:lstStyle/>
          <a:p>
            <a:endParaRPr lang="en-US"/>
          </a:p>
        </p:txBody>
      </p:sp>
      <p:sp>
        <p:nvSpPr>
          <p:cNvPr id="9" name="Shape 6">
            <a:extLst>
              <a:ext uri="{FF2B5EF4-FFF2-40B4-BE49-F238E27FC236}">
                <a16:creationId xmlns:a16="http://schemas.microsoft.com/office/drawing/2014/main" id="{980D36E4-1991-CC37-B0B9-2B2D83E02A20}"/>
              </a:ext>
            </a:extLst>
          </p:cNvPr>
          <p:cNvSpPr/>
          <p:nvPr/>
        </p:nvSpPr>
        <p:spPr>
          <a:xfrm flipV="1">
            <a:off x="8686800" y="2263140"/>
            <a:ext cx="1463040" cy="1165860"/>
          </a:xfrm>
          <a:prstGeom prst="line">
            <a:avLst/>
          </a:prstGeom>
          <a:noFill/>
          <a:ln w="9525">
            <a:solidFill>
              <a:schemeClr val="accent3"/>
            </a:solidFill>
            <a:prstDash val="solid"/>
          </a:ln>
        </p:spPr>
        <p:txBody>
          <a:bodyPr/>
          <a:lstStyle/>
          <a:p>
            <a:endParaRPr lang="en-US"/>
          </a:p>
        </p:txBody>
      </p:sp>
      <p:sp>
        <p:nvSpPr>
          <p:cNvPr id="10" name="Shape 7">
            <a:extLst>
              <a:ext uri="{FF2B5EF4-FFF2-40B4-BE49-F238E27FC236}">
                <a16:creationId xmlns:a16="http://schemas.microsoft.com/office/drawing/2014/main" id="{476BB1C4-6469-F0A3-DD3E-4EBEF5F6CC38}"/>
              </a:ext>
            </a:extLst>
          </p:cNvPr>
          <p:cNvSpPr/>
          <p:nvPr/>
        </p:nvSpPr>
        <p:spPr>
          <a:xfrm flipV="1">
            <a:off x="8686800" y="3040380"/>
            <a:ext cx="1463040" cy="388620"/>
          </a:xfrm>
          <a:prstGeom prst="line">
            <a:avLst/>
          </a:prstGeom>
          <a:noFill/>
          <a:ln w="9525">
            <a:solidFill>
              <a:schemeClr val="accent3"/>
            </a:solidFill>
            <a:prstDash val="solid"/>
          </a:ln>
        </p:spPr>
        <p:txBody>
          <a:bodyPr/>
          <a:lstStyle/>
          <a:p>
            <a:endParaRPr lang="en-US"/>
          </a:p>
        </p:txBody>
      </p:sp>
      <p:sp>
        <p:nvSpPr>
          <p:cNvPr id="11" name="Shape 8">
            <a:extLst>
              <a:ext uri="{FF2B5EF4-FFF2-40B4-BE49-F238E27FC236}">
                <a16:creationId xmlns:a16="http://schemas.microsoft.com/office/drawing/2014/main" id="{480B6E7E-7896-4EC1-4475-2FC646E1027E}"/>
              </a:ext>
            </a:extLst>
          </p:cNvPr>
          <p:cNvSpPr/>
          <p:nvPr/>
        </p:nvSpPr>
        <p:spPr>
          <a:xfrm>
            <a:off x="8686800" y="3429000"/>
            <a:ext cx="1463040" cy="388620"/>
          </a:xfrm>
          <a:prstGeom prst="line">
            <a:avLst/>
          </a:prstGeom>
          <a:noFill/>
          <a:ln w="9525">
            <a:solidFill>
              <a:schemeClr val="accent3"/>
            </a:solidFill>
            <a:prstDash val="solid"/>
          </a:ln>
        </p:spPr>
        <p:txBody>
          <a:bodyPr/>
          <a:lstStyle/>
          <a:p>
            <a:endParaRPr lang="en-US"/>
          </a:p>
        </p:txBody>
      </p:sp>
      <p:sp>
        <p:nvSpPr>
          <p:cNvPr id="12" name="Shape 9">
            <a:extLst>
              <a:ext uri="{FF2B5EF4-FFF2-40B4-BE49-F238E27FC236}">
                <a16:creationId xmlns:a16="http://schemas.microsoft.com/office/drawing/2014/main" id="{819D253D-1310-99A7-2103-35FF052B86F3}"/>
              </a:ext>
            </a:extLst>
          </p:cNvPr>
          <p:cNvSpPr/>
          <p:nvPr/>
        </p:nvSpPr>
        <p:spPr>
          <a:xfrm>
            <a:off x="8686800" y="3429000"/>
            <a:ext cx="1463040" cy="1165860"/>
          </a:xfrm>
          <a:prstGeom prst="line">
            <a:avLst/>
          </a:prstGeom>
          <a:noFill/>
          <a:ln w="9525">
            <a:solidFill>
              <a:schemeClr val="accent3"/>
            </a:solidFill>
            <a:prstDash val="solid"/>
          </a:ln>
        </p:spPr>
        <p:txBody>
          <a:bodyPr/>
          <a:lstStyle/>
          <a:p>
            <a:endParaRPr lang="en-US"/>
          </a:p>
        </p:txBody>
      </p:sp>
      <p:sp>
        <p:nvSpPr>
          <p:cNvPr id="13" name="Shape 10">
            <a:extLst>
              <a:ext uri="{FF2B5EF4-FFF2-40B4-BE49-F238E27FC236}">
                <a16:creationId xmlns:a16="http://schemas.microsoft.com/office/drawing/2014/main" id="{07093821-7F19-40FA-3D3D-44CFDC1F58DF}"/>
              </a:ext>
            </a:extLst>
          </p:cNvPr>
          <p:cNvSpPr/>
          <p:nvPr/>
        </p:nvSpPr>
        <p:spPr>
          <a:xfrm flipV="1">
            <a:off x="8686800" y="2263140"/>
            <a:ext cx="1463040" cy="1943100"/>
          </a:xfrm>
          <a:prstGeom prst="line">
            <a:avLst/>
          </a:prstGeom>
          <a:noFill/>
          <a:ln w="9525">
            <a:solidFill>
              <a:schemeClr val="accent3"/>
            </a:solidFill>
            <a:prstDash val="solid"/>
          </a:ln>
        </p:spPr>
        <p:txBody>
          <a:bodyPr/>
          <a:lstStyle/>
          <a:p>
            <a:endParaRPr lang="en-US"/>
          </a:p>
        </p:txBody>
      </p:sp>
      <p:sp>
        <p:nvSpPr>
          <p:cNvPr id="14" name="Shape 11">
            <a:extLst>
              <a:ext uri="{FF2B5EF4-FFF2-40B4-BE49-F238E27FC236}">
                <a16:creationId xmlns:a16="http://schemas.microsoft.com/office/drawing/2014/main" id="{7ACBDD20-A61B-996B-BDB0-752F18E140AC}"/>
              </a:ext>
            </a:extLst>
          </p:cNvPr>
          <p:cNvSpPr/>
          <p:nvPr/>
        </p:nvSpPr>
        <p:spPr>
          <a:xfrm flipV="1">
            <a:off x="8686800" y="3040380"/>
            <a:ext cx="1463040" cy="1165860"/>
          </a:xfrm>
          <a:prstGeom prst="line">
            <a:avLst/>
          </a:prstGeom>
          <a:noFill/>
          <a:ln w="9525">
            <a:solidFill>
              <a:schemeClr val="accent3"/>
            </a:solidFill>
            <a:prstDash val="solid"/>
          </a:ln>
        </p:spPr>
        <p:txBody>
          <a:bodyPr/>
          <a:lstStyle/>
          <a:p>
            <a:endParaRPr lang="en-US"/>
          </a:p>
        </p:txBody>
      </p:sp>
      <p:sp>
        <p:nvSpPr>
          <p:cNvPr id="15" name="Shape 12">
            <a:extLst>
              <a:ext uri="{FF2B5EF4-FFF2-40B4-BE49-F238E27FC236}">
                <a16:creationId xmlns:a16="http://schemas.microsoft.com/office/drawing/2014/main" id="{37174946-DDCB-CB27-9AF4-4001176FEF51}"/>
              </a:ext>
            </a:extLst>
          </p:cNvPr>
          <p:cNvSpPr/>
          <p:nvPr/>
        </p:nvSpPr>
        <p:spPr>
          <a:xfrm flipV="1">
            <a:off x="8686800" y="3817620"/>
            <a:ext cx="1463040" cy="388620"/>
          </a:xfrm>
          <a:prstGeom prst="line">
            <a:avLst/>
          </a:prstGeom>
          <a:noFill/>
          <a:ln w="9525">
            <a:solidFill>
              <a:schemeClr val="accent3"/>
            </a:solidFill>
            <a:prstDash val="solid"/>
          </a:ln>
        </p:spPr>
        <p:txBody>
          <a:bodyPr/>
          <a:lstStyle/>
          <a:p>
            <a:endParaRPr lang="en-US"/>
          </a:p>
        </p:txBody>
      </p:sp>
      <p:sp>
        <p:nvSpPr>
          <p:cNvPr id="16" name="Shape 13">
            <a:extLst>
              <a:ext uri="{FF2B5EF4-FFF2-40B4-BE49-F238E27FC236}">
                <a16:creationId xmlns:a16="http://schemas.microsoft.com/office/drawing/2014/main" id="{1AFC1789-471C-2797-0415-2237AAA365EC}"/>
              </a:ext>
            </a:extLst>
          </p:cNvPr>
          <p:cNvSpPr/>
          <p:nvPr/>
        </p:nvSpPr>
        <p:spPr>
          <a:xfrm>
            <a:off x="8686800" y="4206240"/>
            <a:ext cx="1463040" cy="388620"/>
          </a:xfrm>
          <a:prstGeom prst="line">
            <a:avLst/>
          </a:prstGeom>
          <a:noFill/>
          <a:ln w="9525">
            <a:solidFill>
              <a:schemeClr val="accent3"/>
            </a:solidFill>
            <a:prstDash val="solid"/>
          </a:ln>
        </p:spPr>
        <p:txBody>
          <a:bodyPr/>
          <a:lstStyle/>
          <a:p>
            <a:endParaRPr lang="en-US"/>
          </a:p>
        </p:txBody>
      </p:sp>
      <p:sp>
        <p:nvSpPr>
          <p:cNvPr id="17" name="Shape 14">
            <a:extLst>
              <a:ext uri="{FF2B5EF4-FFF2-40B4-BE49-F238E27FC236}">
                <a16:creationId xmlns:a16="http://schemas.microsoft.com/office/drawing/2014/main" id="{D95D154A-DE09-58FC-1981-2186A2BB8A5F}"/>
              </a:ext>
            </a:extLst>
          </p:cNvPr>
          <p:cNvSpPr/>
          <p:nvPr/>
        </p:nvSpPr>
        <p:spPr>
          <a:xfrm>
            <a:off x="10149840" y="2263140"/>
            <a:ext cx="1463040" cy="388620"/>
          </a:xfrm>
          <a:prstGeom prst="line">
            <a:avLst/>
          </a:prstGeom>
          <a:noFill/>
          <a:ln w="9525">
            <a:solidFill>
              <a:schemeClr val="accent3"/>
            </a:solidFill>
            <a:prstDash val="solid"/>
          </a:ln>
        </p:spPr>
        <p:txBody>
          <a:bodyPr/>
          <a:lstStyle/>
          <a:p>
            <a:endParaRPr lang="en-US"/>
          </a:p>
        </p:txBody>
      </p:sp>
      <p:sp>
        <p:nvSpPr>
          <p:cNvPr id="18" name="Shape 15">
            <a:extLst>
              <a:ext uri="{FF2B5EF4-FFF2-40B4-BE49-F238E27FC236}">
                <a16:creationId xmlns:a16="http://schemas.microsoft.com/office/drawing/2014/main" id="{4C5CF0A1-4524-41B4-80B3-D3831B078A65}"/>
              </a:ext>
            </a:extLst>
          </p:cNvPr>
          <p:cNvSpPr/>
          <p:nvPr/>
        </p:nvSpPr>
        <p:spPr>
          <a:xfrm>
            <a:off x="10149840" y="2263140"/>
            <a:ext cx="1463040" cy="1165860"/>
          </a:xfrm>
          <a:prstGeom prst="line">
            <a:avLst/>
          </a:prstGeom>
          <a:noFill/>
          <a:ln w="9525">
            <a:solidFill>
              <a:schemeClr val="accent3"/>
            </a:solidFill>
            <a:prstDash val="solid"/>
          </a:ln>
        </p:spPr>
        <p:txBody>
          <a:bodyPr/>
          <a:lstStyle/>
          <a:p>
            <a:endParaRPr lang="en-US"/>
          </a:p>
        </p:txBody>
      </p:sp>
      <p:sp>
        <p:nvSpPr>
          <p:cNvPr id="19" name="Shape 16">
            <a:extLst>
              <a:ext uri="{FF2B5EF4-FFF2-40B4-BE49-F238E27FC236}">
                <a16:creationId xmlns:a16="http://schemas.microsoft.com/office/drawing/2014/main" id="{4C287EB0-1B4C-6D0A-A568-624FA2D80A3D}"/>
              </a:ext>
            </a:extLst>
          </p:cNvPr>
          <p:cNvSpPr/>
          <p:nvPr/>
        </p:nvSpPr>
        <p:spPr>
          <a:xfrm>
            <a:off x="10149840" y="2263140"/>
            <a:ext cx="1463040" cy="1943100"/>
          </a:xfrm>
          <a:prstGeom prst="line">
            <a:avLst/>
          </a:prstGeom>
          <a:noFill/>
          <a:ln w="9525">
            <a:solidFill>
              <a:schemeClr val="accent3"/>
            </a:solidFill>
            <a:prstDash val="solid"/>
          </a:ln>
        </p:spPr>
        <p:txBody>
          <a:bodyPr/>
          <a:lstStyle/>
          <a:p>
            <a:endParaRPr lang="en-US"/>
          </a:p>
        </p:txBody>
      </p:sp>
      <p:sp>
        <p:nvSpPr>
          <p:cNvPr id="20" name="Shape 17">
            <a:extLst>
              <a:ext uri="{FF2B5EF4-FFF2-40B4-BE49-F238E27FC236}">
                <a16:creationId xmlns:a16="http://schemas.microsoft.com/office/drawing/2014/main" id="{47472C28-2774-3B7F-EE38-D1FE26D725B5}"/>
              </a:ext>
            </a:extLst>
          </p:cNvPr>
          <p:cNvSpPr/>
          <p:nvPr/>
        </p:nvSpPr>
        <p:spPr>
          <a:xfrm flipV="1">
            <a:off x="10149840" y="2651760"/>
            <a:ext cx="1463040" cy="388620"/>
          </a:xfrm>
          <a:prstGeom prst="line">
            <a:avLst/>
          </a:prstGeom>
          <a:noFill/>
          <a:ln w="9525">
            <a:solidFill>
              <a:schemeClr val="accent3"/>
            </a:solidFill>
            <a:prstDash val="solid"/>
          </a:ln>
        </p:spPr>
        <p:txBody>
          <a:bodyPr/>
          <a:lstStyle/>
          <a:p>
            <a:endParaRPr lang="en-US"/>
          </a:p>
        </p:txBody>
      </p:sp>
      <p:sp>
        <p:nvSpPr>
          <p:cNvPr id="21" name="Shape 18">
            <a:extLst>
              <a:ext uri="{FF2B5EF4-FFF2-40B4-BE49-F238E27FC236}">
                <a16:creationId xmlns:a16="http://schemas.microsoft.com/office/drawing/2014/main" id="{629B49FE-2351-7D5A-7739-412432860157}"/>
              </a:ext>
            </a:extLst>
          </p:cNvPr>
          <p:cNvSpPr/>
          <p:nvPr/>
        </p:nvSpPr>
        <p:spPr>
          <a:xfrm>
            <a:off x="10149840" y="3040380"/>
            <a:ext cx="1463040" cy="388620"/>
          </a:xfrm>
          <a:prstGeom prst="line">
            <a:avLst/>
          </a:prstGeom>
          <a:noFill/>
          <a:ln w="9525">
            <a:solidFill>
              <a:schemeClr val="accent3"/>
            </a:solidFill>
            <a:prstDash val="solid"/>
          </a:ln>
        </p:spPr>
        <p:txBody>
          <a:bodyPr/>
          <a:lstStyle/>
          <a:p>
            <a:endParaRPr lang="en-US"/>
          </a:p>
        </p:txBody>
      </p:sp>
      <p:sp>
        <p:nvSpPr>
          <p:cNvPr id="22" name="Shape 19">
            <a:extLst>
              <a:ext uri="{FF2B5EF4-FFF2-40B4-BE49-F238E27FC236}">
                <a16:creationId xmlns:a16="http://schemas.microsoft.com/office/drawing/2014/main" id="{DF800979-2DC3-4E1A-E90A-97154C0F5009}"/>
              </a:ext>
            </a:extLst>
          </p:cNvPr>
          <p:cNvSpPr/>
          <p:nvPr/>
        </p:nvSpPr>
        <p:spPr>
          <a:xfrm>
            <a:off x="10149840" y="3040380"/>
            <a:ext cx="1463040" cy="1165860"/>
          </a:xfrm>
          <a:prstGeom prst="line">
            <a:avLst/>
          </a:prstGeom>
          <a:noFill/>
          <a:ln w="9525">
            <a:solidFill>
              <a:schemeClr val="accent3"/>
            </a:solidFill>
            <a:prstDash val="solid"/>
          </a:ln>
        </p:spPr>
        <p:txBody>
          <a:bodyPr/>
          <a:lstStyle/>
          <a:p>
            <a:endParaRPr lang="en-US"/>
          </a:p>
        </p:txBody>
      </p:sp>
      <p:sp>
        <p:nvSpPr>
          <p:cNvPr id="23" name="Shape 20">
            <a:extLst>
              <a:ext uri="{FF2B5EF4-FFF2-40B4-BE49-F238E27FC236}">
                <a16:creationId xmlns:a16="http://schemas.microsoft.com/office/drawing/2014/main" id="{D6059B07-EE5C-FABC-F332-9DC490CD1D79}"/>
              </a:ext>
            </a:extLst>
          </p:cNvPr>
          <p:cNvSpPr/>
          <p:nvPr/>
        </p:nvSpPr>
        <p:spPr>
          <a:xfrm flipV="1">
            <a:off x="10149840" y="2651760"/>
            <a:ext cx="1463040" cy="1165860"/>
          </a:xfrm>
          <a:prstGeom prst="line">
            <a:avLst/>
          </a:prstGeom>
          <a:noFill/>
          <a:ln w="9525">
            <a:solidFill>
              <a:schemeClr val="accent3"/>
            </a:solidFill>
            <a:prstDash val="solid"/>
          </a:ln>
        </p:spPr>
        <p:txBody>
          <a:bodyPr/>
          <a:lstStyle/>
          <a:p>
            <a:endParaRPr lang="en-US"/>
          </a:p>
        </p:txBody>
      </p:sp>
      <p:sp>
        <p:nvSpPr>
          <p:cNvPr id="24" name="Shape 21">
            <a:extLst>
              <a:ext uri="{FF2B5EF4-FFF2-40B4-BE49-F238E27FC236}">
                <a16:creationId xmlns:a16="http://schemas.microsoft.com/office/drawing/2014/main" id="{F7534B69-69A3-698B-93D3-66A6B0094F65}"/>
              </a:ext>
            </a:extLst>
          </p:cNvPr>
          <p:cNvSpPr/>
          <p:nvPr/>
        </p:nvSpPr>
        <p:spPr>
          <a:xfrm flipV="1">
            <a:off x="10149840" y="3429000"/>
            <a:ext cx="1463040" cy="388620"/>
          </a:xfrm>
          <a:prstGeom prst="line">
            <a:avLst/>
          </a:prstGeom>
          <a:noFill/>
          <a:ln w="9525">
            <a:solidFill>
              <a:schemeClr val="accent3"/>
            </a:solidFill>
            <a:prstDash val="solid"/>
          </a:ln>
        </p:spPr>
        <p:txBody>
          <a:bodyPr/>
          <a:lstStyle/>
          <a:p>
            <a:endParaRPr lang="en-US"/>
          </a:p>
        </p:txBody>
      </p:sp>
      <p:sp>
        <p:nvSpPr>
          <p:cNvPr id="25" name="Shape 22">
            <a:extLst>
              <a:ext uri="{FF2B5EF4-FFF2-40B4-BE49-F238E27FC236}">
                <a16:creationId xmlns:a16="http://schemas.microsoft.com/office/drawing/2014/main" id="{648344F8-1507-B882-7C9E-B332C5271B12}"/>
              </a:ext>
            </a:extLst>
          </p:cNvPr>
          <p:cNvSpPr/>
          <p:nvPr/>
        </p:nvSpPr>
        <p:spPr>
          <a:xfrm>
            <a:off x="10149840" y="3817620"/>
            <a:ext cx="1463040" cy="388620"/>
          </a:xfrm>
          <a:prstGeom prst="line">
            <a:avLst/>
          </a:prstGeom>
          <a:noFill/>
          <a:ln w="9525">
            <a:solidFill>
              <a:schemeClr val="accent3"/>
            </a:solidFill>
            <a:prstDash val="solid"/>
          </a:ln>
        </p:spPr>
        <p:txBody>
          <a:bodyPr/>
          <a:lstStyle/>
          <a:p>
            <a:endParaRPr lang="en-US"/>
          </a:p>
        </p:txBody>
      </p:sp>
      <p:sp>
        <p:nvSpPr>
          <p:cNvPr id="26" name="Shape 23">
            <a:extLst>
              <a:ext uri="{FF2B5EF4-FFF2-40B4-BE49-F238E27FC236}">
                <a16:creationId xmlns:a16="http://schemas.microsoft.com/office/drawing/2014/main" id="{2D9300E0-4E52-5232-A0A0-0E7CE89D218D}"/>
              </a:ext>
            </a:extLst>
          </p:cNvPr>
          <p:cNvSpPr/>
          <p:nvPr/>
        </p:nvSpPr>
        <p:spPr>
          <a:xfrm flipV="1">
            <a:off x="10149840" y="2651760"/>
            <a:ext cx="1463040" cy="1943100"/>
          </a:xfrm>
          <a:prstGeom prst="line">
            <a:avLst/>
          </a:prstGeom>
          <a:noFill/>
          <a:ln w="9525">
            <a:solidFill>
              <a:schemeClr val="accent3"/>
            </a:solidFill>
            <a:prstDash val="solid"/>
          </a:ln>
        </p:spPr>
        <p:txBody>
          <a:bodyPr/>
          <a:lstStyle/>
          <a:p>
            <a:endParaRPr lang="en-US"/>
          </a:p>
        </p:txBody>
      </p:sp>
      <p:sp>
        <p:nvSpPr>
          <p:cNvPr id="27" name="Shape 24">
            <a:extLst>
              <a:ext uri="{FF2B5EF4-FFF2-40B4-BE49-F238E27FC236}">
                <a16:creationId xmlns:a16="http://schemas.microsoft.com/office/drawing/2014/main" id="{57B8293B-E487-0777-ACDD-B84258075045}"/>
              </a:ext>
            </a:extLst>
          </p:cNvPr>
          <p:cNvSpPr/>
          <p:nvPr/>
        </p:nvSpPr>
        <p:spPr>
          <a:xfrm flipV="1">
            <a:off x="10149840" y="3429000"/>
            <a:ext cx="1463040" cy="1165860"/>
          </a:xfrm>
          <a:prstGeom prst="line">
            <a:avLst/>
          </a:prstGeom>
          <a:noFill/>
          <a:ln w="9525">
            <a:solidFill>
              <a:schemeClr val="accent3"/>
            </a:solidFill>
            <a:prstDash val="solid"/>
          </a:ln>
        </p:spPr>
        <p:txBody>
          <a:bodyPr/>
          <a:lstStyle/>
          <a:p>
            <a:endParaRPr lang="en-US"/>
          </a:p>
        </p:txBody>
      </p:sp>
      <p:sp>
        <p:nvSpPr>
          <p:cNvPr id="28" name="Shape 25">
            <a:extLst>
              <a:ext uri="{FF2B5EF4-FFF2-40B4-BE49-F238E27FC236}">
                <a16:creationId xmlns:a16="http://schemas.microsoft.com/office/drawing/2014/main" id="{8CD7407F-32A4-6AD6-0975-BE6C3451FAF0}"/>
              </a:ext>
            </a:extLst>
          </p:cNvPr>
          <p:cNvSpPr/>
          <p:nvPr/>
        </p:nvSpPr>
        <p:spPr>
          <a:xfrm flipV="1">
            <a:off x="10149840" y="4206240"/>
            <a:ext cx="1463040" cy="388620"/>
          </a:xfrm>
          <a:prstGeom prst="line">
            <a:avLst/>
          </a:prstGeom>
          <a:noFill/>
          <a:ln w="9525">
            <a:solidFill>
              <a:schemeClr val="accent3"/>
            </a:solidFill>
            <a:prstDash val="solid"/>
          </a:ln>
        </p:spPr>
        <p:txBody>
          <a:bodyPr/>
          <a:lstStyle/>
          <a:p>
            <a:endParaRPr lang="en-US"/>
          </a:p>
        </p:txBody>
      </p:sp>
      <p:sp>
        <p:nvSpPr>
          <p:cNvPr id="29" name="Shape 26">
            <a:extLst>
              <a:ext uri="{FF2B5EF4-FFF2-40B4-BE49-F238E27FC236}">
                <a16:creationId xmlns:a16="http://schemas.microsoft.com/office/drawing/2014/main" id="{8B0667B1-079E-6CE7-39D0-356A6E4ECE2C}"/>
              </a:ext>
            </a:extLst>
          </p:cNvPr>
          <p:cNvSpPr/>
          <p:nvPr/>
        </p:nvSpPr>
        <p:spPr>
          <a:xfrm>
            <a:off x="849477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0" name="Shape 27">
            <a:extLst>
              <a:ext uri="{FF2B5EF4-FFF2-40B4-BE49-F238E27FC236}">
                <a16:creationId xmlns:a16="http://schemas.microsoft.com/office/drawing/2014/main" id="{0B5CDD97-B920-3E27-DDF5-15D94164191C}"/>
              </a:ext>
            </a:extLst>
          </p:cNvPr>
          <p:cNvSpPr/>
          <p:nvPr/>
        </p:nvSpPr>
        <p:spPr>
          <a:xfrm>
            <a:off x="8494776" y="323697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1" name="Shape 28">
            <a:extLst>
              <a:ext uri="{FF2B5EF4-FFF2-40B4-BE49-F238E27FC236}">
                <a16:creationId xmlns:a16="http://schemas.microsoft.com/office/drawing/2014/main" id="{62A4D2EE-C00B-307E-06C9-1F7C1DC158DD}"/>
              </a:ext>
            </a:extLst>
          </p:cNvPr>
          <p:cNvSpPr/>
          <p:nvPr/>
        </p:nvSpPr>
        <p:spPr>
          <a:xfrm>
            <a:off x="8494776" y="40142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2" name="Shape 29">
            <a:extLst>
              <a:ext uri="{FF2B5EF4-FFF2-40B4-BE49-F238E27FC236}">
                <a16:creationId xmlns:a16="http://schemas.microsoft.com/office/drawing/2014/main" id="{3768F21F-1608-C34F-D970-6ECA809A91B2}"/>
              </a:ext>
            </a:extLst>
          </p:cNvPr>
          <p:cNvSpPr/>
          <p:nvPr/>
        </p:nvSpPr>
        <p:spPr>
          <a:xfrm>
            <a:off x="9957816" y="207111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3" name="Shape 30">
            <a:extLst>
              <a:ext uri="{FF2B5EF4-FFF2-40B4-BE49-F238E27FC236}">
                <a16:creationId xmlns:a16="http://schemas.microsoft.com/office/drawing/2014/main" id="{8AD95141-1285-BD10-8D1A-FFCAC904CE3D}"/>
              </a:ext>
            </a:extLst>
          </p:cNvPr>
          <p:cNvSpPr/>
          <p:nvPr/>
        </p:nvSpPr>
        <p:spPr>
          <a:xfrm>
            <a:off x="9957816" y="284835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4" name="Shape 31">
            <a:extLst>
              <a:ext uri="{FF2B5EF4-FFF2-40B4-BE49-F238E27FC236}">
                <a16:creationId xmlns:a16="http://schemas.microsoft.com/office/drawing/2014/main" id="{DDF7ED9A-5847-6BA1-A757-A970A5CAE67C}"/>
              </a:ext>
            </a:extLst>
          </p:cNvPr>
          <p:cNvSpPr/>
          <p:nvPr/>
        </p:nvSpPr>
        <p:spPr>
          <a:xfrm>
            <a:off x="9957816" y="362559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5" name="Shape 32">
            <a:extLst>
              <a:ext uri="{FF2B5EF4-FFF2-40B4-BE49-F238E27FC236}">
                <a16:creationId xmlns:a16="http://schemas.microsoft.com/office/drawing/2014/main" id="{45226941-7C5E-0602-5D41-259AA60FB5B8}"/>
              </a:ext>
            </a:extLst>
          </p:cNvPr>
          <p:cNvSpPr/>
          <p:nvPr/>
        </p:nvSpPr>
        <p:spPr>
          <a:xfrm>
            <a:off x="9957816" y="44028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6" name="Shape 33">
            <a:extLst>
              <a:ext uri="{FF2B5EF4-FFF2-40B4-BE49-F238E27FC236}">
                <a16:creationId xmlns:a16="http://schemas.microsoft.com/office/drawing/2014/main" id="{DB7C82DF-0D44-12FC-B608-14F2811EA2AE}"/>
              </a:ext>
            </a:extLst>
          </p:cNvPr>
          <p:cNvSpPr/>
          <p:nvPr/>
        </p:nvSpPr>
        <p:spPr>
          <a:xfrm>
            <a:off x="11420856" y="2459736"/>
            <a:ext cx="384048" cy="384048"/>
          </a:xfrm>
          <a:prstGeom prst="ellipse">
            <a:avLst/>
          </a:prstGeom>
          <a:solidFill>
            <a:schemeClr val="accent5"/>
          </a:solidFill>
          <a:ln w="12700">
            <a:solidFill>
              <a:schemeClr val="accent5"/>
            </a:solidFill>
            <a:prstDash val="solid"/>
          </a:ln>
        </p:spPr>
        <p:txBody>
          <a:bodyPr/>
          <a:lstStyle/>
          <a:p>
            <a:endParaRPr lang="en-US"/>
          </a:p>
        </p:txBody>
      </p:sp>
      <p:sp>
        <p:nvSpPr>
          <p:cNvPr id="37" name="Shape 34">
            <a:extLst>
              <a:ext uri="{FF2B5EF4-FFF2-40B4-BE49-F238E27FC236}">
                <a16:creationId xmlns:a16="http://schemas.microsoft.com/office/drawing/2014/main" id="{F61ECE36-8002-A40B-5D82-6AA53B33E6BC}"/>
              </a:ext>
            </a:extLst>
          </p:cNvPr>
          <p:cNvSpPr/>
          <p:nvPr/>
        </p:nvSpPr>
        <p:spPr>
          <a:xfrm>
            <a:off x="11420856" y="3236976"/>
            <a:ext cx="384048" cy="384048"/>
          </a:xfrm>
          <a:prstGeom prst="ellipse">
            <a:avLst/>
          </a:prstGeom>
          <a:solidFill>
            <a:schemeClr val="accent2"/>
          </a:solidFill>
          <a:ln w="12700">
            <a:solidFill>
              <a:schemeClr val="accent2"/>
            </a:solidFill>
            <a:prstDash val="solid"/>
          </a:ln>
        </p:spPr>
        <p:txBody>
          <a:bodyPr/>
          <a:lstStyle/>
          <a:p>
            <a:endParaRPr lang="en-US"/>
          </a:p>
        </p:txBody>
      </p:sp>
      <p:sp>
        <p:nvSpPr>
          <p:cNvPr id="38" name="Shape 35">
            <a:extLst>
              <a:ext uri="{FF2B5EF4-FFF2-40B4-BE49-F238E27FC236}">
                <a16:creationId xmlns:a16="http://schemas.microsoft.com/office/drawing/2014/main" id="{D6D1649A-4E60-5FE4-4461-EF6482CE2AEF}"/>
              </a:ext>
            </a:extLst>
          </p:cNvPr>
          <p:cNvSpPr/>
          <p:nvPr/>
        </p:nvSpPr>
        <p:spPr>
          <a:xfrm>
            <a:off x="11420856" y="4014216"/>
            <a:ext cx="384048" cy="384048"/>
          </a:xfrm>
          <a:prstGeom prst="ellipse">
            <a:avLst/>
          </a:prstGeom>
          <a:solidFill>
            <a:schemeClr val="accent5"/>
          </a:solidFill>
          <a:ln w="12700">
            <a:solidFill>
              <a:schemeClr val="accent5"/>
            </a:solidFill>
            <a:prstDash val="solid"/>
          </a:ln>
        </p:spPr>
        <p:txBody>
          <a:bodyPr/>
          <a:lstStyle/>
          <a:p>
            <a:endParaRPr lang="en-US"/>
          </a:p>
        </p:txBody>
      </p:sp>
      <p:pic>
        <p:nvPicPr>
          <p:cNvPr id="40" name="Picture 39">
            <a:extLst>
              <a:ext uri="{FF2B5EF4-FFF2-40B4-BE49-F238E27FC236}">
                <a16:creationId xmlns:a16="http://schemas.microsoft.com/office/drawing/2014/main" id="{89A7351B-B717-C7D6-1B54-81AA1B57E5E9}"/>
              </a:ext>
            </a:extLst>
          </p:cNvPr>
          <p:cNvPicPr>
            <a:picLocks noChangeAspect="1"/>
          </p:cNvPicPr>
          <p:nvPr/>
        </p:nvPicPr>
        <p:blipFill>
          <a:blip r:embed="rId3"/>
          <a:stretch>
            <a:fillRect/>
          </a:stretch>
        </p:blipFill>
        <p:spPr>
          <a:xfrm>
            <a:off x="7343394" y="0"/>
            <a:ext cx="4848606" cy="6858000"/>
          </a:xfrm>
          <a:prstGeom prst="rect">
            <a:avLst/>
          </a:prstGeom>
        </p:spPr>
      </p:pic>
    </p:spTree>
    <p:extLst>
      <p:ext uri="{BB962C8B-B14F-4D97-AF65-F5344CB8AC3E}">
        <p14:creationId xmlns:p14="http://schemas.microsoft.com/office/powerpoint/2010/main" val="1749415634"/>
      </p:ext>
    </p:extLst>
  </p:cSld>
  <p:clrMapOvr>
    <a:masterClrMapping/>
  </p:clrMapOvr>
</p:sld>
</file>

<file path=ppt/theme/theme1.xml><?xml version="1.0" encoding="utf-8"?>
<a:theme xmlns:a="http://schemas.openxmlformats.org/drawingml/2006/main" name="GiaoDucAI">
  <a:themeElements>
    <a:clrScheme name="GiaoDucAI">
      <a:dk1>
        <a:srgbClr val="17313A"/>
      </a:dk1>
      <a:lt1>
        <a:srgbClr val="FFFFFF"/>
      </a:lt1>
      <a:dk2>
        <a:srgbClr val="0F4C5C"/>
      </a:dk2>
      <a:lt2>
        <a:srgbClr val="E8F1F0"/>
      </a:lt2>
      <a:accent1>
        <a:srgbClr val="0F4C5C"/>
      </a:accent1>
      <a:accent2>
        <a:srgbClr val="F2A541"/>
      </a:accent2>
      <a:accent3>
        <a:srgbClr val="5FA8A0"/>
      </a:accent3>
      <a:accent4>
        <a:srgbClr val="C8553D"/>
      </a:accent4>
      <a:accent5>
        <a:srgbClr val="8FB8B3"/>
      </a:accent5>
      <a:accent6>
        <a:srgbClr val="6B7F86"/>
      </a:accent6>
      <a:hlink>
        <a:srgbClr val="0F4C5C"/>
      </a:hlink>
      <a:folHlink>
        <a:srgbClr val="6B7F86"/>
      </a:folHlink>
    </a:clrScheme>
    <a:fontScheme name="GiaoDucAI">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1437</Words>
  <Application>Microsoft Office PowerPoint</Application>
  <PresentationFormat>Widescreen</PresentationFormat>
  <Paragraphs>162</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GiaoDucAI</vt:lpstr>
      <vt:lpstr>Nhận diện và phân loại rủi ro, sự cố khi dùng AI</vt:lpstr>
      <vt:lpstr>Hôm nay chúng ta làm gì?</vt:lpstr>
      <vt:lpstr>Cuộc gọi của “mẹ”</vt:lpstr>
      <vt:lpstr>Rủi ro và sự cố: chưa xảy ra và đã xảy ra</vt:lpstr>
      <vt:lpstr>Bốn nhóm rủi ro thường gặp với học sinh</vt:lpstr>
      <vt:lpstr>Mỗi nhóm: một rủi ro, một sự cố</vt:lpstr>
      <vt:lpstr>Dấu hiệu một cuộc gọi video giả mạo</vt:lpstr>
      <vt:lpstr>Khi sự cố đã xảy ra: bốn bước ứng phó</vt:lpstr>
      <vt:lpstr>Phân loại 12 thẻ</vt:lpstr>
      <vt:lpstr>Nhiệm vụ nhóm: rủi ro hay sự cố, nhóm nào?</vt:lpstr>
      <vt:lpstr>Thử nhanh: R hay S? Nhóm mấy?</vt:lpstr>
      <vt:lpstr>Em cũng có thể gây rủi ro cho người khác</vt:lpstr>
      <vt:lpstr>Thử ngay với một tin nhắn</vt:lpstr>
      <vt:lpstr>Ba việc làm ngay khi thấy nghi ngờ</vt:lpstr>
      <vt:lpstr>Ghi nhớ</vt:lpstr>
      <vt:lpstr>Phiếu ra cửa</vt:lpstr>
      <vt:lpstr>Tài liệu tham khảo</vt:lpstr>
    </vt:vector>
  </TitlesOfParts>
  <Company>0939725119</Company>
  <LinksUpToDate>false</LinksUpToDate>
  <SharedDoc>false</SharedDoc>
  <HyperlinksChanged>false</HyperlinksChanged>
  <AppVersion>16.0000</AppVersion>
  <Manager>Phạm Văn Tú</Manager>
  <HyperlinkBase>https://montinhoc.vn</HyperlinkBase>
</Properties>
</file>

<file path=docProps/core.xml><?xml version="1.0" encoding="utf-8"?>
<cp:coreProperties xmlns:cp="http://schemas.openxmlformats.org/package/2006/metadata/core-properties" xmlns:dc="http://purl.org/dc/elements/1.1/" xmlns:dcterms="http://purl.org/dc/terms/" xmlns:xsi="http://www.w3.org/2001/XMLSchema-instance">
  <dc:title>Bài 11.3. Nhận diện và phân loại rủi ro, sự cố khi dùng AI</dc:title>
  <dc:subject>Trí tuệ nhân tạo</dc:subject>
  <cp:lastModifiedBy>Phạm Văn Tú</cp:lastModifiedBy>
  <cp:revision>1</cp:revision>
  <dcterms:created xsi:type="dcterms:W3CDTF">2026-10-08T11:06:01Z</dcterms:created>
  <dcterms:modified xsi:type="dcterms:W3CDTF">2026-10-10T03:34:35Z</dcterms:modified>
  <dc:description>Email: phamtund@gmail.com</dc:description>
  <dc:creator>Phạm Văn Tú</dc:creator>
  <cp:category>Trí tuệ nhân tạo</cp:category>
  <cp:keywords>Trí tuệ nhân tạo</cp:keywords>
</cp:coreProperties>
</file>