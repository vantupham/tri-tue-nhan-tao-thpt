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67D86BA1-1A05-1111-DD1F-DA6AE615DD7A}">
          <p14:sldIdLst>
            <p14:sldId id="256"/>
            <p14:sldId id="257"/>
            <p14:sldId id="258"/>
            <p14:sldId id="259"/>
            <p14:sldId id="260"/>
            <p14:sldId id="261"/>
            <p14:sldId id="262"/>
            <p14:sldId id="263"/>
            <p14:sldId id="264"/>
          </p14:sldIdLst>
        </p14:section>
        <p14:section name="Đánh giá một ứng dụng AI" id="{5D38E0F9-2029-694F-3474-2F26D8FC1DDC}">
          <p14:sldIdLst>
            <p14:sldId id="265"/>
            <p14:sldId id="266"/>
            <p14:sldId id="267"/>
            <p14:sldId id="268"/>
            <p14:sldId id="269"/>
          </p14:sldIdLst>
        </p14:section>
        <p14:section name="Tổng kết" id="{E14BDCB7-BDBA-1F13-D911-9AEA33130D48}">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C94003-92DA-4EBA-ABB6-1054C0CA32A3}" v="1" dt="2026-10-10T03:35:03.5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1" d="100"/>
          <a:sy n="161" d="100"/>
        </p:scale>
        <p:origin x="26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35:03.579" v="1"/>
      <pc:docMkLst>
        <pc:docMk/>
      </pc:docMkLst>
      <pc:sldChg chg="modSp mod">
        <pc:chgData name="Phạm Văn Tú" userId="67199c852bdd6d1b" providerId="LiveId" clId="{CB377567-0116-4044-BB7C-6E46B7A5C596}" dt="2026-10-10T03:34:51.536" v="0" actId="20577"/>
        <pc:sldMkLst>
          <pc:docMk/>
          <pc:sldMk cId="0" sldId="256"/>
        </pc:sldMkLst>
        <pc:spChg chg="mod">
          <ac:chgData name="Phạm Văn Tú" userId="67199c852bdd6d1b" providerId="LiveId" clId="{CB377567-0116-4044-BB7C-6E46B7A5C596}" dt="2026-10-10T03:34:51.536" v="0" actId="20577"/>
          <ac:spMkLst>
            <pc:docMk/>
            <pc:sldMk cId="0" sldId="256"/>
            <ac:spMk id="3" creationId="{00000000-0000-0000-0000-000000000000}"/>
          </ac:spMkLst>
        </pc:spChg>
      </pc:sldChg>
      <pc:sldChg chg="add">
        <pc:chgData name="Phạm Văn Tú" userId="67199c852bdd6d1b" providerId="LiveId" clId="{CB377567-0116-4044-BB7C-6E46B7A5C596}" dt="2026-10-10T03:35:03.579" v="1"/>
        <pc:sldMkLst>
          <pc:docMk/>
          <pc:sldMk cId="102892196"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662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sáu hồ sơ ứng dụng (bệnh lúa, sàng lọc mắt, cảnh báo ngập, gia sư tiếng Anh, tưới tiêu, dịch tiếng dân tộc), Phiếu đánh giá, Phiếu ra cửa.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nhanh mục tiêu.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(5 phút). Học sinh liệt kê theo cặp 2 phút. Ghi các ý lên bảng.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Đối chiếu danh sách của lớp với hình: điện, nước làm mát, thiết bị và khoáng sản, con người vận hành. Nhấn: bài học không khuyên ngừng dùng AI, mà giúp nhìn đầy đủ hơn: cả lợi ích lẫn chi phí, cả người được lợi lẫn người có thể bị bỏ lại.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(13 phút). Mời học sinh nêu thêm ví dụ, kể cả ở Việt Nam. Lợi ích lâu dài: còn đó sau nhiều năm và đến được nhiều người. Có hay không tùy hai điều: bền vững và công bằng.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Bền vững có HAI vế. Vế hai hay bị quên: hệ thống không 'xong' sau khi ra mắt; sâu bệnh mới, thiết bị hỏng, dữ liệu cũ đi.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Nguồn: Cơ quan Năng lượng Quốc tế (IEA), báo cáo Energy and AI, 2025. Đơn vị TWh; 1 TWh = một tỉ số điện. AI là động lực quan trọng nhất của mức tăng. Giữ hai điều cùng lúc: 1,5% là phần nhỏ và trung tâm dữ liệu phục vụ cả việc khác; nhưng tốc độ tăng rất nhanh và tập trung ở một số vùng. Dễ nhầm: 'AI tốn điện nên không dùng' bỏ quên vế lợi ích; câu hỏi đúng: lợi ích có xứng với tài nguyên không.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chuyện có thật: nghiên cứu Gender Shades (Buolamwini và Gebru, 2018) kiểm tra ba phần mềm thương mại đoán giới tính qua ảnh khuôn mặt. Không ai cố tình; sai vì dữ liệu thiếu cân đối. Dễ nhầm: 'ai cũng tải được là công bằng'; tải được chưa phải dùng được, dùng được chưa phải được phục vụ tốt như nhau.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sinh ghi sáu câu hỏi vào vở. Làm mẫu nhanh với hồ sơ bệnh lúa (xem Tài liệu học tập, mục 4).</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bắt đầu. Phát sáu hồ sơ.</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phút báo cáo: mỗi nhóm 45 giây. Phiếu đánh giá là minh chứng.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Tranh luận cả lớp 5 phút với ứng dụng nhận diện bệnh lúa ở miền núi. Không có đáp án đúng cho mọi nơi: bệnh viện có thể đặt độ chính xác lên trước; vùng sóng yếu thì mô hình nhỏ dùng được còn hơn mô hình lớn không ai mở nổi.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Tình huống giả định. Mỗi câu hỏi đều cần máy chủ tính toán, tốn điện. Không cần nêu con số; chỉ so sánh nhiều lượt và ít lượt.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gợi ý hành vi cá nhân, nối với phần Bền vững của bài.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Dặn dò: phần Vận dụng (nhờ ông bà dùng thử một ứng dụng và ghi lại chỗ khó).</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803672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11.4 · AI vì lợi ích lâu dài: bền vững và công bằng</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AI vì lợi ích lâu dài: bền vững và công bằng</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11.4 · Chuyên đề 11.2: AI bền vững, công bằng và quyền của người dùng</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11</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Nêu</a:t>
            </a:r>
            <a:r>
              <a:rPr lang="en-US" sz="2800" dirty="0">
                <a:solidFill>
                  <a:schemeClr val="tx1"/>
                </a:solidFill>
              </a:rPr>
              <a:t> ví dụ AI mang lại lợi ích lâu dài</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Giải thích</a:t>
            </a:r>
            <a:r>
              <a:rPr lang="en-US" sz="2800" dirty="0">
                <a:solidFill>
                  <a:schemeClr val="tx1"/>
                </a:solidFill>
              </a:rPr>
              <a:t> thế nào là bền vững và công bằng</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Đánh giá</a:t>
            </a:r>
            <a:r>
              <a:rPr lang="en-US" sz="2800" dirty="0">
                <a:solidFill>
                  <a:schemeClr val="tx1"/>
                </a:solidFill>
              </a:rPr>
              <a:t> một ứng dụng AI bằng sáu câu hỏi</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Một câu hỏi tốn gì?</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13'</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Bền vững và công bằng</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22'</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Đánh giá một ứng dụng</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Một câu hỏi gửi cho AI “tốn” những gì?</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Em gõ một câu hỏi, bấm gửi.</a:t>
            </a:r>
            <a:endParaRPr lang="en-US" sz="2800" dirty="0"/>
          </a:p>
          <a:p>
            <a:pPr marL="0" indent="0">
              <a:buNone/>
            </a:pPr>
            <a:endParaRPr lang="en-US" sz="2800" dirty="0"/>
          </a:p>
          <a:p>
            <a:pPr marL="0" indent="0">
              <a:buNone/>
            </a:pPr>
            <a:r>
              <a:rPr lang="en-US" sz="2800" dirty="0">
                <a:solidFill>
                  <a:schemeClr val="tx1"/>
                </a:solidFill>
              </a:rPr>
              <a:t>Hai giây sau, câu trả lời hiện ra.</a:t>
            </a:r>
            <a:endParaRPr lang="en-US" sz="2800" dirty="0"/>
          </a:p>
          <a:p>
            <a:pPr marL="0" indent="0">
              <a:buNone/>
            </a:pPr>
            <a:endParaRPr lang="en-US" sz="2800" dirty="0"/>
          </a:p>
          <a:p>
            <a:pPr marL="0" indent="0">
              <a:buNone/>
            </a:pPr>
            <a:r>
              <a:rPr lang="en-US" sz="2800" dirty="0">
                <a:solidFill>
                  <a:schemeClr val="tx1"/>
                </a:solidFill>
              </a:rPr>
              <a:t>Miễn phí, nhẹ nhàng, gần như không tốn gì.</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Có thật là không tốn gì không? Hãy liệt kê những thứ đã được dùng.</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Đường đi của một câu hỏi</a:t>
            </a:r>
            <a:endParaRPr lang="en-US" sz="3800" dirty="0"/>
          </a:p>
        </p:txBody>
      </p:sp>
      <p:pic>
        <p:nvPicPr>
          <p:cNvPr id="4" name="Image 0" descr="Đường đi của một câu hỏi"/>
          <p:cNvPicPr>
            <a:picLocks noChangeAspect="1"/>
          </p:cNvPicPr>
          <p:nvPr/>
        </p:nvPicPr>
        <p:blipFill>
          <a:blip r:embed="rId3"/>
          <a:stretch>
            <a:fillRect/>
          </a:stretch>
        </p:blipFill>
        <p:spPr>
          <a:xfrm>
            <a:off x="1417320" y="1463040"/>
            <a:ext cx="9326880"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AI có thể mang lại lợi ích lâu dài ở đâu?</a:t>
            </a:r>
            <a:endParaRPr lang="en-US" sz="3800" dirty="0"/>
          </a:p>
        </p:txBody>
      </p:sp>
      <p:sp>
        <p:nvSpPr>
          <p:cNvPr id="4" name="Shape 1"/>
          <p:cNvSpPr/>
          <p:nvPr/>
        </p:nvSpPr>
        <p:spPr>
          <a:xfrm>
            <a:off x="54864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Nông nghiệp: nhận diện sâu bệnh, tiết kiệm nước tưới</a:t>
            </a:r>
            <a:endParaRPr lang="en-US" sz="2600" dirty="0"/>
          </a:p>
        </p:txBody>
      </p:sp>
      <p:sp>
        <p:nvSpPr>
          <p:cNvPr id="8" name="Shape 5"/>
          <p:cNvSpPr/>
          <p:nvPr/>
        </p:nvSpPr>
        <p:spPr>
          <a:xfrm>
            <a:off x="619506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Y tế: hỗ trợ sàng lọc ở nơi thiếu bác sĩ</a:t>
            </a:r>
            <a:endParaRPr lang="en-US" sz="2600" dirty="0"/>
          </a:p>
        </p:txBody>
      </p:sp>
      <p:sp>
        <p:nvSpPr>
          <p:cNvPr id="12" name="Shape 9"/>
          <p:cNvSpPr/>
          <p:nvPr/>
        </p:nvSpPr>
        <p:spPr>
          <a:xfrm>
            <a:off x="54864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38785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Giáo dục: đọc màn hình, chuyển giọng nói thành chữ</a:t>
            </a:r>
            <a:endParaRPr lang="en-US" sz="2600" dirty="0"/>
          </a:p>
        </p:txBody>
      </p:sp>
      <p:sp>
        <p:nvSpPr>
          <p:cNvPr id="16" name="Shape 13"/>
          <p:cNvSpPr/>
          <p:nvPr/>
        </p:nvSpPr>
        <p:spPr>
          <a:xfrm>
            <a:off x="619506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38785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Môi trường: dự báo lũ, ngập, cháy rừng</a:t>
            </a:r>
            <a:endParaRPr lang="en-US" sz="2600" dirty="0"/>
          </a:p>
        </p:txBody>
      </p:sp>
      <p:sp>
        <p:nvSpPr>
          <p:cNvPr id="20" name="Shape 17"/>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1" name="Text 18"/>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800" b="1" dirty="0">
                <a:solidFill>
                  <a:schemeClr val="bg1"/>
                </a:solidFill>
              </a:rPr>
              <a:t>“Có thể giúp” chưa phải là “chắc chắn giúp”</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Bền vững: có duy trì được lâu dài mà không gây hại?</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Tài nguyên, môi trường</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Dùng điện, thiết bị hiệu quả</a:t>
            </a:r>
            <a:endParaRPr lang="en-US" sz="2800" dirty="0"/>
          </a:p>
          <a:p>
            <a:pPr marL="342900" indent="-342900">
              <a:spcAft>
                <a:spcPts val="1000"/>
              </a:spcAft>
              <a:buSzPct val="100000"/>
              <a:buChar char="•"/>
            </a:pPr>
            <a:r>
              <a:rPr lang="en-US" sz="2800" dirty="0">
                <a:solidFill>
                  <a:schemeClr val="tx1"/>
                </a:solidFill>
              </a:rPr>
              <a:t>Không gây hại cho con người, thiên nhiên</a:t>
            </a:r>
            <a:endParaRPr lang="en-US" sz="28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Khả năng duy trì</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Có người vận hành, cập nhật</a:t>
            </a:r>
            <a:endParaRPr lang="en-US" sz="2800" dirty="0"/>
          </a:p>
          <a:p>
            <a:pPr marL="342900" indent="-342900">
              <a:spcAft>
                <a:spcPts val="1000"/>
              </a:spcAft>
              <a:buSzPct val="100000"/>
              <a:buChar char="•"/>
            </a:pPr>
            <a:r>
              <a:rPr lang="en-US" sz="2800" dirty="0">
                <a:solidFill>
                  <a:schemeClr val="bg1"/>
                </a:solidFill>
              </a:rPr>
              <a:t>Có kinh phí lâu dài</a:t>
            </a:r>
            <a:endParaRPr lang="en-US" sz="28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Cảnh báo: chỉ chạy nhờ tài trợ ngắn hạn, không ai cập nhật</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Điện cho các trung tâm dữ liệu trên thế giới</a:t>
            </a:r>
            <a:endParaRPr lang="en-US" sz="3800" dirty="0"/>
          </a:p>
        </p:txBody>
      </p:sp>
      <p:pic>
        <p:nvPicPr>
          <p:cNvPr id="4" name="Image 0" descr="Điện cho các trung tâm dữ liệu trên thế giới"/>
          <p:cNvPicPr>
            <a:picLocks noChangeAspect="1"/>
          </p:cNvPicPr>
          <p:nvPr/>
        </p:nvPicPr>
        <p:blipFill>
          <a:blip r:embed="rId3"/>
          <a:stretch>
            <a:fillRect/>
          </a:stretch>
        </p:blipFill>
        <p:spPr>
          <a:xfrm>
            <a:off x="548640" y="1463040"/>
            <a:ext cx="6390640" cy="4663440"/>
          </a:xfrm>
          <a:prstGeom prst="rect">
            <a:avLst/>
          </a:prstGeom>
        </p:spPr>
      </p:pic>
      <p:sp>
        <p:nvSpPr>
          <p:cNvPr id="5" name="Shape 1"/>
          <p:cNvSpPr/>
          <p:nvPr/>
        </p:nvSpPr>
        <p:spPr>
          <a:xfrm>
            <a:off x="8321040" y="1554480"/>
            <a:ext cx="3291840" cy="4480560"/>
          </a:xfrm>
          <a:prstGeom prst="roundRect">
            <a:avLst>
              <a:gd name="adj" fmla="val 3333"/>
            </a:avLst>
          </a:prstGeom>
          <a:solidFill>
            <a:schemeClr val="tx2"/>
          </a:solidFill>
          <a:ln w="12700">
            <a:solidFill>
              <a:schemeClr val="tx2"/>
            </a:solidFill>
            <a:prstDash val="solid"/>
          </a:ln>
        </p:spPr>
        <p:txBody>
          <a:bodyPr/>
          <a:lstStyle/>
          <a:p>
            <a:endParaRPr lang="en-US"/>
          </a:p>
        </p:txBody>
      </p:sp>
      <p:sp>
        <p:nvSpPr>
          <p:cNvPr id="6" name="Text 2"/>
          <p:cNvSpPr txBox="1"/>
          <p:nvPr/>
        </p:nvSpPr>
        <p:spPr>
          <a:xfrm>
            <a:off x="8595360" y="1737360"/>
            <a:ext cx="2743200" cy="4114800"/>
          </a:xfrm>
          <a:prstGeom prst="rect">
            <a:avLst/>
          </a:prstGeom>
          <a:noFill/>
          <a:ln/>
        </p:spPr>
        <p:txBody>
          <a:bodyPr wrap="square" lIns="0" tIns="0" rIns="0" bIns="0" rtlCol="0" anchor="ctr"/>
          <a:lstStyle/>
          <a:p>
            <a:pPr marL="0" indent="0">
              <a:buNone/>
            </a:pPr>
            <a:r>
              <a:rPr lang="en-US" sz="2800" b="1" dirty="0">
                <a:solidFill>
                  <a:schemeClr val="bg1"/>
                </a:solidFill>
              </a:rPr>
              <a:t>Năm 2024: khoảng 1,5% điện toàn cầu. Dự báo hơn gấp đôi vào năm 2030.</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Công bằng: mọi người có được hưởng lợi như nhau?</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2400" b="1" dirty="0">
                <a:solidFill>
                  <a:schemeClr val="tx2"/>
                </a:solidFill>
              </a:rPr>
              <a:t>Tầng 1: tiếp cận được không?</a:t>
            </a:r>
            <a:endParaRPr lang="en-US" sz="24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Thiết bị, kết nối</a:t>
            </a:r>
            <a:endParaRPr lang="en-US" sz="2800" dirty="0"/>
          </a:p>
          <a:p>
            <a:pPr marL="342900" indent="-342900">
              <a:spcAft>
                <a:spcPts val="1000"/>
              </a:spcAft>
              <a:buSzPct val="100000"/>
              <a:buChar char="•"/>
            </a:pPr>
            <a:r>
              <a:rPr lang="en-US" sz="2800" dirty="0">
                <a:solidFill>
                  <a:schemeClr val="tx1"/>
                </a:solidFill>
              </a:rPr>
              <a:t>Ngôn ngữ, chi phí</a:t>
            </a:r>
            <a:endParaRPr lang="en-US" sz="28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2400" b="1" dirty="0">
                <a:solidFill>
                  <a:schemeClr val="accent2"/>
                </a:solidFill>
              </a:rPr>
              <a:t>Tầng 2: chính xác như nhau không?</a:t>
            </a:r>
            <a:endParaRPr lang="en-US" sz="24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Sai 0,8% với nam giới da sáng</a:t>
            </a:r>
            <a:endParaRPr lang="en-US" sz="2800" dirty="0"/>
          </a:p>
          <a:p>
            <a:pPr marL="342900" indent="-342900">
              <a:spcAft>
                <a:spcPts val="1000"/>
              </a:spcAft>
              <a:buSzPct val="100000"/>
              <a:buChar char="•"/>
            </a:pPr>
            <a:r>
              <a:rPr lang="en-US" sz="2800" dirty="0">
                <a:solidFill>
                  <a:schemeClr val="bg1"/>
                </a:solidFill>
              </a:rPr>
              <a:t>Sai 34,7% với phụ nữ da sẫm màu</a:t>
            </a:r>
            <a:endParaRPr lang="en-US" sz="28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Dữ liệu thiếu ai thì hệ thống dễ sai với người đó</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Sáu câu hỏi để đánh giá một ứng dụng</a:t>
            </a:r>
            <a:endParaRPr lang="en-US" sz="3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5532120">
                  <a:extLst>
                    <a:ext uri="{9D8B030D-6E8A-4147-A177-3AD203B41FA5}">
                      <a16:colId xmlns:a16="http://schemas.microsoft.com/office/drawing/2014/main" val="20000"/>
                    </a:ext>
                  </a:extLst>
                </a:gridCol>
                <a:gridCol w="5532120">
                  <a:extLst>
                    <a:ext uri="{9D8B030D-6E8A-4147-A177-3AD203B41FA5}">
                      <a16:colId xmlns:a16="http://schemas.microsoft.com/office/drawing/2014/main" val="20001"/>
                    </a:ext>
                  </a:extLst>
                </a:gridCol>
              </a:tblGrid>
              <a:tr h="868680">
                <a:tc>
                  <a:txBody>
                    <a:bodyPr/>
                    <a:lstStyle/>
                    <a:p>
                      <a:pPr marL="0" indent="0" algn="ctr">
                        <a:buNone/>
                      </a:pPr>
                      <a:r>
                        <a:rPr lang="en-US" sz="2600" b="1" dirty="0">
                          <a:solidFill>
                            <a:schemeClr val="bg1"/>
                          </a:solidFill>
                        </a:rPr>
                        <a:t>Bền vững</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600" b="1" dirty="0">
                          <a:solidFill>
                            <a:schemeClr val="bg1"/>
                          </a:solidFill>
                        </a:rPr>
                        <a:t>Công bằng</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68680">
                <a:tc>
                  <a:txBody>
                    <a:bodyPr/>
                    <a:lstStyle/>
                    <a:p>
                      <a:pPr marL="0" indent="0" algn="l">
                        <a:buNone/>
                      </a:pPr>
                      <a:r>
                        <a:rPr lang="en-US" sz="2600" b="1" dirty="0">
                          <a:solidFill>
                            <a:schemeClr val="tx1"/>
                          </a:solidFill>
                        </a:rPr>
                        <a:t>B1. Tài nguyên có xứng với lợi ích?</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600" dirty="0">
                          <a:solidFill>
                            <a:schemeClr val="tx1"/>
                          </a:solidFill>
                        </a:rPr>
                        <a:t>C1. Ai dùng được, ai không?</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68680">
                <a:tc>
                  <a:txBody>
                    <a:bodyPr/>
                    <a:lstStyle/>
                    <a:p>
                      <a:pPr marL="0" indent="0" algn="l">
                        <a:buNone/>
                      </a:pPr>
                      <a:r>
                        <a:rPr lang="en-US" sz="2600" b="1" dirty="0">
                          <a:solidFill>
                            <a:schemeClr val="tx1"/>
                          </a:solidFill>
                        </a:rPr>
                        <a:t>B2. Ai vận hành, trả chi phí về sau?</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600" dirty="0">
                          <a:solidFill>
                            <a:schemeClr val="tx1"/>
                          </a:solidFill>
                        </a:rPr>
                        <a:t>C2. Dữ liệu có đại diện cho người dùng?</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68680">
                <a:tc>
                  <a:txBody>
                    <a:bodyPr/>
                    <a:lstStyle/>
                    <a:p>
                      <a:pPr marL="0" indent="0" algn="l">
                        <a:buNone/>
                      </a:pPr>
                      <a:r>
                        <a:rPr lang="en-US" sz="2600" b="1" dirty="0">
                          <a:solidFill>
                            <a:schemeClr val="tx1"/>
                          </a:solidFill>
                        </a:rPr>
                        <a:t>B3. Có gây hại gì không?</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600" dirty="0">
                          <a:solidFill>
                            <a:schemeClr val="tx1"/>
                          </a:solidFill>
                        </a:rPr>
                        <a:t>C3. Khi sai, phản ánh ở đâu?</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Đánh giá một ứng dụng AI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22 phút · Làm việc nhóm</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đánh giá một hồ sơ</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12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Mỗi nhóm nhận một hồ sơ ứng dụng AI</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Trả lời sáu câu hỏi B1 đến C3</a:t>
            </a:r>
            <a:endParaRPr lang="en-US" sz="2800" dirty="0"/>
          </a:p>
          <a:p>
            <a:pPr marL="342900" indent="-342900">
              <a:spcAft>
                <a:spcPts val="1200"/>
              </a:spcAft>
              <a:buSzPct val="100000"/>
              <a:buFont typeface="+mj-lt"/>
              <a:buAutoNum type="arabicPeriod"/>
            </a:pPr>
            <a:r>
              <a:rPr lang="en-US" sz="2800" dirty="0">
                <a:solidFill>
                  <a:schemeClr val="tx1"/>
                </a:solidFill>
              </a:rPr>
              <a:t>Nêu một điểm mạnh và một điểm yếu, có dẫn hồ sơ</a:t>
            </a:r>
            <a:endParaRPr lang="en-US" sz="2800" dirty="0"/>
          </a:p>
          <a:p>
            <a:pPr marL="342900" indent="-342900">
              <a:spcAft>
                <a:spcPts val="1200"/>
              </a:spcAft>
              <a:buSzPct val="100000"/>
              <a:buFont typeface="+mj-lt"/>
              <a:buAutoNum type="arabicPeriod"/>
            </a:pPr>
            <a:r>
              <a:rPr lang="en-US" sz="2800" dirty="0">
                <a:solidFill>
                  <a:schemeClr val="tx1"/>
                </a:solidFill>
              </a:rPr>
              <a:t>Đề xuất một cải tiến</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Ghi nhớ</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Một ý tưởng tốt vẫn có thể thiếu bền vững và công bằng. Phần lớn điểm yếu sửa được nếu nhìn ra sớm.</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Tranh luận: mô hình lớn hay mô hình nhỏ?</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Mô hình lớn</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tx1"/>
                </a:solidFill>
              </a:rPr>
              <a:t>Chính xác hơn</a:t>
            </a:r>
            <a:endParaRPr lang="en-US" sz="2400" dirty="0"/>
          </a:p>
          <a:p>
            <a:pPr marL="342900" indent="-342900">
              <a:spcAft>
                <a:spcPts val="1000"/>
              </a:spcAft>
              <a:buSzPct val="100000"/>
              <a:buChar char="•"/>
            </a:pPr>
            <a:r>
              <a:rPr lang="en-US" sz="2400" dirty="0">
                <a:solidFill>
                  <a:schemeClr val="tx1"/>
                </a:solidFill>
              </a:rPr>
              <a:t>Cần mạng mạnh, tốn điện hơn</a:t>
            </a:r>
            <a:endParaRPr lang="en-US" sz="2400" dirty="0"/>
          </a:p>
          <a:p>
            <a:pPr marL="342900" indent="-342900">
              <a:spcAft>
                <a:spcPts val="1000"/>
              </a:spcAft>
              <a:buSzPct val="100000"/>
              <a:buChar char="•"/>
            </a:pPr>
            <a:r>
              <a:rPr lang="en-US" sz="2400" dirty="0">
                <a:solidFill>
                  <a:schemeClr val="tx1"/>
                </a:solidFill>
              </a:rPr>
              <a:t>Người có mạng tốt mới dùng được</a:t>
            </a:r>
            <a:endParaRPr lang="en-US" sz="24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Mô hình nhỏ</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bg1"/>
                </a:solidFill>
              </a:rPr>
              <a:t>Kém chính xác hơn một chút</a:t>
            </a:r>
            <a:endParaRPr lang="en-US" sz="2400" dirty="0"/>
          </a:p>
          <a:p>
            <a:pPr marL="342900" indent="-342900">
              <a:spcAft>
                <a:spcPts val="1000"/>
              </a:spcAft>
              <a:buSzPct val="100000"/>
              <a:buChar char="•"/>
            </a:pPr>
            <a:r>
              <a:rPr lang="en-US" sz="2400" dirty="0">
                <a:solidFill>
                  <a:schemeClr val="bg1"/>
                </a:solidFill>
              </a:rPr>
              <a:t>Chạy trên điện thoại cũ, không cần mạng</a:t>
            </a:r>
            <a:endParaRPr lang="en-US" sz="2400" dirty="0"/>
          </a:p>
          <a:p>
            <a:pPr marL="342900" indent="-342900">
              <a:spcAft>
                <a:spcPts val="1000"/>
              </a:spcAft>
              <a:buSzPct val="100000"/>
              <a:buChar char="•"/>
            </a:pPr>
            <a:r>
              <a:rPr lang="en-US" sz="2400" dirty="0">
                <a:solidFill>
                  <a:schemeClr val="bg1"/>
                </a:solidFill>
              </a:rPr>
              <a:t>Gần như ai cũng dùng được</a:t>
            </a:r>
            <a:endParaRPr lang="en-US" sz="24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Nói rõ: chọn gì, vì ai, chấp nhận mất gì</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Hai cách hỏi cho cùng một bài</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An hỏi AI 20 câu ngắn, hỏi tới đâu nghĩ tới đó. Bình nghĩ trước, gộp thành 3 câu lệnh rõ ràng. Hai bạn nhận được nội dung gần như nhau.</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Cách nào tiêu tốn ít tài nguyên hơn? Em đổi được thói quen nào của mình?</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Ba thói quen dùng AI tiết kiệm</a:t>
            </a:r>
            <a:endParaRPr lang="en-US" sz="3800" dirty="0"/>
          </a:p>
        </p:txBody>
      </p:sp>
      <p:sp>
        <p:nvSpPr>
          <p:cNvPr id="4" name="Shape 1"/>
          <p:cNvSpPr/>
          <p:nvPr/>
        </p:nvSpPr>
        <p:spPr>
          <a:xfrm>
            <a:off x="548640" y="191262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91262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Nghĩ trước</a:t>
            </a:r>
            <a:r>
              <a:rPr lang="en-US" sz="3200" dirty="0">
                <a:solidFill>
                  <a:schemeClr val="tx1"/>
                </a:solidFill>
              </a:rPr>
              <a:t> khi hỏi, viết câu lệnh rõ ngay từ đầu</a:t>
            </a:r>
            <a:endParaRPr lang="en-US" sz="3200" dirty="0"/>
          </a:p>
        </p:txBody>
      </p:sp>
      <p:sp>
        <p:nvSpPr>
          <p:cNvPr id="7" name="Shape 4"/>
          <p:cNvSpPr/>
          <p:nvPr/>
        </p:nvSpPr>
        <p:spPr>
          <a:xfrm>
            <a:off x="548640" y="340614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340614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304800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Việc đơn giản</a:t>
            </a:r>
            <a:r>
              <a:rPr lang="en-US" sz="3200" dirty="0">
                <a:solidFill>
                  <a:schemeClr val="tx1"/>
                </a:solidFill>
              </a:rPr>
              <a:t> thì tự làm: tính nhẩm, tra từ điển</a:t>
            </a:r>
            <a:endParaRPr lang="en-US" sz="3200" dirty="0"/>
          </a:p>
        </p:txBody>
      </p:sp>
      <p:sp>
        <p:nvSpPr>
          <p:cNvPr id="10" name="Shape 7"/>
          <p:cNvSpPr/>
          <p:nvPr/>
        </p:nvSpPr>
        <p:spPr>
          <a:xfrm>
            <a:off x="548640" y="489966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89966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454152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Không tạo</a:t>
            </a:r>
            <a:r>
              <a:rPr lang="en-US" sz="3200" dirty="0">
                <a:solidFill>
                  <a:schemeClr val="tx1"/>
                </a:solidFill>
              </a:rPr>
              <a:t> ảnh, video chỉ để thử cho vui</a:t>
            </a:r>
            <a:endParaRPr lang="en-US" sz="3200" dirty="0"/>
          </a:p>
        </p:txBody>
      </p:sp>
      <p:sp>
        <p:nvSpPr>
          <p:cNvPr id="13" name="Shape 10"/>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14" name="Text 11"/>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Dùng khi thật sự cần.</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Lợi ích lâu dài </a:t>
            </a:r>
            <a:r>
              <a:rPr lang="en-US" sz="3200" b="1" dirty="0">
                <a:solidFill>
                  <a:schemeClr val="tx2"/>
                </a:solidFill>
              </a:rPr>
              <a:t>không tự động</a:t>
            </a:r>
            <a:r>
              <a:rPr lang="en-US" sz="3200" dirty="0">
                <a:solidFill>
                  <a:schemeClr val="tx1"/>
                </a:solidFill>
              </a:rPr>
              <a:t> có</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Bền vững:</a:t>
            </a:r>
            <a:r>
              <a:rPr lang="en-US" sz="3200" dirty="0">
                <a:solidFill>
                  <a:schemeClr val="tx1"/>
                </a:solidFill>
              </a:rPr>
              <a:t> tài nguyên hiệu quả và có người duy trì</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Công bằng:</a:t>
            </a:r>
            <a:r>
              <a:rPr lang="en-US" sz="3200" dirty="0">
                <a:solidFill>
                  <a:schemeClr val="tx1"/>
                </a:solidFill>
              </a:rPr>
              <a:t> tiếp cận được và chính xác như nhau</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Thường phải </a:t>
            </a:r>
            <a:r>
              <a:rPr lang="en-US" sz="3200" b="1" dirty="0">
                <a:solidFill>
                  <a:schemeClr val="tx2"/>
                </a:solidFill>
              </a:rPr>
              <a:t>đánh đổi</a:t>
            </a:r>
            <a:r>
              <a:rPr lang="en-US" sz="3200" dirty="0">
                <a:solidFill>
                  <a:schemeClr val="tx1"/>
                </a:solidFill>
              </a:rPr>
              <a:t>: nói rõ đã chọn gì, vì ai</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Nêu hai ví dụ ứng dụng AI mang lại lợi ích xã hội lâu dài ở hai lĩnh vực khác nhau; ghi rõ ai được lợi.</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400" dirty="0">
                <a:solidFill>
                  <a:schemeClr val="tx1"/>
                </a:solidFill>
              </a:rPr>
              <a:t>Một thư viện số dùng AI đọc sách thành tiếng cho người khiếm thị. Nêu một yếu tố cho thấy hệ thống này bền vững và một yếu tố cho thấy nó công bằng.</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40" name="Picture 39">
            <a:extLst>
              <a:ext uri="{FF2B5EF4-FFF2-40B4-BE49-F238E27FC236}">
                <a16:creationId xmlns:a16="http://schemas.microsoft.com/office/drawing/2014/main" id="{89A7351B-B717-C7D6-1B54-81AA1B57E5E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102892196"/>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1510</Words>
  <Application>Microsoft Office PowerPoint</Application>
  <PresentationFormat>Widescreen</PresentationFormat>
  <Paragraphs>161</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AI vì lợi ích lâu dài: bền vững và công bằng</vt:lpstr>
      <vt:lpstr>Hôm nay chúng ta làm gì?</vt:lpstr>
      <vt:lpstr>Một câu hỏi gửi cho AI “tốn” những gì?</vt:lpstr>
      <vt:lpstr>Đường đi của một câu hỏi</vt:lpstr>
      <vt:lpstr>AI có thể mang lại lợi ích lâu dài ở đâu?</vt:lpstr>
      <vt:lpstr>Bền vững: có duy trì được lâu dài mà không gây hại?</vt:lpstr>
      <vt:lpstr>Điện cho các trung tâm dữ liệu trên thế giới</vt:lpstr>
      <vt:lpstr>Công bằng: mọi người có được hưởng lợi như nhau?</vt:lpstr>
      <vt:lpstr>Sáu câu hỏi để đánh giá một ứng dụng</vt:lpstr>
      <vt:lpstr>Đánh giá một ứng dụng AI</vt:lpstr>
      <vt:lpstr>Nhiệm vụ nhóm: đánh giá một hồ sơ</vt:lpstr>
      <vt:lpstr>Tranh luận: mô hình lớn hay mô hình nhỏ?</vt:lpstr>
      <vt:lpstr>Hai cách hỏi cho cùng một bài</vt:lpstr>
      <vt:lpstr>Ba thói quen dùng AI tiết kiệm</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11.4. AI vì lợi ích lâu dài: bền vững và công bằng</dc:title>
  <dc:subject>Trí tuệ nhân tạo</dc:subject>
  <cp:lastModifiedBy>Phạm Văn Tú</cp:lastModifiedBy>
  <cp:revision>1</cp:revision>
  <dcterms:created xsi:type="dcterms:W3CDTF">2026-10-08T11:06:01Z</dcterms:created>
  <dcterms:modified xsi:type="dcterms:W3CDTF">2026-10-10T03:35:06Z</dcterms:modified>
  <dc:description>Email: phamtund@gmail.com</dc:description>
  <dc:creator>Phạm Văn Tú</dc:creator>
  <cp:category>Trí tuệ nhân tạo</cp:category>
  <cp:keywords>Trí tuệ nhân tạo</cp:keywords>
</cp:coreProperties>
</file>