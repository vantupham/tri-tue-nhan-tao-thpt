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736C6085-E02F-95DD-F14B-3BEC0C8FF86D}">
          <p14:sldIdLst>
            <p14:sldId id="256"/>
            <p14:sldId id="257"/>
            <p14:sldId id="258"/>
            <p14:sldId id="259"/>
            <p14:sldId id="260"/>
            <p14:sldId id="261"/>
            <p14:sldId id="262"/>
            <p14:sldId id="263"/>
          </p14:sldIdLst>
        </p14:section>
        <p14:section name="Soi điều khoản của “HọcVui AI”" id="{7F1C9756-9989-78BF-A907-4770BE907E44}">
          <p14:sldIdLst>
            <p14:sldId id="264"/>
            <p14:sldId id="265"/>
            <p14:sldId id="266"/>
            <p14:sldId id="267"/>
            <p14:sldId id="268"/>
            <p14:sldId id="269"/>
          </p14:sldIdLst>
        </p14:section>
        <p14:section name="Tổng kết" id="{CD9AB036-3CD0-F501-66B5-3C6B83904826}">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22AC59-755D-4048-B4D3-B5265473ADEA}" v="1" dt="2026-10-10T03:35:35.3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1" d="100"/>
          <a:sy n="161" d="100"/>
        </p:scale>
        <p:origin x="260"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35:35.356" v="1"/>
      <pc:docMkLst>
        <pc:docMk/>
      </pc:docMkLst>
      <pc:sldChg chg="modSp mod">
        <pc:chgData name="Phạm Văn Tú" userId="67199c852bdd6d1b" providerId="LiveId" clId="{CB377567-0116-4044-BB7C-6E46B7A5C596}" dt="2026-10-10T03:35:22.005" v="0" actId="20577"/>
        <pc:sldMkLst>
          <pc:docMk/>
          <pc:sldMk cId="0" sldId="256"/>
        </pc:sldMkLst>
        <pc:spChg chg="mod">
          <ac:chgData name="Phạm Văn Tú" userId="67199c852bdd6d1b" providerId="LiveId" clId="{CB377567-0116-4044-BB7C-6E46B7A5C596}" dt="2026-10-10T03:35:22.005" v="0" actId="20577"/>
          <ac:spMkLst>
            <pc:docMk/>
            <pc:sldMk cId="0" sldId="256"/>
            <ac:spMk id="3" creationId="{00000000-0000-0000-0000-000000000000}"/>
          </ac:spMkLst>
        </pc:spChg>
      </pc:sldChg>
      <pc:sldChg chg="add">
        <pc:chgData name="Phạm Văn Tú" userId="67199c852bdd6d1b" providerId="LiveId" clId="{CB377567-0116-4044-BB7C-6E46B7A5C596}" dt="2026-10-10T03:35:35.356" v="1"/>
        <pc:sldMkLst>
          <pc:docMk/>
          <pc:sldMk cId="304701153"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47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bản điều khoản giả định 'HọcVui AI', Phiếu soi điều khoản, mẫu yêu cầu xóa dữ liệu, Phiếu ra cửa.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nhanh mục tiêu.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(5 phút). Hỏi: em đã bấm bao nhiêu lần trong đời? Ứng dụng ấy được làm gì với ảnh, giọng nói, câu hỏi của em? Với công cụ AI, thứ đưa vào không chỉ là tên và mật khẩu: là bài làm, câu hỏi lúc lo lắng, giọng nói, khuôn mặt.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(13 phút). Khái niệm: dữ liệu cá nhân là thông tin gắn với hoặc giúp xác định một con người cụ thể; người đó là chủ thể dữ liệu. Đường thứ ba ít ai nghĩ đến. Dễ nhầm: 'không gõ họ tên là không có dữ liệu cá nhân'; ảnh khuôn mặt, giọng nói, tài khoản đăng nhập đều chỉ ra 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Học sinh kẻ bảng năm quyền vào vở, mỗi quyền một câu có thể hỏi. Luật còn quy định quyền khác (hạn chế xử lí, phản đối, khiếu nại). Nội dung dẫn theo bài giới thiệu luật; khi cần chính xác, tra văn bản gốc. Người chưa đủ 18 tuổi: quyết định lớn về dữ liệu nên làm cùng cha mẹ.</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theo dữ liệu từ trái sang phải: thu thập, lưu trữ, sử dụng, chia sẻ, xóa. Hỏi: quyền nào dùng được ngay hôm nay trong phần cài đặt của một ứng dụng?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có biết: theo Luật Trí tuệ nhân tạo, người dùng cần được biết khi mình đang tương tác với một hệ thống AI chứ không phải con người.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ai đọc hết hai mươi trang; nhưng tìm được ba thông tin bằng cách dò từ khóa.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bắt đầu. Phát bản điều khoản giả định và Phiếu soi.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Ứng dụng KHÔNG có thật.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Gợi ý đáp án: danh bạ và vị trí không cần cho việc học, danh bạ còn là dữ liệu của người khác; dùng để huấn luyện và quảng cáo mà không có lựa chọn từ chối; không nêu thời hạn lưu, không nêu cách xóa, coi 'tiếp tục dùng' là đồng ý.</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mẫu trong Tài liệu học tập. Mời 2 em đọc. Sản phẩm là minh chứng đánh giá.</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tải ảnh lớp lên công cụ tạo ảnh hoạt hình là quyết định thay cho bốn mươi người.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Tình huống giả định. Danh bạ và vị trí không cần cho chức năng chính. Em có thể từ chối quyền đó, hoặc chọn ứng dụng khác.</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Bốn tình huống của câu 1 in trên Phiếu ra cửa. Dặn dò: phần Vận dụng (buổi dọn dẹp dữ liệu 20 phút cùng cha mẹ).</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042042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11.5 · Dữ liệu của em, quyền của em</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Dữ liệu của em, quyền của em</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11.5 · Chuyên đề 11.2: AI bền vững, công bằng và quyền của người dùng</a:t>
            </a:r>
            <a:endParaRPr lang="en-US" sz="2400" dirty="0"/>
          </a:p>
          <a:p>
            <a:pPr marL="0" indent="0" algn="l">
              <a:buNone/>
            </a:pPr>
            <a:r>
              <a:rPr lang="en-US" sz="2400" dirty="0">
                <a:solidFill>
                  <a:schemeClr val="accent5"/>
                </a:solidFill>
              </a:rPr>
              <a:t>Giáo dục trí tuệ nhân tạo </a:t>
            </a:r>
            <a:r>
              <a:rPr lang="en-US" sz="2400" dirty="0" err="1">
                <a:solidFill>
                  <a:schemeClr val="accent5"/>
                </a:solidFill>
              </a:rPr>
              <a:t>lớp</a:t>
            </a:r>
            <a:r>
              <a:rPr lang="en-US" sz="2400" dirty="0">
                <a:solidFill>
                  <a:schemeClr val="accent5"/>
                </a:solidFill>
              </a:rPr>
              <a:t> 11</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Nhận ra</a:t>
            </a:r>
            <a:r>
              <a:rPr lang="en-US" sz="2800" dirty="0">
                <a:solidFill>
                  <a:schemeClr val="tx1"/>
                </a:solidFill>
              </a:rPr>
              <a:t> dữ liệu cá nhân trong thứ em đưa cho AI</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Trình bày</a:t>
            </a:r>
            <a:r>
              <a:rPr lang="en-US" sz="2800" dirty="0">
                <a:solidFill>
                  <a:schemeClr val="tx1"/>
                </a:solidFill>
              </a:rPr>
              <a:t> năm quyền cơ bản với dữ liệu của mình</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Soi</a:t>
            </a:r>
            <a:r>
              <a:rPr lang="en-US" sz="2800" dirty="0">
                <a:solidFill>
                  <a:schemeClr val="tx1"/>
                </a:solidFill>
              </a:rPr>
              <a:t> một bản điều khoản và viết yêu cầu xóa dữ liệu</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“Tôi đồng ý”</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13'</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Dữ liệu cá nhân, năm quyền</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22'</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Soi điều khoản</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Hai chữ “Tôi đồng ý”</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Mỗi lần cài một ứng dụng, một hộp thoại hiện ra kèm đường liên kết:</a:t>
            </a:r>
            <a:endParaRPr lang="en-US" sz="2800" dirty="0"/>
          </a:p>
          <a:p>
            <a:pPr marL="0" indent="0">
              <a:buNone/>
            </a:pPr>
            <a:endParaRPr lang="en-US" sz="2800" dirty="0"/>
          </a:p>
          <a:p>
            <a:pPr marL="0" indent="0">
              <a:buNone/>
            </a:pPr>
            <a:r>
              <a:rPr lang="en-US" sz="2800" dirty="0">
                <a:solidFill>
                  <a:schemeClr val="tx1"/>
                </a:solidFill>
              </a:rPr>
              <a:t>Điều khoản sử dụng và Chính sách quyền riêng tư.</a:t>
            </a:r>
            <a:endParaRPr lang="en-US" sz="2800" dirty="0"/>
          </a:p>
          <a:p>
            <a:pPr marL="0" indent="0">
              <a:buNone/>
            </a:pPr>
            <a:endParaRPr lang="en-US" sz="2800" dirty="0"/>
          </a:p>
          <a:p>
            <a:pPr marL="0" indent="0">
              <a:buNone/>
            </a:pPr>
            <a:r>
              <a:rPr lang="en-US" sz="2800" dirty="0">
                <a:solidFill>
                  <a:schemeClr val="tx1"/>
                </a:solidFill>
              </a:rPr>
              <a:t>Phần lớn chúng ta bấm “Tôi đồng ý” trong chưa đầy hai giây.</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Lần gần nhất em bấm “Tôi đồng ý”, em đã đồng ý với điều gì?</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Dữ liệu cá nhân đi vào AI theo ba đường</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Em chủ động đưa</a:t>
            </a:r>
            <a:endParaRPr lang="en-US" sz="2600" dirty="0"/>
          </a:p>
          <a:p>
            <a:pPr marL="0" indent="0">
              <a:spcAft>
                <a:spcPts val="800"/>
              </a:spcAft>
              <a:buNone/>
            </a:pPr>
            <a:r>
              <a:rPr lang="en-US" sz="2600" dirty="0">
                <a:solidFill>
                  <a:schemeClr val="tx1"/>
                </a:solidFill>
              </a:rPr>
              <a:t>Họ tên, câu hỏi, ảnh, tệp, giọng nói.</a:t>
            </a:r>
            <a:endParaRPr lang="en-US" sz="26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Công cụ tự ghi nhận</a:t>
            </a:r>
            <a:endParaRPr lang="en-US" sz="2600" dirty="0"/>
          </a:p>
          <a:p>
            <a:pPr marL="0" indent="0">
              <a:spcAft>
                <a:spcPts val="800"/>
              </a:spcAft>
              <a:buNone/>
            </a:pPr>
            <a:r>
              <a:rPr lang="en-US" sz="2600" dirty="0">
                <a:solidFill>
                  <a:schemeClr val="tx1"/>
                </a:solidFill>
              </a:rPr>
              <a:t>Thời gian dùng, thiết bị, vị trí gần đúng.</a:t>
            </a:r>
            <a:endParaRPr lang="en-US" sz="2600" dirty="0"/>
          </a:p>
        </p:txBody>
      </p:sp>
      <p:sp>
        <p:nvSpPr>
          <p:cNvPr id="12" name="Shape 9"/>
          <p:cNvSpPr/>
          <p:nvPr/>
        </p:nvSpPr>
        <p:spPr>
          <a:xfrm>
            <a:off x="8107680" y="1554480"/>
            <a:ext cx="3505200" cy="4389120"/>
          </a:xfrm>
          <a:prstGeom prst="roundRect">
            <a:avLst>
              <a:gd name="adj" fmla="val 3130"/>
            </a:avLst>
          </a:prstGeom>
          <a:solidFill>
            <a:schemeClr val="tx2"/>
          </a:solidFill>
          <a:ln w="12700">
            <a:solidFill>
              <a:schemeClr val="tx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Công cụ suy ra</a:t>
            </a:r>
            <a:endParaRPr lang="en-US" sz="2600" dirty="0"/>
          </a:p>
          <a:p>
            <a:pPr marL="0" indent="0">
              <a:spcAft>
                <a:spcPts val="800"/>
              </a:spcAft>
              <a:buNone/>
            </a:pPr>
            <a:r>
              <a:rPr lang="en-US" sz="2600" dirty="0">
                <a:solidFill>
                  <a:schemeClr val="bg1"/>
                </a:solidFill>
              </a:rPr>
              <a:t>Trình độ, môn em yếu, thói quen học.</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Năm quyền cơ bản của em</a:t>
            </a:r>
            <a:endParaRPr lang="en-US" sz="3800" dirty="0"/>
          </a:p>
        </p:txBody>
      </p:sp>
      <p:sp>
        <p:nvSpPr>
          <p:cNvPr id="4" name="Shape 1"/>
          <p:cNvSpPr/>
          <p:nvPr/>
        </p:nvSpPr>
        <p:spPr>
          <a:xfrm>
            <a:off x="548640" y="1613916"/>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13916"/>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6949440" cy="804672"/>
          </a:xfrm>
          <a:prstGeom prst="rect">
            <a:avLst/>
          </a:prstGeom>
          <a:noFill/>
          <a:ln/>
        </p:spPr>
        <p:txBody>
          <a:bodyPr wrap="square" lIns="0" tIns="0" rIns="0" bIns="0" rtlCol="0" anchor="ctr"/>
          <a:lstStyle/>
          <a:p>
            <a:pPr marL="0" indent="0">
              <a:buNone/>
            </a:pPr>
            <a:r>
              <a:rPr lang="en-US" sz="2800" dirty="0">
                <a:solidFill>
                  <a:schemeClr val="tx1"/>
                </a:solidFill>
              </a:rPr>
              <a:t>Quyền </a:t>
            </a:r>
            <a:r>
              <a:rPr lang="en-US" sz="2800" b="1" dirty="0">
                <a:solidFill>
                  <a:schemeClr val="tx2"/>
                </a:solidFill>
              </a:rPr>
              <a:t>được biết</a:t>
            </a:r>
            <a:endParaRPr lang="en-US" sz="2800" dirty="0"/>
          </a:p>
        </p:txBody>
      </p:sp>
      <p:sp>
        <p:nvSpPr>
          <p:cNvPr id="7" name="Shape 4"/>
          <p:cNvSpPr/>
          <p:nvPr/>
        </p:nvSpPr>
        <p:spPr>
          <a:xfrm>
            <a:off x="548640" y="2510028"/>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510028"/>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450592"/>
            <a:ext cx="6949440" cy="804672"/>
          </a:xfrm>
          <a:prstGeom prst="rect">
            <a:avLst/>
          </a:prstGeom>
          <a:noFill/>
          <a:ln/>
        </p:spPr>
        <p:txBody>
          <a:bodyPr wrap="square" lIns="0" tIns="0" rIns="0" bIns="0" rtlCol="0" anchor="ctr"/>
          <a:lstStyle/>
          <a:p>
            <a:pPr marL="0" indent="0">
              <a:buNone/>
            </a:pPr>
            <a:r>
              <a:rPr lang="en-US" sz="2800" dirty="0">
                <a:solidFill>
                  <a:schemeClr val="tx1"/>
                </a:solidFill>
              </a:rPr>
              <a:t>Quyền </a:t>
            </a:r>
            <a:r>
              <a:rPr lang="en-US" sz="2800" b="1" dirty="0">
                <a:solidFill>
                  <a:schemeClr val="tx2"/>
                </a:solidFill>
              </a:rPr>
              <a:t>đồng ý hoặc không đồng ý</a:t>
            </a:r>
            <a:endParaRPr lang="en-US" sz="2800" dirty="0"/>
          </a:p>
        </p:txBody>
      </p:sp>
      <p:sp>
        <p:nvSpPr>
          <p:cNvPr id="10" name="Shape 7"/>
          <p:cNvSpPr/>
          <p:nvPr/>
        </p:nvSpPr>
        <p:spPr>
          <a:xfrm>
            <a:off x="548640" y="340614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40614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346704"/>
            <a:ext cx="6949440" cy="804672"/>
          </a:xfrm>
          <a:prstGeom prst="rect">
            <a:avLst/>
          </a:prstGeom>
          <a:noFill/>
          <a:ln/>
        </p:spPr>
        <p:txBody>
          <a:bodyPr wrap="square" lIns="0" tIns="0" rIns="0" bIns="0" rtlCol="0" anchor="ctr"/>
          <a:lstStyle/>
          <a:p>
            <a:pPr marL="0" indent="0">
              <a:buNone/>
            </a:pPr>
            <a:r>
              <a:rPr lang="en-US" sz="2800" dirty="0">
                <a:solidFill>
                  <a:schemeClr val="tx1"/>
                </a:solidFill>
              </a:rPr>
              <a:t>Quyền </a:t>
            </a:r>
            <a:r>
              <a:rPr lang="en-US" sz="2800" b="1" dirty="0">
                <a:solidFill>
                  <a:schemeClr val="tx2"/>
                </a:solidFill>
              </a:rPr>
              <a:t>rút lại</a:t>
            </a:r>
            <a:r>
              <a:rPr lang="en-US" sz="2800" dirty="0">
                <a:solidFill>
                  <a:schemeClr val="tx1"/>
                </a:solidFill>
              </a:rPr>
              <a:t> sự đồng ý</a:t>
            </a:r>
            <a:endParaRPr lang="en-US" sz="2800" dirty="0"/>
          </a:p>
        </p:txBody>
      </p:sp>
      <p:sp>
        <p:nvSpPr>
          <p:cNvPr id="13" name="Shape 10"/>
          <p:cNvSpPr/>
          <p:nvPr/>
        </p:nvSpPr>
        <p:spPr>
          <a:xfrm>
            <a:off x="548640" y="4302252"/>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4302252"/>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242816"/>
            <a:ext cx="6949440" cy="804672"/>
          </a:xfrm>
          <a:prstGeom prst="rect">
            <a:avLst/>
          </a:prstGeom>
          <a:noFill/>
          <a:ln/>
        </p:spPr>
        <p:txBody>
          <a:bodyPr wrap="square" lIns="0" tIns="0" rIns="0" bIns="0" rtlCol="0" anchor="ctr"/>
          <a:lstStyle/>
          <a:p>
            <a:pPr marL="0" indent="0">
              <a:buNone/>
            </a:pPr>
            <a:r>
              <a:rPr lang="en-US" sz="2800" dirty="0">
                <a:solidFill>
                  <a:schemeClr val="tx1"/>
                </a:solidFill>
              </a:rPr>
              <a:t>Quyền </a:t>
            </a:r>
            <a:r>
              <a:rPr lang="en-US" sz="2800" b="1" dirty="0">
                <a:solidFill>
                  <a:schemeClr val="tx2"/>
                </a:solidFill>
              </a:rPr>
              <a:t>xem và chỉnh sửa</a:t>
            </a:r>
            <a:endParaRPr lang="en-US" sz="2800" dirty="0"/>
          </a:p>
        </p:txBody>
      </p:sp>
      <p:sp>
        <p:nvSpPr>
          <p:cNvPr id="16" name="Shape 13"/>
          <p:cNvSpPr/>
          <p:nvPr/>
        </p:nvSpPr>
        <p:spPr>
          <a:xfrm>
            <a:off x="548640" y="5198364"/>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7" name="Text 14"/>
          <p:cNvSpPr txBox="1"/>
          <p:nvPr/>
        </p:nvSpPr>
        <p:spPr>
          <a:xfrm>
            <a:off x="548640" y="5198364"/>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5</a:t>
            </a:r>
            <a:endParaRPr lang="en-US" sz="2300" dirty="0"/>
          </a:p>
        </p:txBody>
      </p:sp>
      <p:sp>
        <p:nvSpPr>
          <p:cNvPr id="18" name="Text 15"/>
          <p:cNvSpPr txBox="1"/>
          <p:nvPr/>
        </p:nvSpPr>
        <p:spPr>
          <a:xfrm>
            <a:off x="1508760" y="5138928"/>
            <a:ext cx="6949440" cy="804672"/>
          </a:xfrm>
          <a:prstGeom prst="rect">
            <a:avLst/>
          </a:prstGeom>
          <a:noFill/>
          <a:ln/>
        </p:spPr>
        <p:txBody>
          <a:bodyPr wrap="square" lIns="0" tIns="0" rIns="0" bIns="0" rtlCol="0" anchor="ctr"/>
          <a:lstStyle/>
          <a:p>
            <a:pPr marL="0" indent="0">
              <a:buNone/>
            </a:pPr>
            <a:r>
              <a:rPr lang="en-US" sz="2800" dirty="0">
                <a:solidFill>
                  <a:schemeClr val="tx1"/>
                </a:solidFill>
              </a:rPr>
              <a:t>Quyền </a:t>
            </a:r>
            <a:r>
              <a:rPr lang="en-US" sz="2800" b="1" dirty="0">
                <a:solidFill>
                  <a:schemeClr val="tx2"/>
                </a:solidFill>
              </a:rPr>
              <a:t>yêu cầu xóa</a:t>
            </a:r>
            <a:endParaRPr lang="en-US" sz="2800" dirty="0"/>
          </a:p>
        </p:txBody>
      </p:sp>
      <p:sp>
        <p:nvSpPr>
          <p:cNvPr id="19" name="Shape 16"/>
          <p:cNvSpPr/>
          <p:nvPr/>
        </p:nvSpPr>
        <p:spPr>
          <a:xfrm>
            <a:off x="8778240" y="1554480"/>
            <a:ext cx="2834640" cy="448056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20" name="Text 17"/>
          <p:cNvSpPr txBox="1"/>
          <p:nvPr/>
        </p:nvSpPr>
        <p:spPr>
          <a:xfrm>
            <a:off x="9006840" y="1737360"/>
            <a:ext cx="2377440" cy="4114800"/>
          </a:xfrm>
          <a:prstGeom prst="rect">
            <a:avLst/>
          </a:prstGeom>
          <a:noFill/>
          <a:ln/>
        </p:spPr>
        <p:txBody>
          <a:bodyPr wrap="square" lIns="0" tIns="0" rIns="0" bIns="0" rtlCol="0" anchor="ctr"/>
          <a:lstStyle/>
          <a:p>
            <a:pPr marL="0" indent="0">
              <a:buNone/>
            </a:pPr>
            <a:r>
              <a:rPr lang="en-US" sz="2600" b="1" dirty="0">
                <a:solidFill>
                  <a:schemeClr val="bg1"/>
                </a:solidFill>
              </a:rPr>
              <a:t>Luật Bảo vệ dữ liệu cá nhân có hiệu lực từ ngày 01/01/2026.</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Mỗi quyền “canh” một chặng của dữ liệu</a:t>
            </a:r>
            <a:endParaRPr lang="en-US" sz="3800" dirty="0"/>
          </a:p>
        </p:txBody>
      </p:sp>
      <p:pic>
        <p:nvPicPr>
          <p:cNvPr id="4" name="Image 0" descr="Mỗi quyền “canh” một chặng của dữ liệu"/>
          <p:cNvPicPr>
            <a:picLocks noChangeAspect="1"/>
          </p:cNvPicPr>
          <p:nvPr/>
        </p:nvPicPr>
        <p:blipFill>
          <a:blip r:embed="rId3"/>
          <a:stretch>
            <a:fillRect/>
          </a:stretch>
        </p:blipFill>
        <p:spPr>
          <a:xfrm>
            <a:off x="1563053" y="1463040"/>
            <a:ext cx="9035415"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Đồng ý thế nào mới là đồng ý?</a:t>
            </a:r>
            <a:endParaRPr lang="en-US" sz="3800" dirty="0"/>
          </a:p>
        </p:txBody>
      </p:sp>
      <p:sp>
        <p:nvSpPr>
          <p:cNvPr id="4" name="Shape 1"/>
          <p:cNvSpPr/>
          <p:nvPr/>
        </p:nvSpPr>
        <p:spPr>
          <a:xfrm>
            <a:off x="54864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5" name="Shape 2"/>
          <p:cNvSpPr/>
          <p:nvPr/>
        </p:nvSpPr>
        <p:spPr>
          <a:xfrm>
            <a:off x="82296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82296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7" name="Text 4"/>
          <p:cNvSpPr txBox="1"/>
          <p:nvPr/>
        </p:nvSpPr>
        <p:spPr>
          <a:xfrm>
            <a:off x="82296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Là lựa chọn thật</a:t>
            </a:r>
            <a:endParaRPr lang="en-US" sz="2600" dirty="0"/>
          </a:p>
          <a:p>
            <a:pPr marL="0" indent="0">
              <a:spcAft>
                <a:spcPts val="800"/>
              </a:spcAft>
              <a:buNone/>
            </a:pPr>
            <a:r>
              <a:rPr lang="en-US" sz="2600" dirty="0">
                <a:solidFill>
                  <a:schemeClr val="tx1"/>
                </a:solidFill>
              </a:rPr>
              <a:t>Ô đánh dấu sẵn không phải là hỏi ý kiến.</a:t>
            </a:r>
            <a:endParaRPr lang="en-US" sz="2600" dirty="0"/>
          </a:p>
        </p:txBody>
      </p:sp>
      <p:sp>
        <p:nvSpPr>
          <p:cNvPr id="8" name="Shape 5"/>
          <p:cNvSpPr/>
          <p:nvPr/>
        </p:nvSpPr>
        <p:spPr>
          <a:xfrm>
            <a:off x="432816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9" name="Shape 6"/>
          <p:cNvSpPr/>
          <p:nvPr/>
        </p:nvSpPr>
        <p:spPr>
          <a:xfrm>
            <a:off x="460248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460248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11" name="Text 8"/>
          <p:cNvSpPr txBox="1"/>
          <p:nvPr/>
        </p:nvSpPr>
        <p:spPr>
          <a:xfrm>
            <a:off x="460248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Cho việc này, không phải mọi việc</a:t>
            </a:r>
            <a:endParaRPr lang="en-US" sz="2600" dirty="0"/>
          </a:p>
          <a:p>
            <a:pPr marL="0" indent="0">
              <a:spcAft>
                <a:spcPts val="800"/>
              </a:spcAft>
              <a:buNone/>
            </a:pPr>
            <a:r>
              <a:rPr lang="en-US" sz="2600" dirty="0">
                <a:solidFill>
                  <a:schemeClr val="tx1"/>
                </a:solidFill>
              </a:rPr>
              <a:t>Cho dùng micro để chấm phát âm, không phải để quảng cáo.</a:t>
            </a:r>
            <a:endParaRPr lang="en-US" sz="2600" dirty="0"/>
          </a:p>
        </p:txBody>
      </p:sp>
      <p:sp>
        <p:nvSpPr>
          <p:cNvPr id="12" name="Shape 9"/>
          <p:cNvSpPr/>
          <p:nvPr/>
        </p:nvSpPr>
        <p:spPr>
          <a:xfrm>
            <a:off x="8107680" y="1554480"/>
            <a:ext cx="3505200" cy="4389120"/>
          </a:xfrm>
          <a:prstGeom prst="roundRect">
            <a:avLst>
              <a:gd name="adj" fmla="val 3130"/>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8382000" y="178308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8382000" y="178308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5" name="Text 12"/>
          <p:cNvSpPr txBox="1"/>
          <p:nvPr/>
        </p:nvSpPr>
        <p:spPr>
          <a:xfrm>
            <a:off x="8382000" y="2651760"/>
            <a:ext cx="295656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Rút lại được</a:t>
            </a:r>
            <a:endParaRPr lang="en-US" sz="2600" dirty="0"/>
          </a:p>
          <a:p>
            <a:pPr marL="0" indent="0">
              <a:spcAft>
                <a:spcPts val="800"/>
              </a:spcAft>
              <a:buNone/>
            </a:pPr>
            <a:r>
              <a:rPr lang="en-US" sz="2600" dirty="0">
                <a:solidFill>
                  <a:schemeClr val="tx1"/>
                </a:solidFill>
              </a:rPr>
              <a:t>Đổi ý là quyền của em, không phải làm phiền.</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Đọc điều khoản: tìm ba thông tin trong ba phút</a:t>
            </a:r>
            <a:endParaRPr lang="en-US" sz="3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4572000">
                  <a:extLst>
                    <a:ext uri="{9D8B030D-6E8A-4147-A177-3AD203B41FA5}">
                      <a16:colId xmlns:a16="http://schemas.microsoft.com/office/drawing/2014/main" val="20000"/>
                    </a:ext>
                  </a:extLst>
                </a:gridCol>
                <a:gridCol w="6492240">
                  <a:extLst>
                    <a:ext uri="{9D8B030D-6E8A-4147-A177-3AD203B41FA5}">
                      <a16:colId xmlns:a16="http://schemas.microsoft.com/office/drawing/2014/main" val="20001"/>
                    </a:ext>
                  </a:extLst>
                </a:gridCol>
              </a:tblGrid>
              <a:tr h="868680">
                <a:tc>
                  <a:txBody>
                    <a:bodyPr/>
                    <a:lstStyle/>
                    <a:p>
                      <a:pPr marL="0" indent="0" algn="ctr">
                        <a:buNone/>
                      </a:pPr>
                      <a:r>
                        <a:rPr lang="en-US" sz="2600" b="1" dirty="0">
                          <a:solidFill>
                            <a:schemeClr val="bg1"/>
                          </a:solidFill>
                        </a:rPr>
                        <a:t>Cần tìm</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tc>
                  <a:txBody>
                    <a:bodyPr/>
                    <a:lstStyle/>
                    <a:p>
                      <a:pPr marL="0" indent="0" algn="ctr">
                        <a:buNone/>
                      </a:pPr>
                      <a:r>
                        <a:rPr lang="en-US" sz="2600" b="1" dirty="0">
                          <a:solidFill>
                            <a:schemeClr val="bg1"/>
                          </a:solidFill>
                        </a:rPr>
                        <a:t>Từ khóa nên dò</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868680">
                <a:tc>
                  <a:txBody>
                    <a:bodyPr/>
                    <a:lstStyle/>
                    <a:p>
                      <a:pPr marL="0" indent="0" algn="l">
                        <a:buNone/>
                      </a:pPr>
                      <a:r>
                        <a:rPr lang="en-US" sz="2600" b="1" dirty="0">
                          <a:solidFill>
                            <a:schemeClr val="tx1"/>
                          </a:solidFill>
                        </a:rPr>
                        <a:t>Thu gì?</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600" dirty="0">
                          <a:solidFill>
                            <a:schemeClr val="tx1"/>
                          </a:solidFill>
                        </a:rPr>
                        <a:t>“thu thập”, “thông tin chúng tôi nhận”</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68680">
                <a:tc>
                  <a:txBody>
                    <a:bodyPr/>
                    <a:lstStyle/>
                    <a:p>
                      <a:pPr marL="0" indent="0" algn="l">
                        <a:buNone/>
                      </a:pPr>
                      <a:r>
                        <a:rPr lang="en-US" sz="2600" b="1" dirty="0">
                          <a:solidFill>
                            <a:schemeClr val="tx1"/>
                          </a:solidFill>
                        </a:rPr>
                        <a:t>Dùng làm gì, chia sẻ cho ai?</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tc>
                  <a:txBody>
                    <a:bodyPr/>
                    <a:lstStyle/>
                    <a:p>
                      <a:pPr marL="0" indent="0" algn="l">
                        <a:buNone/>
                      </a:pPr>
                      <a:r>
                        <a:rPr lang="en-US" sz="2600" dirty="0">
                          <a:solidFill>
                            <a:schemeClr val="tx1"/>
                          </a:solidFill>
                        </a:rPr>
                        <a:t>“huấn luyện”, “bên thứ ba”, “đối tác”</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868680">
                <a:tc>
                  <a:txBody>
                    <a:bodyPr/>
                    <a:lstStyle/>
                    <a:p>
                      <a:pPr marL="0" indent="0" algn="l">
                        <a:buNone/>
                      </a:pPr>
                      <a:r>
                        <a:rPr lang="en-US" sz="2600" b="1" dirty="0">
                          <a:solidFill>
                            <a:schemeClr val="tx1"/>
                          </a:solidFill>
                        </a:rPr>
                        <a:t>Em kiểm soát thế nào?</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tc>
                  <a:txBody>
                    <a:bodyPr/>
                    <a:lstStyle/>
                    <a:p>
                      <a:pPr marL="0" indent="0" algn="l">
                        <a:buNone/>
                      </a:pPr>
                      <a:r>
                        <a:rPr lang="en-US" sz="2600" dirty="0">
                          <a:solidFill>
                            <a:schemeClr val="tx1"/>
                          </a:solidFill>
                        </a:rPr>
                        <a:t>“quyền của bạn”, “xóa”, “tắt”</a:t>
                      </a:r>
                      <a:endParaRPr lang="en-US" sz="2600" dirty="0"/>
                    </a:p>
                  </a:txBody>
                  <a:tcPr marL="137160" marR="137160" marT="36576" marB="36576" anchor="ctr">
                    <a:lnL w="12700" cap="flat" cmpd="sng" algn="ctr">
                      <a:solidFill>
                        <a:srgbClr val="8FB8B3"/>
                      </a:solidFill>
                      <a:prstDash val="solid"/>
                      <a:round/>
                      <a:headEnd type="none" w="med" len="med"/>
                      <a:tailEnd type="none" w="med" len="med"/>
                    </a:lnL>
                    <a:lnR w="12700" cap="flat" cmpd="sng" algn="ctr">
                      <a:solidFill>
                        <a:srgbClr val="8FB8B3"/>
                      </a:solidFill>
                      <a:prstDash val="solid"/>
                      <a:round/>
                      <a:headEnd type="none" w="med" len="med"/>
                      <a:tailEnd type="none" w="med" len="med"/>
                    </a:lnR>
                    <a:lnT w="12700" cap="flat" cmpd="sng" algn="ctr">
                      <a:solidFill>
                        <a:srgbClr val="8FB8B3"/>
                      </a:solidFill>
                      <a:prstDash val="solid"/>
                      <a:round/>
                      <a:headEnd type="none" w="med" len="med"/>
                      <a:tailEnd type="none" w="med" len="med"/>
                    </a:lnT>
                    <a:lnB w="12700" cap="flat" cmpd="sng" algn="ctr">
                      <a:solidFill>
                        <a:srgbClr val="8FB8B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Soi điều khoản của “HọcVui AI”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22 phút · Ứng dụng giả định, viết ra để luyện tập</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Trích điều khoản của “HọcVui AI”</a:t>
            </a:r>
            <a:endParaRPr lang="en-US" sz="3800" dirty="0"/>
          </a:p>
        </p:txBody>
      </p:sp>
      <p:sp>
        <p:nvSpPr>
          <p:cNvPr id="4" name="Shape 1"/>
          <p:cNvSpPr/>
          <p:nvPr/>
        </p:nvSpPr>
        <p:spPr>
          <a:xfrm>
            <a:off x="548640" y="1554480"/>
            <a:ext cx="1106424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627632"/>
            <a:ext cx="10607040" cy="779526"/>
          </a:xfrm>
          <a:prstGeom prst="rect">
            <a:avLst/>
          </a:prstGeom>
          <a:noFill/>
          <a:ln/>
        </p:spPr>
        <p:txBody>
          <a:bodyPr wrap="square" lIns="0" tIns="0" rIns="0" bIns="0" rtlCol="0" anchor="ctr"/>
          <a:lstStyle/>
          <a:p>
            <a:pPr marL="0" indent="0">
              <a:buNone/>
            </a:pPr>
            <a:r>
              <a:rPr lang="en-US" sz="2400" b="1" dirty="0">
                <a:solidFill>
                  <a:schemeClr val="tx1"/>
                </a:solidFill>
              </a:rPr>
              <a:t>Điều 2. Thu thập: họ tên, trường, lớp; nội dung nhập; bản ghi âm; danh bạ; vị trí</a:t>
            </a:r>
            <a:endParaRPr lang="en-US" sz="2400" dirty="0"/>
          </a:p>
        </p:txBody>
      </p:sp>
      <p:sp>
        <p:nvSpPr>
          <p:cNvPr id="6" name="Shape 3"/>
          <p:cNvSpPr/>
          <p:nvPr/>
        </p:nvSpPr>
        <p:spPr>
          <a:xfrm>
            <a:off x="548640" y="2708910"/>
            <a:ext cx="1106424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7" name="Text 4"/>
          <p:cNvSpPr txBox="1"/>
          <p:nvPr/>
        </p:nvSpPr>
        <p:spPr>
          <a:xfrm>
            <a:off x="822960" y="2782062"/>
            <a:ext cx="10607040" cy="779526"/>
          </a:xfrm>
          <a:prstGeom prst="rect">
            <a:avLst/>
          </a:prstGeom>
          <a:noFill/>
          <a:ln/>
        </p:spPr>
        <p:txBody>
          <a:bodyPr wrap="square" lIns="0" tIns="0" rIns="0" bIns="0" rtlCol="0" anchor="ctr"/>
          <a:lstStyle/>
          <a:p>
            <a:pPr marL="0" indent="0">
              <a:buNone/>
            </a:pPr>
            <a:r>
              <a:rPr lang="en-US" sz="2400" b="1" dirty="0">
                <a:solidFill>
                  <a:schemeClr val="tx1"/>
                </a:solidFill>
              </a:rPr>
              <a:t>Điều 3. Dùng để cải thiện sản phẩm, huấn luyện mô hình, gửi thông tin từ đối tác quảng cáo</a:t>
            </a:r>
            <a:endParaRPr lang="en-US" sz="2400" dirty="0"/>
          </a:p>
        </p:txBody>
      </p:sp>
      <p:sp>
        <p:nvSpPr>
          <p:cNvPr id="8" name="Shape 5"/>
          <p:cNvSpPr/>
          <p:nvPr/>
        </p:nvSpPr>
        <p:spPr>
          <a:xfrm>
            <a:off x="548640" y="3863340"/>
            <a:ext cx="1106424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9" name="Text 6"/>
          <p:cNvSpPr txBox="1"/>
          <p:nvPr/>
        </p:nvSpPr>
        <p:spPr>
          <a:xfrm>
            <a:off x="822960" y="3936492"/>
            <a:ext cx="10607040" cy="779526"/>
          </a:xfrm>
          <a:prstGeom prst="rect">
            <a:avLst/>
          </a:prstGeom>
          <a:noFill/>
          <a:ln/>
        </p:spPr>
        <p:txBody>
          <a:bodyPr wrap="square" lIns="0" tIns="0" rIns="0" bIns="0" rtlCol="0" anchor="ctr"/>
          <a:lstStyle/>
          <a:p>
            <a:pPr marL="0" indent="0">
              <a:buNone/>
            </a:pPr>
            <a:r>
              <a:rPr lang="en-US" sz="2400" b="1" dirty="0">
                <a:solidFill>
                  <a:schemeClr val="tx1"/>
                </a:solidFill>
              </a:rPr>
              <a:t>Điều 5. Lưu trong thời gian cần thiết theo quyết định của chúng tôi</a:t>
            </a:r>
            <a:endParaRPr lang="en-US" sz="2400" dirty="0"/>
          </a:p>
        </p:txBody>
      </p:sp>
      <p:sp>
        <p:nvSpPr>
          <p:cNvPr id="10" name="Shape 7"/>
          <p:cNvSpPr/>
          <p:nvPr/>
        </p:nvSpPr>
        <p:spPr>
          <a:xfrm>
            <a:off x="548640" y="5017770"/>
            <a:ext cx="11064240" cy="925830"/>
          </a:xfrm>
          <a:prstGeom prst="roundRect">
            <a:avLst>
              <a:gd name="adj" fmla="val 11852"/>
            </a:avLst>
          </a:prstGeom>
          <a:solidFill>
            <a:schemeClr val="bg2"/>
          </a:solidFill>
          <a:ln w="12700">
            <a:solidFill>
              <a:schemeClr val="bg2"/>
            </a:solidFill>
            <a:prstDash val="solid"/>
          </a:ln>
        </p:spPr>
        <p:txBody>
          <a:bodyPr/>
          <a:lstStyle/>
          <a:p>
            <a:endParaRPr lang="en-US"/>
          </a:p>
        </p:txBody>
      </p:sp>
      <p:sp>
        <p:nvSpPr>
          <p:cNvPr id="11" name="Text 8"/>
          <p:cNvSpPr txBox="1"/>
          <p:nvPr/>
        </p:nvSpPr>
        <p:spPr>
          <a:xfrm>
            <a:off x="822960" y="5090922"/>
            <a:ext cx="10607040" cy="779526"/>
          </a:xfrm>
          <a:prstGeom prst="rect">
            <a:avLst/>
          </a:prstGeom>
          <a:noFill/>
          <a:ln/>
        </p:spPr>
        <p:txBody>
          <a:bodyPr wrap="square" lIns="0" tIns="0" rIns="0" bIns="0" rtlCol="0" anchor="ctr"/>
          <a:lstStyle/>
          <a:p>
            <a:pPr marL="0" indent="0">
              <a:buNone/>
            </a:pPr>
            <a:r>
              <a:rPr lang="en-US" sz="2400" b="1" dirty="0">
                <a:solidFill>
                  <a:schemeClr val="tx1"/>
                </a:solidFill>
              </a:rPr>
              <a:t>Điều 7. Tiếp tục sử dụng là đã đồng ý với mọi thay đổi</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1: soi điều khoản</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12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Tìm ba thông tin và nêu nhận xét</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Thu gì? Có thứ nào không liên quan đến việc học?</a:t>
            </a:r>
            <a:endParaRPr lang="en-US" sz="2800" dirty="0"/>
          </a:p>
          <a:p>
            <a:pPr marL="342900" indent="-342900">
              <a:spcAft>
                <a:spcPts val="1200"/>
              </a:spcAft>
              <a:buSzPct val="100000"/>
              <a:buFont typeface="+mj-lt"/>
              <a:buAutoNum type="arabicPeriod"/>
            </a:pPr>
            <a:r>
              <a:rPr lang="en-US" sz="2800" dirty="0">
                <a:solidFill>
                  <a:schemeClr val="tx1"/>
                </a:solidFill>
              </a:rPr>
              <a:t>Dùng làm gì, chia sẻ cho ai? Có được từ chối không?</a:t>
            </a:r>
            <a:endParaRPr lang="en-US" sz="2800" dirty="0"/>
          </a:p>
          <a:p>
            <a:pPr marL="342900" indent="-342900">
              <a:spcAft>
                <a:spcPts val="1200"/>
              </a:spcAft>
              <a:buSzPct val="100000"/>
              <a:buFont typeface="+mj-lt"/>
              <a:buAutoNum type="arabicPeriod"/>
            </a:pPr>
            <a:r>
              <a:rPr lang="en-US" sz="2800" dirty="0">
                <a:solidFill>
                  <a:schemeClr val="tx1"/>
                </a:solidFill>
              </a:rPr>
              <a:t>Em kiểm soát thế nào? Lưu bao lâu, xóa bằng cách nào?</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Kết luận của nhóm</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Dùng, dùng có điều kiện, hay không dùng? Vì sao?</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2: viết yêu cầu xóa dữ liệu</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10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Viết một yêu cầu gửi nhà cung cấp</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Em là ai (đủ để họ tìm ra tài khoản)</a:t>
            </a:r>
            <a:endParaRPr lang="en-US" sz="2800" dirty="0"/>
          </a:p>
          <a:p>
            <a:pPr marL="342900" indent="-342900">
              <a:spcAft>
                <a:spcPts val="1200"/>
              </a:spcAft>
              <a:buSzPct val="100000"/>
              <a:buFont typeface="+mj-lt"/>
              <a:buAutoNum type="arabicPeriod"/>
            </a:pPr>
            <a:r>
              <a:rPr lang="en-US" sz="2800" dirty="0">
                <a:solidFill>
                  <a:schemeClr val="tx1"/>
                </a:solidFill>
              </a:rPr>
              <a:t>Em yêu cầu gì</a:t>
            </a:r>
            <a:endParaRPr lang="en-US" sz="2800" dirty="0"/>
          </a:p>
          <a:p>
            <a:pPr marL="342900" indent="-342900">
              <a:spcAft>
                <a:spcPts val="1200"/>
              </a:spcAft>
              <a:buSzPct val="100000"/>
              <a:buFont typeface="+mj-lt"/>
              <a:buAutoNum type="arabicPeriod"/>
            </a:pPr>
            <a:r>
              <a:rPr lang="en-US" sz="2800" dirty="0">
                <a:solidFill>
                  <a:schemeClr val="tx1"/>
                </a:solidFill>
              </a:rPr>
              <a:t>Căn cứ: quyền của chủ thể dữ liệu</a:t>
            </a:r>
            <a:endParaRPr lang="en-US" sz="2800" dirty="0"/>
          </a:p>
          <a:p>
            <a:pPr marL="342900" indent="-342900">
              <a:spcAft>
                <a:spcPts val="1200"/>
              </a:spcAft>
              <a:buSzPct val="100000"/>
              <a:buFont typeface="+mj-lt"/>
              <a:buAutoNum type="arabicPeriod"/>
            </a:pPr>
            <a:r>
              <a:rPr lang="en-US" sz="2800" dirty="0">
                <a:solidFill>
                  <a:schemeClr val="tx1"/>
                </a:solidFill>
              </a:rPr>
              <a:t>Em mong được phản hồi thế nào</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Ba mức thực hiện quyền</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Tự chỉnh cài đặt. Gửi yêu cầu. Nhờ người lớn hỗ trợ.</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Quyền của em dừng ở quyền của người khác</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Dữ liệu của mình</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tx1"/>
                </a:solidFill>
              </a:rPr>
              <a:t>Em có năm quyền</a:t>
            </a:r>
            <a:endParaRPr lang="en-US" sz="2800" dirty="0"/>
          </a:p>
          <a:p>
            <a:pPr marL="342900" indent="-342900">
              <a:spcAft>
                <a:spcPts val="1000"/>
              </a:spcAft>
              <a:buSzPct val="100000"/>
              <a:buChar char="•"/>
            </a:pPr>
            <a:r>
              <a:rPr lang="en-US" sz="2800" dirty="0">
                <a:solidFill>
                  <a:schemeClr val="tx1"/>
                </a:solidFill>
              </a:rPr>
              <a:t>Em tự cân nhắc</a:t>
            </a:r>
            <a:endParaRPr lang="en-US" sz="28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Dữ liệu của người khác</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800" dirty="0">
                <a:solidFill>
                  <a:schemeClr val="bg1"/>
                </a:solidFill>
              </a:rPr>
              <a:t>Em không thể đồng ý thay</a:t>
            </a:r>
            <a:endParaRPr lang="en-US" sz="2800" dirty="0"/>
          </a:p>
          <a:p>
            <a:pPr marL="342900" indent="-342900">
              <a:spcAft>
                <a:spcPts val="1000"/>
              </a:spcAft>
              <a:buSzPct val="100000"/>
              <a:buChar char="•"/>
            </a:pPr>
            <a:r>
              <a:rPr lang="en-US" sz="2800" dirty="0">
                <a:solidFill>
                  <a:schemeClr val="bg1"/>
                </a:solidFill>
              </a:rPr>
              <a:t>Bạn có quyền yêu cầu em xóa</a:t>
            </a:r>
            <a:endParaRPr lang="en-US" sz="28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Của mình thì cân nhắc, của người thì phải hỏi</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Trước khi bấm “Tôi đồng ý”</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Một ứng dụng chỉnh ảnh miễn phí xin quyền truy cập máy ảnh, thư viện ảnh, danh bạ và vị trí.</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Quyền nào không cần cho việc chỉnh ảnh? Em làm gì trước khi bấm đồng ý?</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Dữ liệu cá nhân gồm thứ em </a:t>
            </a:r>
            <a:r>
              <a:rPr lang="en-US" sz="3200" b="1" dirty="0">
                <a:solidFill>
                  <a:schemeClr val="tx2"/>
                </a:solidFill>
              </a:rPr>
              <a:t>đưa</a:t>
            </a:r>
            <a:r>
              <a:rPr lang="en-US" sz="3200" dirty="0">
                <a:solidFill>
                  <a:schemeClr val="tx1"/>
                </a:solidFill>
              </a:rPr>
              <a:t>, thứ bị </a:t>
            </a:r>
            <a:r>
              <a:rPr lang="en-US" sz="3200" b="1" dirty="0">
                <a:solidFill>
                  <a:schemeClr val="tx2"/>
                </a:solidFill>
              </a:rPr>
              <a:t>ghi nhận</a:t>
            </a:r>
            <a:r>
              <a:rPr lang="en-US" sz="3200" dirty="0">
                <a:solidFill>
                  <a:schemeClr val="tx1"/>
                </a:solidFill>
              </a:rPr>
              <a:t>, thứ được </a:t>
            </a:r>
            <a:r>
              <a:rPr lang="en-US" sz="3200" b="1" dirty="0">
                <a:solidFill>
                  <a:schemeClr val="tx2"/>
                </a:solidFill>
              </a:rPr>
              <a:t>suy ra</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Năm quyền: </a:t>
            </a:r>
            <a:r>
              <a:rPr lang="en-US" sz="3200" b="1" dirty="0">
                <a:solidFill>
                  <a:schemeClr val="tx2"/>
                </a:solidFill>
              </a:rPr>
              <a:t>biết; đồng ý; rút lại; xem, sửa; xóa</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Điều khoản: </a:t>
            </a:r>
            <a:r>
              <a:rPr lang="en-US" sz="3200" b="1" dirty="0">
                <a:solidFill>
                  <a:schemeClr val="tx2"/>
                </a:solidFill>
              </a:rPr>
              <a:t>thu gì; dùng làm gì; em kiểm soát thế nào</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Dữ liệu của người khác: </a:t>
            </a:r>
            <a:r>
              <a:rPr lang="en-US" sz="3200" b="1" dirty="0">
                <a:solidFill>
                  <a:schemeClr val="tx2"/>
                </a:solidFill>
              </a:rPr>
              <a:t>phải hỏi</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Ghi tên quyền tương ứng với mỗi tình huống trên phiếu.</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600" dirty="0">
                <a:solidFill>
                  <a:schemeClr val="tx1"/>
                </a:solidFill>
              </a:rPr>
              <a:t>Trước khi bấm “Tôi đồng ý” với một ứng dụng AI mới, em sẽ tìm câu trả lời cho ba câu hỏi nào?</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40" name="Picture 39">
            <a:extLst>
              <a:ext uri="{FF2B5EF4-FFF2-40B4-BE49-F238E27FC236}">
                <a16:creationId xmlns:a16="http://schemas.microsoft.com/office/drawing/2014/main" id="{89A7351B-B717-C7D6-1B54-81AA1B57E5E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304701153"/>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1488</Words>
  <Application>Microsoft Office PowerPoint</Application>
  <PresentationFormat>Widescreen</PresentationFormat>
  <Paragraphs>169</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Dữ liệu của em, quyền của em</vt:lpstr>
      <vt:lpstr>Hôm nay chúng ta làm gì?</vt:lpstr>
      <vt:lpstr>Hai chữ “Tôi đồng ý”</vt:lpstr>
      <vt:lpstr>Dữ liệu cá nhân đi vào AI theo ba đường</vt:lpstr>
      <vt:lpstr>Năm quyền cơ bản của em</vt:lpstr>
      <vt:lpstr>Mỗi quyền “canh” một chặng của dữ liệu</vt:lpstr>
      <vt:lpstr>Đồng ý thế nào mới là đồng ý?</vt:lpstr>
      <vt:lpstr>Đọc điều khoản: tìm ba thông tin trong ba phút</vt:lpstr>
      <vt:lpstr>Soi điều khoản của “HọcVui AI”</vt:lpstr>
      <vt:lpstr>Trích điều khoản của “HọcVui AI”</vt:lpstr>
      <vt:lpstr>Nhiệm vụ 1: soi điều khoản</vt:lpstr>
      <vt:lpstr>Nhiệm vụ 2: viết yêu cầu xóa dữ liệu</vt:lpstr>
      <vt:lpstr>Quyền của em dừng ở quyền của người khác</vt:lpstr>
      <vt:lpstr>Trước khi bấm “Tôi đồng ý”</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11.5. Dữ liệu của em, quyền của em</dc:title>
  <dc:subject>Trí tuệ nhân tạo</dc:subject>
  <cp:lastModifiedBy>Phạm Văn Tú</cp:lastModifiedBy>
  <cp:revision>1</cp:revision>
  <dcterms:created xsi:type="dcterms:W3CDTF">2026-10-08T11:06:01Z</dcterms:created>
  <dcterms:modified xsi:type="dcterms:W3CDTF">2026-10-10T03:35:37Z</dcterms:modified>
  <dc:description>Email: phamtund@gmail.com</dc:description>
  <dc:creator>Phạm Văn Tú</dc:creator>
  <cp:category>Trí tuệ nhân tạo</cp:category>
  <cp:keywords>Trí tuệ nhân tạo</cp:keywords>
</cp:coreProperties>
</file>