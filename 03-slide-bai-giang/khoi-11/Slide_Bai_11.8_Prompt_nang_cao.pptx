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17E0D059-06E9-E848-D146-BF1B2C3945AE}">
          <p14:sldIdLst>
            <p14:sldId id="256"/>
            <p14:sldId id="257"/>
            <p14:sldId id="258"/>
            <p14:sldId id="259"/>
          </p14:sldIdLst>
        </p14:section>
        <p14:section name="Hai kĩ thuật nâng cao" id="{C9EDF1D4-4D8A-2E24-BFAC-63F9D23A3C52}">
          <p14:sldIdLst>
            <p14:sldId id="260"/>
            <p14:sldId id="261"/>
            <p14:sldId id="262"/>
            <p14:sldId id="263"/>
            <p14:sldId id="264"/>
            <p14:sldId id="265"/>
          </p14:sldIdLst>
        </p14:section>
        <p14:section name="Chọn kĩ thuật, viết lại câu lệnh" id="{D7F36967-98B9-2601-19AC-0DBB9D794EAD}">
          <p14:sldIdLst>
            <p14:sldId id="266"/>
            <p14:sldId id="267"/>
            <p14:sldId id="268"/>
            <p14:sldId id="269"/>
          </p14:sldIdLst>
        </p14:section>
        <p14:section name="Tổng kết" id="{498E26FD-C2D1-3913-F5D0-D3501DAD0372}">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6E16A1-B4D7-4344-BC8D-A5909C17DFF7}" v="1" dt="2026-10-10T03:37:12.9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7:12.983" v="3"/>
      <pc:docMkLst>
        <pc:docMk/>
      </pc:docMkLst>
      <pc:sldChg chg="modSp mod">
        <pc:chgData name="Phạm Văn Tú" userId="67199c852bdd6d1b" providerId="LiveId" clId="{CB377567-0116-4044-BB7C-6E46B7A5C596}" dt="2026-10-10T03:36:59.938" v="2" actId="20577"/>
        <pc:sldMkLst>
          <pc:docMk/>
          <pc:sldMk cId="0" sldId="256"/>
        </pc:sldMkLst>
        <pc:spChg chg="mod">
          <ac:chgData name="Phạm Văn Tú" userId="67199c852bdd6d1b" providerId="LiveId" clId="{CB377567-0116-4044-BB7C-6E46B7A5C596}" dt="2026-10-10T03:36:59.938" v="2" actId="20577"/>
          <ac:spMkLst>
            <pc:docMk/>
            <pc:sldMk cId="0" sldId="256"/>
            <ac:spMk id="3" creationId="{00000000-0000-0000-0000-000000000000}"/>
          </ac:spMkLst>
        </pc:spChg>
      </pc:sldChg>
      <pc:sldChg chg="add">
        <pc:chgData name="Phạm Văn Tú" userId="67199c852bdd6d1b" providerId="LiveId" clId="{CB377567-0116-4044-BB7C-6E46B7A5C596}" dt="2026-10-10T03:37:12.983" v="3"/>
        <pc:sldMkLst>
          <pc:docMk/>
          <pc:sldMk cId="3109264997"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289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thẻ sáu yêu cầu của câu lệnh (nhắc lại lớp 10), Phiếu 'Chọn kĩ thuật' với 8 yêu cầu, Phiếu ra cửa. Nếu có thiết bị: công cụ AI nhà trường cho phép để chạy thử.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(6 phút). Kết quả bạn Vy nhận được (tình huống giả định): hơn một trang chữ; phần so sánh ba đoạn văn khó đối chiếu; AI tự chọn mà không rõ vì sao; kế hoạch giả định học hai giờ mỗi ngày trong khi Vy chỉ có 30 phút; bốn bài kiểm tra dựa trên kế hoạch không dùng được. Hai vấn đề: không nói kết quả trình bày thế nào; dồn bốn việc phụ thuộc nhau vào một lần hỏi.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thức lớp 10 (Bài 10.8). Phát thẻ sáu yêu cầu. Hôm nay đi sâu yêu cầu 5 và thêm một kĩ thuật cho nhiệm vụ mà một câu lệnh không đủ.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bắt đầu.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Khái niệm: nêu rõ trong câu lệnh kết quả phải trình bày theo khuôn nào. Các khuôn hay dùng: bảng có tên cột (so sánh); danh sách đánh số (trình tự); đúng 5 gạch đầu dòng (ý chính); cặp câu hỏi và trả lời (ôn tập).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lợi ích: so sánh được; kiểm tra nhanh (ô trống, ô lạ hiện ra ngay); dùng lại được; thống nhất giữa các lần hỏi. Lưu ý trung thực: khuôn đẹp không làm nội dung đúng hơn; bảng gọn vẫn có thể sai.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Khái niệm: tách yêu cầu lớn thành chuỗi bước; bước sau dùng kết quả bước trước; giữa các bước con người xem xét, kiểm chứng, quyết định. Hỏi: sau bước 2 ai là người chọn phương pháp? (Vy, và Vy có thể chọn khác AI.)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trên: lỗi ở giữa bị kéo đến cuối, không có lúc nào để can thiệp. Phía dưới: sau mỗi bước có một điểm kiểm tra (KT) do con người thực hiện. Ba lợi ích: lỗi không lan; mỗi bước rõ hơn; con người ở vị trí quyết định (liên hệ điểm dừng ở Bài 11.2). Dễ nhầm: hỏi mười câu không liên quan không phải chia nhỏ.</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bảng hai kĩ thuật. Hai kĩ thuật không loại trừ nhau. Và không phải yêu cầu nào cũng cần kĩ thuật nâng cao (ví dụ: 'giải thích định luật Ôm').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 Phát Phiếu 'Chọn kĩ thuật'.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Nhiệm vụ cốt lõi, gắn với yêu cầu cần đạt 11.C3.1. Đáp án theo phụ lục kế hoạch bài dạy. Nhắc: căn cứ là dấu hiệu của yêu cầu.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Vận dụng kĩ thuật là nội dung mở rộng theo Khung. Mời một nhóm đọc câu lệnh viết lại. Lỗi hay gặp: chia thành bước rời rạc, bước sau 'quên' bước trước; nhắc mỗi bước nêu lại mục tiêu chung và kết quả đã chốt.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sau Nhiệm vụ 2, 2 phút.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Hai yêu cầu của câu 1 in trên Phiếu ra cửa. Dặn dò: phần Vận dụng (lập chuỗi bước cho một nhiệm vụ học tập lớn).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23923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11.8 · Prompt nâng cao: ràng buộc đầu ra và chia nhỏ nhiệm vụ</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Prompt nâng cao: ràng buộc đầu ra và chia nhỏ nhiệm vụ</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11.8 · Chuyên đề 11.3: AI trong học tập và kĩ thuật prompt nâng cao</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Mô tả</a:t>
            </a:r>
            <a:r>
              <a:rPr lang="en-US" sz="2800" dirty="0">
                <a:solidFill>
                  <a:schemeClr val="tx1"/>
                </a:solidFill>
              </a:rPr>
              <a:t> hai kĩ thuật đặt câu lệnh nâng cao</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Nhận ra</a:t>
            </a:r>
            <a:r>
              <a:rPr lang="en-US" sz="2800" dirty="0">
                <a:solidFill>
                  <a:schemeClr val="tx1"/>
                </a:solidFill>
              </a:rPr>
              <a:t> dấu hiệu để chọn đúng kĩ thuật</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vì sao chia nhỏ giúp em giữ quyền quyết định</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6'</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Câu lệnh ôm đồm</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Hai kĩ thuật</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21'</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Chọn kĩ thuật, viết lại</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câu lệnh “ôm đồm”</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“So sánh ba phương pháp học từ vựng là thẻ ghi nhớ, đọc truyện và học theo chủ đề, rồi chọn phương pháp tốt nhất cho em, sau đó lập kế hoạch học bốn tuần và soạn luôn bài kiểm tra cuối mỗi tuần.”</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Câu lệnh không sai chính tả, không thiếu lịch sự. Vậy nó có vấn đề gì?</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Nhắc lại: sáu yêu cầu của một câu lệnh tốt</a:t>
            </a:r>
            <a:endParaRPr lang="en-US" sz="3800" dirty="0"/>
          </a:p>
        </p:txBody>
      </p:sp>
      <p:sp>
        <p:nvSpPr>
          <p:cNvPr id="4" name="Shape 1"/>
          <p:cNvSpPr/>
          <p:nvPr/>
        </p:nvSpPr>
        <p:spPr>
          <a:xfrm>
            <a:off x="548640" y="1554480"/>
            <a:ext cx="353568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2438400" cy="1933956"/>
          </a:xfrm>
          <a:prstGeom prst="rect">
            <a:avLst/>
          </a:prstGeom>
          <a:noFill/>
          <a:ln/>
        </p:spPr>
        <p:txBody>
          <a:bodyPr wrap="square" lIns="0" tIns="0" rIns="0" bIns="0" rtlCol="0" anchor="ctr"/>
          <a:lstStyle/>
          <a:p>
            <a:pPr marL="0" indent="0">
              <a:buNone/>
            </a:pPr>
            <a:r>
              <a:rPr lang="en-US" sz="2600" b="1" dirty="0">
                <a:solidFill>
                  <a:schemeClr val="tx1"/>
                </a:solidFill>
              </a:rPr>
              <a:t>Mục tiêu</a:t>
            </a:r>
            <a:endParaRPr lang="en-US" sz="2600" dirty="0"/>
          </a:p>
        </p:txBody>
      </p:sp>
      <p:sp>
        <p:nvSpPr>
          <p:cNvPr id="8" name="Shape 5"/>
          <p:cNvSpPr/>
          <p:nvPr/>
        </p:nvSpPr>
        <p:spPr>
          <a:xfrm>
            <a:off x="4312920" y="1554480"/>
            <a:ext cx="353568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49580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49580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5273040" y="1627632"/>
            <a:ext cx="2438400" cy="1933956"/>
          </a:xfrm>
          <a:prstGeom prst="rect">
            <a:avLst/>
          </a:prstGeom>
          <a:noFill/>
          <a:ln/>
        </p:spPr>
        <p:txBody>
          <a:bodyPr wrap="square" lIns="0" tIns="0" rIns="0" bIns="0" rtlCol="0" anchor="ctr"/>
          <a:lstStyle/>
          <a:p>
            <a:pPr marL="0" indent="0">
              <a:buNone/>
            </a:pPr>
            <a:r>
              <a:rPr lang="en-US" sz="2600" b="1" dirty="0">
                <a:solidFill>
                  <a:schemeClr val="tx1"/>
                </a:solidFill>
              </a:rPr>
              <a:t>Bối cảnh</a:t>
            </a:r>
            <a:endParaRPr lang="en-US" sz="2600" dirty="0"/>
          </a:p>
        </p:txBody>
      </p:sp>
      <p:sp>
        <p:nvSpPr>
          <p:cNvPr id="12" name="Shape 9"/>
          <p:cNvSpPr/>
          <p:nvPr/>
        </p:nvSpPr>
        <p:spPr>
          <a:xfrm>
            <a:off x="8077200" y="1554480"/>
            <a:ext cx="353568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26008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26008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9037320" y="1627632"/>
            <a:ext cx="2438400" cy="1933956"/>
          </a:xfrm>
          <a:prstGeom prst="rect">
            <a:avLst/>
          </a:prstGeom>
          <a:noFill/>
          <a:ln/>
        </p:spPr>
        <p:txBody>
          <a:bodyPr wrap="square" lIns="0" tIns="0" rIns="0" bIns="0" rtlCol="0" anchor="ctr"/>
          <a:lstStyle/>
          <a:p>
            <a:pPr marL="0" indent="0">
              <a:buNone/>
            </a:pPr>
            <a:r>
              <a:rPr lang="en-US" sz="2600" b="1" dirty="0">
                <a:solidFill>
                  <a:schemeClr val="tx1"/>
                </a:solidFill>
              </a:rPr>
              <a:t>Vai trò</a:t>
            </a:r>
            <a:endParaRPr lang="en-US" sz="2600" dirty="0"/>
          </a:p>
        </p:txBody>
      </p:sp>
      <p:sp>
        <p:nvSpPr>
          <p:cNvPr id="16" name="Shape 13"/>
          <p:cNvSpPr/>
          <p:nvPr/>
        </p:nvSpPr>
        <p:spPr>
          <a:xfrm>
            <a:off x="548640" y="3863340"/>
            <a:ext cx="353568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73152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73152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1508760" y="3936492"/>
            <a:ext cx="2438400" cy="1933956"/>
          </a:xfrm>
          <a:prstGeom prst="rect">
            <a:avLst/>
          </a:prstGeom>
          <a:noFill/>
          <a:ln/>
        </p:spPr>
        <p:txBody>
          <a:bodyPr wrap="square" lIns="0" tIns="0" rIns="0" bIns="0" rtlCol="0" anchor="ctr"/>
          <a:lstStyle/>
          <a:p>
            <a:pPr marL="0" indent="0">
              <a:buNone/>
            </a:pPr>
            <a:r>
              <a:rPr lang="en-US" sz="2600" b="1" dirty="0">
                <a:solidFill>
                  <a:schemeClr val="tx1"/>
                </a:solidFill>
              </a:rPr>
              <a:t>Ràng buộc</a:t>
            </a:r>
            <a:endParaRPr lang="en-US" sz="2600" dirty="0"/>
          </a:p>
        </p:txBody>
      </p:sp>
      <p:sp>
        <p:nvSpPr>
          <p:cNvPr id="20" name="Shape 17"/>
          <p:cNvSpPr/>
          <p:nvPr/>
        </p:nvSpPr>
        <p:spPr>
          <a:xfrm>
            <a:off x="4312920" y="3863340"/>
            <a:ext cx="353568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449580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449580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5273040" y="3936492"/>
            <a:ext cx="2438400" cy="1933956"/>
          </a:xfrm>
          <a:prstGeom prst="rect">
            <a:avLst/>
          </a:prstGeom>
          <a:noFill/>
          <a:ln/>
        </p:spPr>
        <p:txBody>
          <a:bodyPr wrap="square" lIns="0" tIns="0" rIns="0" bIns="0" rtlCol="0" anchor="ctr"/>
          <a:lstStyle/>
          <a:p>
            <a:pPr marL="0" indent="0">
              <a:buNone/>
            </a:pPr>
            <a:r>
              <a:rPr lang="en-US" sz="2600" b="1" dirty="0">
                <a:solidFill>
                  <a:schemeClr val="tx1"/>
                </a:solidFill>
              </a:rPr>
              <a:t>Định dạng đầu ra</a:t>
            </a:r>
            <a:endParaRPr lang="en-US" sz="2600" dirty="0"/>
          </a:p>
        </p:txBody>
      </p:sp>
      <p:sp>
        <p:nvSpPr>
          <p:cNvPr id="24" name="Shape 21"/>
          <p:cNvSpPr/>
          <p:nvPr/>
        </p:nvSpPr>
        <p:spPr>
          <a:xfrm>
            <a:off x="8077200" y="3863340"/>
            <a:ext cx="353568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826008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826008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9037320" y="3936492"/>
            <a:ext cx="2438400" cy="1933956"/>
          </a:xfrm>
          <a:prstGeom prst="rect">
            <a:avLst/>
          </a:prstGeom>
          <a:noFill/>
          <a:ln/>
        </p:spPr>
        <p:txBody>
          <a:bodyPr wrap="square" lIns="0" tIns="0" rIns="0" bIns="0" rtlCol="0" anchor="ctr"/>
          <a:lstStyle/>
          <a:p>
            <a:pPr marL="0" indent="0">
              <a:buNone/>
            </a:pPr>
            <a:r>
              <a:rPr lang="en-US" sz="2600" b="1" dirty="0">
                <a:solidFill>
                  <a:schemeClr val="tx1"/>
                </a:solidFill>
              </a:rPr>
              <a:t>Tiêu chí kiểm tra</a:t>
            </a:r>
            <a:endParaRPr lang="en-US" sz="26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Hai kĩ thuật nâng cao</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1 · 13 phút</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Kĩ thuật 1: ràng buộc định dạng đầu ra</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“So sánh ba phương pháp học từ vựng trong một bảng có bốn cột: phương pháp; thời gian cần mỗi ngày; điểm mạnh; điểm yếu.</a:t>
            </a:r>
            <a:endParaRPr lang="en-US" sz="2800" dirty="0"/>
          </a:p>
          <a:p>
            <a:pPr marL="0" indent="0">
              <a:buNone/>
            </a:pPr>
            <a:endParaRPr lang="en-US" sz="2800" dirty="0"/>
          </a:p>
          <a:p>
            <a:pPr marL="0" indent="0">
              <a:buNone/>
            </a:pPr>
            <a:r>
              <a:rPr lang="en-US" sz="2800" dirty="0">
                <a:solidFill>
                  <a:schemeClr val="tx1"/>
                </a:solidFill>
              </a:rPr>
              <a:t>Mỗi ô không quá 15 chữ.</a:t>
            </a:r>
            <a:endParaRPr lang="en-US" sz="2800" dirty="0"/>
          </a:p>
          <a:p>
            <a:pPr marL="0" indent="0">
              <a:buNone/>
            </a:pPr>
            <a:endParaRPr lang="en-US" sz="2800" dirty="0"/>
          </a:p>
          <a:p>
            <a:pPr marL="0" indent="0">
              <a:buNone/>
            </a:pPr>
            <a:r>
              <a:rPr lang="en-US" sz="2800" dirty="0">
                <a:solidFill>
                  <a:schemeClr val="tx1"/>
                </a:solidFill>
              </a:rPr>
              <a:t>Nếu ô nào không chắc, ghi ‘chưa rõ’.”</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Nêu rõ khuôn của kết quả: bảng gì, mấy mục, dài bao nhiêu</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Cùng nội dung, trước và sau khi có khuôn</a:t>
            </a:r>
            <a:endParaRPr lang="en-US" sz="3800" dirty="0"/>
          </a:p>
        </p:txBody>
      </p:sp>
      <p:pic>
        <p:nvPicPr>
          <p:cNvPr id="4" name="Image 0" descr="Cùng nội dung, trước và sau khi có khuôn"/>
          <p:cNvPicPr>
            <a:picLocks noChangeAspect="1"/>
          </p:cNvPicPr>
          <p:nvPr/>
        </p:nvPicPr>
        <p:blipFill>
          <a:blip r:embed="rId3"/>
          <a:stretch>
            <a:fillRect/>
          </a:stretch>
        </p:blipFill>
        <p:spPr>
          <a:xfrm>
            <a:off x="1699953" y="1463040"/>
            <a:ext cx="8761615" cy="3886200"/>
          </a:xfrm>
          <a:prstGeom prst="rect">
            <a:avLst/>
          </a:prstGeom>
        </p:spPr>
      </p:pic>
      <p:sp>
        <p:nvSpPr>
          <p:cNvPr id="5" name="Shape 1"/>
          <p:cNvSpPr/>
          <p:nvPr/>
        </p:nvSpPr>
        <p:spPr>
          <a:xfrm>
            <a:off x="548640" y="544068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44068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Định dạng là công cụ để kiểm tra, không phải để cho đẹp</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Kĩ thuật 2: chia nhỏ nhiệm vụ</a:t>
            </a:r>
            <a:endParaRPr lang="en-US" sz="3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868680">
                <a:tc>
                  <a:txBody>
                    <a:bodyPr/>
                    <a:lstStyle/>
                    <a:p>
                      <a:pPr marL="0" indent="0" algn="ctr">
                        <a:buNone/>
                      </a:pPr>
                      <a:r>
                        <a:rPr lang="en-US" sz="2400" b="1" dirty="0">
                          <a:solidFill>
                            <a:schemeClr val="bg1"/>
                          </a:solidFill>
                        </a:rPr>
                        <a:t>Bước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Câu lệnh</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Vy làm gì trước khi đi tiếp</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400" b="1"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So sánh ba phương pháp trong một bảng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Đọc bảng, đối chiếu</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400" b="1" dirty="0">
                          <a:solidFill>
                            <a:schemeClr val="tx1"/>
                          </a:solidFill>
                        </a:rPr>
                        <a:t>2</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Em chỉ có 30 phút mỗi ngày: cách nào hợp hơn?</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Tự quyết định chọn</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400" b="1" dirty="0">
                          <a:solidFill>
                            <a:schemeClr val="tx1"/>
                          </a:solidFill>
                        </a:rPr>
                        <a:t>3</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Em chọn thẻ ghi nhớ: lập kế hoạch bốn tuần</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Xem có vừa sức không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8680">
                <a:tc>
                  <a:txBody>
                    <a:bodyPr/>
                    <a:lstStyle/>
                    <a:p>
                      <a:pPr marL="0" indent="0" algn="l">
                        <a:buNone/>
                      </a:pPr>
                      <a:r>
                        <a:rPr lang="en-US" sz="2400" b="1" dirty="0">
                          <a:solidFill>
                            <a:schemeClr val="tx1"/>
                          </a:solidFill>
                        </a:rPr>
                        <a:t>4</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Soạn 10 câu kiểm tra cho tuần 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Làm thử, kiểm đáp án</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Ôm đồm và chia nhỏ khác nhau ở đâu?</a:t>
            </a:r>
            <a:endParaRPr lang="en-US" sz="3800" dirty="0"/>
          </a:p>
        </p:txBody>
      </p:sp>
      <p:pic>
        <p:nvPicPr>
          <p:cNvPr id="4" name="Image 0" descr="Ôm đồm và chia nhỏ khác nhau ở đâu?"/>
          <p:cNvPicPr>
            <a:picLocks noChangeAspect="1"/>
          </p:cNvPicPr>
          <p:nvPr/>
        </p:nvPicPr>
        <p:blipFill>
          <a:blip r:embed="rId3"/>
          <a:stretch>
            <a:fillRect/>
          </a:stretch>
        </p:blipFill>
        <p:spPr>
          <a:xfrm>
            <a:off x="1699953" y="1463040"/>
            <a:ext cx="8761615"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nào dùng kĩ thuật nào?</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Ràng buộc định dạng (ĐD)</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Cần so sánh nhiều thứ</a:t>
            </a:r>
            <a:endParaRPr lang="en-US" sz="2400" dirty="0"/>
          </a:p>
          <a:p>
            <a:pPr marL="342900" indent="-342900">
              <a:spcAft>
                <a:spcPts val="1000"/>
              </a:spcAft>
              <a:buSzPct val="100000"/>
              <a:buChar char="•"/>
            </a:pPr>
            <a:r>
              <a:rPr lang="en-US" sz="2400" dirty="0">
                <a:solidFill>
                  <a:schemeClr val="tx1"/>
                </a:solidFill>
              </a:rPr>
              <a:t>Cần dùng lại kết quả</a:t>
            </a:r>
            <a:endParaRPr lang="en-US" sz="2400" dirty="0"/>
          </a:p>
          <a:p>
            <a:pPr marL="342900" indent="-342900">
              <a:spcAft>
                <a:spcPts val="1000"/>
              </a:spcAft>
              <a:buSzPct val="100000"/>
              <a:buChar char="•"/>
            </a:pPr>
            <a:r>
              <a:rPr lang="en-US" sz="2400" dirty="0">
                <a:solidFill>
                  <a:schemeClr val="tx1"/>
                </a:solidFill>
              </a:rPr>
              <a:t>Cần đọc nhanh, kiểm tra nhanh</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Chia nhỏ nhiệm vụ (CN)</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Nhiều việc nối bằng “rồi”, “sau đó”</a:t>
            </a:r>
            <a:endParaRPr lang="en-US" sz="2400" dirty="0"/>
          </a:p>
          <a:p>
            <a:pPr marL="342900" indent="-342900">
              <a:spcAft>
                <a:spcPts val="1000"/>
              </a:spcAft>
              <a:buSzPct val="100000"/>
              <a:buChar char="•"/>
            </a:pPr>
            <a:r>
              <a:rPr lang="en-US" sz="2400" dirty="0">
                <a:solidFill>
                  <a:schemeClr val="bg1"/>
                </a:solidFill>
              </a:rPr>
              <a:t>Bước sau phụ thuộc bước trước</a:t>
            </a:r>
            <a:endParaRPr lang="en-US" sz="2400" dirty="0"/>
          </a:p>
          <a:p>
            <a:pPr marL="342900" indent="-342900">
              <a:spcAft>
                <a:spcPts val="1000"/>
              </a:spcAft>
              <a:buSzPct val="100000"/>
              <a:buChar char="•"/>
            </a:pPr>
            <a:r>
              <a:rPr lang="en-US" sz="2400" dirty="0">
                <a:solidFill>
                  <a:schemeClr val="bg1"/>
                </a:solidFill>
              </a:rPr>
              <a:t>Có chỗ con người cần quyết định</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Chọn theo dấu hiệu của yêu cầu, không theo sở thích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Chọn kĩ thuật, viết lại câu lệnh</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21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1: chọn và bảo vệ</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9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Với 8 yêu cầu trên phiếu: ghi ĐD, CN hoặc ĐD + CN</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Đọc từng yêu cầu</a:t>
            </a:r>
            <a:endParaRPr lang="en-US" sz="2800" dirty="0"/>
          </a:p>
          <a:p>
            <a:pPr marL="342900" indent="-342900">
              <a:spcAft>
                <a:spcPts val="1200"/>
              </a:spcAft>
              <a:buSzPct val="100000"/>
              <a:buFont typeface="+mj-lt"/>
              <a:buAutoNum type="arabicPeriod"/>
            </a:pPr>
            <a:r>
              <a:rPr lang="en-US" sz="2800" dirty="0">
                <a:solidFill>
                  <a:schemeClr val="tx1"/>
                </a:solidFill>
              </a:rPr>
              <a:t>Ghi kĩ thuật phù hợp</a:t>
            </a:r>
            <a:endParaRPr lang="en-US" sz="2800" dirty="0"/>
          </a:p>
          <a:p>
            <a:pPr marL="342900" indent="-342900">
              <a:spcAft>
                <a:spcPts val="1200"/>
              </a:spcAft>
              <a:buSzPct val="100000"/>
              <a:buFont typeface="+mj-lt"/>
              <a:buAutoNum type="arabicPeriod"/>
            </a:pPr>
            <a:r>
              <a:rPr lang="en-US" sz="2800" dirty="0">
                <a:solidFill>
                  <a:schemeClr val="tx1"/>
                </a:solidFill>
              </a:rPr>
              <a:t>Nêu dấu hiệu làm căn cứ</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Khi chữa bài</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Giáo viên đọc từng yêu cầu, các nhóm giơ bảng. Nơi khác nhau: mỗi bên nêu dấu hiệu.</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2: viết lại một câu lệnh</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Chọn một yêu cầu trên phiếu và viết lại</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Thêm ràng buộc định dạng, hoặc chia thành chuỗi bước</a:t>
            </a:r>
            <a:endParaRPr lang="en-US" sz="2800" dirty="0"/>
          </a:p>
          <a:p>
            <a:pPr marL="342900" indent="-342900">
              <a:spcAft>
                <a:spcPts val="1200"/>
              </a:spcAft>
              <a:buSzPct val="100000"/>
              <a:buFont typeface="+mj-lt"/>
              <a:buAutoNum type="arabicPeriod"/>
            </a:pPr>
            <a:r>
              <a:rPr lang="en-US" sz="2800" dirty="0">
                <a:solidFill>
                  <a:schemeClr val="tx1"/>
                </a:solidFill>
              </a:rPr>
              <a:t>Ghi việc em làm ở mỗi điểm kiểm tra</a:t>
            </a:r>
            <a:endParaRPr lang="en-US" sz="2800" dirty="0"/>
          </a:p>
          <a:p>
            <a:pPr marL="342900" indent="-342900">
              <a:spcAft>
                <a:spcPts val="1200"/>
              </a:spcAft>
              <a:buSzPct val="100000"/>
              <a:buFont typeface="+mj-lt"/>
              <a:buAutoNum type="arabicPeriod"/>
            </a:pPr>
            <a:r>
              <a:rPr lang="en-US" sz="2800" dirty="0">
                <a:solidFill>
                  <a:schemeClr val="tx1"/>
                </a:solidFill>
              </a:rPr>
              <a:t>Nếu có thiết bị: chạy thử và so kết quả</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Mở rộng</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Phần vận dụng, chạy thử là nội dung mở rộng, không bắt buộc với mọi nhóm.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Bảng kiểm sau khi viết lại</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Mỗi bước chỉ có một việc?</a:t>
            </a:r>
            <a:endParaRPr lang="en-US" sz="26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Ràng buộc đo đếm được?</a:t>
            </a:r>
            <a:endParaRPr lang="en-US" sz="26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Kết quả bước trước dùng cho bước sau?</a:t>
            </a:r>
            <a:endParaRPr lang="en-US" sz="26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Không có dữ liệu cá nhân?</a:t>
            </a:r>
            <a:endParaRPr lang="en-US" sz="26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Đổi bài cho cặp bên cạnh soát theo bảng này</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Ràng buộc định dạng:</a:t>
            </a:r>
            <a:r>
              <a:rPr lang="en-US" sz="3200" dirty="0">
                <a:solidFill>
                  <a:schemeClr val="tx1"/>
                </a:solidFill>
              </a:rPr>
              <a:t> nêu rõ khuôn của kết quả</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Chia nhỏ nhiệm vụ:</a:t>
            </a:r>
            <a:r>
              <a:rPr lang="en-US" sz="3200" dirty="0">
                <a:solidFill>
                  <a:schemeClr val="tx1"/>
                </a:solidFill>
              </a:rPr>
              <a:t> chuỗi bước có điểm kiểm tra</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6949440" cy="1028700"/>
          </a:xfrm>
          <a:prstGeom prst="rect">
            <a:avLst/>
          </a:prstGeom>
          <a:noFill/>
          <a:ln/>
        </p:spPr>
        <p:txBody>
          <a:bodyPr wrap="square" lIns="0" tIns="0" rIns="0" bIns="0" rtlCol="0" anchor="ctr"/>
          <a:lstStyle/>
          <a:p>
            <a:pPr marL="0" indent="0">
              <a:buNone/>
            </a:pPr>
            <a:r>
              <a:rPr lang="en-US" sz="3200" dirty="0">
                <a:solidFill>
                  <a:schemeClr val="tx1"/>
                </a:solidFill>
              </a:rPr>
              <a:t>Chọn theo </a:t>
            </a:r>
            <a:r>
              <a:rPr lang="en-US" sz="3200" b="1" dirty="0">
                <a:solidFill>
                  <a:schemeClr val="tx2"/>
                </a:solidFill>
              </a:rPr>
              <a:t>dấu hiệu</a:t>
            </a:r>
            <a:r>
              <a:rPr lang="en-US" sz="3200" dirty="0">
                <a:solidFill>
                  <a:schemeClr val="tx1"/>
                </a:solidFill>
              </a:rPr>
              <a:t> của yêu cầu</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6949440" cy="1028700"/>
          </a:xfrm>
          <a:prstGeom prst="rect">
            <a:avLst/>
          </a:prstGeom>
          <a:noFill/>
          <a:ln/>
        </p:spPr>
        <p:txBody>
          <a:bodyPr wrap="square" lIns="0" tIns="0" rIns="0" bIns="0" rtlCol="0" anchor="ctr"/>
          <a:lstStyle/>
          <a:p>
            <a:pPr marL="0" indent="0">
              <a:buNone/>
            </a:pPr>
            <a:r>
              <a:rPr lang="en-US" sz="3200" dirty="0">
                <a:solidFill>
                  <a:schemeClr val="tx1"/>
                </a:solidFill>
              </a:rPr>
              <a:t>Kĩ thuật tốt </a:t>
            </a:r>
            <a:r>
              <a:rPr lang="en-US" sz="3200" b="1" dirty="0">
                <a:solidFill>
                  <a:schemeClr val="tx2"/>
                </a:solidFill>
              </a:rPr>
              <a:t>không thay</a:t>
            </a:r>
            <a:r>
              <a:rPr lang="en-US" sz="3200" dirty="0">
                <a:solidFill>
                  <a:schemeClr val="tx1"/>
                </a:solidFill>
              </a:rPr>
              <a:t> được kiểm chứng</a:t>
            </a:r>
            <a:endParaRPr lang="en-US" sz="3200" dirty="0"/>
          </a:p>
        </p:txBody>
      </p:sp>
      <p:sp>
        <p:nvSpPr>
          <p:cNvPr id="16" name="Shape 13"/>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7" name="Text 14"/>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Chia nhỏ là cách giữ con người ở vị trí quyết định.</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Với mỗi yêu cầu trên phiếu, ghi kĩ thuật phù hợp (ĐD, CN hoặc ĐD + CN) và một lí do.</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Vì sao chia nhỏ nhiệm vụ giúp con người giữ quyền kiểm soát tốt hơn so với gửi tất cả trong một câu lệnh?</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3109264997"/>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1477</Words>
  <Application>Microsoft Office PowerPoint</Application>
  <PresentationFormat>Widescreen</PresentationFormat>
  <Paragraphs>167</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Prompt nâng cao: ràng buộc đầu ra và chia nhỏ nhiệm vụ</vt:lpstr>
      <vt:lpstr>Hôm nay chúng ta làm gì?</vt:lpstr>
      <vt:lpstr>Một câu lệnh “ôm đồm”</vt:lpstr>
      <vt:lpstr>Nhắc lại: sáu yêu cầu của một câu lệnh tốt</vt:lpstr>
      <vt:lpstr>Hai kĩ thuật nâng cao</vt:lpstr>
      <vt:lpstr>Kĩ thuật 1: ràng buộc định dạng đầu ra</vt:lpstr>
      <vt:lpstr>Cùng nội dung, trước và sau khi có khuôn</vt:lpstr>
      <vt:lpstr>Kĩ thuật 2: chia nhỏ nhiệm vụ</vt:lpstr>
      <vt:lpstr>Ôm đồm và chia nhỏ khác nhau ở đâu?</vt:lpstr>
      <vt:lpstr>Khi nào dùng kĩ thuật nào?</vt:lpstr>
      <vt:lpstr>Chọn kĩ thuật, viết lại câu lệnh</vt:lpstr>
      <vt:lpstr>Nhiệm vụ 1: chọn và bảo vệ</vt:lpstr>
      <vt:lpstr>Nhiệm vụ 2: viết lại một câu lệnh</vt:lpstr>
      <vt:lpstr>Bảng kiểm sau khi viết lại</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11.8. Prompt nâng cao: ràng buộc đầu ra và chia nhỏ nhiệm vụ</dc:title>
  <dc:subject>Trí tuệ nhân tạo</dc:subject>
  <cp:lastModifiedBy>Phạm Văn Tú</cp:lastModifiedBy>
  <cp:revision>1</cp:revision>
  <dcterms:created xsi:type="dcterms:W3CDTF">2026-10-08T11:06:02Z</dcterms:created>
  <dcterms:modified xsi:type="dcterms:W3CDTF">2026-10-10T03:37:13Z</dcterms:modified>
  <dc:description>Email: phamtund@gmail.com</dc:description>
  <dc:creator>Phạm Văn Tú</dc:creator>
  <cp:category>Trí tuệ nhân tạo</cp:category>
  <cp:keywords>Trí tuệ nhân tạo</cp:keywords>
</cp:coreProperties>
</file>