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33EC5DD-0628-00A9-5A28-30C6ACD5E06D}">
          <p14:sldIdLst>
            <p14:sldId id="256"/>
            <p14:sldId id="257"/>
            <p14:sldId id="258"/>
            <p14:sldId id="259"/>
            <p14:sldId id="260"/>
            <p14:sldId id="261"/>
            <p14:sldId id="262"/>
            <p14:sldId id="263"/>
            <p14:sldId id="264"/>
          </p14:sldIdLst>
        </p14:section>
        <p14:section name="Thiết kế tổng thể hệ thống của nhóm" id="{7AEA417F-D9CE-7B39-55D3-B44D102E75E6}">
          <p14:sldIdLst>
            <p14:sldId id="265"/>
            <p14:sldId id="266"/>
            <p14:sldId id="267"/>
            <p14:sldId id="268"/>
            <p14:sldId id="269"/>
          </p14:sldIdLst>
        </p14:section>
        <p14:section name="Tổng kết" id="{DC36A8C7-AAD7-7D6F-4391-75DB2A700C29}">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C03740-6AC5-42E9-8E1E-1637D410E2A5}" v="1" dt="2026-10-10T03:39:34.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9:34.691" v="3"/>
      <pc:docMkLst>
        <pc:docMk/>
      </pc:docMkLst>
      <pc:sldChg chg="modSp mod">
        <pc:chgData name="Phạm Văn Tú" userId="67199c852bdd6d1b" providerId="LiveId" clId="{CB377567-0116-4044-BB7C-6E46B7A5C596}" dt="2026-10-10T03:39:20.115" v="2" actId="20577"/>
        <pc:sldMkLst>
          <pc:docMk/>
          <pc:sldMk cId="0" sldId="256"/>
        </pc:sldMkLst>
        <pc:spChg chg="mod">
          <ac:chgData name="Phạm Văn Tú" userId="67199c852bdd6d1b" providerId="LiveId" clId="{CB377567-0116-4044-BB7C-6E46B7A5C596}" dt="2026-10-10T03:39:20.115" v="2" actId="20577"/>
          <ac:spMkLst>
            <pc:docMk/>
            <pc:sldMk cId="0" sldId="256"/>
            <ac:spMk id="3" creationId="{00000000-0000-0000-0000-000000000000}"/>
          </ac:spMkLst>
        </pc:spChg>
      </pc:sldChg>
      <pc:sldChg chg="add">
        <pc:chgData name="Phạm Văn Tú" userId="67199c852bdd6d1b" providerId="LiveId" clId="{CB377567-0116-4044-BB7C-6E46B7A5C596}" dt="2026-10-10T03:39:34.691" v="3"/>
        <pc:sldMkLst>
          <pc:docMk/>
          <pc:sldMk cId="3293517348"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432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thẻ năm thành phần (nhắc lại lớp 10), Phiếu thiết kế tổng thể khổ A3, Phiếu ra cửa kiêm tự đánh giá cuối năm.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cuối năm: kết nối những gì đã học.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(4 phút). Tình huống giả định, dùng xuyên suốt bài. Học sinh liệt kê các việc phải làm theo thứ tự. Nhiều em sẽ nói 'tìm một công cụ AI rồi cho nó đọc nội quy': đó là việc ở khoảng giữa; trước và sau còn nhiều việc quyết định hệ thống có dùng được, có an toàn không.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thức lớp 10 (Bài 10.11). Với chatbot nội quy: dữ liệu là văn bản nội quy; thuật toán là cách tìm đoạn liên quan; mô hình ngôn ngữ soạn câu trả lời; đầu ra là câu trả lời kèm điều khoản; phản hồi là nút 'hữu ích' và 'chưa đúng'.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(12 phút). Học sinh vẽ sơ đồ vào vở. Đây là VÒNG LẶP: phản hồi từ bước 6 quay về các bước trước. Gần như mọi bài học của năm đều có chỗ trong sáu bước này.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không làm: không tư vấn tâm lí, không xử lí khiếu nại, không trả lời về điểm số của từng học sinh. Bước 3: chọn giữa chatbot theo kịch bản (không bịa nhưng cứng) và chatbot dùng mô hình ngôn ngữ có tra cứu nội quy (linh hoạt nhưng có thể diễn đạt lệch).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4: cho người dùng biết đang tương tác với AI cũng là yêu cầu của Luật Trí tuệ nhân tạo. Bước 5: câu nội quy không đề cập thì phải nói rõ 'không có quy định này', không tự bịa; câu nhạy cảm (bị bắt nạt) thì hướng dẫn liên hệ ngay thầy cô. Dễ nhầm: làm xong hệ thống là xong việc.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theo câu hỏi 'Mai thứ Hai có phải mặc áo dài không?'. Đường liền: một câu hỏi được xử lí. Đường đứt: phản hồi quay về để con người cập nhật. Hai điểm đáng chú ý: nhánh 'không biết' là một phần của thiết kế tốt; vòng phản hồi đi qua CON NGƯỜI.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một vòng phản hồi tự động hoàn toàn, không có con người xem xét, có thể bị lợi dụng; và kiểm thử chưa nghĩ đến người dùng có ý xấu. Nguồn: bài viết của Microsoft ngày 25/3/2016 về chatbot Tay.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Nhóm có thể dùng đề xuất tính năng của mình ở Bài 11.7.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phút báo cáo: 3 nhóm, mỗi nhóm 2 phút. Hỏi mỗi nhóm: ai cập nhật hệ thống sau một học kì? Phiếu thiết kế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thực hiện phép tính; con người quyết định tính cái gì, cho ai, và chịu trách nhiệm về kết quả.</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(7 phút, cùng phiếu tự đánh giá). Ba câu hỏi lớn của mười hai bài. Lớp 12: các em thử tạo ra và đánh giá một sản phẩm nhỏ.</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giả định. Quay lại bước dữ liệu và bước theo dõi, phản hồi. Phải có người được phân công cập nhật; hệ thống không tự biết lịch đã đổi.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bài.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(trong 7 phút tổng kết). Phiếu ra cửa kiêm tự đánh giá cuối năm; đáp án câu 1 theo phụ lục kế hoạch bài dạy (thứ tự 2, 3, 1, 5, 4). Lưu phiếu vào hồ sơ học tập. Dặn dò: trang 'Hồ sơ năng lực AI của em sau lớp 11' trong phần Vận dụng.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783048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11.12 · Thiết kế và vận hành tổng thể một hệ thống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Thiết kế và vận hành tổng thể một hệ thống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11.12 · Chuyên đề 11.4: Bên trong hệ thống AI</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Trình bày</a:t>
            </a:r>
            <a:r>
              <a:rPr lang="en-US" sz="2800" dirty="0">
                <a:solidFill>
                  <a:schemeClr val="tx1"/>
                </a:solidFill>
              </a:rPr>
              <a:t> sáu bước thiết kế và vận hành một hệ thống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Mô tả</a:t>
            </a:r>
            <a:r>
              <a:rPr lang="en-US" sz="2800" dirty="0">
                <a:solidFill>
                  <a:schemeClr val="tx1"/>
                </a:solidFill>
              </a:rPr>
              <a:t> dòng vận hành của một hệ thống cụ thể</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Chỉ ra</a:t>
            </a:r>
            <a:r>
              <a:rPr lang="en-US" sz="2800" dirty="0">
                <a:solidFill>
                  <a:schemeClr val="tx1"/>
                </a:solidFill>
              </a:rPr>
              <a:t> vai trò của con người ở từng bước</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4'</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Nếu trường nhờ lớp mình...</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12'</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Sáu bước, dòng vận hành</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Thiết kế của nhóm</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7'</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Tự đánh giá cuối năm</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Câu hỏi lúc mười giờ đêm</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Một bạn lớp 10 mới vào trường băn khoăn: “Mai thứ Hai có phải mặc áo dài không? Xe đạp điện gửi ở cổng nào?”</a:t>
            </a:r>
            <a:endParaRPr lang="en-US" sz="2800" dirty="0"/>
          </a:p>
          <a:p>
            <a:pPr marL="0" indent="0">
              <a:buNone/>
            </a:pPr>
            <a:endParaRPr lang="en-US" sz="2800" dirty="0"/>
          </a:p>
          <a:p>
            <a:pPr marL="0" indent="0">
              <a:buNone/>
            </a:pPr>
            <a:r>
              <a:rPr lang="en-US" sz="2800" dirty="0">
                <a:solidFill>
                  <a:schemeClr val="tx1"/>
                </a:solidFill>
              </a:rPr>
              <a:t>Cuốn nội quy dài hai mươi trang. Câu lạc bộ Tin học muốn làm một chatbot hỏi đáp nội quy.</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Nếu trường nhờ lớp mình thiết kế, em bắt đầu từ đâu?</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Nhắc lại: năm thành phần của một hệ thống AI</a:t>
            </a:r>
            <a:endParaRPr lang="en-US" sz="3800" dirty="0"/>
          </a:p>
        </p:txBody>
      </p:sp>
      <p:sp>
        <p:nvSpPr>
          <p:cNvPr id="4" name="Shape 1"/>
          <p:cNvSpPr/>
          <p:nvPr/>
        </p:nvSpPr>
        <p:spPr>
          <a:xfrm>
            <a:off x="548640" y="155448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Dữ liệu</a:t>
            </a:r>
            <a:endParaRPr lang="en-US" sz="2600" dirty="0"/>
          </a:p>
        </p:txBody>
      </p:sp>
      <p:sp>
        <p:nvSpPr>
          <p:cNvPr id="8" name="Shape 5"/>
          <p:cNvSpPr/>
          <p:nvPr/>
        </p:nvSpPr>
        <p:spPr>
          <a:xfrm>
            <a:off x="4312920" y="155448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49580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49580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5273040" y="162763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Thuật toán</a:t>
            </a:r>
            <a:endParaRPr lang="en-US" sz="2600" dirty="0"/>
          </a:p>
        </p:txBody>
      </p:sp>
      <p:sp>
        <p:nvSpPr>
          <p:cNvPr id="12" name="Shape 9"/>
          <p:cNvSpPr/>
          <p:nvPr/>
        </p:nvSpPr>
        <p:spPr>
          <a:xfrm>
            <a:off x="8077200" y="155448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26008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26008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9037320" y="162763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Mô hình</a:t>
            </a:r>
            <a:endParaRPr lang="en-US" sz="2600" dirty="0"/>
          </a:p>
        </p:txBody>
      </p:sp>
      <p:sp>
        <p:nvSpPr>
          <p:cNvPr id="16" name="Shape 13"/>
          <p:cNvSpPr/>
          <p:nvPr/>
        </p:nvSpPr>
        <p:spPr>
          <a:xfrm>
            <a:off x="548640" y="331470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1508760" y="338785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Đầu ra</a:t>
            </a:r>
            <a:endParaRPr lang="en-US" sz="2600" dirty="0"/>
          </a:p>
        </p:txBody>
      </p:sp>
      <p:sp>
        <p:nvSpPr>
          <p:cNvPr id="20" name="Shape 17"/>
          <p:cNvSpPr/>
          <p:nvPr/>
        </p:nvSpPr>
        <p:spPr>
          <a:xfrm>
            <a:off x="4312920" y="331470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449580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449580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5273040" y="338785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Phản hồi</a:t>
            </a:r>
            <a:endParaRPr lang="en-US" sz="2600" dirty="0"/>
          </a:p>
        </p:txBody>
      </p:sp>
      <p:sp>
        <p:nvSpPr>
          <p:cNvPr id="24" name="Shape 21"/>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5" name="Text 22"/>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400" b="1" dirty="0">
                <a:solidFill>
                  <a:schemeClr val="bg1"/>
                </a:solidFill>
              </a:rPr>
              <a:t>Hôm nay: làm thế nào để tạo ra hệ thống và giữ cho nó chạy tốt?</a:t>
            </a:r>
            <a:endParaRPr lang="en-US" sz="24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Sáu bước thiết kế và vận hành</a:t>
            </a:r>
            <a:endParaRPr lang="en-US" sz="3800" dirty="0"/>
          </a:p>
        </p:txBody>
      </p:sp>
      <p:pic>
        <p:nvPicPr>
          <p:cNvPr id="4" name="Image 0" descr="Sáu bước thiết kế và vận hành"/>
          <p:cNvPicPr>
            <a:picLocks noChangeAspect="1"/>
          </p:cNvPicPr>
          <p:nvPr/>
        </p:nvPicPr>
        <p:blipFill>
          <a:blip r:embed="rId3"/>
          <a:stretch>
            <a:fillRect/>
          </a:stretch>
        </p:blipFill>
        <p:spPr>
          <a:xfrm>
            <a:off x="1261872" y="1463040"/>
            <a:ext cx="9637776"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Bước 1 đến 3 với chatbot nội quy</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Mục tiêu và người dùng</a:t>
            </a:r>
            <a:endParaRPr lang="en-US" sz="2400" dirty="0"/>
          </a:p>
          <a:p>
            <a:pPr marL="0" indent="0">
              <a:spcAft>
                <a:spcPts val="800"/>
              </a:spcAft>
              <a:buNone/>
            </a:pPr>
            <a:r>
              <a:rPr lang="en-US" sz="2400" dirty="0">
                <a:solidFill>
                  <a:schemeClr val="tx1"/>
                </a:solidFill>
              </a:rPr>
              <a:t>Nhận câu hỏi về nội quy, trả lời ngắn kèm điều khoản.</a:t>
            </a:r>
            <a:endParaRPr lang="en-US" sz="2400" dirty="0"/>
          </a:p>
          <a:p>
            <a:pPr marL="0" indent="0">
              <a:buNone/>
            </a:pPr>
            <a:r>
              <a:rPr lang="en-US" sz="2400" b="1" dirty="0">
                <a:solidFill>
                  <a:schemeClr val="accent4"/>
                </a:solidFill>
              </a:rPr>
              <a:t>Viết rõ cả việc nó không làm.</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Dữ liệu</a:t>
            </a:r>
            <a:endParaRPr lang="en-US" sz="2400" dirty="0"/>
          </a:p>
          <a:p>
            <a:pPr marL="0" indent="0">
              <a:spcAft>
                <a:spcPts val="800"/>
              </a:spcAft>
              <a:buNone/>
            </a:pPr>
            <a:r>
              <a:rPr lang="en-US" sz="2400" dirty="0">
                <a:solidFill>
                  <a:schemeClr val="tx1"/>
                </a:solidFill>
              </a:rPr>
              <a:t>Nội quy bản mới nhất; câu hỏi thật đã bỏ tên người hỏi.</a:t>
            </a:r>
            <a:endParaRPr lang="en-US" sz="2400" dirty="0"/>
          </a:p>
          <a:p>
            <a:pPr marL="0" indent="0">
              <a:buNone/>
            </a:pPr>
            <a:r>
              <a:rPr lang="en-US" sz="2400" b="1" dirty="0">
                <a:solidFill>
                  <a:schemeClr val="accent4"/>
                </a:solidFill>
              </a:rPr>
              <a:t>Có được phép dùng không?</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Công nghệ và mô hình</a:t>
            </a:r>
            <a:endParaRPr lang="en-US" sz="2400" dirty="0"/>
          </a:p>
          <a:p>
            <a:pPr marL="0" indent="0">
              <a:spcAft>
                <a:spcPts val="800"/>
              </a:spcAft>
              <a:buNone/>
            </a:pPr>
            <a:r>
              <a:rPr lang="en-US" sz="2400" dirty="0">
                <a:solidFill>
                  <a:schemeClr val="tx1"/>
                </a:solidFill>
              </a:rPr>
              <a:t>Mô hình ngôn ngữ, chỉ trả lời dựa trên đoạn nội quy tìm được.</a:t>
            </a:r>
            <a:endParaRPr lang="en-US" sz="2400" dirty="0"/>
          </a:p>
          <a:p>
            <a:pPr marL="0" indent="0">
              <a:buNone/>
            </a:pPr>
            <a:r>
              <a:rPr lang="en-US" sz="2400" b="1" dirty="0">
                <a:solidFill>
                  <a:schemeClr val="accent4"/>
                </a:solidFill>
              </a:rPr>
              <a:t>Phải trích điều khoản.</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Bước 4 đến 6 với chatbot nội quy</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Đầu ra và giao diện</a:t>
            </a:r>
            <a:endParaRPr lang="en-US" sz="2400" dirty="0"/>
          </a:p>
          <a:p>
            <a:pPr marL="0" indent="0">
              <a:spcAft>
                <a:spcPts val="800"/>
              </a:spcAft>
              <a:buNone/>
            </a:pPr>
            <a:r>
              <a:rPr lang="en-US" sz="2400" dirty="0">
                <a:solidFill>
                  <a:schemeClr val="tx1"/>
                </a:solidFill>
              </a:rPr>
              <a:t>Câu trả lời, điều khoản được trích, nút đánh giá.</a:t>
            </a:r>
            <a:endParaRPr lang="en-US" sz="2400" dirty="0"/>
          </a:p>
          <a:p>
            <a:pPr marL="0" indent="0">
              <a:buNone/>
            </a:pPr>
            <a:r>
              <a:rPr lang="en-US" sz="2400" b="1" dirty="0">
                <a:solidFill>
                  <a:schemeClr val="accent4"/>
                </a:solidFill>
              </a:rPr>
              <a:t>Ghi rõ: “Đây là trợ lí AI.”</a:t>
            </a:r>
            <a:endParaRPr lang="en-US" sz="24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5</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Kiểm thử</a:t>
            </a:r>
            <a:endParaRPr lang="en-US" sz="2400" dirty="0"/>
          </a:p>
          <a:p>
            <a:pPr marL="0" indent="0">
              <a:spcAft>
                <a:spcPts val="800"/>
              </a:spcAft>
              <a:buNone/>
            </a:pPr>
            <a:r>
              <a:rPr lang="en-US" sz="2400" dirty="0">
                <a:solidFill>
                  <a:schemeClr val="tx1"/>
                </a:solidFill>
              </a:rPr>
              <a:t>Thử cả câu ngoài phạm vi, câu nội quy không đề cập, câu nhạy cảm.</a:t>
            </a:r>
            <a:endParaRPr lang="en-US" sz="2400" dirty="0"/>
          </a:p>
          <a:p>
            <a:pPr marL="0" indent="0">
              <a:buNone/>
            </a:pPr>
            <a:r>
              <a:rPr lang="en-US" sz="2400" b="1" dirty="0">
                <a:solidFill>
                  <a:schemeClr val="accent4"/>
                </a:solidFill>
              </a:rPr>
              <a:t>Tìm xem nó sai kiểu gì.</a:t>
            </a:r>
            <a:endParaRPr lang="en-US" sz="24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6</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Vận hành, cập nhật</a:t>
            </a:r>
            <a:endParaRPr lang="en-US" sz="2400" dirty="0"/>
          </a:p>
          <a:p>
            <a:pPr marL="0" indent="0">
              <a:spcAft>
                <a:spcPts val="800"/>
              </a:spcAft>
              <a:buNone/>
            </a:pPr>
            <a:r>
              <a:rPr lang="en-US" sz="2400" dirty="0">
                <a:solidFill>
                  <a:schemeClr val="tx1"/>
                </a:solidFill>
              </a:rPr>
              <a:t>Mỗi tuần một bạn đọc các câu bị bấm “Chưa đúng”.</a:t>
            </a:r>
            <a:endParaRPr lang="en-US" sz="2400" dirty="0"/>
          </a:p>
          <a:p>
            <a:pPr marL="0" indent="0">
              <a:buNone/>
            </a:pPr>
            <a:r>
              <a:rPr lang="en-US" sz="2400" b="1" dirty="0">
                <a:solidFill>
                  <a:schemeClr val="accent4"/>
                </a:solidFill>
              </a:rPr>
              <a:t>Hệ thống không bao giờ “xong”.</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Dòng vận hành: một câu hỏi đi qua những đâu?</a:t>
            </a:r>
            <a:endParaRPr lang="en-US" sz="3800" dirty="0"/>
          </a:p>
        </p:txBody>
      </p:sp>
      <p:pic>
        <p:nvPicPr>
          <p:cNvPr id="4" name="Image 0" descr="Dòng vận hành: một câu hỏi đi qua những đâu?"/>
          <p:cNvPicPr>
            <a:picLocks noChangeAspect="1"/>
          </p:cNvPicPr>
          <p:nvPr/>
        </p:nvPicPr>
        <p:blipFill>
          <a:blip r:embed="rId3"/>
          <a:stretch>
            <a:fillRect/>
          </a:stretch>
        </p:blipFill>
        <p:spPr>
          <a:xfrm>
            <a:off x="2173554" y="1463040"/>
            <a:ext cx="7814413"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vòng phản hồi không có người xem</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Năm 2016, một hãng công nghệ đưa lên mạng xã hội một chatbot học từ chính các cuộc trò chuyện với người dùng.</a:t>
            </a:r>
            <a:endParaRPr lang="en-US" sz="2400" dirty="0"/>
          </a:p>
          <a:p>
            <a:pPr marL="0" indent="0">
              <a:buNone/>
            </a:pPr>
            <a:endParaRPr lang="en-US" sz="2400" dirty="0"/>
          </a:p>
          <a:p>
            <a:pPr marL="0" indent="0">
              <a:buNone/>
            </a:pPr>
            <a:r>
              <a:rPr lang="en-US" sz="2400" dirty="0">
                <a:solidFill>
                  <a:schemeClr val="tx1"/>
                </a:solidFill>
              </a:rPr>
              <a:t>Chưa đầy một ngày, một nhóm người dùng đã cố tình “dạy” nó những phát ngôn xúc phạm. Hãng phải gỡ nó xuống và xin lỗi.</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Thiết kế này thiếu điều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Thiết kế tổng thể hệ thống của nhóm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Phiếu thiết kế khổ A3</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sáu bước và một dòng vận hành</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15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Phác thảo hệ thống AI của nhóm trên giấy A3</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Điền bảng sáu bước, mỗi bước hai, ba ý</a:t>
            </a:r>
            <a:endParaRPr lang="en-US" sz="2800" dirty="0"/>
          </a:p>
          <a:p>
            <a:pPr marL="342900" indent="-342900">
              <a:spcAft>
                <a:spcPts val="1200"/>
              </a:spcAft>
              <a:buSzPct val="100000"/>
              <a:buFont typeface="+mj-lt"/>
              <a:buAutoNum type="arabicPeriod"/>
            </a:pPr>
            <a:r>
              <a:rPr lang="en-US" sz="2800" dirty="0">
                <a:solidFill>
                  <a:schemeClr val="tx1"/>
                </a:solidFill>
              </a:rPr>
              <a:t>Vẽ dòng vận hành của hệ thống</a:t>
            </a:r>
            <a:endParaRPr lang="en-US" sz="2800" dirty="0"/>
          </a:p>
          <a:p>
            <a:pPr marL="342900" indent="-342900">
              <a:spcAft>
                <a:spcPts val="1200"/>
              </a:spcAft>
              <a:buSzPct val="100000"/>
              <a:buFont typeface="+mj-lt"/>
              <a:buAutoNum type="arabicPeriod"/>
            </a:pPr>
            <a:r>
              <a:rPr lang="en-US" sz="2800" dirty="0">
                <a:solidFill>
                  <a:schemeClr val="tx1"/>
                </a:solidFill>
              </a:rPr>
              <a:t>Đánh dấu chỗ con người quyết định</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Bắt buộc có</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Một nhánh “khi hệ thống không biết” và một vòng phản hồi đi qua con người.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Con người ở đâu trong sáu bước?</a:t>
            </a:r>
            <a:endParaRPr lang="en-US" sz="3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658368">
                <a:tc>
                  <a:txBody>
                    <a:bodyPr/>
                    <a:lstStyle/>
                    <a:p>
                      <a:pPr marL="0" indent="0" algn="ctr">
                        <a:buNone/>
                      </a:pPr>
                      <a:r>
                        <a:rPr lang="en-US" sz="2400" b="1" dirty="0">
                          <a:solidFill>
                            <a:schemeClr val="bg1"/>
                          </a:solidFill>
                        </a:rPr>
                        <a:t>Bước</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400" b="1" dirty="0">
                          <a:solidFill>
                            <a:schemeClr val="bg1"/>
                          </a:solidFill>
                        </a:rPr>
                        <a:t>Quyết định của con người</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lgn="l">
                        <a:buNone/>
                      </a:pPr>
                      <a:r>
                        <a:rPr lang="en-US" sz="2400" b="1" dirty="0">
                          <a:solidFill>
                            <a:schemeClr val="tx1"/>
                          </a:solidFill>
                        </a:rPr>
                        <a:t>1. Mục tiêu</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Phục vụ ai, làm gì, không làm gì</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lgn="l">
                        <a:buNone/>
                      </a:pPr>
                      <a:r>
                        <a:rPr lang="en-US" sz="2400" b="1" dirty="0">
                          <a:solidFill>
                            <a:schemeClr val="tx1"/>
                          </a:solidFill>
                        </a:rPr>
                        <a:t>2. Dữ liệu</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Dùng dữ liệu nào, có được phép không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58368">
                <a:tc>
                  <a:txBody>
                    <a:bodyPr/>
                    <a:lstStyle/>
                    <a:p>
                      <a:pPr marL="0" indent="0" algn="l">
                        <a:buNone/>
                      </a:pPr>
                      <a:r>
                        <a:rPr lang="en-US" sz="2400" b="1" dirty="0">
                          <a:solidFill>
                            <a:schemeClr val="tx1"/>
                          </a:solidFill>
                        </a:rPr>
                        <a:t>5. Kiểm thử</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400" dirty="0">
                          <a:solidFill>
                            <a:schemeClr val="tx1"/>
                          </a:solidFill>
                        </a:rPr>
                        <a:t>Sai đến mức nào thì chưa được ra mắt</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lgn="l">
                        <a:buNone/>
                      </a:pPr>
                      <a:r>
                        <a:rPr lang="en-US" sz="2400" b="1" dirty="0">
                          <a:solidFill>
                            <a:schemeClr val="tx1"/>
                          </a:solidFill>
                        </a:rPr>
                        <a:t>6. Vận hành</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400" dirty="0">
                          <a:solidFill>
                            <a:schemeClr val="tx1"/>
                          </a:solidFill>
                        </a:rPr>
                        <a:t>Ai chịu trách nhiệm, khi nào thì dừng</a:t>
                      </a:r>
                      <a:endParaRPr lang="en-US" sz="24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Shape 1"/>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120640"/>
            <a:ext cx="10424160" cy="868680"/>
          </a:xfrm>
          <a:prstGeom prst="rect">
            <a:avLst/>
          </a:prstGeom>
          <a:noFill/>
          <a:ln/>
        </p:spPr>
        <p:txBody>
          <a:bodyPr wrap="square" lIns="0" tIns="0" rIns="0" bIns="0" rtlCol="0" anchor="ctr"/>
          <a:lstStyle/>
          <a:p>
            <a:pPr marL="0" indent="0">
              <a:buNone/>
            </a:pPr>
            <a:r>
              <a:rPr lang="en-US" sz="2800" b="1" dirty="0">
                <a:solidFill>
                  <a:schemeClr val="tx1"/>
                </a:solidFill>
              </a:rPr>
              <a:t>Ở bước nào cũng có quyết định và trách nhiệm của con người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lại cả năm học</a:t>
            </a:r>
            <a:endParaRPr lang="en-US" sz="3800" dirty="0"/>
          </a:p>
        </p:txBody>
      </p:sp>
      <p:sp>
        <p:nvSpPr>
          <p:cNvPr id="4" name="Shape 1"/>
          <p:cNvSpPr/>
          <p:nvPr/>
        </p:nvSpPr>
        <p:spPr>
          <a:xfrm>
            <a:off x="54864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Dùng AI an toàn để giỏi lên</a:t>
            </a:r>
            <a:endParaRPr lang="en-US" sz="2400" dirty="0"/>
          </a:p>
          <a:p>
            <a:pPr marL="0" indent="0">
              <a:spcAft>
                <a:spcPts val="800"/>
              </a:spcAft>
              <a:buNone/>
            </a:pPr>
            <a:r>
              <a:rPr lang="en-US" sz="2400" dirty="0">
                <a:solidFill>
                  <a:schemeClr val="tx1"/>
                </a:solidFill>
              </a:rPr>
              <a:t>Quy trình bảy bước, ba dấu hiệu kiểm soát, bốn nhóm rủi ro.</a:t>
            </a:r>
            <a:endParaRPr lang="en-US" sz="2400" dirty="0"/>
          </a:p>
        </p:txBody>
      </p:sp>
      <p:sp>
        <p:nvSpPr>
          <p:cNvPr id="6" name="Shape 3"/>
          <p:cNvSpPr/>
          <p:nvPr/>
        </p:nvSpPr>
        <p:spPr>
          <a:xfrm>
            <a:off x="432816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AI có lợi cho ai, em có quyền gì</a:t>
            </a:r>
            <a:endParaRPr lang="en-US" sz="2400" dirty="0"/>
          </a:p>
          <a:p>
            <a:pPr marL="0" indent="0">
              <a:spcAft>
                <a:spcPts val="800"/>
              </a:spcAft>
              <a:buNone/>
            </a:pPr>
            <a:r>
              <a:rPr lang="en-US" sz="2400" dirty="0">
                <a:solidFill>
                  <a:schemeClr val="tx1"/>
                </a:solidFill>
              </a:rPr>
              <a:t>Bền vững, công bằng, năm quyền với dữ liệu.</a:t>
            </a:r>
            <a:endParaRPr lang="en-US" sz="2400" dirty="0"/>
          </a:p>
        </p:txBody>
      </p:sp>
      <p:sp>
        <p:nvSpPr>
          <p:cNvPr id="8" name="Shape 5"/>
          <p:cNvSpPr/>
          <p:nvPr/>
        </p:nvSpPr>
        <p:spPr>
          <a:xfrm>
            <a:off x="8107680" y="1554480"/>
            <a:ext cx="3505200" cy="352044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AI hỗ trợ học, bên trong có gì</a:t>
            </a:r>
            <a:endParaRPr lang="en-US" sz="2400" dirty="0"/>
          </a:p>
          <a:p>
            <a:pPr marL="0" indent="0">
              <a:spcAft>
                <a:spcPts val="800"/>
              </a:spcAft>
              <a:buNone/>
            </a:pPr>
            <a:r>
              <a:rPr lang="en-US" sz="2400" dirty="0">
                <a:solidFill>
                  <a:schemeClr val="tx1"/>
                </a:solidFill>
              </a:rPr>
              <a:t>Năm khâu, câu lệnh nâng cao, bốn công nghệ, sáu bước thiết kế.</a:t>
            </a:r>
            <a:endParaRPr lang="en-US" sz="2400" dirty="0"/>
          </a:p>
        </p:txBody>
      </p:sp>
      <p:sp>
        <p:nvSpPr>
          <p:cNvPr id="10" name="Shape 7"/>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Con người đặt mục tiêu, kiểm tra và chịu trách nhiệm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tháng sau</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Chatbot của nhóm em bắt đầu trả lời sai về lịch kiểm tra, vì nhà trường vừa đổi lịch.</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Trong sáu bước, bước nào phải làm lại? Ai chịu trách nhiệm cập nhật?</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Sáu bước</a:t>
            </a:r>
            <a:r>
              <a:rPr lang="en-US" sz="3200" dirty="0">
                <a:solidFill>
                  <a:schemeClr val="tx1"/>
                </a:solidFill>
              </a:rPr>
              <a:t>, và đó là một vòng lặp</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Dòng vận hành tốt có nhánh </a:t>
            </a:r>
            <a:r>
              <a:rPr lang="en-US" sz="3200" b="1" dirty="0">
                <a:solidFill>
                  <a:schemeClr val="tx2"/>
                </a:solidFill>
              </a:rPr>
              <a:t>“không biết”</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Vòng phản hồi </a:t>
            </a:r>
            <a:r>
              <a:rPr lang="en-US" sz="3200" b="1" dirty="0">
                <a:solidFill>
                  <a:schemeClr val="tx2"/>
                </a:solidFill>
              </a:rPr>
              <a:t>đi qua con người</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Hệ thống AI </a:t>
            </a:r>
            <a:r>
              <a:rPr lang="en-US" sz="3200" b="1" dirty="0">
                <a:solidFill>
                  <a:schemeClr val="tx2"/>
                </a:solidFill>
              </a:rPr>
              <a:t>không bao giờ “xong”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Sắp xếp các việc của một cổng bãi xe tự động theo đúng dòng vận hành (ghi số thứ tự trên phiếu).</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Tự đánh giá cuối năm: ba điều em làm được mà đầu năm chưa làm được, và một thói quen dùng AI em đã thay đổi.</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293517348"/>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1641</Words>
  <Application>Microsoft Office PowerPoint</Application>
  <PresentationFormat>Widescreen</PresentationFormat>
  <Paragraphs>169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Thiết kế và vận hành tổng thể một hệ thống AI</vt:lpstr>
      <vt:lpstr>Hôm nay chúng ta làm gì?</vt:lpstr>
      <vt:lpstr>Câu hỏi lúc mười giờ đêm</vt:lpstr>
      <vt:lpstr>Nhắc lại: năm thành phần của một hệ thống AI</vt:lpstr>
      <vt:lpstr>Sáu bước thiết kế và vận hành</vt:lpstr>
      <vt:lpstr>Bước 1 đến 3 với chatbot nội quy</vt:lpstr>
      <vt:lpstr>Bước 4 đến 6 với chatbot nội quy</vt:lpstr>
      <vt:lpstr>Dòng vận hành: một câu hỏi đi qua những đâu?</vt:lpstr>
      <vt:lpstr>Chuyện có thật: vòng phản hồi không có người xem</vt:lpstr>
      <vt:lpstr>Thiết kế tổng thể hệ thống của nhóm</vt:lpstr>
      <vt:lpstr>Nhiệm vụ nhóm: sáu bước và một dòng vận hành</vt:lpstr>
      <vt:lpstr>Con người ở đâu trong sáu bước?</vt:lpstr>
      <vt:lpstr>Nhìn lại cả năm học</vt:lpstr>
      <vt:lpstr>Một tháng sau</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11.12. Thiết kế và vận hành tổng thể một hệ thống AI</dc:title>
  <dc:subject>Trí tuệ nhân tạo</dc:subject>
  <cp:lastModifiedBy>Phạm Văn Tú</cp:lastModifiedBy>
  <cp:revision>1</cp:revision>
  <dcterms:created xsi:type="dcterms:W3CDTF">2026-10-08T11:06:08Z</dcterms:created>
  <dcterms:modified xsi:type="dcterms:W3CDTF">2026-10-10T03:39:35Z</dcterms:modified>
  <dc:description>Email: phamtund@gmail.com</dc:description>
  <dc:creator>Phạm Văn Tú</dc:creator>
  <cp:category>Trí tuệ nhân tạo</cp:category>
  <cp:keywords>Trí tuệ nhân tạo</cp:keywords>
</cp:coreProperties>
</file>