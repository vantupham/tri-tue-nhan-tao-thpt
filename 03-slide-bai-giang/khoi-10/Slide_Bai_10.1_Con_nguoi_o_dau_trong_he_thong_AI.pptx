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23691B15-2320-60F5-2570-A3DCF7F8F12F}">
          <p14:sldIdLst>
            <p14:sldId id="256"/>
            <p14:sldId id="257"/>
            <p14:sldId id="258"/>
            <p14:sldId id="259"/>
            <p14:sldId id="260"/>
            <p14:sldId id="261"/>
            <p14:sldId id="262"/>
            <p14:sldId id="263"/>
            <p14:sldId id="264"/>
          </p14:sldIdLst>
        </p14:section>
        <p14:section name="Vẽ sơ đồ “con người trong hệ thống AI”" id="{9C999E8C-ECF4-46DE-6B7E-9866A5662833}">
          <p14:sldIdLst>
            <p14:sldId id="265"/>
            <p14:sldId id="266"/>
            <p14:sldId id="267"/>
            <p14:sldId id="268"/>
            <p14:sldId id="269"/>
          </p14:sldIdLst>
        </p14:section>
        <p14:section name="Tổng kết" id="{D84CF9B6-DD9A-9BA1-E54E-3FFF6CB06E06}">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CF056F-3D73-46AC-B146-7EA5AEEA64BB}" v="5" dt="2026-10-10T03:22:01.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3540" y="19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undo custSel addSld delSld modSld sldOrd modSection">
      <pc:chgData name="Phạm Văn Tú" userId="67199c852bdd6d1b" providerId="LiveId" clId="{CB377567-0116-4044-BB7C-6E46B7A5C596}" dt="2026-10-10T03:20:16.479" v="73" actId="20577"/>
      <pc:docMkLst>
        <pc:docMk/>
      </pc:docMkLst>
      <pc:sldChg chg="modSp mod">
        <pc:chgData name="Phạm Văn Tú" userId="67199c852bdd6d1b" providerId="LiveId" clId="{CB377567-0116-4044-BB7C-6E46B7A5C596}" dt="2026-10-10T03:18:06.753" v="1" actId="20577"/>
        <pc:sldMkLst>
          <pc:docMk/>
          <pc:sldMk cId="0" sldId="256"/>
        </pc:sldMkLst>
        <pc:spChg chg="mod">
          <ac:chgData name="Phạm Văn Tú" userId="67199c852bdd6d1b" providerId="LiveId" clId="{CB377567-0116-4044-BB7C-6E46B7A5C596}" dt="2026-10-10T03:18:06.753" v="1" actId="20577"/>
          <ac:spMkLst>
            <pc:docMk/>
            <pc:sldMk cId="0" sldId="256"/>
            <ac:spMk id="3" creationId="{00000000-0000-0000-0000-000000000000}"/>
          </ac:spMkLst>
        </pc:spChg>
      </pc:sldChg>
      <pc:sldChg chg="add del">
        <pc:chgData name="Phạm Văn Tú" userId="67199c852bdd6d1b" providerId="LiveId" clId="{CB377567-0116-4044-BB7C-6E46B7A5C596}" dt="2026-10-10T03:18:26.855" v="3" actId="2890"/>
        <pc:sldMkLst>
          <pc:docMk/>
          <pc:sldMk cId="206506608" sldId="272"/>
        </pc:sldMkLst>
      </pc:sldChg>
      <pc:sldChg chg="addSp modSp add mod ord">
        <pc:chgData name="Phạm Văn Tú" userId="67199c852bdd6d1b" providerId="LiveId" clId="{CB377567-0116-4044-BB7C-6E46B7A5C596}" dt="2026-10-10T03:20:16.479" v="73" actId="20577"/>
        <pc:sldMkLst>
          <pc:docMk/>
          <pc:sldMk cId="2543750786" sldId="272"/>
        </pc:sldMkLst>
        <pc:spChg chg="mod">
          <ac:chgData name="Phạm Văn Tú" userId="67199c852bdd6d1b" providerId="LiveId" clId="{CB377567-0116-4044-BB7C-6E46B7A5C596}" dt="2026-10-10T03:19:56.977" v="40" actId="20577"/>
          <ac:spMkLst>
            <pc:docMk/>
            <pc:sldMk cId="2543750786" sldId="272"/>
            <ac:spMk id="2" creationId="{B5A6725C-CB31-6472-2A29-F859C3B9EAD2}"/>
          </ac:spMkLst>
        </pc:spChg>
        <pc:spChg chg="mod">
          <ac:chgData name="Phạm Văn Tú" userId="67199c852bdd6d1b" providerId="LiveId" clId="{CB377567-0116-4044-BB7C-6E46B7A5C596}" dt="2026-10-10T03:20:16.479" v="73" actId="20577"/>
          <ac:spMkLst>
            <pc:docMk/>
            <pc:sldMk cId="2543750786" sldId="272"/>
            <ac:spMk id="3" creationId="{84FC6891-0F0B-8821-EA2F-EDAF20AF9F0E}"/>
          </ac:spMkLst>
        </pc:spChg>
        <pc:picChg chg="add mod">
          <ac:chgData name="Phạm Văn Tú" userId="67199c852bdd6d1b" providerId="LiveId" clId="{CB377567-0116-4044-BB7C-6E46B7A5C596}" dt="2026-10-10T03:19:17.756" v="8" actId="1076"/>
          <ac:picMkLst>
            <pc:docMk/>
            <pc:sldMk cId="2543750786" sldId="272"/>
            <ac:picMk id="39" creationId="{F0739DF9-4DB4-2556-E5C3-E8D4250BEDC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512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phiếu khảo sát nhanh đầu năm, giấy A3 cho các nhóm, Phiếu ra cửa. Tài liệu học sinh: tập Khối 10, Bài 10.1.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đầu năm: vài phút cho phiếu khảo sát nhanh về việc học sinh đã dùng AI thế nào.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(7 phút). Tình huống giả định. Cả ba câu trả lời đều đúng một phần: Khoa bấm xem; ứng dụng chọn và xếp video; người làm ra thiết kế để ứng dụng gợi ý theo cách ấy. Đằng sau mỗi sản phẩm AI luôn có nhiều con người, mỗi người một vai.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(13 phút). Giới thiệu các từ dùng suốt năm: hệ thống AI, sử dụng, vận hành, tùy chỉnh. Định nghĩa đầy đủ trong Tài liệu học tập (lược theo Khung nội dung của Bộ).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kẻ bảng ba vai trò vào vở. Một người có thể giữ nhiều vai. Dễ nhầm: vận hành và tùy chỉnh không nhất thiết phải lập trình (ví dụ: cô thủ thư cập nhật tài liệu cho trợ lí hỏi đáp).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Phép so sánh giúp học sinh nhớ ba vai. Hỏi: nếu xe đi sai tuyến thì ai phải trả lời?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Báo Pháp Luật TP.HCM, dẫn thông tin từ Trung tâm Quản lí điều hành giao thông đô thị. Giáo viên xem lại chi tiết trong Tài liệu học tập, mục 3, trước khi kể. Gợi ý: người dân và cảnh sát giao thông sử dụng thông tin; kĩ sư trung tâm vận hành; cán bộ điều chỉnh cấu hình theo từng nút giao.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AI gợi ý lộ trình thì được; quyết định kỉ luật một học sinh thì con người phải làm.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ngắn, cập nhật theo giai đoạn hiện nay. Ví dụ: tác nhân AI chuẩn bị chuyến dã ngoại có thể tự tìm địa điểm, so giá; nhưng trước khi đặt cọc hay nhắn cả lớp thì phải chờ em đồng ý.</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phút trưng bày và nhận xét. Sơ đồ A3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 lại chuyện của Khoa: Khoa có thể làm gì để giữ quyền chủ động? (đặt giờ, tắt tự phát, tự chọn nội dung).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hoạt động 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Dẫn sang Bài 10.2: vì sao con người phải kiểm soát 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Không cho điểm. Giao nhiệm vụ: đọc trước Bài 10.2.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28313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10.1 · Con người ở đâu trong một hệ thống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Con người ở đâu trong một hệ thống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10.1 · Chuyên đề 10.1: Con người làm chủ AI</a:t>
            </a:r>
            <a:endParaRPr lang="en-US" sz="2400" dirty="0"/>
          </a:p>
          <a:p>
            <a:pPr marL="0" indent="0" algn="l">
              <a:buNone/>
            </a:pPr>
            <a:r>
              <a:rPr lang="en-US" sz="2400" dirty="0">
                <a:solidFill>
                  <a:schemeClr val="accent5"/>
                </a:solidFill>
              </a:rPr>
              <a:t>Giáo dục trí tuệ nhân tạo lớp 10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Gọi tên</a:t>
            </a:r>
            <a:r>
              <a:rPr lang="en-US" sz="2800" dirty="0">
                <a:solidFill>
                  <a:schemeClr val="tx1"/>
                </a:solidFill>
              </a:rPr>
              <a:t> ba vai trò của con người với hệ thống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Chỉ ra</a:t>
            </a:r>
            <a:r>
              <a:rPr lang="en-US" sz="2800" dirty="0">
                <a:solidFill>
                  <a:schemeClr val="tx1"/>
                </a:solidFill>
              </a:rPr>
              <a:t> việc nào giao cho AI, việc nào con người phải giữ</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Nhận ra</a:t>
            </a:r>
            <a:r>
              <a:rPr lang="en-US" sz="2800" dirty="0">
                <a:solidFill>
                  <a:schemeClr val="tx1"/>
                </a:solidFill>
              </a:rPr>
              <a:t> chính em đang ở vai nào</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7'</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Ai đang cầm lái?</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Ba vai trò</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20'</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Vẽ sơ đồ</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Ai đang cầm lái?</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Tối qua, Khoa định xem “một video thôi” trước khi học bài.</a:t>
            </a:r>
            <a:endParaRPr lang="en-US" sz="2800" dirty="0"/>
          </a:p>
          <a:p>
            <a:pPr marL="0" indent="0">
              <a:buNone/>
            </a:pPr>
            <a:endParaRPr lang="en-US" sz="2800" dirty="0"/>
          </a:p>
          <a:p>
            <a:pPr marL="0" indent="0">
              <a:buNone/>
            </a:pPr>
            <a:r>
              <a:rPr lang="en-US" sz="2800" dirty="0">
                <a:solidFill>
                  <a:schemeClr val="tx1"/>
                </a:solidFill>
              </a:rPr>
              <a:t>Xem xong, ứng dụng gợi ý ngay video tiếp theo, đúng thứ Khoa thích. Rồi video nữa.</a:t>
            </a:r>
            <a:endParaRPr lang="en-US" sz="2800" dirty="0"/>
          </a:p>
          <a:p>
            <a:pPr marL="0" indent="0">
              <a:buNone/>
            </a:pPr>
            <a:endParaRPr lang="en-US" sz="2800" dirty="0"/>
          </a:p>
          <a:p>
            <a:pPr marL="0" indent="0">
              <a:buNone/>
            </a:pPr>
            <a:r>
              <a:rPr lang="en-US" sz="2800" dirty="0">
                <a:solidFill>
                  <a:schemeClr val="tx1"/>
                </a:solidFill>
              </a:rPr>
              <a:t>Lúc ngẩng lên đã quá mười giờ.</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Ai đã quyết định Khoa xem gì: Khoa, ứng dụng, hay những người làm ra ứng dụng?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Thứ ta gọi là “AI” là một hệ thống AI</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Nhận</a:t>
            </a:r>
            <a:endParaRPr lang="en-US" sz="2400" dirty="0"/>
          </a:p>
          <a:p>
            <a:pPr marL="0" indent="0">
              <a:spcAft>
                <a:spcPts val="800"/>
              </a:spcAft>
              <a:buNone/>
            </a:pPr>
            <a:r>
              <a:rPr lang="en-US" sz="2400" dirty="0">
                <a:solidFill>
                  <a:schemeClr val="tx1"/>
                </a:solidFill>
              </a:rPr>
              <a:t>Dữ liệu đầu vào: thứ em đã xem, đã bấm.</a:t>
            </a:r>
            <a:endParaRPr lang="en-US" sz="24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Suy luận</a:t>
            </a:r>
            <a:endParaRPr lang="en-US" sz="2400" dirty="0"/>
          </a:p>
          <a:p>
            <a:pPr marL="0" indent="0">
              <a:spcAft>
                <a:spcPts val="800"/>
              </a:spcAft>
              <a:buNone/>
            </a:pPr>
            <a:r>
              <a:rPr lang="en-US" sz="2400" dirty="0">
                <a:solidFill>
                  <a:schemeClr val="tx1"/>
                </a:solidFill>
              </a:rPr>
              <a:t>Theo mục tiêu do con người đặt ra.</a:t>
            </a:r>
            <a:endParaRPr lang="en-US" sz="2400" dirty="0"/>
          </a:p>
        </p:txBody>
      </p:sp>
      <p:sp>
        <p:nvSpPr>
          <p:cNvPr id="8" name="Shape 5"/>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Đưa ra</a:t>
            </a:r>
            <a:endParaRPr lang="en-US" sz="2400" dirty="0"/>
          </a:p>
          <a:p>
            <a:pPr marL="0" indent="0">
              <a:spcAft>
                <a:spcPts val="800"/>
              </a:spcAft>
              <a:buNone/>
            </a:pPr>
            <a:r>
              <a:rPr lang="en-US" sz="2400" dirty="0">
                <a:solidFill>
                  <a:schemeClr val="tx1"/>
                </a:solidFill>
              </a:rPr>
              <a:t>Dự đoán, nội dung, gợi ý hoặc quyết định.</a:t>
            </a:r>
            <a:endParaRPr lang="en-US" sz="24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Trong hệ thống ấy luôn có con người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vai trò của con người</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Sử dụng</a:t>
            </a:r>
            <a:endParaRPr lang="en-US" sz="2400" dirty="0"/>
          </a:p>
          <a:p>
            <a:pPr marL="0" indent="0">
              <a:spcAft>
                <a:spcPts val="800"/>
              </a:spcAft>
              <a:buNone/>
            </a:pPr>
            <a:r>
              <a:rPr lang="en-US" sz="2400" dirty="0">
                <a:solidFill>
                  <a:schemeClr val="tx1"/>
                </a:solidFill>
              </a:rPr>
              <a:t>Đặt yêu cầu, kiểm tra, quyết định dùng kết quả.</a:t>
            </a:r>
            <a:endParaRPr lang="en-US" sz="2400" dirty="0"/>
          </a:p>
        </p:txBody>
      </p:sp>
      <p:sp>
        <p:nvSpPr>
          <p:cNvPr id="8" name="Shape 5"/>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Vận hành</a:t>
            </a:r>
            <a:endParaRPr lang="en-US" sz="2400" dirty="0"/>
          </a:p>
          <a:p>
            <a:pPr marL="0" indent="0">
              <a:spcAft>
                <a:spcPts val="800"/>
              </a:spcAft>
              <a:buNone/>
            </a:pPr>
            <a:r>
              <a:rPr lang="en-US" sz="2400" dirty="0">
                <a:solidFill>
                  <a:schemeClr val="tx1"/>
                </a:solidFill>
              </a:rPr>
              <a:t>Giữ cho hệ thống chạy, xử lí sự cố.</a:t>
            </a:r>
            <a:endParaRPr lang="en-US" sz="2400" dirty="0"/>
          </a:p>
        </p:txBody>
      </p:sp>
      <p:sp>
        <p:nvSpPr>
          <p:cNvPr id="12" name="Shape 9"/>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224028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Tùy chỉnh</a:t>
            </a:r>
            <a:endParaRPr lang="en-US" sz="2400" dirty="0"/>
          </a:p>
          <a:p>
            <a:pPr marL="0" indent="0">
              <a:spcAft>
                <a:spcPts val="800"/>
              </a:spcAft>
              <a:buNone/>
            </a:pPr>
            <a:r>
              <a:rPr lang="en-US" sz="2400" dirty="0">
                <a:solidFill>
                  <a:schemeClr val="tx1"/>
                </a:solidFill>
              </a:rPr>
              <a:t>Điều chỉnh hệ thống cho hợp nhu cầu.</a:t>
            </a:r>
            <a:endParaRPr lang="en-US" sz="2400" dirty="0"/>
          </a:p>
        </p:txBody>
      </p:sp>
      <p:sp>
        <p:nvSpPr>
          <p:cNvPr id="16" name="Shape 13"/>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7" name="Text 14"/>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Ở vai nào con người cũng quyết định và chịu trách nhiệm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Phép so sánh: chiếc xe buýt</a:t>
            </a:r>
            <a:endParaRPr lang="en-US" sz="3800" dirty="0"/>
          </a:p>
        </p:txBody>
      </p:sp>
      <p:sp>
        <p:nvSpPr>
          <p:cNvPr id="4" name="Shape 1"/>
          <p:cNvSpPr/>
          <p:nvPr/>
        </p:nvSpPr>
        <p:spPr>
          <a:xfrm>
            <a:off x="548640" y="1737360"/>
            <a:ext cx="338328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640080" y="1737360"/>
            <a:ext cx="3200400" cy="1371600"/>
          </a:xfrm>
          <a:prstGeom prst="rect">
            <a:avLst/>
          </a:prstGeom>
          <a:noFill/>
          <a:ln/>
        </p:spPr>
        <p:txBody>
          <a:bodyPr wrap="square" lIns="0" tIns="0" rIns="0" bIns="0" rtlCol="0" anchor="ctr"/>
          <a:lstStyle/>
          <a:p>
            <a:pPr marL="0" indent="0" algn="ctr">
              <a:buNone/>
            </a:pPr>
            <a:r>
              <a:rPr lang="en-US" sz="2400" b="1" dirty="0">
                <a:solidFill>
                  <a:schemeClr val="tx2"/>
                </a:solidFill>
              </a:rPr>
              <a:t>Hành khách</a:t>
            </a:r>
            <a:endParaRPr lang="en-US" sz="2400" dirty="0"/>
          </a:p>
        </p:txBody>
      </p:sp>
      <p:sp>
        <p:nvSpPr>
          <p:cNvPr id="6" name="Text 3"/>
          <p:cNvSpPr txBox="1"/>
          <p:nvPr/>
        </p:nvSpPr>
        <p:spPr>
          <a:xfrm>
            <a:off x="548640" y="3291840"/>
            <a:ext cx="3383280" cy="1371600"/>
          </a:xfrm>
          <a:prstGeom prst="rect">
            <a:avLst/>
          </a:prstGeom>
          <a:noFill/>
          <a:ln/>
        </p:spPr>
        <p:txBody>
          <a:bodyPr wrap="square" lIns="0" tIns="0" rIns="0" bIns="0" rtlCol="0" anchor="t"/>
          <a:lstStyle/>
          <a:p>
            <a:pPr marL="0" indent="0" algn="ctr">
              <a:buNone/>
            </a:pPr>
            <a:r>
              <a:rPr lang="en-US" sz="2000" dirty="0">
                <a:solidFill>
                  <a:schemeClr val="tx1"/>
                </a:solidFill>
              </a:rPr>
              <a:t>sử dụng: chọn tuyến, quyết định lên xe</a:t>
            </a:r>
            <a:endParaRPr lang="en-US" sz="2000" dirty="0"/>
          </a:p>
        </p:txBody>
      </p:sp>
      <p:sp>
        <p:nvSpPr>
          <p:cNvPr id="7" name="Shape 4"/>
          <p:cNvSpPr/>
          <p:nvPr/>
        </p:nvSpPr>
        <p:spPr>
          <a:xfrm>
            <a:off x="400050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8" name="Shape 5"/>
          <p:cNvSpPr/>
          <p:nvPr/>
        </p:nvSpPr>
        <p:spPr>
          <a:xfrm>
            <a:off x="4389120" y="1737360"/>
            <a:ext cx="338328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4480560" y="1737360"/>
            <a:ext cx="3200400" cy="1371600"/>
          </a:xfrm>
          <a:prstGeom prst="rect">
            <a:avLst/>
          </a:prstGeom>
          <a:noFill/>
          <a:ln/>
        </p:spPr>
        <p:txBody>
          <a:bodyPr wrap="square" lIns="0" tIns="0" rIns="0" bIns="0" rtlCol="0" anchor="ctr"/>
          <a:lstStyle/>
          <a:p>
            <a:pPr marL="0" indent="0" algn="ctr">
              <a:buNone/>
            </a:pPr>
            <a:r>
              <a:rPr lang="en-US" sz="2400" b="1" dirty="0">
                <a:solidFill>
                  <a:schemeClr val="tx2"/>
                </a:solidFill>
              </a:rPr>
              <a:t>Tài xế, điều hành</a:t>
            </a:r>
            <a:endParaRPr lang="en-US" sz="2400" dirty="0"/>
          </a:p>
        </p:txBody>
      </p:sp>
      <p:sp>
        <p:nvSpPr>
          <p:cNvPr id="10" name="Text 7"/>
          <p:cNvSpPr txBox="1"/>
          <p:nvPr/>
        </p:nvSpPr>
        <p:spPr>
          <a:xfrm>
            <a:off x="4389120" y="3291840"/>
            <a:ext cx="3383280" cy="1371600"/>
          </a:xfrm>
          <a:prstGeom prst="rect">
            <a:avLst/>
          </a:prstGeom>
          <a:noFill/>
          <a:ln/>
        </p:spPr>
        <p:txBody>
          <a:bodyPr wrap="square" lIns="0" tIns="0" rIns="0" bIns="0" rtlCol="0" anchor="t"/>
          <a:lstStyle/>
          <a:p>
            <a:pPr marL="0" indent="0" algn="ctr">
              <a:buNone/>
            </a:pPr>
            <a:r>
              <a:rPr lang="en-US" sz="2000" dirty="0">
                <a:solidFill>
                  <a:schemeClr val="tx1"/>
                </a:solidFill>
              </a:rPr>
              <a:t>vận hành: giữ xe chạy an toàn</a:t>
            </a:r>
            <a:endParaRPr lang="en-US" sz="2000" dirty="0"/>
          </a:p>
        </p:txBody>
      </p:sp>
      <p:sp>
        <p:nvSpPr>
          <p:cNvPr id="11" name="Shape 8"/>
          <p:cNvSpPr/>
          <p:nvPr/>
        </p:nvSpPr>
        <p:spPr>
          <a:xfrm>
            <a:off x="784098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2" name="Shape 9"/>
          <p:cNvSpPr/>
          <p:nvPr/>
        </p:nvSpPr>
        <p:spPr>
          <a:xfrm>
            <a:off x="8229600" y="1737360"/>
            <a:ext cx="338328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8321040" y="1737360"/>
            <a:ext cx="3200400" cy="1371600"/>
          </a:xfrm>
          <a:prstGeom prst="rect">
            <a:avLst/>
          </a:prstGeom>
          <a:noFill/>
          <a:ln/>
        </p:spPr>
        <p:txBody>
          <a:bodyPr wrap="square" lIns="0" tIns="0" rIns="0" bIns="0" rtlCol="0" anchor="ctr"/>
          <a:lstStyle/>
          <a:p>
            <a:pPr marL="0" indent="0" algn="ctr">
              <a:buNone/>
            </a:pPr>
            <a:r>
              <a:rPr lang="en-US" sz="2400" b="1" dirty="0">
                <a:solidFill>
                  <a:schemeClr val="tx2"/>
                </a:solidFill>
              </a:rPr>
              <a:t>Người xếp tuyến</a:t>
            </a:r>
            <a:endParaRPr lang="en-US" sz="2400" dirty="0"/>
          </a:p>
        </p:txBody>
      </p:sp>
      <p:sp>
        <p:nvSpPr>
          <p:cNvPr id="14" name="Text 11"/>
          <p:cNvSpPr txBox="1"/>
          <p:nvPr/>
        </p:nvSpPr>
        <p:spPr>
          <a:xfrm>
            <a:off x="8229600" y="3291840"/>
            <a:ext cx="3383280" cy="1371600"/>
          </a:xfrm>
          <a:prstGeom prst="rect">
            <a:avLst/>
          </a:prstGeom>
          <a:noFill/>
          <a:ln/>
        </p:spPr>
        <p:txBody>
          <a:bodyPr wrap="square" lIns="0" tIns="0" rIns="0" bIns="0" rtlCol="0" anchor="t"/>
          <a:lstStyle/>
          <a:p>
            <a:pPr marL="0" indent="0" algn="ctr">
              <a:buNone/>
            </a:pPr>
            <a:r>
              <a:rPr lang="en-US" sz="2000" dirty="0">
                <a:solidFill>
                  <a:schemeClr val="tx1"/>
                </a:solidFill>
              </a:rPr>
              <a:t>tùy chỉnh: đổi lộ trình cho hợp nhu cầu</a:t>
            </a:r>
            <a:endParaRPr lang="en-US" sz="2000" dirty="0"/>
          </a:p>
        </p:txBody>
      </p:sp>
      <p:sp>
        <p:nvSpPr>
          <p:cNvPr id="15" name="Shape 12"/>
          <p:cNvSpPr/>
          <p:nvPr/>
        </p:nvSpPr>
        <p:spPr>
          <a:xfrm>
            <a:off x="548640" y="525780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6" name="Text 13"/>
          <p:cNvSpPr txBox="1"/>
          <p:nvPr/>
        </p:nvSpPr>
        <p:spPr>
          <a:xfrm>
            <a:off x="868680" y="525780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Chiếc xe không tự chịu trách nhiệm về chuyến đi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giao thông thành phố mình</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Thành phố Hồ Chí Minh đã đưa AI vào điều hành giao thông, hướng tới tối ưu chu kì đèn tín hiệu để giảm ùn ứ.</a:t>
            </a:r>
            <a:endParaRPr lang="en-US" sz="2800" dirty="0"/>
          </a:p>
          <a:p>
            <a:pPr marL="0" indent="0">
              <a:buNone/>
            </a:pPr>
            <a:endParaRPr lang="en-US" sz="2800" dirty="0"/>
          </a:p>
          <a:p>
            <a:pPr marL="0" indent="0">
              <a:buNone/>
            </a:pPr>
            <a:r>
              <a:rPr lang="en-US" sz="2800" dirty="0">
                <a:solidFill>
                  <a:schemeClr val="tx1"/>
                </a:solidFill>
              </a:rPr>
              <a:t>Hệ thống phân tích hình ảnh và số liệu rất nhanh.</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Trong hệ thống này, ai sử dụng, ai vận hành, ai tùy chỉnh?</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Việc nào giao cho AI, việc nào con người giữ?</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Có thể giao cho AI</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Việc lặp lại, nhiều dữ liệu</a:t>
            </a:r>
            <a:endParaRPr lang="en-US" sz="2400" dirty="0"/>
          </a:p>
          <a:p>
            <a:pPr marL="342900" indent="-342900">
              <a:spcAft>
                <a:spcPts val="1000"/>
              </a:spcAft>
              <a:buSzPct val="100000"/>
              <a:buChar char="•"/>
            </a:pPr>
            <a:r>
              <a:rPr lang="en-US" sz="2400" dirty="0">
                <a:solidFill>
                  <a:schemeClr val="tx1"/>
                </a:solidFill>
              </a:rPr>
              <a:t>Tính toán, tổng hợp nhanh</a:t>
            </a:r>
            <a:endParaRPr lang="en-US" sz="2400" dirty="0"/>
          </a:p>
          <a:p>
            <a:pPr marL="342900" indent="-342900">
              <a:spcAft>
                <a:spcPts val="1000"/>
              </a:spcAft>
              <a:buSzPct val="100000"/>
              <a:buChar char="•"/>
            </a:pPr>
            <a:r>
              <a:rPr lang="en-US" sz="2400" dirty="0">
                <a:solidFill>
                  <a:schemeClr val="tx1"/>
                </a:solidFill>
              </a:rPr>
              <a:t>Sai thì sửa được</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Con người phải giữ</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Việc ảnh hưởng đến con người</a:t>
            </a:r>
            <a:endParaRPr lang="en-US" sz="2400" dirty="0"/>
          </a:p>
          <a:p>
            <a:pPr marL="342900" indent="-342900">
              <a:spcAft>
                <a:spcPts val="1000"/>
              </a:spcAft>
              <a:buSzPct val="100000"/>
              <a:buChar char="•"/>
            </a:pPr>
            <a:r>
              <a:rPr lang="en-US" sz="2400" dirty="0">
                <a:solidFill>
                  <a:schemeClr val="bg1"/>
                </a:solidFill>
              </a:rPr>
              <a:t>Việc khó đảo ngược</a:t>
            </a:r>
            <a:endParaRPr lang="en-US" sz="2400" dirty="0"/>
          </a:p>
          <a:p>
            <a:pPr marL="342900" indent="-342900">
              <a:spcAft>
                <a:spcPts val="1000"/>
              </a:spcAft>
              <a:buSzPct val="100000"/>
              <a:buChar char="•"/>
            </a:pPr>
            <a:r>
              <a:rPr lang="en-US" sz="2400" dirty="0">
                <a:solidFill>
                  <a:schemeClr val="bg1"/>
                </a:solidFill>
              </a:rPr>
              <a:t>Việc cần chịu trách nhiệm</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AI là công cụ; con người là bên quyết định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AI biết “tự làm”: tác nhân AI</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Là gì?</a:t>
            </a:r>
            <a:endParaRPr lang="en-US" sz="2600" dirty="0"/>
          </a:p>
          <a:p>
            <a:pPr marL="0" indent="0">
              <a:spcAft>
                <a:spcPts val="800"/>
              </a:spcAft>
              <a:buNone/>
            </a:pPr>
            <a:r>
              <a:rPr lang="en-US" sz="2600" dirty="0">
                <a:solidFill>
                  <a:schemeClr val="tx1"/>
                </a:solidFill>
              </a:rPr>
              <a:t>Hệ thống AI tự thực hiện một chuỗi bước để đạt mục tiêu được giao.</a:t>
            </a:r>
            <a:endParaRPr lang="en-US" sz="2600" dirty="0"/>
          </a:p>
        </p:txBody>
      </p:sp>
      <p:sp>
        <p:nvSpPr>
          <p:cNvPr id="6" name="Shape 3"/>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7" name="Text 4"/>
          <p:cNvSpPr txBox="1"/>
          <p:nvPr/>
        </p:nvSpPr>
        <p:spPr>
          <a:xfrm>
            <a:off x="649224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Cần làm gì?</a:t>
            </a:r>
            <a:endParaRPr lang="en-US" sz="2600" dirty="0"/>
          </a:p>
          <a:p>
            <a:pPr marL="0" indent="0">
              <a:spcAft>
                <a:spcPts val="800"/>
              </a:spcAft>
              <a:buNone/>
            </a:pPr>
            <a:r>
              <a:rPr lang="en-US" sz="2600" dirty="0">
                <a:solidFill>
                  <a:schemeClr val="bg1"/>
                </a:solidFill>
              </a:rPr>
              <a:t>Xác định trước việc nào nó được tự làm, việc nào phải chờ người phê duyệt.</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Vẽ sơ đồ “con người trong hệ thống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20 phút · Làm việc nhóm trên giấy A3</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ai làm gì quanh một hệ thống AI?</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13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Vẽ sơ đồ cho hệ thống AI trên thẻ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Đặt hệ thống AI ở giữa tờ giấy</a:t>
            </a:r>
            <a:endParaRPr lang="en-US" sz="2800" dirty="0"/>
          </a:p>
          <a:p>
            <a:pPr marL="342900" indent="-342900">
              <a:spcAft>
                <a:spcPts val="1200"/>
              </a:spcAft>
              <a:buSzPct val="100000"/>
              <a:buFont typeface="+mj-lt"/>
              <a:buAutoNum type="arabicPeriod"/>
            </a:pPr>
            <a:r>
              <a:rPr lang="en-US" sz="2800" dirty="0">
                <a:solidFill>
                  <a:schemeClr val="tx1"/>
                </a:solidFill>
              </a:rPr>
              <a:t>Vẽ những con người quanh nó, ghi vai: sử dụng, vận hành, tùy chỉnh</a:t>
            </a:r>
            <a:endParaRPr lang="en-US" sz="2800" dirty="0"/>
          </a:p>
          <a:p>
            <a:pPr marL="342900" indent="-342900">
              <a:spcAft>
                <a:spcPts val="1200"/>
              </a:spcAft>
              <a:buSzPct val="100000"/>
              <a:buFont typeface="+mj-lt"/>
              <a:buAutoNum type="arabicPeriod"/>
            </a:pPr>
            <a:r>
              <a:rPr lang="en-US" sz="2800" dirty="0">
                <a:solidFill>
                  <a:schemeClr val="tx1"/>
                </a:solidFill>
              </a:rPr>
              <a:t>Đánh dấu một việc con người phải giữ quyền quyết định</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 hệ thống</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Trợ lí hỏi đáp nội quy của trường. Ứng dụng bản đồ chỉ đường. Ứng dụng gợi ý video.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Còn em, em đang ở vai nào?</a:t>
            </a:r>
            <a:endParaRPr lang="en-US" sz="3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291840"/>
        </p:xfrm>
        <a:graphic>
          <a:graphicData uri="http://schemas.openxmlformats.org/drawingml/2006/table">
            <a:tbl>
              <a:tblPr/>
              <a:tblGrid>
                <a:gridCol w="7589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822960">
                <a:tc>
                  <a:txBody>
                    <a:bodyPr/>
                    <a:lstStyle/>
                    <a:p>
                      <a:pPr marL="0" indent="0" algn="ctr">
                        <a:buNone/>
                      </a:pPr>
                      <a:r>
                        <a:rPr lang="en-US" sz="2400" b="1" dirty="0">
                          <a:solidFill>
                            <a:schemeClr val="bg1"/>
                          </a:solidFill>
                        </a:rPr>
                        <a:t>Khi em...</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Em đang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22960">
                <a:tc>
                  <a:txBody>
                    <a:bodyPr/>
                    <a:lstStyle/>
                    <a:p>
                      <a:pPr marL="0" indent="0" algn="l">
                        <a:buNone/>
                      </a:pPr>
                      <a:r>
                        <a:rPr lang="en-US" sz="2400" b="1" dirty="0">
                          <a:solidFill>
                            <a:schemeClr val="tx1"/>
                          </a:solidFill>
                        </a:rPr>
                        <a:t>hỏi trợ lí AI một câu rồi kiểm tra lại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sử dụng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lgn="l">
                        <a:buNone/>
                      </a:pPr>
                      <a:r>
                        <a:rPr lang="en-US" sz="2400" b="1" dirty="0">
                          <a:solidFill>
                            <a:schemeClr val="tx1"/>
                          </a:solidFill>
                        </a:rPr>
                        <a:t>tắt gợi ý tự phát video tiếp theo</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tùy chỉnh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22960">
                <a:tc>
                  <a:txBody>
                    <a:bodyPr/>
                    <a:lstStyle/>
                    <a:p>
                      <a:pPr marL="0" indent="0" algn="l">
                        <a:buNone/>
                      </a:pPr>
                      <a:r>
                        <a:rPr lang="en-US" sz="2400" b="1" dirty="0">
                          <a:solidFill>
                            <a:schemeClr val="tx1"/>
                          </a:solidFill>
                        </a:rPr>
                        <a:t>báo lỗi khi ứng dụng trả lời sai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góp phần vận hành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Em không chỉ là người “bị gợi ý”</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việc giữ quyền chủ động</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Đặt mục đích</a:t>
            </a:r>
            <a:r>
              <a:rPr lang="en-US" sz="3200" dirty="0">
                <a:solidFill>
                  <a:schemeClr val="tx1"/>
                </a:solidFill>
              </a:rPr>
              <a:t> trước khi mở ứng dụng</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Kiểm tra</a:t>
            </a:r>
            <a:r>
              <a:rPr lang="en-US" sz="3200" dirty="0">
                <a:solidFill>
                  <a:schemeClr val="tx1"/>
                </a:solidFill>
              </a:rPr>
              <a:t> kết quả AI đưa ra</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Tự quyết định</a:t>
            </a:r>
            <a:r>
              <a:rPr lang="en-US" sz="3200" dirty="0">
                <a:solidFill>
                  <a:schemeClr val="tx1"/>
                </a:solidFill>
              </a:rPr>
              <a:t> dùng hay không dùng</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Em cầm lái, AI là công cụ.</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Điều cần nhớ cho cả năm học</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AI có thể sai</a:t>
            </a:r>
            <a:endParaRPr lang="en-US" sz="2600" dirty="0"/>
          </a:p>
          <a:p>
            <a:pPr marL="0" indent="0">
              <a:spcAft>
                <a:spcPts val="800"/>
              </a:spcAft>
              <a:buNone/>
            </a:pPr>
            <a:r>
              <a:rPr lang="en-US" sz="2600" dirty="0">
                <a:solidFill>
                  <a:schemeClr val="tx1"/>
                </a:solidFill>
              </a:rPr>
              <a:t>Nên luôn cần người kiểm tra.</a:t>
            </a:r>
            <a:endParaRPr lang="en-US" sz="2600" dirty="0"/>
          </a:p>
        </p:txBody>
      </p:sp>
      <p:sp>
        <p:nvSpPr>
          <p:cNvPr id="6" name="Shape 3"/>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AI không chịu trách nhiệm</a:t>
            </a:r>
            <a:endParaRPr lang="en-US" sz="2600" dirty="0"/>
          </a:p>
          <a:p>
            <a:pPr marL="0" indent="0">
              <a:spcAft>
                <a:spcPts val="800"/>
              </a:spcAft>
              <a:buNone/>
            </a:pPr>
            <a:r>
              <a:rPr lang="en-US" sz="2600" dirty="0">
                <a:solidFill>
                  <a:schemeClr val="tx1"/>
                </a:solidFill>
              </a:rPr>
              <a:t>Người dùng kết quả mới là người chịu trách nhiệm.</a:t>
            </a:r>
            <a:endParaRPr lang="en-US" sz="2600" dirty="0"/>
          </a:p>
        </p:txBody>
      </p:sp>
      <p:sp>
        <p:nvSpPr>
          <p:cNvPr id="8" name="Shape 5"/>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38200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AI là công cụ</a:t>
            </a:r>
            <a:endParaRPr lang="en-US" sz="2600" dirty="0"/>
          </a:p>
          <a:p>
            <a:pPr marL="0" indent="0">
              <a:spcAft>
                <a:spcPts val="800"/>
              </a:spcAft>
              <a:buNone/>
            </a:pPr>
            <a:r>
              <a:rPr lang="en-US" sz="2600" dirty="0">
                <a:solidFill>
                  <a:schemeClr val="bg1"/>
                </a:solidFill>
              </a:rPr>
              <a:t>Mục tiêu do con người đặt ra.</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“AI” trong đời sống là một </a:t>
            </a:r>
            <a:r>
              <a:rPr lang="en-US" sz="3200" b="1" dirty="0">
                <a:solidFill>
                  <a:schemeClr val="tx2"/>
                </a:solidFill>
              </a:rPr>
              <a:t>hệ thống AI</a:t>
            </a:r>
            <a:r>
              <a:rPr lang="en-US" sz="3200" dirty="0">
                <a:solidFill>
                  <a:schemeClr val="tx1"/>
                </a:solidFill>
              </a:rPr>
              <a:t>, luôn có con người</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Ba vai trò: </a:t>
            </a:r>
            <a:r>
              <a:rPr lang="en-US" sz="3200" b="1" dirty="0">
                <a:solidFill>
                  <a:schemeClr val="tx2"/>
                </a:solidFill>
              </a:rPr>
              <a:t>sử dụng, vận hành, tùy chỉnh</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Việc ảnh hưởng đến con người, khó đảo ngược: </a:t>
            </a:r>
            <a:r>
              <a:rPr lang="en-US" sz="3200" b="1" dirty="0">
                <a:solidFill>
                  <a:schemeClr val="tx2"/>
                </a:solidFill>
              </a:rPr>
              <a:t>con người quyết định</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Với </a:t>
            </a:r>
            <a:r>
              <a:rPr lang="en-US" sz="3200" b="1" dirty="0">
                <a:solidFill>
                  <a:schemeClr val="tx2"/>
                </a:solidFill>
              </a:rPr>
              <a:t>tác nhân AI</a:t>
            </a:r>
            <a:r>
              <a:rPr lang="en-US" sz="3200" dirty="0">
                <a:solidFill>
                  <a:schemeClr val="tx1"/>
                </a:solidFill>
              </a:rPr>
              <a:t>: xác định trước việc nào phải chờ phê duyệt</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400" dirty="0">
                <a:solidFill>
                  <a:schemeClr val="tx1"/>
                </a:solidFill>
              </a:rPr>
              <a:t>Trường dùng một trợ lí AI trả lời câu hỏi về nội quy. Ghi SD (sử dụng), VH (vận hành) hoặc TC (tùy chỉnh) cho từng việc trên phiếu.</a:t>
            </a:r>
            <a:endParaRPr lang="en-US" sz="24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Với một công cụ AI em từng dùng, em đang giữ vai trò nào? Nêu một việc em sẽ làm để giữ quyền chủ động.</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F0739DF9-4DB4-2556-E5C3-E8D4250BEDCB}"/>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2543750786"/>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1441</Words>
  <Application>Microsoft Office PowerPoint</Application>
  <PresentationFormat>Widescreen</PresentationFormat>
  <Paragraphs>174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Con người ở đâu trong một hệ thống AI?</vt:lpstr>
      <vt:lpstr>Hôm nay chúng ta làm gì?</vt:lpstr>
      <vt:lpstr>Ai đang cầm lái?</vt:lpstr>
      <vt:lpstr>Thứ ta gọi là “AI” là một hệ thống AI</vt:lpstr>
      <vt:lpstr>Ba vai trò của con người</vt:lpstr>
      <vt:lpstr>Phép so sánh: chiếc xe buýt</vt:lpstr>
      <vt:lpstr>Chuyện có thật: giao thông thành phố mình</vt:lpstr>
      <vt:lpstr>Việc nào giao cho AI, việc nào con người giữ?</vt:lpstr>
      <vt:lpstr>Khi AI biết “tự làm”: tác nhân AI</vt:lpstr>
      <vt:lpstr>Vẽ sơ đồ “con người trong hệ thống AI”</vt:lpstr>
      <vt:lpstr>Nhiệm vụ nhóm: ai làm gì quanh một hệ thống AI?</vt:lpstr>
      <vt:lpstr>Còn em, em đang ở vai nào?</vt:lpstr>
      <vt:lpstr>Ba việc giữ quyền chủ động</vt:lpstr>
      <vt:lpstr>Điều cần nhớ cho cả năm học</vt:lpstr>
      <vt:lpstr>Ghi nhớ</vt:lpstr>
      <vt:lpstr>Phiếu ra cửa</vt:lpstr>
      <vt:lpstr>Tài liệu tham khảo</vt:lpstr>
    </vt:vector>
  </TitlesOfParts>
  <Company>0939725119</Company>
  <LinksUpToDate>false</LinksUpToDate>
  <SharedDoc>false</SharedDoc>
  <HyperlinkBase>https://montinhoc.vn</HyperlinkBase>
  <HyperlinksChanged>false</HyperlinksChanged>
  <AppVersion>16.0000</AppVersion>
  <Manager>Phạm Văn Tú</Manager>
</Properties>
</file>

<file path=docProps/core.xml><?xml version="1.0" encoding="utf-8"?>
<cp:coreProperties xmlns:cp="http://schemas.openxmlformats.org/package/2006/metadata/core-properties" xmlns:dc="http://purl.org/dc/elements/1.1/" xmlns:dcterms="http://purl.org/dc/terms/" xmlns:xsi="http://www.w3.org/2001/XMLSchema-instance">
  <dc:title>Bài 10.1. Con người ở đâu trong một hệ thống AI?</dc:title>
  <dc:subject>Trí tuệ nhân tạo</dc:subject>
  <dc:description>Email: phamtund@gmail.com</dc:description>
  <cp:lastModifiedBy>Phạm Văn Tú</cp:lastModifiedBy>
  <cp:revision>1</cp:revision>
  <dcterms:created xsi:type="dcterms:W3CDTF">2026-10-08T10:55:22Z</dcterms:created>
  <dcterms:modified xsi:type="dcterms:W3CDTF">2026-10-10T03:22:11Z</dcterms:modified>
  <dc:creator>Phạm Văn Tú</dc:creator>
  <cp:category>Trí tuệ nhân tạo</cp:category>
  <cp:keywords>Trí tuệ nhân tạo</cp:keywords>
</cp:coreProperties>
</file>