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597484D4-8F85-B441-40B7-7A95D31F94DA}">
          <p14:sldIdLst>
            <p14:sldId id="256"/>
            <p14:sldId id="257"/>
            <p14:sldId id="258"/>
            <p14:sldId id="259"/>
            <p14:sldId id="260"/>
            <p14:sldId id="261"/>
            <p14:sldId id="262"/>
            <p14:sldId id="263"/>
            <p14:sldId id="264"/>
          </p14:sldIdLst>
        </p14:section>
        <p14:section name="Bản đồ ứng dụng và vấn đề của nhóm" id="{4556E1AE-DF71-DF55-C558-DC94901C70D9}">
          <p14:sldIdLst>
            <p14:sldId id="265"/>
            <p14:sldId id="266"/>
            <p14:sldId id="267"/>
            <p14:sldId id="268"/>
            <p14:sldId id="269"/>
          </p14:sldIdLst>
        </p14:section>
        <p14:section name="Tổng kết" id="{E5032216-DD93-B76F-BCC5-9A32C959CBFE}">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79885C-A285-463C-ADD7-CB809A20993E}" v="1" dt="2026-10-10T03:27:40.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27:40.958" v="3"/>
      <pc:docMkLst>
        <pc:docMk/>
      </pc:docMkLst>
      <pc:sldChg chg="modSp mod">
        <pc:chgData name="Phạm Văn Tú" userId="67199c852bdd6d1b" providerId="LiveId" clId="{CB377567-0116-4044-BB7C-6E46B7A5C596}" dt="2026-10-10T03:27:27.862" v="2" actId="20577"/>
        <pc:sldMkLst>
          <pc:docMk/>
          <pc:sldMk cId="0" sldId="256"/>
        </pc:sldMkLst>
        <pc:spChg chg="mod">
          <ac:chgData name="Phạm Văn Tú" userId="67199c852bdd6d1b" providerId="LiveId" clId="{CB377567-0116-4044-BB7C-6E46B7A5C596}" dt="2026-10-10T03:27:27.862" v="2" actId="20577"/>
          <ac:spMkLst>
            <pc:docMk/>
            <pc:sldMk cId="0" sldId="256"/>
            <ac:spMk id="3" creationId="{00000000-0000-0000-0000-000000000000}"/>
          </ac:spMkLst>
        </pc:spChg>
      </pc:sldChg>
      <pc:sldChg chg="add">
        <pc:chgData name="Phạm Văn Tú" userId="67199c852bdd6d1b" providerId="LiveId" clId="{CB377567-0116-4044-BB7C-6E46B7A5C596}" dt="2026-10-10T03:27:40.958" v="3"/>
        <pc:sldMkLst>
          <pc:docMk/>
          <pc:sldMk cId="6594145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308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bộ thẻ ứng dụng AI, giấy A3 vẽ bản đồ tư duy, Phiếu 'Vấn đề của nhóm',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Tình huống giả định. Hỏi: em đếm được mấy lần AI xuất hiện? Các lần ấy có giống nhau không? Mời học sinh kể thêm từ một ngày của chính mình.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(13 phút). Học sinh kẻ bảng sáu nhóm kèm ví dụ. Nhận dạng: nhận ra đối tượng trong hình ảnh, âm thanh. Dự đoán: ước lượng điều sắp xảy ra. Gợi ý: chọn nội dung hợp từng người. Hội thoại: hiểu, dịch, tóm tắt, trả lời. Tạo sinh: tạo văn bản, hình ảnh, âm thanh mới. Điều khiển: ra quyết định hành động trong môi trường thật.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ứng dụng có thể thuộc nhiều nhóm (ứng dụng bản đồ: dự đoán thời gian và gợi ý lộ trình).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Tiêu chí: học từ dữ liệu, hay chỉ làm theo quy tắc cố định.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Báo Pháp Luật TP.HCM, dẫn Trung tâm Quản lí điều hành giao thông đô thị. Giáo viên xem chi tiết trong Tài liệu học tập, mục 2. Gợi ý: nhận dạng (đếm xe qua camera), dự đoán (lưu lượng), điều khiển tự động (chu kì đèn).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bốn câu hỏi. Việc cần thấu hiểu, phán xét, ảnh hưởng lớn đến một con người thì không nên giao cho AI.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làm mẫu trước khi nhóm tự làm.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đồ tư duy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3 nhóm chia sẻ. Phiếu 'Vấn đề của nhóm' là minh chứng; giữ lại cho các bài sau.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ba vai trò ở Bài 10.1.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Củng cố ý: một ứng dụng có thể thuộc nhiều nhóm.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Không cho điểm.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953769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10.6 · Bản đồ ứng dụng AI quanh ta</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Bản đồ ứng dụng AI quanh ta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10.6 · Chuyên đề 10.3: Ứng dụng AI và kĩ năng đặt câu lệnh</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10</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Kể được</a:t>
            </a:r>
            <a:r>
              <a:rPr lang="en-US" sz="2800" dirty="0">
                <a:solidFill>
                  <a:schemeClr val="tx1"/>
                </a:solidFill>
              </a:rPr>
              <a:t> sáu nhóm tính năng của ứng dụng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Dùng</a:t>
            </a:r>
            <a:r>
              <a:rPr lang="en-US" sz="2800" dirty="0">
                <a:solidFill>
                  <a:schemeClr val="tx1"/>
                </a:solidFill>
              </a:rPr>
              <a:t> bốn câu hỏi để biết khi nào AI giúp được</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Đề xuất</a:t>
            </a:r>
            <a:r>
              <a:rPr lang="en-US" sz="2800" dirty="0">
                <a:solidFill>
                  <a:schemeClr val="tx1"/>
                </a:solidFill>
              </a:rPr>
              <a:t> một vấn đề có thể giải quyết bằng AI</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Một ngày có bao nhiêu AI?</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Sáu nhóm, bốn câu hỏi</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Bản đồ, vấn đề của nhóm</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ngày của Thảo có bao nhiêu AI?</a:t>
            </a:r>
            <a:endParaRPr lang="en-US" sz="3800" dirty="0"/>
          </a:p>
        </p:txBody>
      </p:sp>
      <p:sp>
        <p:nvSpPr>
          <p:cNvPr id="4" name="Shape 1"/>
          <p:cNvSpPr/>
          <p:nvPr/>
        </p:nvSpPr>
        <p:spPr>
          <a:xfrm>
            <a:off x="548640" y="155448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72021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72021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Mở khóa điện thoại bằng khuôn mặt</a:t>
            </a:r>
            <a:endParaRPr lang="en-US" sz="2400" dirty="0"/>
          </a:p>
        </p:txBody>
      </p:sp>
      <p:sp>
        <p:nvSpPr>
          <p:cNvPr id="8" name="Shape 5"/>
          <p:cNvSpPr/>
          <p:nvPr/>
        </p:nvSpPr>
        <p:spPr>
          <a:xfrm>
            <a:off x="6195060" y="155448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172021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172021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Dự báo: 9 giờ có mưa, khả năng 80%</a:t>
            </a:r>
            <a:endParaRPr lang="en-US" sz="2400" dirty="0"/>
          </a:p>
        </p:txBody>
      </p:sp>
      <p:sp>
        <p:nvSpPr>
          <p:cNvPr id="12" name="Shape 9"/>
          <p:cNvSpPr/>
          <p:nvPr/>
        </p:nvSpPr>
        <p:spPr>
          <a:xfrm>
            <a:off x="548640" y="270891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287464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287464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278206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Bản đồ báo đường đông, gợi ý lối khác</a:t>
            </a:r>
            <a:endParaRPr lang="en-US" sz="2400" dirty="0"/>
          </a:p>
        </p:txBody>
      </p:sp>
      <p:sp>
        <p:nvSpPr>
          <p:cNvPr id="16" name="Shape 13"/>
          <p:cNvSpPr/>
          <p:nvPr/>
        </p:nvSpPr>
        <p:spPr>
          <a:xfrm>
            <a:off x="6195060" y="270891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287464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287464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278206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Ứng dụng chấm phát âm tiếng Anh</a:t>
            </a:r>
            <a:endParaRPr lang="en-US" sz="2400" dirty="0"/>
          </a:p>
        </p:txBody>
      </p:sp>
      <p:sp>
        <p:nvSpPr>
          <p:cNvPr id="20" name="Shape 17"/>
          <p:cNvSpPr/>
          <p:nvPr/>
        </p:nvSpPr>
        <p:spPr>
          <a:xfrm>
            <a:off x="548640" y="386334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402907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402907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393649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Hộp thư tự lọc thư quảng cáo</a:t>
            </a:r>
            <a:endParaRPr lang="en-US" sz="2400" dirty="0"/>
          </a:p>
        </p:txBody>
      </p:sp>
      <p:sp>
        <p:nvSpPr>
          <p:cNvPr id="24" name="Shape 21"/>
          <p:cNvSpPr/>
          <p:nvPr/>
        </p:nvSpPr>
        <p:spPr>
          <a:xfrm>
            <a:off x="6195060" y="386334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6377940" y="402907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6377940" y="402907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7155180" y="393649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Trợ lí AI đặt câu hỏi ôn bài</a:t>
            </a:r>
            <a:endParaRPr lang="en-US" sz="2400" dirty="0"/>
          </a:p>
        </p:txBody>
      </p:sp>
      <p:sp>
        <p:nvSpPr>
          <p:cNvPr id="28" name="Shape 25"/>
          <p:cNvSpPr/>
          <p:nvPr/>
        </p:nvSpPr>
        <p:spPr>
          <a:xfrm>
            <a:off x="548640" y="501777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29" name="Shape 26"/>
          <p:cNvSpPr/>
          <p:nvPr/>
        </p:nvSpPr>
        <p:spPr>
          <a:xfrm>
            <a:off x="731520" y="518350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30" name="Text 27"/>
          <p:cNvSpPr txBox="1"/>
          <p:nvPr/>
        </p:nvSpPr>
        <p:spPr>
          <a:xfrm>
            <a:off x="731520" y="518350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7</a:t>
            </a:r>
            <a:endParaRPr lang="en-US" sz="2000" dirty="0"/>
          </a:p>
        </p:txBody>
      </p:sp>
      <p:sp>
        <p:nvSpPr>
          <p:cNvPr id="31" name="Text 28"/>
          <p:cNvSpPr txBox="1"/>
          <p:nvPr/>
        </p:nvSpPr>
        <p:spPr>
          <a:xfrm>
            <a:off x="1508760" y="509092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Ứng dụng gợi ý danh sách nhạc</a:t>
            </a:r>
            <a:endParaRPr lang="en-US" sz="2400" dirty="0"/>
          </a:p>
        </p:txBody>
      </p:sp>
      <p:sp>
        <p:nvSpPr>
          <p:cNvPr id="32" name="Shape 29"/>
          <p:cNvSpPr/>
          <p:nvPr/>
        </p:nvSpPr>
        <p:spPr>
          <a:xfrm>
            <a:off x="6195060" y="501777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33" name="Shape 30"/>
          <p:cNvSpPr/>
          <p:nvPr/>
        </p:nvSpPr>
        <p:spPr>
          <a:xfrm>
            <a:off x="6377940" y="518350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34" name="Text 31"/>
          <p:cNvSpPr txBox="1"/>
          <p:nvPr/>
        </p:nvSpPr>
        <p:spPr>
          <a:xfrm>
            <a:off x="6377940" y="518350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8</a:t>
            </a:r>
            <a:endParaRPr lang="en-US" sz="2000" dirty="0"/>
          </a:p>
        </p:txBody>
      </p:sp>
      <p:sp>
        <p:nvSpPr>
          <p:cNvPr id="35" name="Text 32"/>
          <p:cNvSpPr txBox="1"/>
          <p:nvPr/>
        </p:nvSpPr>
        <p:spPr>
          <a:xfrm>
            <a:off x="7155180" y="509092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Robot hút bụi tự tránh chân bàn</a:t>
            </a:r>
            <a:endParaRPr lang="en-US" sz="24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Sáu nhóm tính năng</a:t>
            </a:r>
            <a:endParaRPr lang="en-US" sz="3800" dirty="0"/>
          </a:p>
        </p:txBody>
      </p:sp>
      <p:sp>
        <p:nvSpPr>
          <p:cNvPr id="4" name="Shape 1"/>
          <p:cNvSpPr/>
          <p:nvPr/>
        </p:nvSpPr>
        <p:spPr>
          <a:xfrm>
            <a:off x="548640" y="155448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72974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72974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Nhận dạng</a:t>
            </a:r>
            <a:endParaRPr lang="en-US" sz="2600" dirty="0"/>
          </a:p>
        </p:txBody>
      </p:sp>
      <p:sp>
        <p:nvSpPr>
          <p:cNvPr id="8" name="Shape 5"/>
          <p:cNvSpPr/>
          <p:nvPr/>
        </p:nvSpPr>
        <p:spPr>
          <a:xfrm>
            <a:off x="6195060" y="155448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172974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172974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Dự đoán, dự báo</a:t>
            </a:r>
            <a:endParaRPr lang="en-US" sz="2600" dirty="0"/>
          </a:p>
        </p:txBody>
      </p:sp>
      <p:sp>
        <p:nvSpPr>
          <p:cNvPr id="12" name="Shape 9"/>
          <p:cNvSpPr/>
          <p:nvPr/>
        </p:nvSpPr>
        <p:spPr>
          <a:xfrm>
            <a:off x="548640" y="272796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29032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29032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280111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Gợi ý, đề xuất</a:t>
            </a:r>
            <a:endParaRPr lang="en-US" sz="2600" dirty="0"/>
          </a:p>
        </p:txBody>
      </p:sp>
      <p:sp>
        <p:nvSpPr>
          <p:cNvPr id="16" name="Shape 13"/>
          <p:cNvSpPr/>
          <p:nvPr/>
        </p:nvSpPr>
        <p:spPr>
          <a:xfrm>
            <a:off x="6195060" y="272796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29032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29032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280111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Hội thoại, xử lí ngôn ngữ</a:t>
            </a:r>
            <a:endParaRPr lang="en-US" sz="2600" dirty="0"/>
          </a:p>
        </p:txBody>
      </p:sp>
      <p:sp>
        <p:nvSpPr>
          <p:cNvPr id="20" name="Shape 17"/>
          <p:cNvSpPr/>
          <p:nvPr/>
        </p:nvSpPr>
        <p:spPr>
          <a:xfrm>
            <a:off x="548640" y="390144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40767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40767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397459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Tạo sinh nội dung</a:t>
            </a:r>
            <a:endParaRPr lang="en-US" sz="2600" dirty="0"/>
          </a:p>
        </p:txBody>
      </p:sp>
      <p:sp>
        <p:nvSpPr>
          <p:cNvPr id="24" name="Shape 21"/>
          <p:cNvSpPr/>
          <p:nvPr/>
        </p:nvSpPr>
        <p:spPr>
          <a:xfrm>
            <a:off x="6195060" y="3901440"/>
            <a:ext cx="5417820" cy="944880"/>
          </a:xfrm>
          <a:prstGeom prst="roundRect">
            <a:avLst>
              <a:gd name="adj" fmla="val 11613"/>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6377940" y="40767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6377940" y="40767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7155180" y="3974592"/>
            <a:ext cx="4320540" cy="798576"/>
          </a:xfrm>
          <a:prstGeom prst="rect">
            <a:avLst/>
          </a:prstGeom>
          <a:noFill/>
          <a:ln/>
        </p:spPr>
        <p:txBody>
          <a:bodyPr wrap="square" lIns="0" tIns="0" rIns="0" bIns="0" rtlCol="0" anchor="ctr"/>
          <a:lstStyle/>
          <a:p>
            <a:pPr marL="0" indent="0">
              <a:buNone/>
            </a:pPr>
            <a:r>
              <a:rPr lang="en-US" sz="2600" b="1" dirty="0">
                <a:solidFill>
                  <a:schemeClr val="tx1"/>
                </a:solidFill>
              </a:rPr>
              <a:t>Điều khiển tự động</a:t>
            </a:r>
            <a:endParaRPr lang="en-US" sz="2600" dirty="0"/>
          </a:p>
        </p:txBody>
      </p:sp>
      <p:sp>
        <p:nvSpPr>
          <p:cNvPr id="28" name="Shape 25"/>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9" name="Text 26"/>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Gọi chung là “AI” thì dễ bỏ qua sự khác nhau</a:t>
            </a:r>
            <a:endParaRPr lang="en-US" sz="28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Xếp một ngày của Thảo lên bản đồ</a:t>
            </a:r>
            <a:endParaRPr lang="en-US" sz="3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67665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31520">
                <a:tc>
                  <a:txBody>
                    <a:bodyPr/>
                    <a:lstStyle/>
                    <a:p>
                      <a:pPr marL="0" indent="0" algn="ctr">
                        <a:buNone/>
                      </a:pPr>
                      <a:r>
                        <a:rPr lang="en-US" sz="2400" b="1" dirty="0">
                          <a:solidFill>
                            <a:schemeClr val="bg1"/>
                          </a:solidFill>
                        </a:rPr>
                        <a:t>Việc trong ngày</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Nhóm tính năng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31520">
                <a:tc>
                  <a:txBody>
                    <a:bodyPr/>
                    <a:lstStyle/>
                    <a:p>
                      <a:pPr marL="0" indent="0" algn="l">
                        <a:buNone/>
                      </a:pPr>
                      <a:r>
                        <a:rPr lang="en-US" sz="2400" b="1" dirty="0">
                          <a:solidFill>
                            <a:schemeClr val="tx1"/>
                          </a:solidFill>
                        </a:rPr>
                        <a:t>Mở khóa bằng khuôn mặt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Nhận dạng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lgn="l">
                        <a:buNone/>
                      </a:pPr>
                      <a:r>
                        <a:rPr lang="en-US" sz="2400" b="1" dirty="0">
                          <a:solidFill>
                            <a:schemeClr val="tx1"/>
                          </a:solidFill>
                        </a:rPr>
                        <a:t>Dự báo mưa</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Dự đoán, dự báo</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31520">
                <a:tc>
                  <a:txBody>
                    <a:bodyPr/>
                    <a:lstStyle/>
                    <a:p>
                      <a:pPr marL="0" indent="0" algn="l">
                        <a:buNone/>
                      </a:pPr>
                      <a:r>
                        <a:rPr lang="en-US" sz="2400" b="1" dirty="0">
                          <a:solidFill>
                            <a:schemeClr val="tx1"/>
                          </a:solidFill>
                        </a:rPr>
                        <a:t>Gợi ý danh sách nhạc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Gợi ý, đề xuất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lgn="l">
                        <a:buNone/>
                      </a:pPr>
                      <a:r>
                        <a:rPr lang="en-US" sz="2400" b="1" dirty="0">
                          <a:solidFill>
                            <a:schemeClr val="tx1"/>
                          </a:solidFill>
                        </a:rPr>
                        <a:t>Trợ lí đặt câu hỏi ôn bài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Tạo sinh, hội thoại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731520">
                <a:tc>
                  <a:txBody>
                    <a:bodyPr/>
                    <a:lstStyle/>
                    <a:p>
                      <a:pPr marL="0" indent="0" algn="l">
                        <a:buNone/>
                      </a:pPr>
                      <a:r>
                        <a:rPr lang="en-US" sz="2400" b="1" dirty="0">
                          <a:solidFill>
                            <a:schemeClr val="tx1"/>
                          </a:solidFill>
                        </a:rPr>
                        <a:t>Robot hút bụi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Điều khiển tự động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Dễ nhầm: thiết bị điện tử nào cũng là AI?</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Không phải AI</a:t>
            </a:r>
            <a:endParaRPr lang="en-US" sz="3000" dirty="0"/>
          </a:p>
        </p:txBody>
      </p:sp>
      <p:sp>
        <p:nvSpPr>
          <p:cNvPr id="6" name="Text 3"/>
          <p:cNvSpPr txBox="1"/>
          <p:nvPr/>
        </p:nvSpPr>
        <p:spPr>
          <a:xfrm>
            <a:off x="86868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Máy tính bỏ túi</a:t>
            </a:r>
            <a:endParaRPr lang="en-US" sz="2800" dirty="0"/>
          </a:p>
          <a:p>
            <a:pPr marL="342900" indent="-342900">
              <a:spcAft>
                <a:spcPts val="1000"/>
              </a:spcAft>
              <a:buSzPct val="100000"/>
              <a:buChar char="•"/>
            </a:pPr>
            <a:r>
              <a:rPr lang="en-US" sz="2800" dirty="0">
                <a:solidFill>
                  <a:schemeClr val="tx1"/>
                </a:solidFill>
              </a:rPr>
              <a:t>Đồng hồ báo thức</a:t>
            </a:r>
            <a:endParaRPr lang="en-US" sz="2800" dirty="0"/>
          </a:p>
          <a:p>
            <a:pPr marL="342900" indent="-342900">
              <a:spcAft>
                <a:spcPts val="1000"/>
              </a:spcAft>
              <a:buSzPct val="100000"/>
              <a:buChar char="•"/>
            </a:pPr>
            <a:r>
              <a:rPr lang="en-US" sz="2800" dirty="0">
                <a:solidFill>
                  <a:schemeClr val="tx1"/>
                </a:solidFill>
              </a:rPr>
              <a:t>Đèn bật theo giờ hẹn</a:t>
            </a:r>
            <a:endParaRPr lang="en-US" sz="2800" dirty="0"/>
          </a:p>
        </p:txBody>
      </p:sp>
      <p:sp>
        <p:nvSpPr>
          <p:cNvPr id="7" name="Shape 4"/>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Dấu hiệu của AI học máy</a:t>
            </a:r>
            <a:endParaRPr lang="en-US" sz="3000" dirty="0"/>
          </a:p>
        </p:txBody>
      </p:sp>
      <p:sp>
        <p:nvSpPr>
          <p:cNvPr id="9" name="Text 6"/>
          <p:cNvSpPr txBox="1"/>
          <p:nvPr/>
        </p:nvSpPr>
        <p:spPr>
          <a:xfrm>
            <a:off x="653796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Học từ dữ liệu</a:t>
            </a:r>
            <a:endParaRPr lang="en-US" sz="2800" dirty="0"/>
          </a:p>
          <a:p>
            <a:pPr marL="342900" indent="-342900">
              <a:spcAft>
                <a:spcPts val="1000"/>
              </a:spcAft>
              <a:buSzPct val="100000"/>
              <a:buChar char="•"/>
            </a:pPr>
            <a:r>
              <a:rPr lang="en-US" sz="2800" dirty="0">
                <a:solidFill>
                  <a:schemeClr val="bg1"/>
                </a:solidFill>
              </a:rPr>
              <a:t>Làm được việc chưa ai viết sẵn quy tắc</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AI trên đường phố thành phố mình</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Thành phố Hồ Chí Minh đưa AI vào điều hành giao thông, hướng tới tối ưu chu kì đèn tín hiệu để giảm ùn ứ.</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Hệ thống này thuộc những nhóm tính năng nào?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nào AI giúp được? Bốn câu hỏi sàng lọc</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Việc có </a:t>
            </a:r>
            <a:r>
              <a:rPr lang="en-US" sz="3200" b="1" dirty="0">
                <a:solidFill>
                  <a:schemeClr val="tx2"/>
                </a:solidFill>
              </a:rPr>
              <a:t>lặp lại</a:t>
            </a:r>
            <a:r>
              <a:rPr lang="en-US" sz="3200" dirty="0">
                <a:solidFill>
                  <a:schemeClr val="tx1"/>
                </a:solidFill>
              </a:rPr>
              <a:t> nhiều lần không?</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Có </a:t>
            </a:r>
            <a:r>
              <a:rPr lang="en-US" sz="3200" b="1" dirty="0">
                <a:solidFill>
                  <a:schemeClr val="tx2"/>
                </a:solidFill>
              </a:rPr>
              <a:t>dữ liệu</a:t>
            </a:r>
            <a:r>
              <a:rPr lang="en-US" sz="3200" dirty="0">
                <a:solidFill>
                  <a:schemeClr val="tx1"/>
                </a:solidFill>
              </a:rPr>
              <a:t> không?</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Có </a:t>
            </a:r>
            <a:r>
              <a:rPr lang="en-US" sz="3200" b="1" dirty="0">
                <a:solidFill>
                  <a:schemeClr val="tx2"/>
                </a:solidFill>
              </a:rPr>
              <a:t>quy luật</a:t>
            </a:r>
            <a:r>
              <a:rPr lang="en-US" sz="3200" dirty="0">
                <a:solidFill>
                  <a:schemeClr val="tx1"/>
                </a:solidFill>
              </a:rPr>
              <a:t> để học không?</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Sai</a:t>
            </a:r>
            <a:r>
              <a:rPr lang="en-US" sz="3200" dirty="0">
                <a:solidFill>
                  <a:schemeClr val="tx1"/>
                </a:solidFill>
              </a:rPr>
              <a:t> thì có chấp nhận được, có người kiểm tra không?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Thử sàng lọc hai vấn đề</a:t>
            </a:r>
            <a:endParaRPr lang="en-US" sz="3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822960">
                <a:tc>
                  <a:txBody>
                    <a:bodyPr/>
                    <a:lstStyle/>
                    <a:p>
                      <a:pPr marL="0" indent="0" algn="ctr">
                        <a:buNone/>
                      </a:pPr>
                      <a:r>
                        <a:rPr lang="en-US" sz="2200" b="1" dirty="0">
                          <a:solidFill>
                            <a:schemeClr val="bg1"/>
                          </a:solidFill>
                        </a:rPr>
                        <a:t>Câu hỏi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Dự báo ngập đường</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Quyết định kỉ luật học sinh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22960">
                <a:tc>
                  <a:txBody>
                    <a:bodyPr/>
                    <a:lstStyle/>
                    <a:p>
                      <a:pPr marL="0" indent="0" algn="l">
                        <a:buNone/>
                      </a:pPr>
                      <a:r>
                        <a:rPr lang="en-US" sz="2200" b="1" dirty="0">
                          <a:solidFill>
                            <a:schemeClr val="tx1"/>
                          </a:solidFill>
                        </a:rPr>
                        <a:t>Lặp lại?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Có, mỗi mùa mưa</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Mỗi trường hợp một khác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22960">
                <a:tc>
                  <a:txBody>
                    <a:bodyPr/>
                    <a:lstStyle/>
                    <a:p>
                      <a:pPr marL="0" indent="0" algn="l">
                        <a:buNone/>
                      </a:pPr>
                      <a:r>
                        <a:rPr lang="en-US" sz="2200" b="1" dirty="0">
                          <a:solidFill>
                            <a:schemeClr val="tx1"/>
                          </a:solidFill>
                        </a:rPr>
                        <a:t>Dữ liệu?</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Lượng mưa, mực nước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Hoàn cảnh riêng, khó ghi thành số</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22960">
                <a:tc>
                  <a:txBody>
                    <a:bodyPr/>
                    <a:lstStyle/>
                    <a:p>
                      <a:pPr marL="0" indent="0" algn="l">
                        <a:buNone/>
                      </a:pPr>
                      <a:r>
                        <a:rPr lang="en-US" sz="2200" b="1" dirty="0">
                          <a:solidFill>
                            <a:schemeClr val="tx1"/>
                          </a:solidFill>
                        </a:rPr>
                        <a:t>Sai thì sao?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Đi vòng, sửa được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Ảnh hưởng lớn đến một con người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Vấn đề đầu hợp với AI; vấn đề sau phải do con người quyết định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Bản đồ ứng dụng và vấn đề của nhóm</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1: bản đồ ứng dụng AI</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10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Vẽ bản đồ tư duy sáu nhánh trên giấy A3</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Mỗi nhánh là một nhóm tính năng</a:t>
            </a:r>
            <a:endParaRPr lang="en-US" sz="2800" dirty="0"/>
          </a:p>
          <a:p>
            <a:pPr marL="342900" indent="-342900">
              <a:spcAft>
                <a:spcPts val="1200"/>
              </a:spcAft>
              <a:buSzPct val="100000"/>
              <a:buFont typeface="+mj-lt"/>
              <a:buAutoNum type="arabicPeriod"/>
            </a:pPr>
            <a:r>
              <a:rPr lang="en-US" sz="2800" dirty="0">
                <a:solidFill>
                  <a:schemeClr val="tx1"/>
                </a:solidFill>
              </a:rPr>
              <a:t>Xếp các thẻ ứng dụng vào nhánh phù hợp</a:t>
            </a:r>
            <a:endParaRPr lang="en-US" sz="2800" dirty="0"/>
          </a:p>
          <a:p>
            <a:pPr marL="342900" indent="-342900">
              <a:spcAft>
                <a:spcPts val="1200"/>
              </a:spcAft>
              <a:buSzPct val="100000"/>
              <a:buFont typeface="+mj-lt"/>
              <a:buAutoNum type="arabicPeriod"/>
            </a:pPr>
            <a:r>
              <a:rPr lang="en-US" sz="2800" dirty="0">
                <a:solidFill>
                  <a:schemeClr val="tx1"/>
                </a:solidFill>
              </a:rPr>
              <a:t>Thêm ít nhất hai ứng dụng nhóm tự nghĩ ra</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Lưu ý</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Thẻ thuộc hai nhóm: đặt ở giữa hai nhánh và nối bằng hai đường.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2: vấn đề của nhóm</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Chọn một vấn đề ở trường hoặc nơi em sống</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Phát biểu vấn đề: ai gặp, gặp điều gì</a:t>
            </a:r>
            <a:endParaRPr lang="en-US" sz="2800" dirty="0"/>
          </a:p>
          <a:p>
            <a:pPr marL="342900" indent="-342900">
              <a:spcAft>
                <a:spcPts val="1200"/>
              </a:spcAft>
              <a:buSzPct val="100000"/>
              <a:buFont typeface="+mj-lt"/>
              <a:buAutoNum type="arabicPeriod"/>
            </a:pPr>
            <a:r>
              <a:rPr lang="en-US" sz="2800" dirty="0">
                <a:solidFill>
                  <a:schemeClr val="tx1"/>
                </a:solidFill>
              </a:rPr>
              <a:t>Trả lời bốn câu hỏi sàng lọc</a:t>
            </a:r>
            <a:endParaRPr lang="en-US" sz="2800" dirty="0"/>
          </a:p>
          <a:p>
            <a:pPr marL="342900" indent="-342900">
              <a:spcAft>
                <a:spcPts val="1200"/>
              </a:spcAft>
              <a:buSzPct val="100000"/>
              <a:buFont typeface="+mj-lt"/>
              <a:buAutoNum type="arabicPeriod"/>
            </a:pPr>
            <a:r>
              <a:rPr lang="en-US" sz="2800" dirty="0">
                <a:solidFill>
                  <a:schemeClr val="tx1"/>
                </a:solidFill>
              </a:rPr>
              <a:t>Nếu hợp với AI: thuộc nhóm tính năng nào?</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Cũng là đáp án tốt</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“Vấn đề này không nên giao cho AI”, kèm lí do.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Nhìn AI bằng con mắt của người làm chủ</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402080"/>
          </a:xfrm>
          <a:prstGeom prst="rect">
            <a:avLst/>
          </a:prstGeom>
          <a:noFill/>
          <a:ln/>
        </p:spPr>
        <p:txBody>
          <a:bodyPr wrap="square" lIns="0" tIns="0" rIns="0" bIns="0" rtlCol="0" anchor="ctr"/>
          <a:lstStyle/>
          <a:p>
            <a:pPr marL="0" indent="0">
              <a:buNone/>
            </a:pPr>
            <a:r>
              <a:rPr lang="en-US" sz="3200" dirty="0">
                <a:solidFill>
                  <a:schemeClr val="tx1"/>
                </a:solidFill>
              </a:rPr>
              <a:t>Nó </a:t>
            </a:r>
            <a:r>
              <a:rPr lang="en-US" sz="3200" b="1" dirty="0">
                <a:solidFill>
                  <a:schemeClr val="tx2"/>
                </a:solidFill>
              </a:rPr>
              <a:t>làm kiểu việc gì</a:t>
            </a:r>
            <a:r>
              <a:rPr lang="en-US" sz="3200" dirty="0">
                <a:solidFill>
                  <a:schemeClr val="tx1"/>
                </a:solidFill>
              </a:rPr>
              <a:t>?</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10058400" cy="1402080"/>
          </a:xfrm>
          <a:prstGeom prst="rect">
            <a:avLst/>
          </a:prstGeom>
          <a:noFill/>
          <a:ln/>
        </p:spPr>
        <p:txBody>
          <a:bodyPr wrap="square" lIns="0" tIns="0" rIns="0" bIns="0" rtlCol="0" anchor="ctr"/>
          <a:lstStyle/>
          <a:p>
            <a:pPr marL="0" indent="0">
              <a:buNone/>
            </a:pPr>
            <a:r>
              <a:rPr lang="en-US" sz="3200" dirty="0">
                <a:solidFill>
                  <a:schemeClr val="tx1"/>
                </a:solidFill>
              </a:rPr>
              <a:t>Nó </a:t>
            </a:r>
            <a:r>
              <a:rPr lang="en-US" sz="3200" b="1" dirty="0">
                <a:solidFill>
                  <a:schemeClr val="tx2"/>
                </a:solidFill>
              </a:rPr>
              <a:t>học từ dữ liệu nào</a:t>
            </a:r>
            <a:r>
              <a:rPr lang="en-US" sz="3200" dirty="0">
                <a:solidFill>
                  <a:schemeClr val="tx1"/>
                </a:solidFill>
              </a:rPr>
              <a:t>?</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10058400" cy="1402080"/>
          </a:xfrm>
          <a:prstGeom prst="rect">
            <a:avLst/>
          </a:prstGeom>
          <a:noFill/>
          <a:ln/>
        </p:spPr>
        <p:txBody>
          <a:bodyPr wrap="square" lIns="0" tIns="0" rIns="0" bIns="0" rtlCol="0" anchor="ctr"/>
          <a:lstStyle/>
          <a:p>
            <a:pPr marL="0" indent="0">
              <a:buNone/>
            </a:pPr>
            <a:r>
              <a:rPr lang="en-US" sz="3200" b="1" dirty="0">
                <a:solidFill>
                  <a:schemeClr val="tx2"/>
                </a:solidFill>
              </a:rPr>
              <a:t>Ai kiểm tra</a:t>
            </a:r>
            <a:r>
              <a:rPr lang="en-US" sz="3200" dirty="0">
                <a:solidFill>
                  <a:schemeClr val="tx1"/>
                </a:solidFill>
              </a:rPr>
              <a:t> khi nó sai?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ứng dụng, nhiều nhóm</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Ứng dụng bản đồ</a:t>
            </a:r>
            <a:endParaRPr lang="en-US" sz="2600" dirty="0"/>
          </a:p>
          <a:p>
            <a:pPr marL="0" indent="0">
              <a:spcAft>
                <a:spcPts val="800"/>
              </a:spcAft>
              <a:buNone/>
            </a:pPr>
            <a:r>
              <a:rPr lang="en-US" sz="2600" dirty="0">
                <a:solidFill>
                  <a:schemeClr val="tx1"/>
                </a:solidFill>
              </a:rPr>
              <a:t>Dự đoán thời gian đi và gợi ý lộ trình.</a:t>
            </a:r>
            <a:endParaRPr lang="en-US" sz="2600" dirty="0"/>
          </a:p>
        </p:txBody>
      </p:sp>
      <p:sp>
        <p:nvSpPr>
          <p:cNvPr id="6" name="Shape 3"/>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Ứng dụng học ngoại ngữ</a:t>
            </a:r>
            <a:endParaRPr lang="en-US" sz="2600" dirty="0"/>
          </a:p>
          <a:p>
            <a:pPr marL="0" indent="0">
              <a:spcAft>
                <a:spcPts val="800"/>
              </a:spcAft>
              <a:buNone/>
            </a:pPr>
            <a:r>
              <a:rPr lang="en-US" sz="2600" dirty="0">
                <a:solidFill>
                  <a:schemeClr val="tx1"/>
                </a:solidFill>
              </a:rPr>
              <a:t>Nhận dạng giọng nói và tạo bài luyện tập.</a:t>
            </a:r>
            <a:endParaRPr lang="en-US" sz="2600" dirty="0"/>
          </a:p>
        </p:txBody>
      </p:sp>
      <p:sp>
        <p:nvSpPr>
          <p:cNvPr id="8" name="Shape 5"/>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Trợ lí ảo</a:t>
            </a:r>
            <a:endParaRPr lang="en-US" sz="2600" dirty="0"/>
          </a:p>
          <a:p>
            <a:pPr marL="0" indent="0">
              <a:spcAft>
                <a:spcPts val="800"/>
              </a:spcAft>
              <a:buNone/>
            </a:pPr>
            <a:r>
              <a:rPr lang="en-US" sz="2600" dirty="0">
                <a:solidFill>
                  <a:schemeClr val="tx1"/>
                </a:solidFill>
              </a:rPr>
              <a:t>Hội thoại và tạo sinh nội dung.</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AI quanh ta làm </a:t>
            </a:r>
            <a:r>
              <a:rPr lang="en-US" sz="3200" b="1" dirty="0">
                <a:solidFill>
                  <a:schemeClr val="tx2"/>
                </a:solidFill>
              </a:rPr>
              <a:t>nhiều kiểu việc khác nhau</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Sáu nhóm tính năng</a:t>
            </a:r>
            <a:r>
              <a:rPr lang="en-US" sz="3200" dirty="0">
                <a:solidFill>
                  <a:schemeClr val="tx1"/>
                </a:solidFill>
              </a:rPr>
              <a:t>; một ứng dụng có thể thuộc nhiều nhóm</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Dấu hiệu của AI học máy: </a:t>
            </a:r>
            <a:r>
              <a:rPr lang="en-US" sz="3200" b="1" dirty="0">
                <a:solidFill>
                  <a:schemeClr val="tx2"/>
                </a:solidFill>
              </a:rPr>
              <a:t>học từ dữ liệu</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Bốn câu hỏi sàng lọc:</a:t>
            </a:r>
            <a:r>
              <a:rPr lang="en-US" sz="3200" dirty="0">
                <a:solidFill>
                  <a:schemeClr val="tx1"/>
                </a:solidFill>
              </a:rPr>
              <a:t> lặp lại; dữ liệu; quy luật; sai thì sao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Với mỗi nhóm tính năng, ghi tên một ứng dụng AI (không lặp lại thẻ đã dùng nếu có thể).</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Vấn đề nào phù hợp hơn để ứng dụng AI, vì sao? (a) Phát hiện sớm đoạn đường sắp ngập để cảnh báo phụ huynh. (b) Quyết định hình thức kỉ luật một học sinh.</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F0739DF9-4DB4-2556-E5C3-E8D4250BEDCB}"/>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65941450"/>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1306</Words>
  <Application>Microsoft Office PowerPoint</Application>
  <PresentationFormat>Widescreen</PresentationFormat>
  <Paragraphs>194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Bản đồ ứng dụng AI quanh ta</vt:lpstr>
      <vt:lpstr>Hôm nay chúng ta làm gì?</vt:lpstr>
      <vt:lpstr>Một ngày của Thảo có bao nhiêu AI?</vt:lpstr>
      <vt:lpstr>Sáu nhóm tính năng</vt:lpstr>
      <vt:lpstr>Xếp một ngày của Thảo lên bản đồ</vt:lpstr>
      <vt:lpstr>Dễ nhầm: thiết bị điện tử nào cũng là AI?</vt:lpstr>
      <vt:lpstr>Chuyện có thật: AI trên đường phố thành phố mình</vt:lpstr>
      <vt:lpstr>Khi nào AI giúp được? Bốn câu hỏi sàng lọc</vt:lpstr>
      <vt:lpstr>Thử sàng lọc hai vấn đề</vt:lpstr>
      <vt:lpstr>Bản đồ ứng dụng và vấn đề của nhóm</vt:lpstr>
      <vt:lpstr>Nhiệm vụ 1: bản đồ ứng dụng AI</vt:lpstr>
      <vt:lpstr>Nhiệm vụ 2: vấn đề của nhóm</vt:lpstr>
      <vt:lpstr>Nhìn AI bằng con mắt của người làm chủ</vt:lpstr>
      <vt:lpstr>Một ứng dụng, nhiều nhóm</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10.6. Bản đồ ứng dụng AI quanh ta</dc:title>
  <dc:subject>Trí tuệ nhân tạo</dc:subject>
  <cp:lastModifiedBy>Phạm Văn Tú</cp:lastModifiedBy>
  <cp:revision>1</cp:revision>
  <dcterms:created xsi:type="dcterms:W3CDTF">2026-10-08T10:55:22Z</dcterms:created>
  <dcterms:modified xsi:type="dcterms:W3CDTF">2026-10-10T03:27:45Z</dcterms:modified>
  <dc:description>Email: phamtund@gmail.com</dc:description>
  <dc:creator>Phạm Văn Tú</dc:creator>
  <cp:category>Trí tuệ nhân tạo</cp:category>
  <cp:keywords>Trí tuệ nhân tạo</cp:keywords>
</cp:coreProperties>
</file>