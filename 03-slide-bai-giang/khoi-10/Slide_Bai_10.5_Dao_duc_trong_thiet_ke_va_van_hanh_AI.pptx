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220EE956-9EDC-00B5-40DD-F93146EFD9B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hân tích hồ sơ ví dụ" id="{6E7BA38F-C963-43FF-C408-CFA92FAA5370}">
          <p14:sldIdLst>
            <p14:sldId id="265"/>
            <p14:sldId id="266"/>
            <p14:sldId id="267"/>
            <p14:sldId id="268"/>
            <p14:sldId id="269"/>
          </p14:sldIdLst>
        </p14:section>
        <p14:section name="Tổng kết" id="{D1EF17A6-1372-39E3-AF53-E88C9DDC4B0E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79D02-3BC1-49A5-8565-84F4713B5181}" v="1" dt="2026-10-10T03:27:00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0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ạm Văn Tú" userId="67199c852bdd6d1b" providerId="LiveId" clId="{CB377567-0116-4044-BB7C-6E46B7A5C596}"/>
    <pc:docChg chg="addSld modSld">
      <pc:chgData name="Phạm Văn Tú" userId="67199c852bdd6d1b" providerId="LiveId" clId="{CB377567-0116-4044-BB7C-6E46B7A5C596}" dt="2026-10-10T03:27:00.944" v="3"/>
      <pc:docMkLst>
        <pc:docMk/>
      </pc:docMkLst>
      <pc:sldChg chg="modSp mod">
        <pc:chgData name="Phạm Văn Tú" userId="67199c852bdd6d1b" providerId="LiveId" clId="{CB377567-0116-4044-BB7C-6E46B7A5C596}" dt="2026-10-10T03:26:44.479" v="2" actId="20577"/>
        <pc:sldMkLst>
          <pc:docMk/>
          <pc:sldMk cId="0" sldId="256"/>
        </pc:sldMkLst>
        <pc:spChg chg="mod">
          <ac:chgData name="Phạm Văn Tú" userId="67199c852bdd6d1b" providerId="LiveId" clId="{CB377567-0116-4044-BB7C-6E46B7A5C596}" dt="2026-10-10T03:26:44.479" v="2" actId="20577"/>
          <ac:spMkLst>
            <pc:docMk/>
            <pc:sldMk cId="0" sldId="256"/>
            <ac:spMk id="3" creationId="{00000000-0000-0000-0000-000000000000}"/>
          </ac:spMkLst>
        </pc:spChg>
      </pc:sldChg>
      <pc:sldChg chg="add">
        <pc:chgData name="Phạm Văn Tú" userId="67199c852bdd6d1b" providerId="LiveId" clId="{CB377567-0116-4044-BB7C-6E46B7A5C596}" dt="2026-10-10T03:27:00.944" v="3"/>
        <pc:sldMkLst>
          <pc:docMk/>
          <pc:sldMk cId="3129483443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693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Chuẩn bị: các hồ sơ ví dụ cho nhóm, Phiếu phân tích, Phiếu ra cửa.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Bài trước học về ranh giới của người dùng. Bài này đổi chỗ ngồi: sang ghế của người làm ra và người vận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1 (5 phút). Thí nghiệm tưởng tượng (giả định); hiện tượng công cụ AI lặp lại khuôn mẫu từ dữ liệu là có thật. Không ai lập trình điều đó: máy học từ rất nhiều hình ảnh có sẵn và lặp lại điều nó thấy nhiều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2 (14 phút). Học sinh kẻ bảng ba vấn đề vào vở.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Nghiên cứu Gender Shades (Buolamwini và Gebru, 2018) với ba phần mềm thương mại đoán giới tính qua ảnh khuôn mặt. Nguyên nhân: dữ liệu thiếu cân đối, khuôn mặt da sáng chiếm phần lớn. Minh họa THIÊN VỊ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 dụ: ứng dụng học tập đòi quyền đọc danh bạ; dữ liệu học sinh bị dùng để quảng cáo.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có biết: Luật Trí tuệ nhân tạo (hiệu lực 01/3/2026) yêu cầu người dùng nhận biết được khi tương tác với hệ thống AI (dẫn theo bài giới thiệu luật).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Dễ nhầm: 'chỉ người xấu mới làm ra AI gây hại'. Các vấn đề thường đi cùng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tổng hợp; học sinh đối chiếu với vở.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 Phát hồ sơ.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Tình huống giả định (Tài liệu học tập, mục 5). Gợi ý: thiên vị dữ liệu nếu các năm trước ít chọn học sinh vùng xa (thiết kế); thiếu minh bạch vì không thông báo, không giải thích (vận hành); có thể cả riêng tư tùy dữ liệu thu.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phút báo cáo. Phiếu phân tích là minh chứng đánh giá.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câu hỏi ứng với một vấn đề.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Chốt: hiểu trách nhiệm của người làm ra giúp em là người dùng tỉnh táo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 chuyên đề 10.2.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4 (5 phút). Không cho điểm.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14F4-D6CA-6C2F-9B84-050806F8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E9684-E8C6-B7CA-173E-C67E22F59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E0C13-1AE5-4B9C-2DB8-8AC62C19D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3ABBB-6B45-2E2E-903A-EB13E0184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81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Bài 10.5 · Đạo đức trong thiết kế và vận hành AI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Đạo đức trong thiết kế và vận hành AI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Bài 10.5 · Chuyên đề 10.2: Dùng AI đúng quy định, có đạo đức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Giáo dục trí tuệ nhân tạo </a:t>
            </a:r>
            <a:r>
              <a:rPr lang="en-US" sz="2400" dirty="0" err="1">
                <a:solidFill>
                  <a:schemeClr val="accent5"/>
                </a:solidFill>
              </a:rPr>
              <a:t>lớp</a:t>
            </a:r>
            <a:r>
              <a:rPr lang="en-US" sz="2400" dirty="0">
                <a:solidFill>
                  <a:schemeClr val="accent5"/>
                </a:solidFill>
              </a:rPr>
              <a:t> 10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 flipV="1"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flipV="1"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 flipV="1"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flipV="1"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 flipV="1"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 flipV="1"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 flipV="1"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49477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49477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49477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49477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95781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95781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95781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1420856" y="28483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142085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Hôm nay chúng ta làm gì?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1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5544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Nêu</a:t>
            </a:r>
            <a:r>
              <a:rPr lang="en-US" sz="2800" dirty="0">
                <a:solidFill>
                  <a:schemeClr val="tx1"/>
                </a:solidFill>
              </a:rPr>
              <a:t> ba vấn đề đạo đức thường gặp ở hệ thống AI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2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88036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Chỉ ra</a:t>
            </a:r>
            <a:r>
              <a:rPr lang="en-US" sz="2800" dirty="0">
                <a:solidFill>
                  <a:schemeClr val="tx1"/>
                </a:solidFill>
              </a:rPr>
              <a:t> vấn đề phát sinh khi thiết kế hay khi vận hành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42976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4297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3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2062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Phân tích</a:t>
            </a:r>
            <a:r>
              <a:rPr lang="en-US" sz="2800" dirty="0">
                <a:solidFill>
                  <a:schemeClr val="tx1"/>
                </a:solidFill>
              </a:rPr>
              <a:t> một trường hợp cụ thể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8412480" y="1554480"/>
            <a:ext cx="3200400" cy="402336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6868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45 phút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5'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464040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AI vẽ nghề nghiệp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3172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14'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464040" y="317296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Ba vấn đề, hai khâu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392277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21'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464040" y="39227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Phân tích hồ sơ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467258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5'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9464040" y="46725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Phiếu ra cửa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Khi AI vẽ nghề nghiệp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Em yêu cầu một công cụ AI vẽ “một bác sĩ”, 20 lần. Rồi “một y tá”, “một kĩ sư”, “một người giúp việc”.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Giả sử gần như tất cả bác sĩ, kĩ sư là nam; gần như tất cả y tá, người giúp việc là nữ.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Có ai viết dòng lệnh “bác sĩ thì phải là nam” không? Khuôn mẫu này từ đâu ra?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Ba vấn đề đạo đức thường gặp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Thiên vị dữ liệu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Hệ thống thiếu công bằng với một nhóm người.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32816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0248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60248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11" name="Text 8"/>
          <p:cNvSpPr txBox="1"/>
          <p:nvPr/>
        </p:nvSpPr>
        <p:spPr>
          <a:xfrm>
            <a:off x="4602480" y="265176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Vi phạm quyền riêng tư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Lấy và dùng dữ liệu quá mức cần thiết.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810768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382000" y="1783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38200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8382000" y="2651760"/>
            <a:ext cx="295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Thiếu minh bạch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Người dùng không được biết, không được giải thích.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Chuyện có thật: 0,8% và 34,7%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0,8%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Tỉ lệ đoán sai giới tính cao nhất với nam giới da sáng.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217920" y="1554480"/>
            <a:ext cx="5394960" cy="35204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92240" y="17830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34,7%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Tỉ lệ đoán sai với phụ nữ da sẫm màu.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68680" y="5303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Máy không tự sinh ra định kiến; nó học từ dữ liệu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Vi phạm quyền riêng tư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Khi thiết kế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Thu dữ liệu không cần cho chức năng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Không hỏi ý kiến người dùng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Khi vận hành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Dùng dữ liệu vào việc khác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Lưu quá lâu, để lộ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Thiếu minh bạch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Người dùng không biết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Mình đang nói chuyện với máy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Dữ liệu nào đang bị thu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Người dùng không hỏi lại được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Vì sao có kết quả này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Khiếu nại ở đâu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Em có quyền biết khi mình đang tương tác với AI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Vấn đề phát sinh ở hai khâu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5303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40080" y="17373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Thiết kế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trước khi đến tay người dùng: chọn dữ liệu, chọn mục tiêu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920740" y="2258568"/>
            <a:ext cx="320040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309360" y="1737360"/>
            <a:ext cx="5303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400800" y="17373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Vận hành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32918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trong lúc đang dùng: theo dõi, sửa lỗi, trả lời người dùng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Phần lớn đến từ thiếu suy nghĩ trước, không phải từ ý xấu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Nhìn cả ba vấn đề trên một bảng</a:t>
            </a:r>
            <a:endParaRPr lang="en-US" sz="3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Vấn đề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Dấu hiệu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Ai bị ảnh hưởng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Thiên vị dữ liệu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Đúng với nhóm này, sai với nhóm khác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Nhóm ít có mặt trong dữ liệu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Vi phạm riêng tư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Thu thừa, dùng sai mục đích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Người có dữ liệu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Thiếu minh bạch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Không giải thích, không có nơi hỏi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Người nhận kết quả</a:t>
                      </a:r>
                      <a:endParaRPr lang="en-US" sz="2200" dirty="0"/>
                    </a:p>
                  </a:txBody>
                  <a:tcPr marL="137160" marR="137160" marT="36576" marB="36576" anchor="ctr">
                    <a:lnL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B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Phân tích hồ sơ ví dụ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Phần 2 · 21 phút · Làm việc nhóm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Phân tích mẫu: quỹ học bổng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Một quỹ học bổng dùng AI để chấm hồ sơ.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Hệ thống học từ hồ sơ được chọn trong các năm trước. Người nộp hồ sơ không biết có AI tham gia, và không được biết vì sao mình bị loại.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Có những vấn đề đạo đức nào? Phát sinh ở khâu nào?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Nhiệm vụ nhóm: ba câu hỏi cho một hồ sơ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13 phút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554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Phân tích hồ sơ của nhóm trên Phiếu phân tích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Vấn đề gì? (có thể hơn một)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Phát sinh khi thiết kế hay vận hành? Ai bị ảnh hưởng?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Người làm ra hệ thống nên làm gì?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0" y="1554480"/>
            <a:ext cx="3840480" cy="43891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Lưu ý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423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Tìm bằng chứng trong hồ sơ cho mỗi nhận định.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Ba câu hỏi của người thiết kế có trách nhiệm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9126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9126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1005840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Dữ liệu có </a:t>
            </a:r>
            <a:r>
              <a:rPr lang="en-US" sz="3200" b="1" dirty="0">
                <a:solidFill>
                  <a:schemeClr val="tx2"/>
                </a:solidFill>
              </a:rPr>
              <a:t>đại diện</a:t>
            </a:r>
            <a:r>
              <a:rPr lang="en-US" sz="3200" dirty="0">
                <a:solidFill>
                  <a:schemeClr val="tx1"/>
                </a:solidFill>
              </a:rPr>
              <a:t> cho mọi nhóm không?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34061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34061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3048000"/>
            <a:ext cx="1005840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Mình có </a:t>
            </a:r>
            <a:r>
              <a:rPr lang="en-US" sz="3200" b="1" dirty="0">
                <a:solidFill>
                  <a:schemeClr val="tx2"/>
                </a:solidFill>
              </a:rPr>
              <a:t>thu thập quá mức</a:t>
            </a:r>
            <a:r>
              <a:rPr lang="en-US" sz="3200" dirty="0">
                <a:solidFill>
                  <a:schemeClr val="tx1"/>
                </a:solidFill>
              </a:rPr>
              <a:t> không?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48996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48996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4541520"/>
            <a:ext cx="1005840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Người dùng có </a:t>
            </a:r>
            <a:r>
              <a:rPr lang="en-US" sz="3200" b="1" dirty="0">
                <a:solidFill>
                  <a:schemeClr val="tx2"/>
                </a:solidFill>
              </a:rPr>
              <a:t>biết</a:t>
            </a:r>
            <a:r>
              <a:rPr lang="en-US" sz="3200" dirty="0">
                <a:solidFill>
                  <a:schemeClr val="tx1"/>
                </a:solidFill>
              </a:rPr>
              <a:t> và </a:t>
            </a:r>
            <a:r>
              <a:rPr lang="en-US" sz="3200" b="1" dirty="0">
                <a:solidFill>
                  <a:schemeClr val="tx2"/>
                </a:solidFill>
              </a:rPr>
              <a:t>hỏi lại</a:t>
            </a:r>
            <a:r>
              <a:rPr lang="en-US" sz="3200" dirty="0">
                <a:solidFill>
                  <a:schemeClr val="tx1"/>
                </a:solidFill>
              </a:rPr>
              <a:t> được không?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Còn em thì sao?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Hôm nay em là người dùng.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Mai kia em có thể là người làm ra một sản phẩm, hoặc người quyết định mua một sản phẩm AI cho nơi mình làm việc.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Khi dùng một ứng dụng AI, em hãy thử hỏi ba câu hỏi vừa rồi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Ghi nhớ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2593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72593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Người làm ra và vận hành AI có </a:t>
            </a:r>
            <a:r>
              <a:rPr lang="en-US" sz="3200" b="1" dirty="0">
                <a:solidFill>
                  <a:schemeClr val="tx2"/>
                </a:solidFill>
              </a:rPr>
              <a:t>trách nhiệm đạo đức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284607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84607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67462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Ba vấn đề: </a:t>
            </a:r>
            <a:r>
              <a:rPr lang="en-US" sz="3200" b="1" dirty="0">
                <a:solidFill>
                  <a:schemeClr val="tx2"/>
                </a:solidFill>
              </a:rPr>
              <a:t>thiên vị dữ liệu; vi phạm riêng tư; thiếu minh bạch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396621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396621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79476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Phát sinh khi </a:t>
            </a:r>
            <a:r>
              <a:rPr lang="en-US" sz="3200" b="1" dirty="0">
                <a:solidFill>
                  <a:schemeClr val="tx2"/>
                </a:solidFill>
              </a:rPr>
              <a:t>thiết kế</a:t>
            </a:r>
            <a:r>
              <a:rPr lang="en-US" sz="3200" dirty="0">
                <a:solidFill>
                  <a:schemeClr val="tx1"/>
                </a:solidFill>
              </a:rPr>
              <a:t> hoặc khi </a:t>
            </a:r>
            <a:r>
              <a:rPr lang="en-US" sz="3200" b="1" dirty="0">
                <a:solidFill>
                  <a:schemeClr val="tx2"/>
                </a:solidFill>
              </a:rPr>
              <a:t>vận hành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48640" y="508635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50863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4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91490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Máy </a:t>
            </a:r>
            <a:r>
              <a:rPr lang="en-US" sz="3200" b="1" dirty="0">
                <a:solidFill>
                  <a:schemeClr val="tx2"/>
                </a:solidFill>
              </a:rPr>
              <a:t>học từ dữ liệu</a:t>
            </a:r>
            <a:r>
              <a:rPr lang="en-US" sz="3200" dirty="0">
                <a:solidFill>
                  <a:schemeClr val="tx1"/>
                </a:solidFill>
              </a:rPr>
              <a:t> và lặp lại trên quy mô lớn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Phiếu ra cửa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5 phút · Làm cá nhân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394960" y="960120"/>
            <a:ext cx="62179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23560" y="11887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235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1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097280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Nối mỗi tình huống trên phiếu với một vấn đề: (TV) thiên vị dữ liệu, (RT) vi phạm quyền riêng tư, (MB) thiếu minh bạch.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394960" y="3566160"/>
            <a:ext cx="621792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3794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62356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2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3703320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Tự nêu một ví dụ (thật hoặc giả định) về một vấn đề đạo đức khi thiết kế hoặc vận hành AI. Ghi rõ: vấn đề gì, ai bị ảnh hưởng, nên làm gì.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0FE57-DD6B-0941-A2BB-28D1A5388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6725C-CB31-6472-2A29-F859C3B9EAD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9224" y="1289265"/>
            <a:ext cx="618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vi-VN" sz="4600" b="1" dirty="0">
                <a:solidFill>
                  <a:schemeClr val="bg1"/>
                </a:solidFill>
              </a:rPr>
              <a:t>Tài liệu tham khảo</a:t>
            </a:r>
            <a:endParaRPr lang="en-US" sz="4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4FC6891-0F0B-8821-EA2F-EDAF20AF9F0E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26948" y="3717036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2400" dirty="0"/>
              <a:t>https://montinhoc.vn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C9A30BE-8829-96CA-B3B0-D88FAE88F21B}"/>
              </a:ext>
            </a:extLst>
          </p:cNvPr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028B981-D9D6-8DA6-85D8-DB014D5F0B3B}"/>
              </a:ext>
            </a:extLst>
          </p:cNvPr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3B1873D-3AEF-FF0E-20B7-19D134D3BF51}"/>
              </a:ext>
            </a:extLst>
          </p:cNvPr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058E345-0FEC-FED7-18D4-81DD99507C2D}"/>
              </a:ext>
            </a:extLst>
          </p:cNvPr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80D36E4-1991-CC37-B0B9-2B2D83E02A20}"/>
              </a:ext>
            </a:extLst>
          </p:cNvPr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76BB1C4-6469-F0A3-DD3E-4EBEF5F6CC38}"/>
              </a:ext>
            </a:extLst>
          </p:cNvPr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80B6E7E-7896-4EC1-4475-2FC646E1027E}"/>
              </a:ext>
            </a:extLst>
          </p:cNvPr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19D253D-1310-99A7-2103-35FF052B86F3}"/>
              </a:ext>
            </a:extLst>
          </p:cNvPr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7093821-7F19-40FA-3D3D-44CFDC1F58DF}"/>
              </a:ext>
            </a:extLst>
          </p:cNvPr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ACBDD20-A61B-996B-BDB0-752F18E140AC}"/>
              </a:ext>
            </a:extLst>
          </p:cNvPr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7174946-DDCB-CB27-9AF4-4001176FEF51}"/>
              </a:ext>
            </a:extLst>
          </p:cNvPr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AFC1789-471C-2797-0415-2237AAA365EC}"/>
              </a:ext>
            </a:extLst>
          </p:cNvPr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95D154A-DE09-58FC-1981-2186A2BB8A5F}"/>
              </a:ext>
            </a:extLst>
          </p:cNvPr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C5CF0A1-4524-41B4-80B3-D3831B078A65}"/>
              </a:ext>
            </a:extLst>
          </p:cNvPr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4C287EB0-1B4C-6D0A-A568-624FA2D80A3D}"/>
              </a:ext>
            </a:extLst>
          </p:cNvPr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7472C28-2774-3B7F-EE38-D1FE26D725B5}"/>
              </a:ext>
            </a:extLst>
          </p:cNvPr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29B49FE-2351-7D5A-7739-412432860157}"/>
              </a:ext>
            </a:extLst>
          </p:cNvPr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F800979-2DC3-4E1A-E90A-97154C0F5009}"/>
              </a:ext>
            </a:extLst>
          </p:cNvPr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D6059B07-EE5C-FABC-F332-9DC490CD1D79}"/>
              </a:ext>
            </a:extLst>
          </p:cNvPr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7534B69-69A3-698B-93D3-66A6B0094F65}"/>
              </a:ext>
            </a:extLst>
          </p:cNvPr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48344F8-1507-B882-7C9E-B332C5271B12}"/>
              </a:ext>
            </a:extLst>
          </p:cNvPr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D9300E0-4E52-5232-A0A0-0E7CE89D218D}"/>
              </a:ext>
            </a:extLst>
          </p:cNvPr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57B8293B-E487-0777-ACDD-B84258075045}"/>
              </a:ext>
            </a:extLst>
          </p:cNvPr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CD7407F-32A4-6AD6-0975-BE6C3451FAF0}"/>
              </a:ext>
            </a:extLst>
          </p:cNvPr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B0667B1-079E-6CE7-39D0-356A6E4ECE2C}"/>
              </a:ext>
            </a:extLst>
          </p:cNvPr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B5CDD97-B920-3E27-DDF5-15D94164191C}"/>
              </a:ext>
            </a:extLst>
          </p:cNvPr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2A4D2EE-C00B-307E-06C9-1F7C1DC158DD}"/>
              </a:ext>
            </a:extLst>
          </p:cNvPr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768F21F-1608-C34F-D970-6ECA809A91B2}"/>
              </a:ext>
            </a:extLst>
          </p:cNvPr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8AD95141-1285-BD10-8D1A-FFCAC904CE3D}"/>
              </a:ext>
            </a:extLst>
          </p:cNvPr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DDF7ED9A-5847-6BA1-A757-A970A5CAE67C}"/>
              </a:ext>
            </a:extLst>
          </p:cNvPr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45226941-7C5E-0602-5D41-259AA60FB5B8}"/>
              </a:ext>
            </a:extLst>
          </p:cNvPr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DB7C82DF-0D44-12FC-B608-14F2811EA2AE}"/>
              </a:ext>
            </a:extLst>
          </p:cNvPr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F61ECE36-8002-A40B-5D82-6AA53B33E6BC}"/>
              </a:ext>
            </a:extLst>
          </p:cNvPr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D6D1649A-4E60-5FE4-4461-EF6482CE2AEF}"/>
              </a:ext>
            </a:extLst>
          </p:cNvPr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0739DF9-4DB4-2556-E5C3-E8D4250BE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394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83443"/>
      </p:ext>
    </p:extLst>
  </p:cSld>
  <p:clrMapOvr>
    <a:masterClrMapping/>
  </p:clrMapOvr>
</p:sld>
</file>

<file path=ppt/theme/theme1.xml><?xml version="1.0" encoding="utf-8"?>
<a:theme xmlns:a="http://schemas.openxmlformats.org/drawingml/2006/main" name="GiaoDucAI">
  <a:themeElements>
    <a:clrScheme name="GiaoDucAI">
      <a:dk1>
        <a:srgbClr val="17313A"/>
      </a:dk1>
      <a:lt1>
        <a:srgbClr val="FFFFFF"/>
      </a:lt1>
      <a:dk2>
        <a:srgbClr val="0F4C5C"/>
      </a:dk2>
      <a:lt2>
        <a:srgbClr val="E8F1F0"/>
      </a:lt2>
      <a:accent1>
        <a:srgbClr val="0F4C5C"/>
      </a:accent1>
      <a:accent2>
        <a:srgbClr val="F2A541"/>
      </a:accent2>
      <a:accent3>
        <a:srgbClr val="5FA8A0"/>
      </a:accent3>
      <a:accent4>
        <a:srgbClr val="C8553D"/>
      </a:accent4>
      <a:accent5>
        <a:srgbClr val="8FB8B3"/>
      </a:accent5>
      <a:accent6>
        <a:srgbClr val="6B7F86"/>
      </a:accent6>
      <a:hlink>
        <a:srgbClr val="0F4C5C"/>
      </a:hlink>
      <a:folHlink>
        <a:srgbClr val="6B7F86"/>
      </a:folHlink>
    </a:clrScheme>
    <a:fontScheme name="GiaoDuc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1316</Words>
  <Application>Microsoft Office PowerPoint</Application>
  <PresentationFormat>Widescreen</PresentationFormat>
  <Paragraphs>168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GiaoDucAI</vt:lpstr>
      <vt:lpstr>Đạo đức trong thiết kế và vận hành AI</vt:lpstr>
      <vt:lpstr>Hôm nay chúng ta làm gì?</vt:lpstr>
      <vt:lpstr>Khi AI vẽ nghề nghiệp</vt:lpstr>
      <vt:lpstr>Ba vấn đề đạo đức thường gặp</vt:lpstr>
      <vt:lpstr>Chuyện có thật: 0,8% và 34,7%</vt:lpstr>
      <vt:lpstr>Vi phạm quyền riêng tư</vt:lpstr>
      <vt:lpstr>Thiếu minh bạch</vt:lpstr>
      <vt:lpstr>Vấn đề phát sinh ở hai khâu</vt:lpstr>
      <vt:lpstr>Nhìn cả ba vấn đề trên một bảng</vt:lpstr>
      <vt:lpstr>Phân tích hồ sơ ví dụ</vt:lpstr>
      <vt:lpstr>Phân tích mẫu: quỹ học bổng</vt:lpstr>
      <vt:lpstr>Nhiệm vụ nhóm: ba câu hỏi cho một hồ sơ</vt:lpstr>
      <vt:lpstr>Ba câu hỏi của người thiết kế có trách nhiệm</vt:lpstr>
      <vt:lpstr>Còn em thì sao?</vt:lpstr>
      <vt:lpstr>Ghi nhớ</vt:lpstr>
      <vt:lpstr>Phiếu ra cửa</vt:lpstr>
      <vt:lpstr>Tài liệu tham khảo</vt:lpstr>
    </vt:vector>
  </TitlesOfParts>
  <Company>0939725119</Company>
  <LinksUpToDate>false</LinksUpToDate>
  <SharedDoc>false</SharedDoc>
  <HyperlinksChanged>false</HyperlinksChanged>
  <AppVersion>16.0000</AppVersion>
  <Manager>Phạm Văn Tú</Manager>
  <HyperlinkBase>https://montinhoc.vn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Bài 10.5. Đạo đức trong thiết kế và vận hành AI</dc:title>
  <dc:subject>Trí tuệ nhân tạo</dc:subject>
  <cp:lastModifiedBy>Phạm Văn Tú</cp:lastModifiedBy>
  <cp:revision>1</cp:revision>
  <dcterms:created xsi:type="dcterms:W3CDTF">2026-10-08T10:55:22Z</dcterms:created>
  <dcterms:modified xsi:type="dcterms:W3CDTF">2026-10-10T03:27:06Z</dcterms:modified>
  <dc:description>Email: phamtund@gmail.com</dc:description>
  <dc:creator>Phạm Văn Tú</dc:creator>
  <cp:category>Trí tuệ nhân tạo</cp:category>
  <cp:keywords>Trí tuệ nhân tạo</cp:keywords>
</cp:coreProperties>
</file>