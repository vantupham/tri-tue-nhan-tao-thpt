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F4FA1FC0-7966-BB29-6AA4-DDF6A49A227E}">
          <p14:sldIdLst>
            <p14:sldId id="256"/>
            <p14:sldId id="257"/>
            <p14:sldId id="258"/>
            <p14:sldId id="259"/>
            <p14:sldId id="260"/>
            <p14:sldId id="261"/>
            <p14:sldId id="262"/>
            <p14:sldId id="263"/>
            <p14:sldId id="264"/>
          </p14:sldIdLst>
        </p14:section>
        <p14:section name="Tranh biện: có nên để AI tự quyết định?" id="{C249CB60-3AA7-1637-06B3-26EC0CF6355A}">
          <p14:sldIdLst>
            <p14:sldId id="265"/>
            <p14:sldId id="266"/>
            <p14:sldId id="267"/>
            <p14:sldId id="268"/>
            <p14:sldId id="269"/>
          </p14:sldIdLst>
        </p14:section>
        <p14:section name="Tổng kết" id="{85BE70D6-7A99-00AE-420B-F832F68823C6}">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18C74B-894C-4BF6-92B9-E855985D4EB2}" v="1" dt="2026-10-10T03:23:46.8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23:46.842" v="2"/>
      <pc:docMkLst>
        <pc:docMk/>
      </pc:docMkLst>
      <pc:sldChg chg="modSp mod">
        <pc:chgData name="Phạm Văn Tú" userId="67199c852bdd6d1b" providerId="LiveId" clId="{CB377567-0116-4044-BB7C-6E46B7A5C596}" dt="2026-10-10T03:23:17.074" v="1" actId="20577"/>
        <pc:sldMkLst>
          <pc:docMk/>
          <pc:sldMk cId="0" sldId="256"/>
        </pc:sldMkLst>
        <pc:spChg chg="mod">
          <ac:chgData name="Phạm Văn Tú" userId="67199c852bdd6d1b" providerId="LiveId" clId="{CB377567-0116-4044-BB7C-6E46B7A5C596}" dt="2026-10-10T03:23:17.074" v="1" actId="20577"/>
          <ac:spMkLst>
            <pc:docMk/>
            <pc:sldMk cId="0" sldId="256"/>
            <ac:spMk id="3" creationId="{00000000-0000-0000-0000-000000000000}"/>
          </ac:spMkLst>
        </pc:spChg>
      </pc:sldChg>
      <pc:sldChg chg="add">
        <pc:chgData name="Phạm Văn Tú" userId="67199c852bdd6d1b" providerId="LiveId" clId="{CB377567-0116-4044-BB7C-6E46B7A5C596}" dt="2026-10-10T03:23:46.842" v="2"/>
        <pc:sldMkLst>
          <pc:docMk/>
          <pc:sldMk cId="3015500401"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4696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bảng rủi ro của lớp (kẻ sẵn hai cột cá nhân, xã hội), Phiếu lập luận tranh biện,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Câu chuyện có thật: vụ Mata v. Avianca, quyết định ngày 22/6/2023 (dẫn theo LawSites). Thẩm phán viết: dùng công cụ AI tự nó không sai, nhưng luật sư có vai trò 'gác cổng', phải bảo đảm điều mình nộp là chính xác. Công cụ đã sai, nhưng người bỏ khâu kiểm tra mới là người chịu trách nhiệm.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(13 phút). Bốn việc này sẽ gặp lại suốt ba năm.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ghi ba lí do. Mỗi lí do sẽ có một ví dụ ở các slide sau.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Tin của hãng Reuters năm 2018 (đọc qua bản đăng lại của Euronews); tập đoàn đã ngừng công cụ. Thiên lệch nằm sẵn trong dữ liệu của quá khứ; máy lặp lại trên quy mô lớn. Minh họa cho lí do CÔNG BẰNG.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lớp cùng điền bảng rủi ro trên bảng. Khái niệm: rủi ro là khả năng xảy ra điều gây hại. Nói 'AI nguy hiểm' là chưa đủ; phải nói rõ ai, điều gì, trong tình huống nào.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người không cần làm lại mọi việc của máy, mà cần giữ khâu then chốt. Với hai luật sư: khâu then chốt là kiểm tra các bản án trước khi nộp.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quan niệm sai thường gặp ở học sinh; dùng khi tranh biện.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Chia lớp thành phe ủng hộ, phe phản đối và ban giám khảo.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đề: 'Nên để AI tự quyết định xếp lớp cho học sinh.' Phiếu lập luận là minh chứng đánh giá. Chốt: câu trả lời hay thường là 'AI đề xuất, con người quyết định ở khâu then chốt'.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trong lúc tranh biện.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Liên hệ lại chuyện hai luật sư.</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Chốt bài.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Không cho điểm.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277975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10.2 · Vì sao con người phải kiểm soát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Vì sao con người phải kiểm soát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10.2 · Chuyên đề 10.1: Con người làm chủ AI</a:t>
            </a:r>
            <a:endParaRPr lang="en-US" sz="2400" dirty="0"/>
          </a:p>
          <a:p>
            <a:pPr marL="0" indent="0" algn="l">
              <a:buNone/>
            </a:pPr>
            <a:r>
              <a:rPr lang="en-US" sz="2400" dirty="0">
                <a:solidFill>
                  <a:schemeClr val="accent5"/>
                </a:solidFill>
              </a:rPr>
              <a:t>Giáo dục trí tuệ nhân tạo lớp 10 </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Giải thích</a:t>
            </a:r>
            <a:r>
              <a:rPr lang="en-US" sz="2800" dirty="0">
                <a:solidFill>
                  <a:schemeClr val="tx1"/>
                </a:solidFill>
              </a:rPr>
              <a:t> kiểm soát AI nghĩa là gì</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ba lí do con người phải giữ quyền kiểm soát</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Chỉ ra</a:t>
            </a:r>
            <a:r>
              <a:rPr lang="en-US" sz="2800" dirty="0">
                <a:solidFill>
                  <a:schemeClr val="tx1"/>
                </a:solidFill>
              </a:rPr>
              <a:t> rủi ro và “khâu then chốt” cần kiểm soát</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Khi tin AI tuyệt đối</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13'</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Ba lí do, bản đồ rủi ro</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22'</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Tranh biện</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một luật sư tin máy tuyệt đối</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New York, năm 2023. Hai luật sư nộp cho tòa một bản lập luận có dẫn nhiều bản án.</a:t>
            </a:r>
            <a:endParaRPr lang="en-US" sz="2800" dirty="0"/>
          </a:p>
          <a:p>
            <a:pPr marL="0" indent="0">
              <a:buNone/>
            </a:pPr>
            <a:endParaRPr lang="en-US" sz="2800" dirty="0"/>
          </a:p>
          <a:p>
            <a:pPr marL="0" indent="0">
              <a:buNone/>
            </a:pPr>
            <a:r>
              <a:rPr lang="en-US" sz="2800" dirty="0">
                <a:solidFill>
                  <a:schemeClr val="tx1"/>
                </a:solidFill>
              </a:rPr>
              <a:t>Các bản án đó không tồn tại: chúng do một công cụ AI viết ra.</a:t>
            </a:r>
            <a:endParaRPr lang="en-US" sz="2800" dirty="0"/>
          </a:p>
          <a:p>
            <a:pPr marL="0" indent="0">
              <a:buNone/>
            </a:pPr>
            <a:endParaRPr lang="en-US" sz="2800" dirty="0"/>
          </a:p>
          <a:p>
            <a:pPr marL="0" indent="0">
              <a:buNone/>
            </a:pPr>
            <a:r>
              <a:rPr lang="en-US" sz="2800" dirty="0">
                <a:solidFill>
                  <a:schemeClr val="tx1"/>
                </a:solidFill>
              </a:rPr>
              <a:t>Tòa phạt 5.000 đô la Mỹ.</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Lỗi thuộc về công cụ AI hay thuộc về con người? Vì sao?</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“Kiểm soát AI” nghĩa là gì?</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Đặt mục tiêu</a:t>
            </a:r>
            <a:endParaRPr lang="en-US" sz="28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Kiểm tra kết quả</a:t>
            </a:r>
            <a:endParaRPr lang="en-US" sz="28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Có quyền dừng</a:t>
            </a:r>
            <a:endParaRPr lang="en-US" sz="28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800" b="1" dirty="0">
                <a:solidFill>
                  <a:schemeClr val="tx1"/>
                </a:solidFill>
              </a:rPr>
              <a:t>Chịu trách nhiệm</a:t>
            </a:r>
            <a:endParaRPr lang="en-US" sz="28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Kiểm soát không phải là cấm dùng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lí do phải giữ quyền kiểm soát</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An toàn</a:t>
            </a:r>
            <a:endParaRPr lang="en-US" sz="2600" dirty="0"/>
          </a:p>
          <a:p>
            <a:pPr marL="0" indent="0">
              <a:spcAft>
                <a:spcPts val="800"/>
              </a:spcAft>
              <a:buNone/>
            </a:pPr>
            <a:r>
              <a:rPr lang="en-US" sz="2600" dirty="0">
                <a:solidFill>
                  <a:schemeClr val="tx1"/>
                </a:solidFill>
              </a:rPr>
              <a:t>Vì AI có thể sai.</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Công bằng</a:t>
            </a:r>
            <a:endParaRPr lang="en-US" sz="2600" dirty="0"/>
          </a:p>
          <a:p>
            <a:pPr marL="0" indent="0">
              <a:spcAft>
                <a:spcPts val="800"/>
              </a:spcAft>
              <a:buNone/>
            </a:pPr>
            <a:r>
              <a:rPr lang="en-US" sz="2600" dirty="0">
                <a:solidFill>
                  <a:schemeClr val="tx1"/>
                </a:solidFill>
              </a:rPr>
              <a:t>Vì AI học từ dữ liệu của quá khứ, có thể thiên lệch.</a:t>
            </a:r>
            <a:endParaRPr lang="en-US" sz="26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Quyền lợi con người</a:t>
            </a:r>
            <a:endParaRPr lang="en-US" sz="2600" dirty="0"/>
          </a:p>
          <a:p>
            <a:pPr marL="0" indent="0">
              <a:spcAft>
                <a:spcPts val="800"/>
              </a:spcAft>
              <a:buNone/>
            </a:pPr>
            <a:r>
              <a:rPr lang="en-US" sz="2600" dirty="0">
                <a:solidFill>
                  <a:schemeClr val="tx1"/>
                </a:solidFill>
              </a:rPr>
              <a:t>Vì ai đó phải giải thích và chịu trách nhiệm.</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công cụ chấm hồ sơ xin việc</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Một tập đoàn công nghệ thử dùng AI để chấm điểm hồ sơ ứng viên.</a:t>
            </a:r>
            <a:endParaRPr lang="en-US" sz="2800" dirty="0"/>
          </a:p>
          <a:p>
            <a:pPr marL="0" indent="0">
              <a:buNone/>
            </a:pPr>
            <a:endParaRPr lang="en-US" sz="2800" dirty="0"/>
          </a:p>
          <a:p>
            <a:pPr marL="0" indent="0">
              <a:buNone/>
            </a:pPr>
            <a:r>
              <a:rPr lang="en-US" sz="2800" dirty="0">
                <a:solidFill>
                  <a:schemeClr val="tx1"/>
                </a:solidFill>
              </a:rPr>
              <a:t>Công cụ học từ hồ sơ của mười năm trước, phần lớn là của nam giới.</a:t>
            </a:r>
            <a:endParaRPr lang="en-US" sz="2800" dirty="0"/>
          </a:p>
          <a:p>
            <a:pPr marL="0" indent="0">
              <a:buNone/>
            </a:pPr>
            <a:endParaRPr lang="en-US" sz="2800" dirty="0"/>
          </a:p>
          <a:p>
            <a:pPr marL="0" indent="0">
              <a:buNone/>
            </a:pPr>
            <a:r>
              <a:rPr lang="en-US" sz="2800" dirty="0">
                <a:solidFill>
                  <a:schemeClr val="tx1"/>
                </a:solidFill>
              </a:rPr>
              <a:t>Nó đã học cách đánh giá thấp hồ sơ của phụ nữ.</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Không ai dạy nó phân biệt đối xử. Vậy thiên lệch từ đâu ra?</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Bản đồ rủi ro: AI có thể gây hại cho ai?</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Với cá nhân</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Dùng thông tin sai</a:t>
            </a:r>
            <a:endParaRPr lang="en-US" sz="2400" dirty="0"/>
          </a:p>
          <a:p>
            <a:pPr marL="342900" indent="-342900">
              <a:spcAft>
                <a:spcPts val="1000"/>
              </a:spcAft>
              <a:buSzPct val="100000"/>
              <a:buChar char="•"/>
            </a:pPr>
            <a:r>
              <a:rPr lang="en-US" sz="2400" dirty="0">
                <a:solidFill>
                  <a:schemeClr val="tx1"/>
                </a:solidFill>
              </a:rPr>
              <a:t>Lộ dữ liệu</a:t>
            </a:r>
            <a:endParaRPr lang="en-US" sz="2400" dirty="0"/>
          </a:p>
          <a:p>
            <a:pPr marL="342900" indent="-342900">
              <a:spcAft>
                <a:spcPts val="1000"/>
              </a:spcAft>
              <a:buSzPct val="100000"/>
              <a:buChar char="•"/>
            </a:pPr>
            <a:r>
              <a:rPr lang="en-US" sz="2400" dirty="0">
                <a:solidFill>
                  <a:schemeClr val="tx1"/>
                </a:solidFill>
              </a:rPr>
              <a:t>Lệ thuộc, bị giả mạo</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Với xã hội</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Tin giả lan rộng</a:t>
            </a:r>
            <a:endParaRPr lang="en-US" sz="2400" dirty="0"/>
          </a:p>
          <a:p>
            <a:pPr marL="342900" indent="-342900">
              <a:spcAft>
                <a:spcPts val="1000"/>
              </a:spcAft>
              <a:buSzPct val="100000"/>
              <a:buChar char="•"/>
            </a:pPr>
            <a:r>
              <a:rPr lang="en-US" sz="2400" dirty="0">
                <a:solidFill>
                  <a:schemeClr val="bg1"/>
                </a:solidFill>
              </a:rPr>
              <a:t>Phân biệt đối xử</a:t>
            </a:r>
            <a:endParaRPr lang="en-US" sz="2400" dirty="0"/>
          </a:p>
          <a:p>
            <a:pPr marL="342900" indent="-342900">
              <a:spcAft>
                <a:spcPts val="1000"/>
              </a:spcAft>
              <a:buSzPct val="100000"/>
              <a:buChar char="•"/>
            </a:pPr>
            <a:r>
              <a:rPr lang="en-US" sz="2400" dirty="0">
                <a:solidFill>
                  <a:schemeClr val="bg1"/>
                </a:solidFill>
              </a:rPr>
              <a:t>Lừa đảo quy mô lớn</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Nêu rủi ro cho đủ: ai bị ảnh hưởng, điều gì, khi nào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Kiểm soát ở đâu? Tìm “khâu then chốt”</a:t>
            </a:r>
            <a:endParaRPr lang="en-US" sz="3800" dirty="0"/>
          </a:p>
        </p:txBody>
      </p:sp>
      <p:sp>
        <p:nvSpPr>
          <p:cNvPr id="4" name="Shape 1"/>
          <p:cNvSpPr/>
          <p:nvPr/>
        </p:nvSpPr>
        <p:spPr>
          <a:xfrm>
            <a:off x="548640" y="2377440"/>
            <a:ext cx="2423160" cy="1828800"/>
          </a:xfrm>
          <a:prstGeom prst="roundRect">
            <a:avLst>
              <a:gd name="adj" fmla="val 60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640080" y="2377440"/>
            <a:ext cx="2240280" cy="1828800"/>
          </a:xfrm>
          <a:prstGeom prst="rect">
            <a:avLst/>
          </a:prstGeom>
          <a:noFill/>
          <a:ln/>
        </p:spPr>
        <p:txBody>
          <a:bodyPr wrap="square" lIns="0" tIns="0" rIns="0" bIns="0" rtlCol="0" anchor="ctr"/>
          <a:lstStyle/>
          <a:p>
            <a:pPr marL="0" indent="0" algn="ctr">
              <a:buNone/>
            </a:pPr>
            <a:r>
              <a:rPr lang="en-US" sz="2400" b="1" dirty="0">
                <a:solidFill>
                  <a:schemeClr val="tx2"/>
                </a:solidFill>
              </a:rPr>
              <a:t>AI thu thập, tổng hợp</a:t>
            </a:r>
            <a:endParaRPr lang="en-US" sz="2400" dirty="0"/>
          </a:p>
        </p:txBody>
      </p:sp>
      <p:sp>
        <p:nvSpPr>
          <p:cNvPr id="6" name="Shape 3"/>
          <p:cNvSpPr/>
          <p:nvPr/>
        </p:nvSpPr>
        <p:spPr>
          <a:xfrm>
            <a:off x="3040380" y="312724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7" name="Shape 4"/>
          <p:cNvSpPr/>
          <p:nvPr/>
        </p:nvSpPr>
        <p:spPr>
          <a:xfrm>
            <a:off x="3429000" y="2377440"/>
            <a:ext cx="2423160" cy="1828800"/>
          </a:xfrm>
          <a:prstGeom prst="roundRect">
            <a:avLst>
              <a:gd name="adj" fmla="val 6000"/>
            </a:avLst>
          </a:prstGeom>
          <a:solidFill>
            <a:schemeClr val="bg2"/>
          </a:solidFill>
          <a:ln w="12700">
            <a:solidFill>
              <a:schemeClr val="bg2"/>
            </a:solidFill>
            <a:prstDash val="solid"/>
          </a:ln>
        </p:spPr>
        <p:txBody>
          <a:bodyPr/>
          <a:lstStyle/>
          <a:p>
            <a:endParaRPr lang="en-US"/>
          </a:p>
        </p:txBody>
      </p:sp>
      <p:sp>
        <p:nvSpPr>
          <p:cNvPr id="8" name="Text 5"/>
          <p:cNvSpPr txBox="1"/>
          <p:nvPr/>
        </p:nvSpPr>
        <p:spPr>
          <a:xfrm>
            <a:off x="3520440" y="2377440"/>
            <a:ext cx="2240280" cy="1828800"/>
          </a:xfrm>
          <a:prstGeom prst="rect">
            <a:avLst/>
          </a:prstGeom>
          <a:noFill/>
          <a:ln/>
        </p:spPr>
        <p:txBody>
          <a:bodyPr wrap="square" lIns="0" tIns="0" rIns="0" bIns="0" rtlCol="0" anchor="ctr"/>
          <a:lstStyle/>
          <a:p>
            <a:pPr marL="0" indent="0" algn="ctr">
              <a:buNone/>
            </a:pPr>
            <a:r>
              <a:rPr lang="en-US" sz="2400" b="1" dirty="0">
                <a:solidFill>
                  <a:schemeClr val="tx2"/>
                </a:solidFill>
              </a:rPr>
              <a:t>AI đề xuất</a:t>
            </a:r>
            <a:endParaRPr lang="en-US" sz="2400" dirty="0"/>
          </a:p>
        </p:txBody>
      </p:sp>
      <p:sp>
        <p:nvSpPr>
          <p:cNvPr id="9" name="Shape 6"/>
          <p:cNvSpPr/>
          <p:nvPr/>
        </p:nvSpPr>
        <p:spPr>
          <a:xfrm>
            <a:off x="5920740" y="312724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10" name="Shape 7"/>
          <p:cNvSpPr/>
          <p:nvPr/>
        </p:nvSpPr>
        <p:spPr>
          <a:xfrm>
            <a:off x="6309360" y="2377440"/>
            <a:ext cx="2423160" cy="1828800"/>
          </a:xfrm>
          <a:prstGeom prst="roundRect">
            <a:avLst>
              <a:gd name="adj" fmla="val 6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6400800" y="2377440"/>
            <a:ext cx="2240280" cy="1828800"/>
          </a:xfrm>
          <a:prstGeom prst="rect">
            <a:avLst/>
          </a:prstGeom>
          <a:noFill/>
          <a:ln/>
        </p:spPr>
        <p:txBody>
          <a:bodyPr wrap="square" lIns="0" tIns="0" rIns="0" bIns="0" rtlCol="0" anchor="ctr"/>
          <a:lstStyle/>
          <a:p>
            <a:pPr marL="0" indent="0" algn="ctr">
              <a:buNone/>
            </a:pPr>
            <a:r>
              <a:rPr lang="en-US" sz="2400" b="1" dirty="0">
                <a:solidFill>
                  <a:schemeClr val="tx2"/>
                </a:solidFill>
              </a:rPr>
              <a:t>Con người kiểm tra, quyết định</a:t>
            </a:r>
            <a:endParaRPr lang="en-US" sz="2400" dirty="0"/>
          </a:p>
        </p:txBody>
      </p:sp>
      <p:sp>
        <p:nvSpPr>
          <p:cNvPr id="12" name="Shape 9"/>
          <p:cNvSpPr/>
          <p:nvPr/>
        </p:nvSpPr>
        <p:spPr>
          <a:xfrm>
            <a:off x="8801100" y="312724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13" name="Shape 10"/>
          <p:cNvSpPr/>
          <p:nvPr/>
        </p:nvSpPr>
        <p:spPr>
          <a:xfrm>
            <a:off x="9189720" y="2377440"/>
            <a:ext cx="2423160" cy="1828800"/>
          </a:xfrm>
          <a:prstGeom prst="roundRect">
            <a:avLst>
              <a:gd name="adj" fmla="val 6000"/>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9281160" y="2377440"/>
            <a:ext cx="2240280" cy="1828800"/>
          </a:xfrm>
          <a:prstGeom prst="rect">
            <a:avLst/>
          </a:prstGeom>
          <a:noFill/>
          <a:ln/>
        </p:spPr>
        <p:txBody>
          <a:bodyPr wrap="square" lIns="0" tIns="0" rIns="0" bIns="0" rtlCol="0" anchor="ctr"/>
          <a:lstStyle/>
          <a:p>
            <a:pPr marL="0" indent="0" algn="ctr">
              <a:buNone/>
            </a:pPr>
            <a:r>
              <a:rPr lang="en-US" sz="2400" b="1" dirty="0">
                <a:solidFill>
                  <a:schemeClr val="tx2"/>
                </a:solidFill>
              </a:rPr>
              <a:t>Thực hiện</a:t>
            </a:r>
            <a:endParaRPr lang="en-US" sz="2400" dirty="0"/>
          </a:p>
        </p:txBody>
      </p:sp>
      <p:sp>
        <p:nvSpPr>
          <p:cNvPr id="15" name="Shape 12"/>
          <p:cNvSpPr/>
          <p:nvPr/>
        </p:nvSpPr>
        <p:spPr>
          <a:xfrm>
            <a:off x="548640" y="525780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16" name="Text 13"/>
          <p:cNvSpPr txBox="1"/>
          <p:nvPr/>
        </p:nvSpPr>
        <p:spPr>
          <a:xfrm>
            <a:off x="868680" y="525780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Khâu then chốt: chỗ mà sai thì hại người và khó sửa</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Dễ nhầm</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2400" b="1" dirty="0">
                <a:solidFill>
                  <a:schemeClr val="tx2"/>
                </a:solidFill>
              </a:rPr>
              <a:t>“Máy tính toán thì khách quan”</a:t>
            </a:r>
            <a:endParaRPr lang="en-US" sz="2400" dirty="0"/>
          </a:p>
        </p:txBody>
      </p:sp>
      <p:sp>
        <p:nvSpPr>
          <p:cNvPr id="6" name="Text 3"/>
          <p:cNvSpPr txBox="1"/>
          <p:nvPr/>
        </p:nvSpPr>
        <p:spPr>
          <a:xfrm>
            <a:off x="86868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Máy học từ dữ liệu do con người tạo ra</a:t>
            </a:r>
            <a:endParaRPr lang="en-US" sz="2800" dirty="0"/>
          </a:p>
          <a:p>
            <a:pPr marL="342900" indent="-342900">
              <a:spcAft>
                <a:spcPts val="1000"/>
              </a:spcAft>
              <a:buSzPct val="100000"/>
              <a:buChar char="•"/>
            </a:pPr>
            <a:r>
              <a:rPr lang="en-US" sz="2800" dirty="0">
                <a:solidFill>
                  <a:schemeClr val="tx1"/>
                </a:solidFill>
              </a:rPr>
              <a:t>Dữ liệu lệch thì kết quả lệch</a:t>
            </a:r>
            <a:endParaRPr lang="en-US" sz="2800" dirty="0"/>
          </a:p>
        </p:txBody>
      </p:sp>
      <p:sp>
        <p:nvSpPr>
          <p:cNvPr id="7" name="Shape 4"/>
          <p:cNvSpPr/>
          <p:nvPr/>
        </p:nvSpPr>
        <p:spPr>
          <a:xfrm>
            <a:off x="621792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2400" b="1" dirty="0">
                <a:solidFill>
                  <a:schemeClr val="accent2"/>
                </a:solidFill>
              </a:rPr>
              <a:t>“Kiểm soát là cản trở tiến bộ”</a:t>
            </a:r>
            <a:endParaRPr lang="en-US" sz="2400" dirty="0"/>
          </a:p>
        </p:txBody>
      </p:sp>
      <p:sp>
        <p:nvSpPr>
          <p:cNvPr id="9" name="Text 6"/>
          <p:cNvSpPr txBox="1"/>
          <p:nvPr/>
        </p:nvSpPr>
        <p:spPr>
          <a:xfrm>
            <a:off x="6537960" y="2514600"/>
            <a:ext cx="4754880" cy="3246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Kiểm soát để dùng được lâu dài</a:t>
            </a:r>
            <a:endParaRPr lang="en-US" sz="2800" dirty="0"/>
          </a:p>
          <a:p>
            <a:pPr marL="342900" indent="-342900">
              <a:spcAft>
                <a:spcPts val="1000"/>
              </a:spcAft>
              <a:buSzPct val="100000"/>
              <a:buChar char="•"/>
            </a:pPr>
            <a:r>
              <a:rPr lang="en-US" sz="2800" dirty="0">
                <a:solidFill>
                  <a:schemeClr val="bg1"/>
                </a:solidFill>
              </a:rPr>
              <a:t>Phanh tốt thì mới dám chạy nhanh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Tranh biện: có nên để AI tự quyết định?</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22 phút · Hai phe, một ban giám khảo</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Luật tranh biện</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22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Đề bài do giáo viên nêu; mỗi phe chuẩn bị ba lập luận</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5 phút chuẩn bị trên Phiếu lập luận</a:t>
            </a:r>
            <a:endParaRPr lang="en-US" sz="2800" dirty="0"/>
          </a:p>
          <a:p>
            <a:pPr marL="342900" indent="-342900">
              <a:spcAft>
                <a:spcPts val="1200"/>
              </a:spcAft>
              <a:buSzPct val="100000"/>
              <a:buFont typeface="+mj-lt"/>
              <a:buAutoNum type="arabicPeriod"/>
            </a:pPr>
            <a:r>
              <a:rPr lang="en-US" sz="2800" dirty="0">
                <a:solidFill>
                  <a:schemeClr val="tx1"/>
                </a:solidFill>
              </a:rPr>
              <a:t>Mỗi phe 3 phút trình bày, 2 phút phản bác</a:t>
            </a:r>
            <a:endParaRPr lang="en-US" sz="2800" dirty="0"/>
          </a:p>
          <a:p>
            <a:pPr marL="342900" indent="-342900">
              <a:spcAft>
                <a:spcPts val="1200"/>
              </a:spcAft>
              <a:buSzPct val="100000"/>
              <a:buFont typeface="+mj-lt"/>
              <a:buAutoNum type="arabicPeriod"/>
            </a:pPr>
            <a:r>
              <a:rPr lang="en-US" sz="2800" dirty="0">
                <a:solidFill>
                  <a:schemeClr val="tx1"/>
                </a:solidFill>
              </a:rPr>
              <a:t>Ban giám khảo nhận xét theo ba giá trị</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Lập luận tốt</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Nêu rõ ai bị ảnh hưởng, và gắn với an toàn, công bằng hoặc quyền lợi con người.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tranh biện, hãy hỏi lại nhau</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402080"/>
          </a:xfrm>
          <a:prstGeom prst="rect">
            <a:avLst/>
          </a:prstGeom>
          <a:noFill/>
          <a:ln/>
        </p:spPr>
        <p:txBody>
          <a:bodyPr wrap="square" lIns="0" tIns="0" rIns="0" bIns="0" rtlCol="0" anchor="ctr"/>
          <a:lstStyle/>
          <a:p>
            <a:pPr marL="0" indent="0">
              <a:buNone/>
            </a:pPr>
            <a:r>
              <a:rPr lang="en-US" sz="3200" b="1" dirty="0">
                <a:solidFill>
                  <a:schemeClr val="tx2"/>
                </a:solidFill>
              </a:rPr>
              <a:t>Ai</a:t>
            </a:r>
            <a:r>
              <a:rPr lang="en-US" sz="3200" dirty="0">
                <a:solidFill>
                  <a:schemeClr val="tx1"/>
                </a:solidFill>
              </a:rPr>
              <a:t> bị ảnh hưởng nếu AI sai?</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10058400" cy="1402080"/>
          </a:xfrm>
          <a:prstGeom prst="rect">
            <a:avLst/>
          </a:prstGeom>
          <a:noFill/>
          <a:ln/>
        </p:spPr>
        <p:txBody>
          <a:bodyPr wrap="square" lIns="0" tIns="0" rIns="0" bIns="0" rtlCol="0" anchor="ctr"/>
          <a:lstStyle/>
          <a:p>
            <a:pPr marL="0" indent="0">
              <a:buNone/>
            </a:pPr>
            <a:r>
              <a:rPr lang="en-US" sz="3200" dirty="0">
                <a:solidFill>
                  <a:schemeClr val="tx1"/>
                </a:solidFill>
              </a:rPr>
              <a:t>Sai rồi có </a:t>
            </a:r>
            <a:r>
              <a:rPr lang="en-US" sz="3200" b="1" dirty="0">
                <a:solidFill>
                  <a:schemeClr val="tx2"/>
                </a:solidFill>
              </a:rPr>
              <a:t>sửa được</a:t>
            </a:r>
            <a:r>
              <a:rPr lang="en-US" sz="3200" dirty="0">
                <a:solidFill>
                  <a:schemeClr val="tx1"/>
                </a:solidFill>
              </a:rPr>
              <a:t> không?</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10058400" cy="1402080"/>
          </a:xfrm>
          <a:prstGeom prst="rect">
            <a:avLst/>
          </a:prstGeom>
          <a:noFill/>
          <a:ln/>
        </p:spPr>
        <p:txBody>
          <a:bodyPr wrap="square" lIns="0" tIns="0" rIns="0" bIns="0" rtlCol="0" anchor="ctr"/>
          <a:lstStyle/>
          <a:p>
            <a:pPr marL="0" indent="0">
              <a:buNone/>
            </a:pPr>
            <a:r>
              <a:rPr lang="en-US" sz="3200" b="1" dirty="0">
                <a:solidFill>
                  <a:schemeClr val="tx2"/>
                </a:solidFill>
              </a:rPr>
              <a:t>Ai</a:t>
            </a:r>
            <a:r>
              <a:rPr lang="en-US" sz="3200" dirty="0">
                <a:solidFill>
                  <a:schemeClr val="tx1"/>
                </a:solidFill>
              </a:rPr>
              <a:t> sẽ giải thích và chịu trách nhiệm?</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Kiểm soát bắt đầu từ chính em</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Đọc kĩ</a:t>
            </a:r>
            <a:r>
              <a:rPr lang="en-US" sz="3200" dirty="0">
                <a:solidFill>
                  <a:schemeClr val="tx1"/>
                </a:solidFill>
              </a:rPr>
              <a:t> trước khi dùng kết quả của AI</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Đối chiếu</a:t>
            </a:r>
            <a:r>
              <a:rPr lang="en-US" sz="3200" dirty="0">
                <a:solidFill>
                  <a:schemeClr val="tx1"/>
                </a:solidFill>
              </a:rPr>
              <a:t> với sách, với thầy cô</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Dừng lại</a:t>
            </a:r>
            <a:r>
              <a:rPr lang="en-US" sz="3200" dirty="0">
                <a:solidFill>
                  <a:schemeClr val="tx1"/>
                </a:solidFill>
              </a:rPr>
              <a:t> khi thấy điều gì lạ</a:t>
            </a:r>
            <a:endParaRPr lang="en-US" sz="3200" dirty="0"/>
          </a:p>
        </p:txBody>
      </p:sp>
      <p:sp>
        <p:nvSpPr>
          <p:cNvPr id="13" name="Shape 10"/>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4" name="Text 11"/>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Công cụ có thể sai. Người dùng kết quả chịu trách nhiệm.</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Nhìn lại ba giá trị</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An toàn</a:t>
            </a:r>
            <a:endParaRPr lang="en-US" sz="2600" dirty="0"/>
          </a:p>
          <a:p>
            <a:pPr marL="0" indent="0">
              <a:spcAft>
                <a:spcPts val="800"/>
              </a:spcAft>
              <a:buNone/>
            </a:pPr>
            <a:r>
              <a:rPr lang="en-US" sz="2600" dirty="0">
                <a:solidFill>
                  <a:schemeClr val="tx1"/>
                </a:solidFill>
              </a:rPr>
              <a:t>Không ai bị hại vì máy sai.</a:t>
            </a:r>
            <a:endParaRPr lang="en-US" sz="2600" dirty="0"/>
          </a:p>
        </p:txBody>
      </p:sp>
      <p:sp>
        <p:nvSpPr>
          <p:cNvPr id="6" name="Shape 3"/>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460248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Công bằng</a:t>
            </a:r>
            <a:endParaRPr lang="en-US" sz="2600" dirty="0"/>
          </a:p>
          <a:p>
            <a:pPr marL="0" indent="0">
              <a:spcAft>
                <a:spcPts val="800"/>
              </a:spcAft>
              <a:buNone/>
            </a:pPr>
            <a:r>
              <a:rPr lang="en-US" sz="2600" dirty="0">
                <a:solidFill>
                  <a:schemeClr val="tx1"/>
                </a:solidFill>
              </a:rPr>
              <a:t>Không ai bị thiệt vì dữ liệu lệch.</a:t>
            </a:r>
            <a:endParaRPr lang="en-US" sz="2600" dirty="0"/>
          </a:p>
        </p:txBody>
      </p:sp>
      <p:sp>
        <p:nvSpPr>
          <p:cNvPr id="8" name="Shape 5"/>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382000" y="1783080"/>
            <a:ext cx="295656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Quyền lợi con người</a:t>
            </a:r>
            <a:endParaRPr lang="en-US" sz="2600" dirty="0"/>
          </a:p>
          <a:p>
            <a:pPr marL="0" indent="0">
              <a:spcAft>
                <a:spcPts val="800"/>
              </a:spcAft>
              <a:buNone/>
            </a:pPr>
            <a:r>
              <a:rPr lang="en-US" sz="2600" dirty="0">
                <a:solidFill>
                  <a:schemeClr val="tx1"/>
                </a:solidFill>
              </a:rPr>
              <a:t>Luôn có người để hỏi và để chịu trách nhiệm.</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Kiểm soát AI:</a:t>
            </a:r>
            <a:r>
              <a:rPr lang="en-US" sz="3200" dirty="0">
                <a:solidFill>
                  <a:schemeClr val="tx1"/>
                </a:solidFill>
              </a:rPr>
              <a:t> đặt mục tiêu, kiểm tra, có quyền dừng, chịu trách nhiệm</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Ba lí do: </a:t>
            </a:r>
            <a:r>
              <a:rPr lang="en-US" sz="3200" b="1" dirty="0">
                <a:solidFill>
                  <a:schemeClr val="tx2"/>
                </a:solidFill>
              </a:rPr>
              <a:t>an toàn, công bằng, quyền lợi con người</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Rủi ro với </a:t>
            </a:r>
            <a:r>
              <a:rPr lang="en-US" sz="3200" b="1" dirty="0">
                <a:solidFill>
                  <a:schemeClr val="tx2"/>
                </a:solidFill>
              </a:rPr>
              <a:t>cá nhân</a:t>
            </a:r>
            <a:r>
              <a:rPr lang="en-US" sz="3200" dirty="0">
                <a:solidFill>
                  <a:schemeClr val="tx1"/>
                </a:solidFill>
              </a:rPr>
              <a:t> và với </a:t>
            </a:r>
            <a:r>
              <a:rPr lang="en-US" sz="3200" b="1" dirty="0">
                <a:solidFill>
                  <a:schemeClr val="tx2"/>
                </a:solidFill>
              </a:rPr>
              <a:t>xã hội</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Giữ </a:t>
            </a:r>
            <a:r>
              <a:rPr lang="en-US" sz="3200" b="1" dirty="0">
                <a:solidFill>
                  <a:schemeClr val="tx2"/>
                </a:solidFill>
              </a:rPr>
              <a:t>khâu then chốt</a:t>
            </a:r>
            <a:r>
              <a:rPr lang="en-US" sz="3200" dirty="0">
                <a:solidFill>
                  <a:schemeClr val="tx1"/>
                </a:solidFill>
              </a:rPr>
              <a:t>: sai thì hại người và khó sửa</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Nêu một rủi ro của sản phẩm AI đối với cá nhân và một rủi ro đối với xã hội.</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400" dirty="0">
                <a:solidFill>
                  <a:schemeClr val="tx1"/>
                </a:solidFill>
              </a:rPr>
              <a:t>Một ứng dụng dùng AI chấm điểm rèn luyện của học sinh dựa trên camera lớp học. Con người cần kiểm soát ở khâu nào? Giải thích bằng ít nhất một trong ba giá trị.</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F0739DF9-4DB4-2556-E5C3-E8D4250BEDCB}"/>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3015500401"/>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1262</Words>
  <Application>Microsoft Office PowerPoint</Application>
  <PresentationFormat>Widescreen</PresentationFormat>
  <Paragraphs>174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Vì sao con người phải kiểm soát AI?</vt:lpstr>
      <vt:lpstr>Hôm nay chúng ta làm gì?</vt:lpstr>
      <vt:lpstr>Khi một luật sư tin máy tuyệt đối</vt:lpstr>
      <vt:lpstr>“Kiểm soát AI” nghĩa là gì?</vt:lpstr>
      <vt:lpstr>Ba lí do phải giữ quyền kiểm soát</vt:lpstr>
      <vt:lpstr>Chuyện có thật: công cụ chấm hồ sơ xin việc</vt:lpstr>
      <vt:lpstr>Bản đồ rủi ro: AI có thể gây hại cho ai?</vt:lpstr>
      <vt:lpstr>Kiểm soát ở đâu? Tìm “khâu then chốt”</vt:lpstr>
      <vt:lpstr>Dễ nhầm</vt:lpstr>
      <vt:lpstr>Tranh biện: có nên để AI tự quyết định?</vt:lpstr>
      <vt:lpstr>Luật tranh biện</vt:lpstr>
      <vt:lpstr>Khi tranh biện, hãy hỏi lại nhau</vt:lpstr>
      <vt:lpstr>Kiểm soát bắt đầu từ chính em</vt:lpstr>
      <vt:lpstr>Nhìn lại ba giá trị</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10.2. Vì sao con người phải kiểm soát AI?</dc:title>
  <dc:subject>Trí tuệ nhân tạo</dc:subject>
  <cp:lastModifiedBy>Phạm Văn Tú</cp:lastModifiedBy>
  <cp:revision>1</cp:revision>
  <dcterms:created xsi:type="dcterms:W3CDTF">2026-10-08T10:55:22Z</dcterms:created>
  <dcterms:modified xsi:type="dcterms:W3CDTF">2026-10-10T03:23:50Z</dcterms:modified>
  <dc:description>Email: phamtund@gmail.com</dc:description>
  <dc:creator>Phạm Văn Tú</dc:creator>
  <cp:category>Trí tuệ nhân tạo</cp:category>
  <cp:keywords>Trí tuệ nhân tạo</cp:keywords>
</cp:coreProperties>
</file>