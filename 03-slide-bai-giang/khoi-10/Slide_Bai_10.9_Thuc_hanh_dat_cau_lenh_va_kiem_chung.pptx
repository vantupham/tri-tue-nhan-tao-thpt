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ở đầu" id="{F07D19FC-1A9E-08B0-6E7F-598E15CEACB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Thực hành trên máy" id="{E38CDCDE-0DD5-8C0D-80E2-76CAAE99A8E1}">
          <p14:sldIdLst>
            <p14:sldId id="265"/>
            <p14:sldId id="266"/>
            <p14:sldId id="267"/>
            <p14:sldId id="268"/>
            <p14:sldId id="269"/>
          </p14:sldIdLst>
        </p14:section>
        <p14:section name="Tổng kết" id="{824C9941-397A-22B1-0EC0-DA03B872D305}">
          <p14:sldIdLst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095B4B-5F34-4CD5-A3D7-C88483A3AC33}" v="1" dt="2026-10-10T03:29:31.4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100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ạm Văn Tú" userId="67199c852bdd6d1b" providerId="LiveId" clId="{CB377567-0116-4044-BB7C-6E46B7A5C596}"/>
    <pc:docChg chg="addSld modSld">
      <pc:chgData name="Phạm Văn Tú" userId="67199c852bdd6d1b" providerId="LiveId" clId="{CB377567-0116-4044-BB7C-6E46B7A5C596}" dt="2026-10-10T03:29:31.385" v="1"/>
      <pc:docMkLst>
        <pc:docMk/>
      </pc:docMkLst>
      <pc:sldChg chg="modSp mod">
        <pc:chgData name="Phạm Văn Tú" userId="67199c852bdd6d1b" providerId="LiveId" clId="{CB377567-0116-4044-BB7C-6E46B7A5C596}" dt="2026-10-10T03:29:17.951" v="0" actId="20577"/>
        <pc:sldMkLst>
          <pc:docMk/>
          <pc:sldMk cId="0" sldId="256"/>
        </pc:sldMkLst>
        <pc:spChg chg="mod">
          <ac:chgData name="Phạm Văn Tú" userId="67199c852bdd6d1b" providerId="LiveId" clId="{CB377567-0116-4044-BB7C-6E46B7A5C596}" dt="2026-10-10T03:29:17.951" v="0" actId="20577"/>
          <ac:spMkLst>
            <pc:docMk/>
            <pc:sldMk cId="0" sldId="256"/>
            <ac:spMk id="3" creationId="{00000000-0000-0000-0000-000000000000}"/>
          </ac:spMkLst>
        </pc:spChg>
      </pc:sldChg>
      <pc:sldChg chg="add">
        <pc:chgData name="Phạm Văn Tú" userId="67199c852bdd6d1b" providerId="LiveId" clId="{CB377567-0116-4044-BB7C-6E46B7A5C596}" dt="2026-10-10T03:29:31.385" v="1"/>
        <pc:sldMkLst>
          <pc:docMk/>
          <pc:sldMk cId="444010467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2514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Tiết thực hành tại phòng máy. Chuẩn bị: công cụ AI được nhà trường cho phép, Nhật kí câu lệnh, tài liệu đối chiếu (sách giáo khoa), Phiếu ra cửa. Phương án dự phòng khi mất mạng: giáo viên trình chiếu kết quả đã lưu sẵn.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Phần lớn thời gian dành cho học sinh làm trên máy.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HOẠT ĐỘNG 1 (4 phút). Tình huống giả định. Chốt: hiệu quả là đúng, dùng được và em hiểu được.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 tiêu chí này cũng là ba điều em tự soát ở cuối tiết.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HOẠT ĐỘNG 2 (6 phút). Nhắc ngắn gọn, dán quy tắc ở bảng.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Vòng lặp: sau bước 4 quay lại bước 2. Hôm nay mỗi nhóm làm hai vòng.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Chuyện có thật: năm 2023, một luật sư ở Mĩ nộp cho tòa bản lập luận có các án lệ do công cụ AI bịa ra và bị phạt 5.000 USD (vụ Mata v. Avianca).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Giáo viên làm mẫu trực tiếp trên máy chiếu với một nội dung môn học đang học, nói to suy nghĩ ở bước kiểm chứng. Bảng này chỉ là khung; kết quả thật tùy công cụ.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Nhật kí câu lệnh là sản phẩm đánh giá thường xuyên của tiết này. Nối với Bài 10.4: ghi rõ đã dùng AI thế nào.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HOẠT ĐỘNG 3. Mỗi nhóm một máy, phân vai rõ.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Nhóm hai em: người kiểm chứng kiêm ghi nhật kí.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Giáo viên đi quanh, hỏi từng nhóm: “Em đã kiểm chứng thông tin này ở đâu?”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Nhắc thời gian ở phút thứ 10. Lưu nhật kí.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HOẠT ĐỘNG 4 (8 phút, gồm cả phiếu ra cửa). Khen nhóm kiểm chứng kĩ, không chỉ nhóm có kết quả đẹp.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Tổng kết chuyên đề 10.3.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Không cho điểm. Thu nhật kí câu lệnh. Giao nhiệm vụ: đọc trước Bài 10.10.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D14F4-D6CA-6C2F-9B84-050806F8E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BE9684-E8C6-B7CA-173E-C67E22F59E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CE0C13-1AE5-4B9C-2DB8-8AC62C19D2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HOẠT ĐỘNG 3.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3ABBB-6B45-2E2E-903A-EB13E0184A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6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49808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38912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dirty="0">
                <a:solidFill>
                  <a:schemeClr val="accent5"/>
                </a:solidFill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Bài 10.9 · Thực hành: đặt câu lệnh và kiểm chứng kết quả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498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bg1"/>
                </a:solidFill>
              </a:rPr>
              <a:t>Thực hành: đặt câu lệnh và kiểm chứng kết quả</a:t>
            </a: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3891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accent5"/>
                </a:solidFill>
              </a:rPr>
              <a:t>Bài 10.9 · Chuyên đề 10.3: Ứng dụng AI và kĩ năng đặt câu lệnh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chemeClr val="accent5"/>
                </a:solidFill>
              </a:rPr>
              <a:t>Giáo dục trí tuệ nhân tạo </a:t>
            </a:r>
            <a:r>
              <a:rPr lang="en-US" sz="2400" dirty="0" err="1">
                <a:solidFill>
                  <a:schemeClr val="accent5"/>
                </a:solidFill>
              </a:rPr>
              <a:t>lớp</a:t>
            </a:r>
            <a:r>
              <a:rPr lang="en-US" sz="2400" dirty="0">
                <a:solidFill>
                  <a:schemeClr val="accent5"/>
                </a:solidFill>
              </a:rPr>
              <a:t> 10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868680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68680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8680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 flipV="1">
            <a:off x="868680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68680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68680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 flipV="1">
            <a:off x="868680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 flipV="1">
            <a:off x="868680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68680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 flipV="1">
            <a:off x="868680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 flipV="1">
            <a:off x="868680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 flipV="1">
            <a:off x="868680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014984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014984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 flipV="1">
            <a:off x="1014984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1014984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 flipV="1">
            <a:off x="1014984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 flipV="1">
            <a:off x="1014984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8494776" y="20711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494776" y="284835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8494776" y="362559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8494776" y="44028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995781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9957816" y="323697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995781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11420856" y="284835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11420856" y="362559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Hôm nay chúng ta làm gì?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64592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tx1"/>
                </a:solidFill>
              </a:rPr>
              <a:t>1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1645920" y="155448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Viết và chạy</a:t>
            </a:r>
            <a:r>
              <a:rPr lang="en-US" sz="2800" dirty="0">
                <a:solidFill>
                  <a:schemeClr val="tx1"/>
                </a:solidFill>
              </a:rPr>
              <a:t> một câu lệnh cho nhiệm vụ học tập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48640" y="297180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48640" y="2971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tx1"/>
                </a:solidFill>
              </a:rPr>
              <a:t>2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88036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Kiểm chứng</a:t>
            </a:r>
            <a:r>
              <a:rPr lang="en-US" sz="2800" dirty="0">
                <a:solidFill>
                  <a:schemeClr val="tx1"/>
                </a:solidFill>
              </a:rPr>
              <a:t> kết quả bằng nguồn độc lập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548640" y="429768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48640" y="4297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tx1"/>
                </a:solidFill>
              </a:rPr>
              <a:t>3</a:t>
            </a:r>
            <a:endParaRPr lang="en-US" sz="2700" dirty="0"/>
          </a:p>
        </p:txBody>
      </p:sp>
      <p:sp>
        <p:nvSpPr>
          <p:cNvPr id="12" name="Text 9"/>
          <p:cNvSpPr txBox="1"/>
          <p:nvPr/>
        </p:nvSpPr>
        <p:spPr>
          <a:xfrm>
            <a:off x="1645920" y="420624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Cải tiến</a:t>
            </a:r>
            <a:r>
              <a:rPr lang="en-US" sz="2800" dirty="0">
                <a:solidFill>
                  <a:schemeClr val="tx1"/>
                </a:solidFill>
              </a:rPr>
              <a:t> câu lệnh và ghi nhật kí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8412480" y="1554480"/>
            <a:ext cx="3200400" cy="402336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8686800" y="1737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45 phút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0" y="24231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4'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9464040" y="24231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Thế nào là hiệu quả?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0" y="317296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6'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9464040" y="317296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Quy tắc và quy trình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8686800" y="3922776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27'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9464040" y="3922776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Thực hành hai vòng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8686800" y="467258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8'</a:t>
            </a:r>
            <a:endParaRPr lang="en-US" sz="2600" dirty="0"/>
          </a:p>
        </p:txBody>
      </p:sp>
      <p:sp>
        <p:nvSpPr>
          <p:cNvPr id="22" name="Text 19"/>
          <p:cNvSpPr txBox="1"/>
          <p:nvPr/>
        </p:nvSpPr>
        <p:spPr>
          <a:xfrm>
            <a:off x="9464040" y="4672584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Chia sẻ, phiếu ra cửa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Mười giây, hai trang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658368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68680" y="1783080"/>
            <a:ext cx="5943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Quân khoe: “Mình gõ một câu, 10 giây sau có bài dài hai trang. Quá hiệu quả!”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406640" y="1554480"/>
            <a:ext cx="4206240" cy="438912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726680" y="182880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72668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tx1"/>
                </a:solidFill>
              </a:rPr>
              <a:t>?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283464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Nhanh và dài đã là hiệu quả chưa? Theo em còn cần gì nữa?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Hiệu quả nghĩa là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3505200" cy="4389120"/>
          </a:xfrm>
          <a:prstGeom prst="roundRect">
            <a:avLst>
              <a:gd name="adj" fmla="val 31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82296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1</a:t>
            </a:r>
            <a:endParaRPr lang="en-US" sz="2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51760"/>
            <a:ext cx="2956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tx2"/>
                </a:solidFill>
              </a:rPr>
              <a:t>Đúng</a:t>
            </a:r>
            <a:endParaRPr lang="en-US" sz="2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Thông tin đã được kiểm chứng.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4328160" y="1554480"/>
            <a:ext cx="3505200" cy="4389120"/>
          </a:xfrm>
          <a:prstGeom prst="roundRect">
            <a:avLst>
              <a:gd name="adj" fmla="val 31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602480" y="17830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460248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2</a:t>
            </a:r>
            <a:endParaRPr lang="en-US" sz="2300" dirty="0"/>
          </a:p>
        </p:txBody>
      </p:sp>
      <p:sp>
        <p:nvSpPr>
          <p:cNvPr id="11" name="Text 8"/>
          <p:cNvSpPr txBox="1"/>
          <p:nvPr/>
        </p:nvSpPr>
        <p:spPr>
          <a:xfrm>
            <a:off x="4602480" y="2651760"/>
            <a:ext cx="2956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tx2"/>
                </a:solidFill>
              </a:rPr>
              <a:t>Dùng được</a:t>
            </a:r>
            <a:endParaRPr lang="en-US" sz="2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Vừa với yêu cầu của nhiệm vụ.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8107680" y="1554480"/>
            <a:ext cx="3505200" cy="4389120"/>
          </a:xfrm>
          <a:prstGeom prst="roundRect">
            <a:avLst>
              <a:gd name="adj" fmla="val 313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382000" y="17830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838200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3</a:t>
            </a:r>
            <a:endParaRPr lang="en-US" sz="2300" dirty="0"/>
          </a:p>
        </p:txBody>
      </p:sp>
      <p:sp>
        <p:nvSpPr>
          <p:cNvPr id="15" name="Text 12"/>
          <p:cNvSpPr txBox="1"/>
          <p:nvPr/>
        </p:nvSpPr>
        <p:spPr>
          <a:xfrm>
            <a:off x="8382000" y="2651760"/>
            <a:ext cx="2956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accent2"/>
                </a:solidFill>
              </a:rPr>
              <a:t>Hiểu được</a:t>
            </a:r>
            <a:endParaRPr lang="en-US" sz="2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bg1"/>
                </a:solidFill>
              </a:rPr>
              <a:t>Em giải thích lại được bằng lời của mình.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Ba quy tắc an toàn phòng máy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91262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9126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1</a:t>
            </a:r>
            <a:endParaRPr lang="en-US" sz="23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554480"/>
            <a:ext cx="6949440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Chỉ dùng</a:t>
            </a:r>
            <a:r>
              <a:rPr lang="en-US" sz="3200" dirty="0">
                <a:solidFill>
                  <a:schemeClr val="tx1"/>
                </a:solidFill>
              </a:rPr>
              <a:t> công cụ và tài khoản giáo viên cho phép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48640" y="340614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48640" y="34061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2</a:t>
            </a:r>
            <a:endParaRPr lang="en-US" sz="23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3048000"/>
            <a:ext cx="6949440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Không nhập</a:t>
            </a:r>
            <a:r>
              <a:rPr lang="en-US" sz="3200" dirty="0">
                <a:solidFill>
                  <a:schemeClr val="tx1"/>
                </a:solidFill>
              </a:rPr>
              <a:t> dữ liệu cá nhân của mình và của người khác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548640" y="489966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48640" y="48996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3</a:t>
            </a:r>
            <a:endParaRPr lang="en-US" sz="2300" dirty="0"/>
          </a:p>
        </p:txBody>
      </p:sp>
      <p:sp>
        <p:nvSpPr>
          <p:cNvPr id="12" name="Text 9"/>
          <p:cNvSpPr txBox="1"/>
          <p:nvPr/>
        </p:nvSpPr>
        <p:spPr>
          <a:xfrm>
            <a:off x="1508760" y="4541520"/>
            <a:ext cx="6949440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Báo giáo viên</a:t>
            </a:r>
            <a:r>
              <a:rPr lang="en-US" sz="3200" dirty="0">
                <a:solidFill>
                  <a:schemeClr val="tx1"/>
                </a:solidFill>
              </a:rPr>
              <a:t> khi gặp nội dung lạ, không phù hợp</a:t>
            </a:r>
            <a:endParaRPr lang="en-US" sz="3200" dirty="0"/>
          </a:p>
        </p:txBody>
      </p:sp>
      <p:sp>
        <p:nvSpPr>
          <p:cNvPr id="13" name="Shape 10"/>
          <p:cNvSpPr/>
          <p:nvPr/>
        </p:nvSpPr>
        <p:spPr>
          <a:xfrm>
            <a:off x="8778240" y="1554480"/>
            <a:ext cx="2834640" cy="4480560"/>
          </a:xfrm>
          <a:prstGeom prst="roundRect">
            <a:avLst>
              <a:gd name="adj" fmla="val 38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9006840" y="1737360"/>
            <a:ext cx="2377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</a:rPr>
              <a:t>Vi phạm thì dừng thực hành.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Quy trình bốn bước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737360"/>
            <a:ext cx="2423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640080" y="17373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1. Viết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9184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tx1"/>
                </a:solidFill>
              </a:rPr>
              <a:t>câu lệnh đủ yêu cầu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040380" y="2258568"/>
            <a:ext cx="320040" cy="329184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429000" y="1737360"/>
            <a:ext cx="2423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3520440" y="17373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2. Chạy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3429000" y="329184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tx1"/>
                </a:solidFill>
              </a:rPr>
              <a:t>đọc kĩ kết quả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920740" y="2258568"/>
            <a:ext cx="320040" cy="329184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309360" y="1737360"/>
            <a:ext cx="2423160" cy="13716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400800" y="17373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3. Kiểm chứng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6309360" y="329184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tx1"/>
                </a:solidFill>
              </a:rPr>
              <a:t>so với nguồn độc lập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8801100" y="2258568"/>
            <a:ext cx="320040" cy="329184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9189720" y="1737360"/>
            <a:ext cx="2423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9281160" y="17373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4. Cải tiến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9189720" y="329184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tx1"/>
                </a:solidFill>
              </a:rPr>
              <a:t>sửa câu lệnh, chạy lại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i="1" dirty="0">
                <a:solidFill>
                  <a:schemeClr val="accent4"/>
                </a:solidFill>
              </a:rPr>
              <a:t>↺  sửa xong thì chạy lại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548640" y="5257800"/>
            <a:ext cx="11064240" cy="777240"/>
          </a:xfrm>
          <a:prstGeom prst="roundRect">
            <a:avLst>
              <a:gd name="adj" fmla="val 1411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868680" y="52578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Bước 3 quan trọng nhất và hay bị bỏ qua nhất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Kiểm chứng: tin vào đâu?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539496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68680" y="1783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Chưa phải kiểm chứng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51460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Hỏi lại chính AI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Thấy có ghi nguồn là tin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Thấy hợp lí là tin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217920" y="1554480"/>
            <a:ext cx="5394960" cy="3246120"/>
          </a:xfrm>
          <a:prstGeom prst="roundRect">
            <a:avLst>
              <a:gd name="adj" fmla="val 338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6537960" y="1783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Kiểm chứng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537960" y="251460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Mở sách giáo khoa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Mở trang chính thức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Tự tìm nguồn AI đã nêu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48640" y="5029200"/>
            <a:ext cx="11064240" cy="9144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868680" y="50292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Nguồn do AI nêu cũng phải mở ra xem có thật không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Làm mẫu: vòng 1 và vòng 2</a:t>
            </a:r>
            <a:endParaRPr lang="en-US" sz="3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Vòng 1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Vòng 2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Câu lệnh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Chỉ có mục tiêu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Thêm bối cảnh, giới hạn, định dạng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Kết quả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Dài, chung chung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Ngắn, đúng trình độ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Kiểm chứng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Một chỗ lệch với sách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Đã khớp với sách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Nhật kí câu lệnh</a:t>
            </a:r>
            <a:endParaRPr lang="en-US" sz="3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Vòng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Câu lệnh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Kiểm chứng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Thay đổi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Em đã gõ gì?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Đúng gì, sai gì, theo nguồn nào?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Sẽ sửa gì?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Em đã sửa thành gì?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Còn gì chưa chắc?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Vì sao tốt hơn?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48640" y="512064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 txBox="1"/>
          <p:nvPr/>
        </p:nvSpPr>
        <p:spPr>
          <a:xfrm>
            <a:off x="868680" y="512064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Nhật kí là minh chứng em đã tự làm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498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bg1"/>
                </a:solidFill>
              </a:rPr>
              <a:t>Thực hành trên máy</a:t>
            </a: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3891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accent5"/>
                </a:solidFill>
              </a:rPr>
              <a:t>Phần 2 · 27 phút · Nhóm 2 đến 3 em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 flipV="1">
            <a:off x="868680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68680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8680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68680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 flipV="1">
            <a:off x="868680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 flipV="1">
            <a:off x="868680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68680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68680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 flipV="1">
            <a:off x="868680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 flipV="1">
            <a:off x="868680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 flipV="1">
            <a:off x="868680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68680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014984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014984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1014984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 flipV="1">
            <a:off x="1014984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1014984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1014984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 flipV="1">
            <a:off x="1014984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 flipV="1">
            <a:off x="1014984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1014984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 flipV="1">
            <a:off x="1014984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 flipV="1">
            <a:off x="1014984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 flipV="1">
            <a:off x="1014984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849477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8494776" y="323697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849477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9957816" y="20711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9957816" y="284835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9957816" y="362559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9957816" y="44028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1142085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11420856" y="32369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1142085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Phân vai trong nhóm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353568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31520" y="290322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731520" y="29032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627632"/>
            <a:ext cx="2438400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Người gõ: nhập câu lệnh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4312920" y="1554480"/>
            <a:ext cx="353568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495800" y="290322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4495800" y="29032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5273040" y="1627632"/>
            <a:ext cx="2438400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Người kiểm chứng: mở sách, đối chiếu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8077200" y="1554480"/>
            <a:ext cx="353568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260080" y="290322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8260080" y="29032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9037320" y="1627632"/>
            <a:ext cx="2438400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Người ghi: viết nhật kí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868680" y="50749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Sang vòng 2 thì đổi vai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Vòng 1: viết, chạy, kiểm chứng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1828800" cy="1188720"/>
          </a:xfrm>
          <a:prstGeom prst="roundRect">
            <a:avLst>
              <a:gd name="adj" fmla="val 923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5544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1"/>
                </a:solidFill>
              </a:rPr>
              <a:t>13 phút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2651760" y="15544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Dùng câu lệnh em đã viết ở Bài 10.8 cho nhiệm vụ được giao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17520"/>
            <a:ext cx="6858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Soát an toàn rồi mới gửi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Đọc hết kết quả, đánh dấu 2 thông tin quan trọng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Đối chiếu với sách, ghi vào nhật kí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7772400" y="1554480"/>
            <a:ext cx="3840480" cy="438912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092440" y="1783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Nhiệm vụ gợi ý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242316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Nhờ AI giải thích một khái niệm đang học, hoặc tạo 5 câu hỏi ôn tập cho một bài trong sách.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Vòng 2: cải tiến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1828800" cy="1188720"/>
          </a:xfrm>
          <a:prstGeom prst="roundRect">
            <a:avLst>
              <a:gd name="adj" fmla="val 923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5544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1"/>
                </a:solidFill>
              </a:rPr>
              <a:t>14 phút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2651760" y="15544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Sửa câu lệnh dựa trên điều em vừa phát hiện, chạy lại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17520"/>
            <a:ext cx="6858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Chọn một điểm chưa đạt ở vòng 1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Sửa đúng yêu cầu còn thiếu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So sánh hai kết quả, ghi lí do tốt hơn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7772400" y="1554480"/>
            <a:ext cx="3840480" cy="438912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092440" y="1783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Nếu kết quả vẫn sai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242316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Ghi lại trung thực. Phát hiện ra chỗ sai cũng là một kết quả thực hành tốt.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Chia sẻ trước lớp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658368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68680" y="1783080"/>
            <a:ext cx="5943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Hai đến ba nhóm trình bày nhanh, mỗi nhóm một phút.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406640" y="1554480"/>
            <a:ext cx="4206240" cy="438912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726680" y="182880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72668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tx1"/>
                </a:solidFill>
              </a:rPr>
              <a:t>?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283464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Vòng 2 nhóm em đã đổi gì? Thông tin nào nhóm em phát hiện là chưa đúng?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Ghi nhớ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72593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72593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1</a:t>
            </a:r>
            <a:endParaRPr lang="en-US" sz="23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554480"/>
            <a:ext cx="10058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Hiệu quả là </a:t>
            </a:r>
            <a:r>
              <a:rPr lang="en-US" sz="3200" b="1" dirty="0">
                <a:solidFill>
                  <a:schemeClr val="tx2"/>
                </a:solidFill>
              </a:rPr>
              <a:t>đúng, dùng được, hiểu được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48640" y="284607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48640" y="284607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2</a:t>
            </a:r>
            <a:endParaRPr lang="en-US" sz="23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2674620"/>
            <a:ext cx="10058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Bốn bước: </a:t>
            </a:r>
            <a:r>
              <a:rPr lang="en-US" sz="3200" b="1" dirty="0">
                <a:solidFill>
                  <a:schemeClr val="tx2"/>
                </a:solidFill>
              </a:rPr>
              <a:t>viết, chạy, kiểm chứng, cải tiến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548640" y="396621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48640" y="396621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3</a:t>
            </a:r>
            <a:endParaRPr lang="en-US" sz="2300" dirty="0"/>
          </a:p>
        </p:txBody>
      </p:sp>
      <p:sp>
        <p:nvSpPr>
          <p:cNvPr id="12" name="Text 9"/>
          <p:cNvSpPr txBox="1"/>
          <p:nvPr/>
        </p:nvSpPr>
        <p:spPr>
          <a:xfrm>
            <a:off x="1508760" y="3794760"/>
            <a:ext cx="10058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Kiểm chứng</a:t>
            </a:r>
            <a:r>
              <a:rPr lang="en-US" sz="3200" dirty="0">
                <a:solidFill>
                  <a:schemeClr val="tx1"/>
                </a:solidFill>
              </a:rPr>
              <a:t> bằng nguồn độc lập, kể cả nguồn AI nêu</a:t>
            </a:r>
            <a:endParaRPr lang="en-US" sz="3200" dirty="0"/>
          </a:p>
        </p:txBody>
      </p:sp>
      <p:sp>
        <p:nvSpPr>
          <p:cNvPr id="13" name="Shape 10"/>
          <p:cNvSpPr/>
          <p:nvPr/>
        </p:nvSpPr>
        <p:spPr>
          <a:xfrm>
            <a:off x="548640" y="508635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548640" y="508635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4</a:t>
            </a:r>
            <a:endParaRPr lang="en-US" sz="2300" dirty="0"/>
          </a:p>
        </p:txBody>
      </p:sp>
      <p:sp>
        <p:nvSpPr>
          <p:cNvPr id="15" name="Text 12"/>
          <p:cNvSpPr txBox="1"/>
          <p:nvPr/>
        </p:nvSpPr>
        <p:spPr>
          <a:xfrm>
            <a:off x="1508760" y="4914900"/>
            <a:ext cx="10058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Nhật kí câu lệnh</a:t>
            </a:r>
            <a:r>
              <a:rPr lang="en-US" sz="3200" dirty="0">
                <a:solidFill>
                  <a:schemeClr val="tx1"/>
                </a:solidFill>
              </a:rPr>
              <a:t> cho thấy em đã tự làm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498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bg1"/>
                </a:solidFill>
              </a:rPr>
              <a:t>Phiếu ra cửa</a:t>
            </a: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3891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accent5"/>
                </a:solidFill>
              </a:rPr>
              <a:t>5 phút · Làm cá nhân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394960" y="960120"/>
            <a:ext cx="621792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623560" y="11887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56235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tx1"/>
                </a:solidFill>
              </a:rPr>
              <a:t>1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6446520" y="109728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chemeClr val="tx1"/>
                </a:solidFill>
              </a:rPr>
              <a:t>Ở vòng 2, em đã đổi gì trong câu lệnh? Vì sao?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394960" y="2697480"/>
            <a:ext cx="621792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623560" y="29260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62356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tx1"/>
                </a:solidFill>
              </a:rPr>
              <a:t>2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6446520" y="283464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chemeClr val="tx1"/>
                </a:solidFill>
              </a:rPr>
              <a:t>Ghi một thông tin em đã kiểm chứng và nguồn em dùng.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5394960" y="4434840"/>
            <a:ext cx="621792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623560" y="46634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5623560" y="4663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tx1"/>
                </a:solidFill>
              </a:rPr>
              <a:t>3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6446520" y="457200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chemeClr val="tx1"/>
                </a:solidFill>
              </a:rPr>
              <a:t>Hoàn thành câu: “Lần sau dùng AI cho việc học, điều đầu tiên em sẽ làm là ...”</a:t>
            </a:r>
            <a:endParaRPr lang="en-US" sz="2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0FE57-DD6B-0941-A2BB-28D1A5388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5A6725C-CB31-6472-2A29-F859C3B9EAD2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649224" y="1289265"/>
            <a:ext cx="618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vi-VN" sz="4600" b="1" dirty="0">
                <a:solidFill>
                  <a:schemeClr val="bg1"/>
                </a:solidFill>
              </a:rPr>
              <a:t>Tài liệu tham khảo</a:t>
            </a:r>
            <a:endParaRPr lang="en-US" sz="46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84FC6891-0F0B-8821-EA2F-EDAF20AF9F0E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xfrm>
            <a:off x="726948" y="3717036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2400" dirty="0"/>
              <a:t>https://montinhoc.vn</a:t>
            </a:r>
            <a:endParaRPr lang="en-US" sz="24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C9A30BE-8829-96CA-B3B0-D88FAE88F21B}"/>
              </a:ext>
            </a:extLst>
          </p:cNvPr>
          <p:cNvSpPr/>
          <p:nvPr/>
        </p:nvSpPr>
        <p:spPr>
          <a:xfrm flipV="1">
            <a:off x="868680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028B981-D9D6-8DA6-85D8-DB014D5F0B3B}"/>
              </a:ext>
            </a:extLst>
          </p:cNvPr>
          <p:cNvSpPr/>
          <p:nvPr/>
        </p:nvSpPr>
        <p:spPr>
          <a:xfrm>
            <a:off x="868680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3B1873D-3AEF-FF0E-20B7-19D134D3BF51}"/>
              </a:ext>
            </a:extLst>
          </p:cNvPr>
          <p:cNvSpPr/>
          <p:nvPr/>
        </p:nvSpPr>
        <p:spPr>
          <a:xfrm>
            <a:off x="868680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9058E345-0FEC-FED7-18D4-81DD99507C2D}"/>
              </a:ext>
            </a:extLst>
          </p:cNvPr>
          <p:cNvSpPr/>
          <p:nvPr/>
        </p:nvSpPr>
        <p:spPr>
          <a:xfrm>
            <a:off x="868680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980D36E4-1991-CC37-B0B9-2B2D83E02A20}"/>
              </a:ext>
            </a:extLst>
          </p:cNvPr>
          <p:cNvSpPr/>
          <p:nvPr/>
        </p:nvSpPr>
        <p:spPr>
          <a:xfrm flipV="1">
            <a:off x="868680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76BB1C4-6469-F0A3-DD3E-4EBEF5F6CC38}"/>
              </a:ext>
            </a:extLst>
          </p:cNvPr>
          <p:cNvSpPr/>
          <p:nvPr/>
        </p:nvSpPr>
        <p:spPr>
          <a:xfrm flipV="1">
            <a:off x="868680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480B6E7E-7896-4EC1-4475-2FC646E1027E}"/>
              </a:ext>
            </a:extLst>
          </p:cNvPr>
          <p:cNvSpPr/>
          <p:nvPr/>
        </p:nvSpPr>
        <p:spPr>
          <a:xfrm>
            <a:off x="868680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819D253D-1310-99A7-2103-35FF052B86F3}"/>
              </a:ext>
            </a:extLst>
          </p:cNvPr>
          <p:cNvSpPr/>
          <p:nvPr/>
        </p:nvSpPr>
        <p:spPr>
          <a:xfrm>
            <a:off x="868680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07093821-7F19-40FA-3D3D-44CFDC1F58DF}"/>
              </a:ext>
            </a:extLst>
          </p:cNvPr>
          <p:cNvSpPr/>
          <p:nvPr/>
        </p:nvSpPr>
        <p:spPr>
          <a:xfrm flipV="1">
            <a:off x="868680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7ACBDD20-A61B-996B-BDB0-752F18E140AC}"/>
              </a:ext>
            </a:extLst>
          </p:cNvPr>
          <p:cNvSpPr/>
          <p:nvPr/>
        </p:nvSpPr>
        <p:spPr>
          <a:xfrm flipV="1">
            <a:off x="868680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37174946-DDCB-CB27-9AF4-4001176FEF51}"/>
              </a:ext>
            </a:extLst>
          </p:cNvPr>
          <p:cNvSpPr/>
          <p:nvPr/>
        </p:nvSpPr>
        <p:spPr>
          <a:xfrm flipV="1">
            <a:off x="868680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1AFC1789-471C-2797-0415-2237AAA365EC}"/>
              </a:ext>
            </a:extLst>
          </p:cNvPr>
          <p:cNvSpPr/>
          <p:nvPr/>
        </p:nvSpPr>
        <p:spPr>
          <a:xfrm>
            <a:off x="868680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D95D154A-DE09-58FC-1981-2186A2BB8A5F}"/>
              </a:ext>
            </a:extLst>
          </p:cNvPr>
          <p:cNvSpPr/>
          <p:nvPr/>
        </p:nvSpPr>
        <p:spPr>
          <a:xfrm>
            <a:off x="1014984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4C5CF0A1-4524-41B4-80B3-D3831B078A65}"/>
              </a:ext>
            </a:extLst>
          </p:cNvPr>
          <p:cNvSpPr/>
          <p:nvPr/>
        </p:nvSpPr>
        <p:spPr>
          <a:xfrm>
            <a:off x="1014984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4C287EB0-1B4C-6D0A-A568-624FA2D80A3D}"/>
              </a:ext>
            </a:extLst>
          </p:cNvPr>
          <p:cNvSpPr/>
          <p:nvPr/>
        </p:nvSpPr>
        <p:spPr>
          <a:xfrm>
            <a:off x="1014984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47472C28-2774-3B7F-EE38-D1FE26D725B5}"/>
              </a:ext>
            </a:extLst>
          </p:cNvPr>
          <p:cNvSpPr/>
          <p:nvPr/>
        </p:nvSpPr>
        <p:spPr>
          <a:xfrm flipV="1">
            <a:off x="1014984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629B49FE-2351-7D5A-7739-412432860157}"/>
              </a:ext>
            </a:extLst>
          </p:cNvPr>
          <p:cNvSpPr/>
          <p:nvPr/>
        </p:nvSpPr>
        <p:spPr>
          <a:xfrm>
            <a:off x="1014984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DF800979-2DC3-4E1A-E90A-97154C0F5009}"/>
              </a:ext>
            </a:extLst>
          </p:cNvPr>
          <p:cNvSpPr/>
          <p:nvPr/>
        </p:nvSpPr>
        <p:spPr>
          <a:xfrm>
            <a:off x="1014984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D6059B07-EE5C-FABC-F332-9DC490CD1D79}"/>
              </a:ext>
            </a:extLst>
          </p:cNvPr>
          <p:cNvSpPr/>
          <p:nvPr/>
        </p:nvSpPr>
        <p:spPr>
          <a:xfrm flipV="1">
            <a:off x="1014984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F7534B69-69A3-698B-93D3-66A6B0094F65}"/>
              </a:ext>
            </a:extLst>
          </p:cNvPr>
          <p:cNvSpPr/>
          <p:nvPr/>
        </p:nvSpPr>
        <p:spPr>
          <a:xfrm flipV="1">
            <a:off x="1014984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648344F8-1507-B882-7C9E-B332C5271B12}"/>
              </a:ext>
            </a:extLst>
          </p:cNvPr>
          <p:cNvSpPr/>
          <p:nvPr/>
        </p:nvSpPr>
        <p:spPr>
          <a:xfrm>
            <a:off x="1014984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2D9300E0-4E52-5232-A0A0-0E7CE89D218D}"/>
              </a:ext>
            </a:extLst>
          </p:cNvPr>
          <p:cNvSpPr/>
          <p:nvPr/>
        </p:nvSpPr>
        <p:spPr>
          <a:xfrm flipV="1">
            <a:off x="1014984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57B8293B-E487-0777-ACDD-B84258075045}"/>
              </a:ext>
            </a:extLst>
          </p:cNvPr>
          <p:cNvSpPr/>
          <p:nvPr/>
        </p:nvSpPr>
        <p:spPr>
          <a:xfrm flipV="1">
            <a:off x="1014984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8CD7407F-32A4-6AD6-0975-BE6C3451FAF0}"/>
              </a:ext>
            </a:extLst>
          </p:cNvPr>
          <p:cNvSpPr/>
          <p:nvPr/>
        </p:nvSpPr>
        <p:spPr>
          <a:xfrm flipV="1">
            <a:off x="1014984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8B0667B1-079E-6CE7-39D0-356A6E4ECE2C}"/>
              </a:ext>
            </a:extLst>
          </p:cNvPr>
          <p:cNvSpPr/>
          <p:nvPr/>
        </p:nvSpPr>
        <p:spPr>
          <a:xfrm>
            <a:off x="849477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0B5CDD97-B920-3E27-DDF5-15D94164191C}"/>
              </a:ext>
            </a:extLst>
          </p:cNvPr>
          <p:cNvSpPr/>
          <p:nvPr/>
        </p:nvSpPr>
        <p:spPr>
          <a:xfrm>
            <a:off x="8494776" y="323697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62A4D2EE-C00B-307E-06C9-1F7C1DC158DD}"/>
              </a:ext>
            </a:extLst>
          </p:cNvPr>
          <p:cNvSpPr/>
          <p:nvPr/>
        </p:nvSpPr>
        <p:spPr>
          <a:xfrm>
            <a:off x="849477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3768F21F-1608-C34F-D970-6ECA809A91B2}"/>
              </a:ext>
            </a:extLst>
          </p:cNvPr>
          <p:cNvSpPr/>
          <p:nvPr/>
        </p:nvSpPr>
        <p:spPr>
          <a:xfrm>
            <a:off x="9957816" y="20711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8AD95141-1285-BD10-8D1A-FFCAC904CE3D}"/>
              </a:ext>
            </a:extLst>
          </p:cNvPr>
          <p:cNvSpPr/>
          <p:nvPr/>
        </p:nvSpPr>
        <p:spPr>
          <a:xfrm>
            <a:off x="9957816" y="284835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DDF7ED9A-5847-6BA1-A757-A970A5CAE67C}"/>
              </a:ext>
            </a:extLst>
          </p:cNvPr>
          <p:cNvSpPr/>
          <p:nvPr/>
        </p:nvSpPr>
        <p:spPr>
          <a:xfrm>
            <a:off x="9957816" y="362559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45226941-7C5E-0602-5D41-259AA60FB5B8}"/>
              </a:ext>
            </a:extLst>
          </p:cNvPr>
          <p:cNvSpPr/>
          <p:nvPr/>
        </p:nvSpPr>
        <p:spPr>
          <a:xfrm>
            <a:off x="9957816" y="44028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DB7C82DF-0D44-12FC-B608-14F2811EA2AE}"/>
              </a:ext>
            </a:extLst>
          </p:cNvPr>
          <p:cNvSpPr/>
          <p:nvPr/>
        </p:nvSpPr>
        <p:spPr>
          <a:xfrm>
            <a:off x="1142085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F61ECE36-8002-A40B-5D82-6AA53B33E6BC}"/>
              </a:ext>
            </a:extLst>
          </p:cNvPr>
          <p:cNvSpPr/>
          <p:nvPr/>
        </p:nvSpPr>
        <p:spPr>
          <a:xfrm>
            <a:off x="11420856" y="32369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D6D1649A-4E60-5FE4-4461-EF6482CE2AEF}"/>
              </a:ext>
            </a:extLst>
          </p:cNvPr>
          <p:cNvSpPr/>
          <p:nvPr/>
        </p:nvSpPr>
        <p:spPr>
          <a:xfrm>
            <a:off x="1142085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F0739DF9-4DB4-2556-E5C3-E8D4250BE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3394" y="0"/>
            <a:ext cx="48486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010467"/>
      </p:ext>
    </p:extLst>
  </p:cSld>
  <p:clrMapOvr>
    <a:masterClrMapping/>
  </p:clrMapOvr>
</p:sld>
</file>

<file path=ppt/theme/theme1.xml><?xml version="1.0" encoding="utf-8"?>
<a:theme xmlns:a="http://schemas.openxmlformats.org/drawingml/2006/main" name="GiaoDucAI">
  <a:themeElements>
    <a:clrScheme name="GiaoDucAI">
      <a:dk1>
        <a:srgbClr val="17313A"/>
      </a:dk1>
      <a:lt1>
        <a:srgbClr val="FFFFFF"/>
      </a:lt1>
      <a:dk2>
        <a:srgbClr val="0F4C5C"/>
      </a:dk2>
      <a:lt2>
        <a:srgbClr val="E8F1F0"/>
      </a:lt2>
      <a:accent1>
        <a:srgbClr val="0F4C5C"/>
      </a:accent1>
      <a:accent2>
        <a:srgbClr val="F2A541"/>
      </a:accent2>
      <a:accent3>
        <a:srgbClr val="5FA8A0"/>
      </a:accent3>
      <a:accent4>
        <a:srgbClr val="C8553D"/>
      </a:accent4>
      <a:accent5>
        <a:srgbClr val="8FB8B3"/>
      </a:accent5>
      <a:accent6>
        <a:srgbClr val="6B7F86"/>
      </a:accent6>
      <a:hlink>
        <a:srgbClr val="0F4C5C"/>
      </a:hlink>
      <a:folHlink>
        <a:srgbClr val="6B7F86"/>
      </a:folHlink>
    </a:clrScheme>
    <a:fontScheme name="GiaoDucA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1200</Words>
  <Application>Microsoft Office PowerPoint</Application>
  <PresentationFormat>Widescreen</PresentationFormat>
  <Paragraphs>184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GiaoDucAI</vt:lpstr>
      <vt:lpstr>Thực hành: đặt câu lệnh và kiểm chứng kết quả</vt:lpstr>
      <vt:lpstr>Hôm nay chúng ta làm gì?</vt:lpstr>
      <vt:lpstr>Mười giây, hai trang</vt:lpstr>
      <vt:lpstr>Hiệu quả nghĩa là</vt:lpstr>
      <vt:lpstr>Ba quy tắc an toàn phòng máy</vt:lpstr>
      <vt:lpstr>Quy trình bốn bước</vt:lpstr>
      <vt:lpstr>Kiểm chứng: tin vào đâu?</vt:lpstr>
      <vt:lpstr>Làm mẫu: vòng 1 và vòng 2</vt:lpstr>
      <vt:lpstr>Nhật kí câu lệnh</vt:lpstr>
      <vt:lpstr>Thực hành trên máy</vt:lpstr>
      <vt:lpstr>Phân vai trong nhóm</vt:lpstr>
      <vt:lpstr>Vòng 1: viết, chạy, kiểm chứng</vt:lpstr>
      <vt:lpstr>Vòng 2: cải tiến</vt:lpstr>
      <vt:lpstr>Chia sẻ trước lớp</vt:lpstr>
      <vt:lpstr>Ghi nhớ</vt:lpstr>
      <vt:lpstr>Phiếu ra cửa</vt:lpstr>
      <vt:lpstr>Tài liệu tham khảo</vt:lpstr>
    </vt:vector>
  </TitlesOfParts>
  <Company>0939725119</Company>
  <LinksUpToDate>false</LinksUpToDate>
  <SharedDoc>false</SharedDoc>
  <HyperlinksChanged>false</HyperlinksChanged>
  <AppVersion>16.0000</AppVersion>
  <Manager>Phạm Văn Tú</Manager>
  <HyperlinkBase>https://montinhoc.vn</HyperlinkBas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Bài 10.9. Thực hành: đặt câu lệnh và kiểm chứng kết quả</dc:title>
  <dc:subject>Trí tuệ nhân tạo</dc:subject>
  <cp:lastModifiedBy>Phạm Văn Tú</cp:lastModifiedBy>
  <cp:revision>1</cp:revision>
  <dcterms:created xsi:type="dcterms:W3CDTF">2026-10-08T11:00:36Z</dcterms:created>
  <dcterms:modified xsi:type="dcterms:W3CDTF">2026-10-10T03:29:32Z</dcterms:modified>
  <dc:description>Email: phamtund@gmail.com</dc:description>
  <dc:creator>Phạm Văn Tú</dc:creator>
  <cp:category>Trí tuệ nhân tạo</cp:category>
  <cp:keywords>Trí tuệ nhân tạo</cp:keywords>
</cp:coreProperties>
</file>