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AC92BBE8-E5E7-B18F-805B-782EE17EE028}">
          <p14:sldIdLst>
            <p14:sldId id="256"/>
            <p14:sldId id="257"/>
            <p14:sldId id="258"/>
            <p14:sldId id="259"/>
            <p14:sldId id="260"/>
            <p14:sldId id="261"/>
            <p14:sldId id="262"/>
            <p14:sldId id="263"/>
            <p14:sldId id="264"/>
            <p14:sldId id="265"/>
          </p14:sldIdLst>
        </p14:section>
        <p14:section name="Tình huống nào, luật nào bảo vệ?" id="{1493BE65-6269-6BA9-472E-01664E13F256}">
          <p14:sldIdLst>
            <p14:sldId id="266"/>
            <p14:sldId id="267"/>
            <p14:sldId id="268"/>
            <p14:sldId id="269"/>
          </p14:sldIdLst>
        </p14:section>
        <p14:section name="Tổng kết" id="{FA87233A-770F-4565-F486-E8B360081261}">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086048-872E-4C24-859C-CCD6B162DAD1}" v="1" dt="2026-10-10T03:25:06.3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25:20.130" v="2" actId="20577"/>
      <pc:docMkLst>
        <pc:docMk/>
      </pc:docMkLst>
      <pc:sldChg chg="modSp mod">
        <pc:chgData name="Phạm Văn Tú" userId="67199c852bdd6d1b" providerId="LiveId" clId="{CB377567-0116-4044-BB7C-6E46B7A5C596}" dt="2026-10-10T03:25:20.130" v="2" actId="20577"/>
        <pc:sldMkLst>
          <pc:docMk/>
          <pc:sldMk cId="0" sldId="256"/>
        </pc:sldMkLst>
        <pc:spChg chg="mod">
          <ac:chgData name="Phạm Văn Tú" userId="67199c852bdd6d1b" providerId="LiveId" clId="{CB377567-0116-4044-BB7C-6E46B7A5C596}" dt="2026-10-10T03:25:20.130" v="2" actId="20577"/>
          <ac:spMkLst>
            <pc:docMk/>
            <pc:sldMk cId="0" sldId="256"/>
            <ac:spMk id="3" creationId="{00000000-0000-0000-0000-000000000000}"/>
          </ac:spMkLst>
        </pc:spChg>
      </pc:sldChg>
      <pc:sldChg chg="add">
        <pc:chgData name="Phạm Văn Tú" userId="67199c852bdd6d1b" providerId="LiveId" clId="{CB377567-0116-4044-BB7C-6E46B7A5C596}" dt="2026-10-10T03:25:06.374" v="0"/>
        <pc:sldMkLst>
          <pc:docMk/>
          <pc:sldMk cId="1450568002"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852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tài liệu bốn 'trạm luật', Phiếu ghép tình huống, Phiếu ra cửa. QUAN TRỌNG: nội dung pháp luật trong bài dẫn theo bài giới thiệu luật; giáo viên đối chiếu văn bản đang có hiệu lực trước khi dạy (Luật An ninh mạng 2025 có hiệu lực từ 01/7/2026).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Mức yêu cầu: kể tên và hiểu luật bảo vệ điều gì; không yêu cầu thuộc điều khoản.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Tình huống giả định. Cuối bài học sinh chỉ ra được ít nhất ba luật đang đứng về phía Minh.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(17 phút): bốn trạm luật. Mỗi nhóm lần lượt qua bốn trạm, mỗi trạm 3 phút, ghi vào bảng tóm tắt: luật bảo vệ điều gì, một ví dụ.</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Luật An ninh mạng số 116/2025/QH15, thông qua 10/12/2025, hiệu lực từ 01/7/2026 (dẫn theo bản tóm lược). Với Minh: việc ghép ảnh Minh vào video khi chưa được phép thuộc phạm vi luật này.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Luật Dữ liệu số 60/2024/QH15 (thông qua 30/11/2024). Luật Bảo vệ dữ liệu cá nhân số 91/2025/QH15, hiệu lực từ 01/01/2026.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Luật còn quy định quyền khác (xem, chỉnh sửa, phản đối, khiếu nại). Học kĩ ở lớp 11 (Bài 11.5).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Luật Trí tuệ nhân tạo số 134/2025/QH15, hiệu lực từ 01/3/2026 (dẫn theo bài giới thiệu luật). Luật phân hệ thống AI theo mức rủi ro.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Áp dụng cho Minh: không cãi nhau với tài khoản lạ; chụp màn hình video và tài khoản; báo cha mẹ và giáo viên chủ nhiệm; báo cáo với nền tảng để gỡ.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cảnh báo của Bộ Công an về cuộc gọi video giả mạo bằng công nghệ AI (dẫn theo Báo Pháp Luật TP.HCM). Khuyến cáo: không chuyển tiền chỉ vì một cuộc gọi video.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Phát Phiếu ghép tình huống.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phút chữa. Với chuyện của Minh: Luật An ninh mạng (giả mạo hình ảnh), Luật Bảo vệ dữ liệu cá nhân (ảnh là dữ liệu cá nhân), Luật Trí tuệ nhân tạo (gắn nhãn nội dung mô phỏng người thật). Phiếu ghép là minh chứng đánh giá.</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Ghép mặt bạn khi chưa được đồng ý có thể làm tổn thương bạn và có thể vi phạm pháp luật, dù không có ý xấu.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chuyên đề.</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Không cho điểm.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334893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10.3 · Pháp luật bảo vệ em trong không gian số</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Pháp luật bảo vệ em trong không gian số</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10.3 · Chuyên đề 10.1: Con người làm chủ AI</a:t>
            </a:r>
            <a:endParaRPr lang="en-US" sz="2400" dirty="0"/>
          </a:p>
          <a:p>
            <a:pPr marL="0" indent="0" algn="l">
              <a:buNone/>
            </a:pPr>
            <a:r>
              <a:rPr lang="en-US" sz="2400" dirty="0">
                <a:solidFill>
                  <a:schemeClr val="accent5"/>
                </a:solidFill>
              </a:rPr>
              <a:t>Giáo dục trí tuệ nhân tạo lớp </a:t>
            </a:r>
            <a:r>
              <a:rPr lang="en-US" sz="2400">
                <a:solidFill>
                  <a:schemeClr val="accent5"/>
                </a:solidFill>
              </a:rPr>
              <a:t>10 </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Kể tên</a:t>
            </a:r>
            <a:r>
              <a:rPr lang="en-US" sz="2800" dirty="0">
                <a:solidFill>
                  <a:schemeClr val="tx1"/>
                </a:solidFill>
              </a:rPr>
              <a:t> bốn luật bảo vệ em trong không gian số</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mỗi luật bảo vệ điều gì</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Biết</a:t>
            </a:r>
            <a:r>
              <a:rPr lang="en-US" sz="2800" dirty="0">
                <a:solidFill>
                  <a:schemeClr val="tx1"/>
                </a:solidFill>
              </a:rPr>
              <a:t> bốn bước ứng phó khi có chuyện xảy ra</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Chuyện của Minh</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17'</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Bốn trạm luật</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18'</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Tình huống nào, luật nào?</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của Minh</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Minh có một tấm ảnh chân dung đăng trên mạng xã hội.</a:t>
            </a:r>
            <a:endParaRPr lang="en-US" sz="2400" dirty="0"/>
          </a:p>
          <a:p>
            <a:pPr marL="0" indent="0">
              <a:buNone/>
            </a:pPr>
            <a:endParaRPr lang="en-US" sz="2400" dirty="0"/>
          </a:p>
          <a:p>
            <a:pPr marL="0" indent="0">
              <a:buNone/>
            </a:pPr>
            <a:r>
              <a:rPr lang="en-US" sz="2400" dirty="0">
                <a:solidFill>
                  <a:schemeClr val="tx1"/>
                </a:solidFill>
              </a:rPr>
              <a:t>Một tài khoản lạ lấy tấm ảnh ấy, dùng AI ghép vào một video quảng cáo. Video lan trong các nhóm chat.</a:t>
            </a:r>
            <a:endParaRPr lang="en-US" sz="2400" dirty="0"/>
          </a:p>
          <a:p>
            <a:pPr marL="0" indent="0">
              <a:buNone/>
            </a:pPr>
            <a:endParaRPr lang="en-US" sz="2400" dirty="0"/>
          </a:p>
          <a:p>
            <a:pPr marL="0" indent="0">
              <a:buNone/>
            </a:pPr>
            <a:r>
              <a:rPr lang="en-US" sz="2400" dirty="0">
                <a:solidFill>
                  <a:schemeClr val="tx1"/>
                </a:solidFill>
              </a:rPr>
              <a:t>Bạn bè nhắn: “Cậu đi quảng cáo từ bao giờ thế?”</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Minh có được pháp luật bảo vệ không? Em biết luật nào liên quan?</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“tấm khiên” trong không gian số</a:t>
            </a:r>
            <a:endParaRPr lang="en-US" sz="3800" dirty="0"/>
          </a:p>
        </p:txBody>
      </p:sp>
      <p:sp>
        <p:nvSpPr>
          <p:cNvPr id="4" name="Shape 1"/>
          <p:cNvSpPr/>
          <p:nvPr/>
        </p:nvSpPr>
        <p:spPr>
          <a:xfrm>
            <a:off x="548640" y="155448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Luật An ninh mạng</a:t>
            </a:r>
            <a:endParaRPr lang="en-US" sz="2800" dirty="0"/>
          </a:p>
        </p:txBody>
      </p:sp>
      <p:sp>
        <p:nvSpPr>
          <p:cNvPr id="8" name="Shape 5"/>
          <p:cNvSpPr/>
          <p:nvPr/>
        </p:nvSpPr>
        <p:spPr>
          <a:xfrm>
            <a:off x="6195060" y="155448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Luật Dữ liệu</a:t>
            </a:r>
            <a:endParaRPr lang="en-US" sz="2800" dirty="0"/>
          </a:p>
        </p:txBody>
      </p:sp>
      <p:sp>
        <p:nvSpPr>
          <p:cNvPr id="12" name="Shape 9"/>
          <p:cNvSpPr/>
          <p:nvPr/>
        </p:nvSpPr>
        <p:spPr>
          <a:xfrm>
            <a:off x="548640" y="386334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93649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Luật Bảo vệ dữ liệu cá nhân</a:t>
            </a:r>
            <a:endParaRPr lang="en-US" sz="2800" dirty="0"/>
          </a:p>
        </p:txBody>
      </p:sp>
      <p:sp>
        <p:nvSpPr>
          <p:cNvPr id="16" name="Shape 13"/>
          <p:cNvSpPr/>
          <p:nvPr/>
        </p:nvSpPr>
        <p:spPr>
          <a:xfrm>
            <a:off x="6195060" y="386334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93649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Luật Trí tuệ nhân tạo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Luật An ninh mạng: giữ cho “đường phố” an toàn</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484632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Bảo vệ</a:t>
            </a:r>
            <a:endParaRPr lang="en-US" sz="2600" dirty="0"/>
          </a:p>
          <a:p>
            <a:pPr marL="0" indent="0">
              <a:spcAft>
                <a:spcPts val="800"/>
              </a:spcAft>
              <a:buNone/>
            </a:pPr>
            <a:r>
              <a:rPr lang="en-US" sz="2600" dirty="0">
                <a:solidFill>
                  <a:schemeClr val="tx1"/>
                </a:solidFill>
              </a:rPr>
              <a:t>Sự an toàn của mọi người trên mạng; bảo vệ trẻ em.</a:t>
            </a:r>
            <a:endParaRPr lang="en-US" sz="2600" dirty="0"/>
          </a:p>
        </p:txBody>
      </p:sp>
      <p:sp>
        <p:nvSpPr>
          <p:cNvPr id="6" name="Shape 3"/>
          <p:cNvSpPr/>
          <p:nvPr/>
        </p:nvSpPr>
        <p:spPr>
          <a:xfrm>
            <a:off x="621792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7" name="Text 4"/>
          <p:cNvSpPr txBox="1"/>
          <p:nvPr/>
        </p:nvSpPr>
        <p:spPr>
          <a:xfrm>
            <a:off x="6492240" y="1783080"/>
            <a:ext cx="4846320" cy="397764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Cấm</a:t>
            </a:r>
            <a:endParaRPr lang="en-US" sz="2600" dirty="0"/>
          </a:p>
          <a:p>
            <a:pPr marL="0" indent="0">
              <a:spcAft>
                <a:spcPts val="800"/>
              </a:spcAft>
              <a:buNone/>
            </a:pPr>
            <a:r>
              <a:rPr lang="en-US" sz="2600" dirty="0">
                <a:solidFill>
                  <a:schemeClr val="bg1"/>
                </a:solidFill>
              </a:rPr>
              <a:t>Dùng AI giả mạo hình ảnh, video, giọng nói của người khác trái pháp luật.</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Hai luật về dữ liệu, dễ nhầm</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Luật Dữ liệu</a:t>
            </a:r>
            <a:endParaRPr lang="en-US" sz="3000" dirty="0"/>
          </a:p>
        </p:txBody>
      </p:sp>
      <p:sp>
        <p:nvSpPr>
          <p:cNvPr id="6" name="Text 3"/>
          <p:cNvSpPr txBox="1"/>
          <p:nvPr/>
        </p:nvSpPr>
        <p:spPr>
          <a:xfrm>
            <a:off x="86868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Quy tắc chung cho dữ liệu số</a:t>
            </a:r>
            <a:endParaRPr lang="en-US" sz="2800" dirty="0"/>
          </a:p>
          <a:p>
            <a:pPr marL="342900" indent="-342900">
              <a:spcAft>
                <a:spcPts val="1000"/>
              </a:spcAft>
              <a:buSzPct val="100000"/>
              <a:buChar char="•"/>
            </a:pPr>
            <a:r>
              <a:rPr lang="en-US" sz="2800" dirty="0">
                <a:solidFill>
                  <a:schemeClr val="tx1"/>
                </a:solidFill>
              </a:rPr>
              <a:t>Như “luật giao thông” cho dữ liệu</a:t>
            </a:r>
            <a:endParaRPr lang="en-US" sz="2800" dirty="0"/>
          </a:p>
        </p:txBody>
      </p:sp>
      <p:sp>
        <p:nvSpPr>
          <p:cNvPr id="7" name="Shape 4"/>
          <p:cNvSpPr/>
          <p:nvPr/>
        </p:nvSpPr>
        <p:spPr>
          <a:xfrm>
            <a:off x="621792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2400" b="1" dirty="0">
                <a:solidFill>
                  <a:schemeClr val="accent2"/>
                </a:solidFill>
              </a:rPr>
              <a:t>Luật Bảo vệ dữ liệu cá nhân</a:t>
            </a:r>
            <a:endParaRPr lang="en-US" sz="2400" dirty="0"/>
          </a:p>
        </p:txBody>
      </p:sp>
      <p:sp>
        <p:nvSpPr>
          <p:cNvPr id="9" name="Text 6"/>
          <p:cNvSpPr txBox="1"/>
          <p:nvPr/>
        </p:nvSpPr>
        <p:spPr>
          <a:xfrm>
            <a:off x="653796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Thông tin gắn với một người cụ thể</a:t>
            </a:r>
            <a:endParaRPr lang="en-US" sz="2800" dirty="0"/>
          </a:p>
          <a:p>
            <a:pPr marL="342900" indent="-342900">
              <a:spcAft>
                <a:spcPts val="1000"/>
              </a:spcAft>
              <a:buSzPct val="100000"/>
              <a:buChar char="•"/>
            </a:pPr>
            <a:r>
              <a:rPr lang="en-US" sz="2800" dirty="0">
                <a:solidFill>
                  <a:schemeClr val="bg1"/>
                </a:solidFill>
              </a:rPr>
              <a:t>Thông tin về em là của em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Luật Bảo vệ dữ liệu cá nhân: quyền của em</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Được biết</a:t>
            </a:r>
            <a:endParaRPr lang="en-US" sz="28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Đồng ý hoặc không đồng ý</a:t>
            </a:r>
            <a:endParaRPr lang="en-US" sz="28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Rút lại sự đồng ý</a:t>
            </a:r>
            <a:endParaRPr lang="en-US" sz="28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Yêu cầu xóa</a:t>
            </a:r>
            <a:endParaRPr lang="en-US" sz="28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Ảnh khuôn mặt của Minh là dữ liệu cá nhân của Minh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Luật Trí tuệ nhân tạo: em có quyền biết đâu là máy</a:t>
            </a:r>
            <a:endParaRPr lang="en-US" sz="3800" dirty="0"/>
          </a:p>
        </p:txBody>
      </p:sp>
      <p:sp>
        <p:nvSpPr>
          <p:cNvPr id="4" name="Shape 1"/>
          <p:cNvSpPr/>
          <p:nvPr/>
        </p:nvSpPr>
        <p:spPr>
          <a:xfrm>
            <a:off x="548640" y="1554480"/>
            <a:ext cx="5394960" cy="352044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Được biết</a:t>
            </a:r>
            <a:endParaRPr lang="en-US" sz="2400" dirty="0"/>
          </a:p>
          <a:p>
            <a:pPr marL="0" indent="0">
              <a:spcAft>
                <a:spcPts val="800"/>
              </a:spcAft>
              <a:buNone/>
            </a:pPr>
            <a:r>
              <a:rPr lang="en-US" sz="2400" dirty="0">
                <a:solidFill>
                  <a:schemeClr val="tx1"/>
                </a:solidFill>
              </a:rPr>
              <a:t>Khi mình đang tương tác với một hệ thống AI.</a:t>
            </a:r>
            <a:endParaRPr lang="en-US" sz="2400" dirty="0"/>
          </a:p>
        </p:txBody>
      </p:sp>
      <p:sp>
        <p:nvSpPr>
          <p:cNvPr id="6" name="Shape 3"/>
          <p:cNvSpPr/>
          <p:nvPr/>
        </p:nvSpPr>
        <p:spPr>
          <a:xfrm>
            <a:off x="6217920" y="1554480"/>
            <a:ext cx="5394960" cy="3520440"/>
          </a:xfrm>
          <a:prstGeom prst="roundRect">
            <a:avLst>
              <a:gd name="adj" fmla="val 3117"/>
            </a:avLst>
          </a:prstGeom>
          <a:solidFill>
            <a:schemeClr val="tx2"/>
          </a:solidFill>
          <a:ln w="12700">
            <a:solidFill>
              <a:schemeClr val="tx2"/>
            </a:solidFill>
            <a:prstDash val="solid"/>
          </a:ln>
        </p:spPr>
        <p:txBody>
          <a:bodyPr/>
          <a:lstStyle/>
          <a:p>
            <a:endParaRPr lang="en-US"/>
          </a:p>
        </p:txBody>
      </p:sp>
      <p:sp>
        <p:nvSpPr>
          <p:cNvPr id="7" name="Text 4"/>
          <p:cNvSpPr txBox="1"/>
          <p:nvPr/>
        </p:nvSpPr>
        <p:spPr>
          <a:xfrm>
            <a:off x="6492240" y="178308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Gắn nhãn</a:t>
            </a:r>
            <a:endParaRPr lang="en-US" sz="2400" dirty="0"/>
          </a:p>
          <a:p>
            <a:pPr marL="0" indent="0">
              <a:spcAft>
                <a:spcPts val="800"/>
              </a:spcAft>
              <a:buNone/>
            </a:pPr>
            <a:r>
              <a:rPr lang="en-US" sz="2400" dirty="0">
                <a:solidFill>
                  <a:schemeClr val="bg1"/>
                </a:solidFill>
              </a:rPr>
              <a:t>Nội dung AI mô phỏng người thật, sự kiện thật phải được gắn nhãn.</a:t>
            </a:r>
            <a:endParaRPr lang="en-US" sz="2400" dirty="0"/>
          </a:p>
        </p:txBody>
      </p:sp>
      <p:sp>
        <p:nvSpPr>
          <p:cNvPr id="8" name="Shape 5"/>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9" name="Text 6"/>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Video ghép mặt Minh lẽ ra phải có nhãn</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có chuyện xảy ra: bốn bước</a:t>
            </a:r>
            <a:endParaRPr lang="en-US" sz="3800" dirty="0"/>
          </a:p>
        </p:txBody>
      </p:sp>
      <p:sp>
        <p:nvSpPr>
          <p:cNvPr id="4" name="Shape 1"/>
          <p:cNvSpPr/>
          <p:nvPr/>
        </p:nvSpPr>
        <p:spPr>
          <a:xfrm>
            <a:off x="548640" y="1737360"/>
            <a:ext cx="242316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640080" y="1737360"/>
            <a:ext cx="2240280" cy="1371600"/>
          </a:xfrm>
          <a:prstGeom prst="rect">
            <a:avLst/>
          </a:prstGeom>
          <a:noFill/>
          <a:ln/>
        </p:spPr>
        <p:txBody>
          <a:bodyPr wrap="square" lIns="0" tIns="0" rIns="0" bIns="0" rtlCol="0" anchor="ctr"/>
          <a:lstStyle/>
          <a:p>
            <a:pPr marL="0" indent="0" algn="ctr">
              <a:buNone/>
            </a:pPr>
            <a:r>
              <a:rPr lang="en-US" sz="2400" b="1" dirty="0">
                <a:solidFill>
                  <a:schemeClr val="tx2"/>
                </a:solidFill>
              </a:rPr>
              <a:t>Dừng lại</a:t>
            </a:r>
            <a:endParaRPr lang="en-US" sz="2400" dirty="0"/>
          </a:p>
        </p:txBody>
      </p:sp>
      <p:sp>
        <p:nvSpPr>
          <p:cNvPr id="6" name="Text 3"/>
          <p:cNvSpPr txBox="1"/>
          <p:nvPr/>
        </p:nvSpPr>
        <p:spPr>
          <a:xfrm>
            <a:off x="548640" y="3291840"/>
            <a:ext cx="2423160" cy="1371600"/>
          </a:xfrm>
          <a:prstGeom prst="rect">
            <a:avLst/>
          </a:prstGeom>
          <a:noFill/>
          <a:ln/>
        </p:spPr>
        <p:txBody>
          <a:bodyPr wrap="square" lIns="0" tIns="0" rIns="0" bIns="0" rtlCol="0" anchor="t"/>
          <a:lstStyle/>
          <a:p>
            <a:pPr marL="0" indent="0" algn="ctr">
              <a:buNone/>
            </a:pPr>
            <a:r>
              <a:rPr lang="en-US" sz="2000" dirty="0">
                <a:solidFill>
                  <a:schemeClr val="tx1"/>
                </a:solidFill>
              </a:rPr>
              <a:t>không trả lời, không chia sẻ tiếp</a:t>
            </a:r>
            <a:endParaRPr lang="en-US" sz="2000" dirty="0"/>
          </a:p>
        </p:txBody>
      </p:sp>
      <p:sp>
        <p:nvSpPr>
          <p:cNvPr id="7" name="Shape 4"/>
          <p:cNvSpPr/>
          <p:nvPr/>
        </p:nvSpPr>
        <p:spPr>
          <a:xfrm>
            <a:off x="304038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8" name="Shape 5"/>
          <p:cNvSpPr/>
          <p:nvPr/>
        </p:nvSpPr>
        <p:spPr>
          <a:xfrm>
            <a:off x="3429000" y="1737360"/>
            <a:ext cx="242316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3520440" y="1737360"/>
            <a:ext cx="2240280" cy="1371600"/>
          </a:xfrm>
          <a:prstGeom prst="rect">
            <a:avLst/>
          </a:prstGeom>
          <a:noFill/>
          <a:ln/>
        </p:spPr>
        <p:txBody>
          <a:bodyPr wrap="square" lIns="0" tIns="0" rIns="0" bIns="0" rtlCol="0" anchor="ctr"/>
          <a:lstStyle/>
          <a:p>
            <a:pPr marL="0" indent="0" algn="ctr">
              <a:buNone/>
            </a:pPr>
            <a:r>
              <a:rPr lang="en-US" sz="2400" b="1" dirty="0">
                <a:solidFill>
                  <a:schemeClr val="tx2"/>
                </a:solidFill>
              </a:rPr>
              <a:t>Lưu bằng chứng</a:t>
            </a:r>
            <a:endParaRPr lang="en-US" sz="2400" dirty="0"/>
          </a:p>
        </p:txBody>
      </p:sp>
      <p:sp>
        <p:nvSpPr>
          <p:cNvPr id="10" name="Text 7"/>
          <p:cNvSpPr txBox="1"/>
          <p:nvPr/>
        </p:nvSpPr>
        <p:spPr>
          <a:xfrm>
            <a:off x="3429000" y="3291840"/>
            <a:ext cx="2423160" cy="1371600"/>
          </a:xfrm>
          <a:prstGeom prst="rect">
            <a:avLst/>
          </a:prstGeom>
          <a:noFill/>
          <a:ln/>
        </p:spPr>
        <p:txBody>
          <a:bodyPr wrap="square" lIns="0" tIns="0" rIns="0" bIns="0" rtlCol="0" anchor="t"/>
          <a:lstStyle/>
          <a:p>
            <a:pPr marL="0" indent="0" algn="ctr">
              <a:buNone/>
            </a:pPr>
            <a:r>
              <a:rPr lang="en-US" sz="2000" dirty="0">
                <a:solidFill>
                  <a:schemeClr val="tx1"/>
                </a:solidFill>
              </a:rPr>
              <a:t>chụp màn hình, giữ đường liên kết</a:t>
            </a:r>
            <a:endParaRPr lang="en-US" sz="2000" dirty="0"/>
          </a:p>
        </p:txBody>
      </p:sp>
      <p:sp>
        <p:nvSpPr>
          <p:cNvPr id="11" name="Shape 8"/>
          <p:cNvSpPr/>
          <p:nvPr/>
        </p:nvSpPr>
        <p:spPr>
          <a:xfrm>
            <a:off x="592074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12" name="Shape 9"/>
          <p:cNvSpPr/>
          <p:nvPr/>
        </p:nvSpPr>
        <p:spPr>
          <a:xfrm>
            <a:off x="6309360" y="1737360"/>
            <a:ext cx="242316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3" name="Text 10"/>
          <p:cNvSpPr txBox="1"/>
          <p:nvPr/>
        </p:nvSpPr>
        <p:spPr>
          <a:xfrm>
            <a:off x="6400800" y="1737360"/>
            <a:ext cx="2240280" cy="1371600"/>
          </a:xfrm>
          <a:prstGeom prst="rect">
            <a:avLst/>
          </a:prstGeom>
          <a:noFill/>
          <a:ln/>
        </p:spPr>
        <p:txBody>
          <a:bodyPr wrap="square" lIns="0" tIns="0" rIns="0" bIns="0" rtlCol="0" anchor="ctr"/>
          <a:lstStyle/>
          <a:p>
            <a:pPr marL="0" indent="0" algn="ctr">
              <a:buNone/>
            </a:pPr>
            <a:r>
              <a:rPr lang="en-US" sz="2400" b="1" dirty="0">
                <a:solidFill>
                  <a:schemeClr val="tx2"/>
                </a:solidFill>
              </a:rPr>
              <a:t>Báo người lớn</a:t>
            </a:r>
            <a:endParaRPr lang="en-US" sz="2400" dirty="0"/>
          </a:p>
        </p:txBody>
      </p:sp>
      <p:sp>
        <p:nvSpPr>
          <p:cNvPr id="14" name="Text 11"/>
          <p:cNvSpPr txBox="1"/>
          <p:nvPr/>
        </p:nvSpPr>
        <p:spPr>
          <a:xfrm>
            <a:off x="6309360" y="3291840"/>
            <a:ext cx="2423160" cy="1371600"/>
          </a:xfrm>
          <a:prstGeom prst="rect">
            <a:avLst/>
          </a:prstGeom>
          <a:noFill/>
          <a:ln/>
        </p:spPr>
        <p:txBody>
          <a:bodyPr wrap="square" lIns="0" tIns="0" rIns="0" bIns="0" rtlCol="0" anchor="t"/>
          <a:lstStyle/>
          <a:p>
            <a:pPr marL="0" indent="0" algn="ctr">
              <a:buNone/>
            </a:pPr>
            <a:r>
              <a:rPr lang="en-US" sz="2000" dirty="0">
                <a:solidFill>
                  <a:schemeClr val="tx1"/>
                </a:solidFill>
              </a:rPr>
              <a:t>cha mẹ, thầy cô</a:t>
            </a:r>
            <a:endParaRPr lang="en-US" sz="2000" dirty="0"/>
          </a:p>
        </p:txBody>
      </p:sp>
      <p:sp>
        <p:nvSpPr>
          <p:cNvPr id="15" name="Shape 12"/>
          <p:cNvSpPr/>
          <p:nvPr/>
        </p:nvSpPr>
        <p:spPr>
          <a:xfrm>
            <a:off x="880110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16" name="Shape 13"/>
          <p:cNvSpPr/>
          <p:nvPr/>
        </p:nvSpPr>
        <p:spPr>
          <a:xfrm>
            <a:off x="9189720" y="1737360"/>
            <a:ext cx="242316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7" name="Text 14"/>
          <p:cNvSpPr txBox="1"/>
          <p:nvPr/>
        </p:nvSpPr>
        <p:spPr>
          <a:xfrm>
            <a:off x="9281160" y="1737360"/>
            <a:ext cx="2240280" cy="1371600"/>
          </a:xfrm>
          <a:prstGeom prst="rect">
            <a:avLst/>
          </a:prstGeom>
          <a:noFill/>
          <a:ln/>
        </p:spPr>
        <p:txBody>
          <a:bodyPr wrap="square" lIns="0" tIns="0" rIns="0" bIns="0" rtlCol="0" anchor="ctr"/>
          <a:lstStyle/>
          <a:p>
            <a:pPr marL="0" indent="0" algn="ctr">
              <a:buNone/>
            </a:pPr>
            <a:r>
              <a:rPr lang="en-US" sz="2400" b="1" dirty="0">
                <a:solidFill>
                  <a:schemeClr val="tx2"/>
                </a:solidFill>
              </a:rPr>
              <a:t>Báo cáo</a:t>
            </a:r>
            <a:endParaRPr lang="en-US" sz="2400" dirty="0"/>
          </a:p>
        </p:txBody>
      </p:sp>
      <p:sp>
        <p:nvSpPr>
          <p:cNvPr id="18" name="Text 15"/>
          <p:cNvSpPr txBox="1"/>
          <p:nvPr/>
        </p:nvSpPr>
        <p:spPr>
          <a:xfrm>
            <a:off x="9189720" y="3291840"/>
            <a:ext cx="2423160" cy="1371600"/>
          </a:xfrm>
          <a:prstGeom prst="rect">
            <a:avLst/>
          </a:prstGeom>
          <a:noFill/>
          <a:ln/>
        </p:spPr>
        <p:txBody>
          <a:bodyPr wrap="square" lIns="0" tIns="0" rIns="0" bIns="0" rtlCol="0" anchor="t"/>
          <a:lstStyle/>
          <a:p>
            <a:pPr marL="0" indent="0" algn="ctr">
              <a:buNone/>
            </a:pPr>
            <a:r>
              <a:rPr lang="en-US" sz="2000" dirty="0">
                <a:solidFill>
                  <a:schemeClr val="tx1"/>
                </a:solidFill>
              </a:rPr>
              <a:t>nền tảng, cơ quan chức năng</a:t>
            </a:r>
            <a:endParaRPr lang="en-US" sz="2000" dirty="0"/>
          </a:p>
        </p:txBody>
      </p:sp>
      <p:sp>
        <p:nvSpPr>
          <p:cNvPr id="19" name="Shape 16"/>
          <p:cNvSpPr/>
          <p:nvPr/>
        </p:nvSpPr>
        <p:spPr>
          <a:xfrm>
            <a:off x="548640" y="525780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20" name="Text 17"/>
          <p:cNvSpPr txBox="1"/>
          <p:nvPr/>
        </p:nvSpPr>
        <p:spPr>
          <a:xfrm>
            <a:off x="868680" y="525780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Không xử lí một mình, không xóa vội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cuộc gọi của “người thân”</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Cuộc gọi video rất ngắn</a:t>
            </a:r>
            <a:endParaRPr lang="en-US" sz="26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Khuôn mặt thiếu cảm xúc</a:t>
            </a:r>
            <a:endParaRPr lang="en-US" sz="26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Tiếng không khớp với hình</a:t>
            </a:r>
            <a:endParaRPr lang="en-US" sz="26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Tài khoản nhận tiền không đúng tên</a:t>
            </a:r>
            <a:endParaRPr lang="en-US" sz="26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Gọi lại bằng số điện thoại thường để xác minh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Tình huống nào, luật nào bảo vệ?</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18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ghép tình huống với luật</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Mỗi tình huống: luật nào đứng về phía người bị hại?</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Đọc tình huống, gạch chân điều bị xâm phạm</a:t>
            </a:r>
            <a:endParaRPr lang="en-US" sz="2800" dirty="0"/>
          </a:p>
          <a:p>
            <a:pPr marL="342900" indent="-342900">
              <a:spcAft>
                <a:spcPts val="1200"/>
              </a:spcAft>
              <a:buSzPct val="100000"/>
              <a:buFont typeface="+mj-lt"/>
              <a:buAutoNum type="arabicPeriod"/>
            </a:pPr>
            <a:r>
              <a:rPr lang="en-US" sz="2800" dirty="0">
                <a:solidFill>
                  <a:schemeClr val="tx1"/>
                </a:solidFill>
              </a:rPr>
              <a:t>Ghép với một hoặc hai luật</a:t>
            </a:r>
            <a:endParaRPr lang="en-US" sz="2800" dirty="0"/>
          </a:p>
          <a:p>
            <a:pPr marL="342900" indent="-342900">
              <a:spcAft>
                <a:spcPts val="1200"/>
              </a:spcAft>
              <a:buSzPct val="100000"/>
              <a:buFont typeface="+mj-lt"/>
              <a:buAutoNum type="arabicPeriod"/>
            </a:pPr>
            <a:r>
              <a:rPr lang="en-US" sz="2800" dirty="0">
                <a:solidFill>
                  <a:schemeClr val="tx1"/>
                </a:solidFill>
              </a:rPr>
              <a:t>Nêu việc người bị hại nên làm theo bốn bước</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Lưu ý</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Một tình huống có thể liên quan đến hơn một luật.</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Luật bảo vệ em, và em cũng phải tuân thủ</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Em được bảo vệ</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Hình ảnh, giọng nói của em</a:t>
            </a:r>
            <a:endParaRPr lang="en-US" sz="2800" dirty="0"/>
          </a:p>
          <a:p>
            <a:pPr marL="342900" indent="-342900">
              <a:spcAft>
                <a:spcPts val="1000"/>
              </a:spcAft>
              <a:buSzPct val="100000"/>
              <a:buChar char="•"/>
            </a:pPr>
            <a:r>
              <a:rPr lang="en-US" sz="2800" dirty="0">
                <a:solidFill>
                  <a:schemeClr val="tx1"/>
                </a:solidFill>
              </a:rPr>
              <a:t>Dữ liệu cá nhân của em</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Em phải tôn trọng</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Hình ảnh, giọng nói của bạn</a:t>
            </a:r>
            <a:endParaRPr lang="en-US" sz="2800" dirty="0"/>
          </a:p>
          <a:p>
            <a:pPr marL="342900" indent="-342900">
              <a:spcAft>
                <a:spcPts val="1000"/>
              </a:spcAft>
              <a:buSzPct val="100000"/>
              <a:buChar char="•"/>
            </a:pPr>
            <a:r>
              <a:rPr lang="en-US" sz="2800" dirty="0">
                <a:solidFill>
                  <a:schemeClr val="bg1"/>
                </a:solidFill>
              </a:rPr>
              <a:t>Dữ liệu cá nhân của người khác</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Dễ nhầm: “ghép mặt bạn cho vui thì không sao”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Nhìn lại chuyên đề 10.1</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Con người có vai trò</a:t>
            </a:r>
            <a:endParaRPr lang="en-US" sz="2600" dirty="0"/>
          </a:p>
          <a:p>
            <a:pPr marL="0" indent="0">
              <a:spcAft>
                <a:spcPts val="800"/>
              </a:spcAft>
              <a:buNone/>
            </a:pPr>
            <a:r>
              <a:rPr lang="en-US" sz="2600" dirty="0">
                <a:solidFill>
                  <a:schemeClr val="tx1"/>
                </a:solidFill>
              </a:rPr>
              <a:t>Sử dụng, vận hành, tùy chỉnh.</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Con người kiểm soát</a:t>
            </a:r>
            <a:endParaRPr lang="en-US" sz="2600" dirty="0"/>
          </a:p>
          <a:p>
            <a:pPr marL="0" indent="0">
              <a:spcAft>
                <a:spcPts val="800"/>
              </a:spcAft>
              <a:buNone/>
            </a:pPr>
            <a:r>
              <a:rPr lang="en-US" sz="2600" dirty="0">
                <a:solidFill>
                  <a:schemeClr val="tx1"/>
                </a:solidFill>
              </a:rPr>
              <a:t>Vì an toàn, công bằng, quyền lợi.</a:t>
            </a:r>
            <a:endParaRPr lang="en-US" sz="26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Pháp luật đứng sau</a:t>
            </a:r>
            <a:endParaRPr lang="en-US" sz="2600" dirty="0"/>
          </a:p>
          <a:p>
            <a:pPr marL="0" indent="0">
              <a:spcAft>
                <a:spcPts val="800"/>
              </a:spcAft>
              <a:buNone/>
            </a:pPr>
            <a:r>
              <a:rPr lang="en-US" sz="2600" dirty="0">
                <a:solidFill>
                  <a:schemeClr val="tx1"/>
                </a:solidFill>
              </a:rPr>
              <a:t>Bốn luật bảo vệ người dùng.</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Bốn luật: </a:t>
            </a:r>
            <a:r>
              <a:rPr lang="en-US" sz="3200" b="1" dirty="0">
                <a:solidFill>
                  <a:schemeClr val="tx2"/>
                </a:solidFill>
              </a:rPr>
              <a:t>An ninh mạng; Dữ liệu; Bảo vệ dữ liệu cá nhân; Trí tuệ nhân tạo</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Em có quyền </a:t>
            </a:r>
            <a:r>
              <a:rPr lang="en-US" sz="3200" b="1" dirty="0">
                <a:solidFill>
                  <a:schemeClr val="tx2"/>
                </a:solidFill>
              </a:rPr>
              <a:t>biết khi nào là máy</a:t>
            </a:r>
            <a:r>
              <a:rPr lang="en-US" sz="3200" dirty="0">
                <a:solidFill>
                  <a:schemeClr val="tx1"/>
                </a:solidFill>
              </a:rPr>
              <a:t> và quyền với </a:t>
            </a:r>
            <a:r>
              <a:rPr lang="en-US" sz="3200" b="1" dirty="0">
                <a:solidFill>
                  <a:schemeClr val="tx2"/>
                </a:solidFill>
              </a:rPr>
              <a:t>dữ liệu của mình</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Khi có chuyện: </a:t>
            </a:r>
            <a:r>
              <a:rPr lang="en-US" sz="3200" b="1" dirty="0">
                <a:solidFill>
                  <a:schemeClr val="tx2"/>
                </a:solidFill>
              </a:rPr>
              <a:t>dừng lại, lưu bằng chứng, báo người lớn, báo cáo</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Luật cũng yêu cầu em </a:t>
            </a:r>
            <a:r>
              <a:rPr lang="en-US" sz="3200" b="1" dirty="0">
                <a:solidFill>
                  <a:schemeClr val="tx2"/>
                </a:solidFill>
              </a:rPr>
              <a:t>tôn trọng quyền của người khác</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Kể tên ba luật bảo vệ em trong không gian số và ghi một điều mỗi luật bảo vệ.</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Em nhận được một video trong đó “bạn thân” nói những lời rất lạ và xin vay tiền. Em nghi là video giả. Em sẽ làm những việc gì, theo thứ tự nào?</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F0739DF9-4DB4-2556-E5C3-E8D4250BEDCB}"/>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1450568002"/>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1335</Words>
  <Application>Microsoft Office PowerPoint</Application>
  <PresentationFormat>Widescreen</PresentationFormat>
  <Paragraphs>176</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Pháp luật bảo vệ em trong không gian số</vt:lpstr>
      <vt:lpstr>Hôm nay chúng ta làm gì?</vt:lpstr>
      <vt:lpstr>Chuyện của Minh</vt:lpstr>
      <vt:lpstr>Bốn “tấm khiên” trong không gian số</vt:lpstr>
      <vt:lpstr>Luật An ninh mạng: giữ cho “đường phố” an toàn</vt:lpstr>
      <vt:lpstr>Hai luật về dữ liệu, dễ nhầm</vt:lpstr>
      <vt:lpstr>Luật Bảo vệ dữ liệu cá nhân: quyền của em</vt:lpstr>
      <vt:lpstr>Luật Trí tuệ nhân tạo: em có quyền biết đâu là máy</vt:lpstr>
      <vt:lpstr>Khi có chuyện xảy ra: bốn bước</vt:lpstr>
      <vt:lpstr>Chuyện có thật: cuộc gọi của “người thân”</vt:lpstr>
      <vt:lpstr>Tình huống nào, luật nào bảo vệ?</vt:lpstr>
      <vt:lpstr>Nhiệm vụ nhóm: ghép tình huống với luật</vt:lpstr>
      <vt:lpstr>Luật bảo vệ em, và em cũng phải tuân thủ</vt:lpstr>
      <vt:lpstr>Nhìn lại chuyên đề 10.1</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10.3. Pháp luật bảo vệ em trong không gian số</dc:title>
  <dc:subject>Trí tuệ nhân tạo</dc:subject>
  <cp:lastModifiedBy>Phạm Văn Tú</cp:lastModifiedBy>
  <cp:revision>1</cp:revision>
  <dcterms:created xsi:type="dcterms:W3CDTF">2026-10-08T10:55:22Z</dcterms:created>
  <dcterms:modified xsi:type="dcterms:W3CDTF">2026-10-10T03:25:22Z</dcterms:modified>
  <dc:description>Email: phamtund@gmail.com</dc:description>
  <dc:creator>Phạm Văn Tú</dc:creator>
  <cp:category>Trí tuệ nhân tạo</cp:category>
  <cp:keywords>Trí tuệ nhân tạo</cp:keywords>
</cp:coreProperties>
</file>