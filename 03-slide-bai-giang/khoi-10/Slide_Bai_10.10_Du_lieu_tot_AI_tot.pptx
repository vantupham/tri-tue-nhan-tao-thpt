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9871B129-0167-5632-1792-A3C8B9E6D97D}">
          <p14:sldIdLst>
            <p14:sldId id="256"/>
            <p14:sldId id="257"/>
            <p14:sldId id="258"/>
            <p14:sldId id="259"/>
            <p14:sldId id="260"/>
            <p14:sldId id="261"/>
            <p14:sldId id="262"/>
            <p14:sldId id="263"/>
            <p14:sldId id="264"/>
            <p14:sldId id="265"/>
          </p14:sldIdLst>
        </p14:section>
        <p14:section name="Khám bệnh cho dữ liệu" id="{3B20A681-CF0B-39F2-AC46-39D267C2EF94}">
          <p14:sldIdLst>
            <p14:sldId id="266"/>
            <p14:sldId id="267"/>
            <p14:sldId id="268"/>
            <p14:sldId id="269"/>
          </p14:sldIdLst>
        </p14:section>
        <p14:section name="Tổng kết" id="{69DD910B-E4E8-C3C6-CBF1-73D86C2809B3}">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D225DC-960D-4BA5-B222-5B6EAF45B055}" v="1" dt="2026-10-10T03:30:08.2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30:08.270" v="2"/>
      <pc:docMkLst>
        <pc:docMk/>
      </pc:docMkLst>
      <pc:sldChg chg="modSp mod">
        <pc:chgData name="Phạm Văn Tú" userId="67199c852bdd6d1b" providerId="LiveId" clId="{CB377567-0116-4044-BB7C-6E46B7A5C596}" dt="2026-10-10T03:29:54.712" v="1" actId="20577"/>
        <pc:sldMkLst>
          <pc:docMk/>
          <pc:sldMk cId="0" sldId="256"/>
        </pc:sldMkLst>
        <pc:spChg chg="mod">
          <ac:chgData name="Phạm Văn Tú" userId="67199c852bdd6d1b" providerId="LiveId" clId="{CB377567-0116-4044-BB7C-6E46B7A5C596}" dt="2026-10-10T03:29:54.712" v="1" actId="20577"/>
          <ac:spMkLst>
            <pc:docMk/>
            <pc:sldMk cId="0" sldId="256"/>
            <ac:spMk id="3" creationId="{00000000-0000-0000-0000-000000000000}"/>
          </ac:spMkLst>
        </pc:spChg>
      </pc:sldChg>
      <pc:sldChg chg="add">
        <pc:chgData name="Phạm Văn Tú" userId="67199c852bdd6d1b" providerId="LiveId" clId="{CB377567-0116-4044-BB7C-6E46B7A5C596}" dt="2026-10-10T03:30:08.270" v="2"/>
        <pc:sldMkLst>
          <pc:docMk/>
          <pc:sldMk cId="3046564720"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772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sáu thẻ trái cây khổ lớn, bộ hồ sơ dữ liệu cho nhóm, Phiếu học tập, Phiếu ra cửa. Không cần máy tính.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chuyên đề 10.4. Các bài trước nhắc nhiều đến “máy học từ dữ liệu”; bài này nhìn thẳng vào dữ liệu.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(6 phút). Trò chơi, dữ liệu giả định. Máy học được quy tắc “vàng là chín, xanh là chưa chín” từ sáu thẻ nên đoán sai. Máy không sai vì “kém”, mà vì dữ liệu dạy nó quá ít và không có trường hợp này.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(12 phút). Hai slide sau giải thích từng cặp.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Nhãn là câu trả lời đúng mà con người gắn cho từng ví dụ. Người gắn nhãn cũng có thể nhầm.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Lệch nhóm dẫn tới thiên vị dữ liệu đã học ở Bài 10.5.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Nghiên cứu Gender Shades (Buolamwini và Gebru, 2018) với ba phần mềm thương mại đoán giới tính qua ảnh khuôn mặt. Đã gặp ở Bài 10.5; hôm nay nhìn từ phía dữ liệu.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Dễ nhầm: “cứ nhiều dữ liệu là AI tốt”. Thêm dữ liệu cùng một kiểu lệch chỉ làm máy tự tin hơn vào cái lệch. Các con số trên slide là ví dụ giả định để so sánh.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Nối với Bài 10.3: dữ liệu cá nhân chỉ được thu thập, sử dụng theo quy định của pháp luật.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Vì vậy kiểm tra dữ liệu là việc của con người, làm trước khi dạy máy.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Phát hồ sơ dữ liệu.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quá ít và không hợp bối cảnh. Dùng bộ hồ sơ trong kế hoạch bài dạy.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Phiếu học tập là minh chứng đánh giá thường xuyên.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Tình huống giả định. Vướng câu 3: ảnh của các bạn là dữ liệu cá nhân, cần sự đồng ý. Có thể vướng cả câu 2 nếu hệ thống dùng cho người ngoài trường.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Không cho điểm. Gợi ý câu 1: lệch nhóm và không hợp bối cảnh, chấm thiếu chính xác với giọng trẻ và giọng vùng khác. Giao nhiệm vụ: đọc trước Bài 10.11.</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778109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10.10 · Dữ liệu tốt, AI tốt</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Dữ liệu tốt, AI tốt</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10.10 · Chuyên đề 10.4: Dữ liệu và hệ thống AI</a:t>
            </a:r>
            <a:endParaRPr lang="en-US" sz="2400" dirty="0"/>
          </a:p>
          <a:p>
            <a:pPr marL="0" indent="0" algn="l">
              <a:buNone/>
            </a:pPr>
            <a:r>
              <a:rPr lang="en-US" sz="2400" dirty="0">
                <a:solidFill>
                  <a:schemeClr val="accent5"/>
                </a:solidFill>
              </a:rPr>
              <a:t>Giáo dục trí tuệ nhân tạo lớp 10 </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bốn “bệnh” thường gặp của dữ liệu</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Giải thích</a:t>
            </a:r>
            <a:r>
              <a:rPr lang="en-US" sz="2800" dirty="0">
                <a:solidFill>
                  <a:schemeClr val="tx1"/>
                </a:solidFill>
              </a:rPr>
              <a:t> vì sao nhiều dữ liệu chưa chắc là tốt</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Đánh giá</a:t>
            </a:r>
            <a:r>
              <a:rPr lang="en-US" sz="2800" dirty="0">
                <a:solidFill>
                  <a:schemeClr val="tx1"/>
                </a:solidFill>
              </a:rPr>
              <a:t> một bộ dữ liệu bằng ba câu hỏi</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6'</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Lớp làm “máy học”</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12'</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Bốn bệnh, ba câu hỏi</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22'</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Khám bệnh dữ liệu</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Cả lớp làm “máy học”</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Sáu thẻ dạy máy: chuối vàng là chín, chuối xanh là chưa chín, xoài vàng là chín, xoài xanh là chưa chín...</a:t>
            </a:r>
            <a:endParaRPr lang="en-US" sz="2800" dirty="0"/>
          </a:p>
          <a:p>
            <a:pPr marL="0" indent="0">
              <a:buNone/>
            </a:pPr>
            <a:endParaRPr lang="en-US" sz="2800" dirty="0"/>
          </a:p>
          <a:p>
            <a:pPr marL="0" indent="0">
              <a:buNone/>
            </a:pPr>
            <a:r>
              <a:rPr lang="en-US" sz="2800" dirty="0">
                <a:solidFill>
                  <a:schemeClr val="tx1"/>
                </a:solidFill>
              </a:rPr>
              <a:t>Bây giờ cô đưa một thẻ mới: quả cam xanh vỏ, loại chín vẫn xanh.</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“Máy” sẽ trả lời thế nào? Vì sao nó sai?</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Bốn “bệnh” của dữ liệu</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3000" b="1" dirty="0">
                <a:solidFill>
                  <a:schemeClr val="tx1"/>
                </a:solidFill>
              </a:rPr>
              <a:t>Quá ít</a:t>
            </a:r>
            <a:endParaRPr lang="en-US" sz="30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3000" b="1" dirty="0">
                <a:solidFill>
                  <a:schemeClr val="tx1"/>
                </a:solidFill>
              </a:rPr>
              <a:t>Sai nhãn</a:t>
            </a:r>
            <a:endParaRPr lang="en-US" sz="30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3000" b="1" dirty="0">
                <a:solidFill>
                  <a:schemeClr val="tx1"/>
                </a:solidFill>
              </a:rPr>
              <a:t>Lệch nhóm</a:t>
            </a:r>
            <a:endParaRPr lang="en-US" sz="30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3000" b="1" dirty="0">
                <a:solidFill>
                  <a:schemeClr val="tx1"/>
                </a:solidFill>
              </a:rPr>
              <a:t>Không hợp bối cảnh</a:t>
            </a:r>
            <a:endParaRPr lang="en-US" sz="30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Dữ liệu bệnh thì hệ thống AI bệnh theo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Quá ít, sai nhãn</a:t>
            </a:r>
            <a:endParaRPr lang="en-US" sz="3800" dirty="0"/>
          </a:p>
        </p:txBody>
      </p:sp>
      <p:sp>
        <p:nvSpPr>
          <p:cNvPr id="4" name="Shape 1"/>
          <p:cNvSpPr/>
          <p:nvPr/>
        </p:nvSpPr>
        <p:spPr>
          <a:xfrm>
            <a:off x="54864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484632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Quá ít</a:t>
            </a:r>
            <a:endParaRPr lang="en-US" sz="2400" dirty="0"/>
          </a:p>
          <a:p>
            <a:pPr marL="0" indent="0">
              <a:spcAft>
                <a:spcPts val="800"/>
              </a:spcAft>
              <a:buNone/>
            </a:pPr>
            <a:r>
              <a:rPr lang="en-US" sz="2400" dirty="0">
                <a:solidFill>
                  <a:schemeClr val="tx1"/>
                </a:solidFill>
              </a:rPr>
              <a:t>Máy chưa thấy đủ trường hợp nên rút ra quy tắc vội.</a:t>
            </a:r>
            <a:endParaRPr lang="en-US" sz="2400" dirty="0"/>
          </a:p>
          <a:p>
            <a:pPr marL="0" indent="0">
              <a:buNone/>
            </a:pPr>
            <a:r>
              <a:rPr lang="en-US" sz="2400" b="1" dirty="0">
                <a:solidFill>
                  <a:schemeClr val="accent4"/>
                </a:solidFill>
              </a:rPr>
              <a:t>Sáu thẻ trái cây</a:t>
            </a:r>
            <a:endParaRPr lang="en-US" sz="2400" dirty="0"/>
          </a:p>
        </p:txBody>
      </p:sp>
      <p:sp>
        <p:nvSpPr>
          <p:cNvPr id="6" name="Shape 3"/>
          <p:cNvSpPr/>
          <p:nvPr/>
        </p:nvSpPr>
        <p:spPr>
          <a:xfrm>
            <a:off x="621792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6492240" y="1783080"/>
            <a:ext cx="484632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Sai nhãn</a:t>
            </a:r>
            <a:endParaRPr lang="en-US" sz="2400" dirty="0"/>
          </a:p>
          <a:p>
            <a:pPr marL="0" indent="0">
              <a:spcAft>
                <a:spcPts val="800"/>
              </a:spcAft>
              <a:buNone/>
            </a:pPr>
            <a:r>
              <a:rPr lang="en-US" sz="2400" dirty="0">
                <a:solidFill>
                  <a:schemeClr val="tx1"/>
                </a:solidFill>
              </a:rPr>
              <a:t>Ví dụ bị gắn tên sai, máy học luôn cái sai.</a:t>
            </a:r>
            <a:endParaRPr lang="en-US" sz="2400" dirty="0"/>
          </a:p>
          <a:p>
            <a:pPr marL="0" indent="0">
              <a:buNone/>
            </a:pPr>
            <a:r>
              <a:rPr lang="en-US" sz="2400" b="1" dirty="0">
                <a:solidFill>
                  <a:schemeClr val="accent4"/>
                </a:solidFill>
              </a:rPr>
              <a:t>Ảnh mèo ghi là “chó”</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Lệch nhóm, không hợp bối cảnh</a:t>
            </a:r>
            <a:endParaRPr lang="en-US" sz="3800" dirty="0"/>
          </a:p>
        </p:txBody>
      </p:sp>
      <p:sp>
        <p:nvSpPr>
          <p:cNvPr id="4" name="Shape 1"/>
          <p:cNvSpPr/>
          <p:nvPr/>
        </p:nvSpPr>
        <p:spPr>
          <a:xfrm>
            <a:off x="548640" y="1554480"/>
            <a:ext cx="5394960" cy="4389120"/>
          </a:xfrm>
          <a:prstGeom prst="roundRect">
            <a:avLst>
              <a:gd name="adj" fmla="val 2500"/>
            </a:avLst>
          </a:prstGeom>
          <a:solidFill>
            <a:schemeClr val="tx2"/>
          </a:solidFill>
          <a:ln w="12700">
            <a:solidFill>
              <a:schemeClr val="tx2"/>
            </a:solidFill>
            <a:prstDash val="solid"/>
          </a:ln>
        </p:spPr>
        <p:txBody>
          <a:bodyPr/>
          <a:lstStyle/>
          <a:p>
            <a:endParaRPr lang="en-US"/>
          </a:p>
        </p:txBody>
      </p:sp>
      <p:sp>
        <p:nvSpPr>
          <p:cNvPr id="5" name="Text 2"/>
          <p:cNvSpPr txBox="1"/>
          <p:nvPr/>
        </p:nvSpPr>
        <p:spPr>
          <a:xfrm>
            <a:off x="822960" y="1783080"/>
            <a:ext cx="4846320" cy="397764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Lệch nhóm</a:t>
            </a:r>
            <a:endParaRPr lang="en-US" sz="2400" dirty="0"/>
          </a:p>
          <a:p>
            <a:pPr marL="0" indent="0">
              <a:spcAft>
                <a:spcPts val="800"/>
              </a:spcAft>
              <a:buNone/>
            </a:pPr>
            <a:r>
              <a:rPr lang="en-US" sz="2400" dirty="0">
                <a:solidFill>
                  <a:schemeClr val="bg1"/>
                </a:solidFill>
              </a:rPr>
              <a:t>Một nhóm có rất nhiều ví dụ, nhóm khác gần như vắng mặt.</a:t>
            </a:r>
            <a:endParaRPr lang="en-US" sz="2400" dirty="0"/>
          </a:p>
          <a:p>
            <a:pPr marL="0" indent="0">
              <a:buNone/>
            </a:pPr>
            <a:r>
              <a:rPr lang="en-US" sz="2400" b="1" dirty="0">
                <a:solidFill>
                  <a:schemeClr val="accent5"/>
                </a:solidFill>
              </a:rPr>
              <a:t>Chủ yếu một nhóm người</a:t>
            </a:r>
            <a:endParaRPr lang="en-US" sz="2400" dirty="0"/>
          </a:p>
        </p:txBody>
      </p:sp>
      <p:sp>
        <p:nvSpPr>
          <p:cNvPr id="6" name="Shape 3"/>
          <p:cNvSpPr/>
          <p:nvPr/>
        </p:nvSpPr>
        <p:spPr>
          <a:xfrm>
            <a:off x="6217920" y="1554480"/>
            <a:ext cx="539496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7" name="Text 4"/>
          <p:cNvSpPr txBox="1"/>
          <p:nvPr/>
        </p:nvSpPr>
        <p:spPr>
          <a:xfrm>
            <a:off x="6492240" y="1783080"/>
            <a:ext cx="4846320" cy="397764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Không hợp bối cảnh</a:t>
            </a:r>
            <a:endParaRPr lang="en-US" sz="2400" dirty="0"/>
          </a:p>
          <a:p>
            <a:pPr marL="0" indent="0">
              <a:spcAft>
                <a:spcPts val="800"/>
              </a:spcAft>
              <a:buNone/>
            </a:pPr>
            <a:r>
              <a:rPr lang="en-US" sz="2400" dirty="0">
                <a:solidFill>
                  <a:schemeClr val="tx1"/>
                </a:solidFill>
              </a:rPr>
              <a:t>Dữ liệu lấy ở nơi này, hệ thống dùng ở nơi khác.</a:t>
            </a:r>
            <a:endParaRPr lang="en-US" sz="2400" dirty="0"/>
          </a:p>
          <a:p>
            <a:pPr marL="0" indent="0">
              <a:buNone/>
            </a:pPr>
            <a:r>
              <a:rPr lang="en-US" sz="2400" b="1" dirty="0">
                <a:solidFill>
                  <a:schemeClr val="accent4"/>
                </a:solidFill>
              </a:rPr>
              <a:t>Học đường phố nước khác</a:t>
            </a:r>
            <a:endParaRPr lang="en-US" sz="24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Chuyện có thật: lệch nhóm</a:t>
            </a:r>
            <a:endParaRPr lang="en-US" sz="3800" dirty="0"/>
          </a:p>
        </p:txBody>
      </p:sp>
      <p:sp>
        <p:nvSpPr>
          <p:cNvPr id="4" name="Shape 1"/>
          <p:cNvSpPr/>
          <p:nvPr/>
        </p:nvSpPr>
        <p:spPr>
          <a:xfrm>
            <a:off x="548640" y="1554480"/>
            <a:ext cx="5394960" cy="3520440"/>
          </a:xfrm>
          <a:prstGeom prst="roundRect">
            <a:avLst>
              <a:gd name="adj" fmla="val 3117"/>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22960" y="178308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tx2"/>
                </a:solidFill>
              </a:rPr>
              <a:t>0,8%</a:t>
            </a:r>
            <a:endParaRPr lang="en-US" sz="2400" dirty="0"/>
          </a:p>
          <a:p>
            <a:pPr marL="0" indent="0">
              <a:spcAft>
                <a:spcPts val="800"/>
              </a:spcAft>
              <a:buNone/>
            </a:pPr>
            <a:r>
              <a:rPr lang="en-US" sz="2400" dirty="0">
                <a:solidFill>
                  <a:schemeClr val="tx1"/>
                </a:solidFill>
              </a:rPr>
              <a:t>Tỉ lệ đoán sai cao nhất với nam giới da sáng.</a:t>
            </a:r>
            <a:endParaRPr lang="en-US" sz="2400" dirty="0"/>
          </a:p>
        </p:txBody>
      </p:sp>
      <p:sp>
        <p:nvSpPr>
          <p:cNvPr id="6" name="Shape 3"/>
          <p:cNvSpPr/>
          <p:nvPr/>
        </p:nvSpPr>
        <p:spPr>
          <a:xfrm>
            <a:off x="6217920" y="1554480"/>
            <a:ext cx="5394960" cy="3520440"/>
          </a:xfrm>
          <a:prstGeom prst="roundRect">
            <a:avLst>
              <a:gd name="adj" fmla="val 3117"/>
            </a:avLst>
          </a:prstGeom>
          <a:solidFill>
            <a:schemeClr val="tx2"/>
          </a:solidFill>
          <a:ln w="12700">
            <a:solidFill>
              <a:schemeClr val="tx2"/>
            </a:solidFill>
            <a:prstDash val="solid"/>
          </a:ln>
        </p:spPr>
        <p:txBody>
          <a:bodyPr/>
          <a:lstStyle/>
          <a:p>
            <a:endParaRPr lang="en-US"/>
          </a:p>
        </p:txBody>
      </p:sp>
      <p:sp>
        <p:nvSpPr>
          <p:cNvPr id="7" name="Text 4"/>
          <p:cNvSpPr txBox="1"/>
          <p:nvPr/>
        </p:nvSpPr>
        <p:spPr>
          <a:xfrm>
            <a:off x="6492240" y="1783080"/>
            <a:ext cx="4846320" cy="3108960"/>
          </a:xfrm>
          <a:prstGeom prst="rect">
            <a:avLst/>
          </a:prstGeom>
          <a:noFill/>
          <a:ln/>
        </p:spPr>
        <p:txBody>
          <a:bodyPr wrap="square" lIns="0" tIns="0" rIns="0" bIns="0" rtlCol="0" anchor="t"/>
          <a:lstStyle/>
          <a:p>
            <a:pPr marL="0" indent="0">
              <a:spcAft>
                <a:spcPts val="1000"/>
              </a:spcAft>
              <a:buNone/>
            </a:pPr>
            <a:r>
              <a:rPr lang="en-US" sz="2800" b="1" dirty="0">
                <a:solidFill>
                  <a:schemeClr val="accent2"/>
                </a:solidFill>
              </a:rPr>
              <a:t>34,7%</a:t>
            </a:r>
            <a:endParaRPr lang="en-US" sz="2400" dirty="0"/>
          </a:p>
          <a:p>
            <a:pPr marL="0" indent="0">
              <a:spcAft>
                <a:spcPts val="800"/>
              </a:spcAft>
              <a:buNone/>
            </a:pPr>
            <a:r>
              <a:rPr lang="en-US" sz="2400" dirty="0">
                <a:solidFill>
                  <a:schemeClr val="bg1"/>
                </a:solidFill>
              </a:rPr>
              <a:t>Tỉ lệ đoán sai với phụ nữ da sẫm màu.</a:t>
            </a:r>
            <a:endParaRPr lang="en-US" sz="2400" dirty="0"/>
          </a:p>
        </p:txBody>
      </p:sp>
      <p:sp>
        <p:nvSpPr>
          <p:cNvPr id="8" name="Shape 5"/>
          <p:cNvSpPr/>
          <p:nvPr/>
        </p:nvSpPr>
        <p:spPr>
          <a:xfrm>
            <a:off x="548640" y="530352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9" name="Text 6"/>
          <p:cNvSpPr txBox="1"/>
          <p:nvPr/>
        </p:nvSpPr>
        <p:spPr>
          <a:xfrm>
            <a:off x="868680" y="530352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Nguyên nhân: dữ liệu có rất ít khuôn mặt của nhóm thứ hai</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Nhiều chưa chắc là tốt</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Một triệu ví dụ</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Cùng một nhóm</a:t>
            </a:r>
            <a:endParaRPr lang="en-US" sz="2400" dirty="0"/>
          </a:p>
          <a:p>
            <a:pPr marL="342900" indent="-342900">
              <a:spcAft>
                <a:spcPts val="1000"/>
              </a:spcAft>
              <a:buSzPct val="100000"/>
              <a:buChar char="•"/>
            </a:pPr>
            <a:r>
              <a:rPr lang="en-US" sz="2400" dirty="0">
                <a:solidFill>
                  <a:schemeClr val="tx1"/>
                </a:solidFill>
              </a:rPr>
              <a:t>Nhiều nhãn sai</a:t>
            </a:r>
            <a:endParaRPr lang="en-US" sz="2400" dirty="0"/>
          </a:p>
          <a:p>
            <a:pPr marL="342900" indent="-342900">
              <a:spcAft>
                <a:spcPts val="1000"/>
              </a:spcAft>
              <a:buSzPct val="100000"/>
              <a:buChar char="•"/>
            </a:pPr>
            <a:r>
              <a:rPr lang="en-US" sz="2400" dirty="0">
                <a:solidFill>
                  <a:schemeClr val="tx1"/>
                </a:solidFill>
              </a:rPr>
              <a:t>Lấy ở nơi khác</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Mười nghìn ví dụ</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Đủ các nhóm</a:t>
            </a:r>
            <a:endParaRPr lang="en-US" sz="2400" dirty="0"/>
          </a:p>
          <a:p>
            <a:pPr marL="342900" indent="-342900">
              <a:spcAft>
                <a:spcPts val="1000"/>
              </a:spcAft>
              <a:buSzPct val="100000"/>
              <a:buChar char="•"/>
            </a:pPr>
            <a:r>
              <a:rPr lang="en-US" sz="2400" dirty="0">
                <a:solidFill>
                  <a:schemeClr val="bg1"/>
                </a:solidFill>
              </a:rPr>
              <a:t>Nhãn đã soát</a:t>
            </a:r>
            <a:endParaRPr lang="en-US" sz="2400" dirty="0"/>
          </a:p>
          <a:p>
            <a:pPr marL="342900" indent="-342900">
              <a:spcAft>
                <a:spcPts val="1000"/>
              </a:spcAft>
              <a:buSzPct val="100000"/>
              <a:buChar char="•"/>
            </a:pPr>
            <a:r>
              <a:rPr lang="en-US" sz="2400" dirty="0">
                <a:solidFill>
                  <a:schemeClr val="bg1"/>
                </a:solidFill>
              </a:rPr>
              <a:t>Đúng nơi sẽ dùng</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Dữ liệu tốt: đủ, đúng, đa dạng, đúng bối cảnh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câu hỏi về một bộ dữ liệu</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Đúng không?</a:t>
            </a:r>
            <a:r>
              <a:rPr lang="en-US" sz="3200" dirty="0">
                <a:solidFill>
                  <a:schemeClr val="tx1"/>
                </a:solidFill>
              </a:rPr>
              <a:t> Nhãn và số liệu có chính xác?</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Đại diện không?</a:t>
            </a:r>
            <a:r>
              <a:rPr lang="en-US" sz="3200" dirty="0">
                <a:solidFill>
                  <a:schemeClr val="tx1"/>
                </a:solidFill>
              </a:rPr>
              <a:t> Có đủ những người, những trường hợp sẽ gặp?</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Được phép dùng không?</a:t>
            </a:r>
            <a:r>
              <a:rPr lang="en-US" sz="3200" dirty="0">
                <a:solidFill>
                  <a:schemeClr val="tx1"/>
                </a:solidFill>
              </a:rPr>
              <a:t> Người có dữ liệu đã đồng ý chưa?</a:t>
            </a:r>
            <a:endParaRPr lang="en-US" sz="3200" dirty="0"/>
          </a:p>
        </p:txBody>
      </p:sp>
      <p:sp>
        <p:nvSpPr>
          <p:cNvPr id="13" name="Shape 10"/>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4" name="Text 11"/>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Câu thứ ba là câu về pháp luật và đạo đức.</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Bệnh từ dữ liệu đi đến người dùng</a:t>
            </a:r>
            <a:endParaRPr lang="en-US" sz="3800" dirty="0"/>
          </a:p>
        </p:txBody>
      </p:sp>
      <p:sp>
        <p:nvSpPr>
          <p:cNvPr id="4" name="Shape 1"/>
          <p:cNvSpPr/>
          <p:nvPr/>
        </p:nvSpPr>
        <p:spPr>
          <a:xfrm>
            <a:off x="548640" y="1737360"/>
            <a:ext cx="2423160" cy="1371600"/>
          </a:xfrm>
          <a:prstGeom prst="roundRect">
            <a:avLst>
              <a:gd name="adj" fmla="val 8000"/>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640080" y="1737360"/>
            <a:ext cx="2240280" cy="1371600"/>
          </a:xfrm>
          <a:prstGeom prst="rect">
            <a:avLst/>
          </a:prstGeom>
          <a:noFill/>
          <a:ln/>
        </p:spPr>
        <p:txBody>
          <a:bodyPr wrap="square" lIns="0" tIns="0" rIns="0" bIns="0" rtlCol="0" anchor="ctr"/>
          <a:lstStyle/>
          <a:p>
            <a:pPr marL="0" indent="0" algn="ctr">
              <a:buNone/>
            </a:pPr>
            <a:r>
              <a:rPr lang="en-US" sz="2400" b="1" dirty="0">
                <a:solidFill>
                  <a:schemeClr val="tx2"/>
                </a:solidFill>
              </a:rPr>
              <a:t>Dữ liệu lệch</a:t>
            </a:r>
            <a:endParaRPr lang="en-US" sz="2400" dirty="0"/>
          </a:p>
        </p:txBody>
      </p:sp>
      <p:sp>
        <p:nvSpPr>
          <p:cNvPr id="6" name="Text 3"/>
          <p:cNvSpPr txBox="1"/>
          <p:nvPr/>
        </p:nvSpPr>
        <p:spPr>
          <a:xfrm>
            <a:off x="548640" y="3291840"/>
            <a:ext cx="2423160" cy="1371600"/>
          </a:xfrm>
          <a:prstGeom prst="rect">
            <a:avLst/>
          </a:prstGeom>
          <a:noFill/>
          <a:ln/>
        </p:spPr>
        <p:txBody>
          <a:bodyPr wrap="square" lIns="0" tIns="0" rIns="0" bIns="0" rtlCol="0" anchor="t"/>
          <a:lstStyle/>
          <a:p>
            <a:pPr marL="0" indent="0" algn="ctr">
              <a:buNone/>
            </a:pPr>
            <a:r>
              <a:rPr lang="en-US" sz="2000" dirty="0">
                <a:solidFill>
                  <a:schemeClr val="tx1"/>
                </a:solidFill>
              </a:rPr>
              <a:t>thiếu một nhóm</a:t>
            </a:r>
            <a:endParaRPr lang="en-US" sz="2000" dirty="0"/>
          </a:p>
        </p:txBody>
      </p:sp>
      <p:sp>
        <p:nvSpPr>
          <p:cNvPr id="7" name="Shape 4"/>
          <p:cNvSpPr/>
          <p:nvPr/>
        </p:nvSpPr>
        <p:spPr>
          <a:xfrm>
            <a:off x="3040380" y="225856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8" name="Shape 5"/>
          <p:cNvSpPr/>
          <p:nvPr/>
        </p:nvSpPr>
        <p:spPr>
          <a:xfrm>
            <a:off x="3429000" y="1737360"/>
            <a:ext cx="242316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9" name="Text 6"/>
          <p:cNvSpPr txBox="1"/>
          <p:nvPr/>
        </p:nvSpPr>
        <p:spPr>
          <a:xfrm>
            <a:off x="3520440" y="1737360"/>
            <a:ext cx="2240280" cy="1371600"/>
          </a:xfrm>
          <a:prstGeom prst="rect">
            <a:avLst/>
          </a:prstGeom>
          <a:noFill/>
          <a:ln/>
        </p:spPr>
        <p:txBody>
          <a:bodyPr wrap="square" lIns="0" tIns="0" rIns="0" bIns="0" rtlCol="0" anchor="ctr"/>
          <a:lstStyle/>
          <a:p>
            <a:pPr marL="0" indent="0" algn="ctr">
              <a:buNone/>
            </a:pPr>
            <a:r>
              <a:rPr lang="en-US" sz="2400" b="1" dirty="0">
                <a:solidFill>
                  <a:schemeClr val="tx2"/>
                </a:solidFill>
              </a:rPr>
              <a:t>Máy học</a:t>
            </a:r>
            <a:endParaRPr lang="en-US" sz="2400" dirty="0"/>
          </a:p>
        </p:txBody>
      </p:sp>
      <p:sp>
        <p:nvSpPr>
          <p:cNvPr id="10" name="Text 7"/>
          <p:cNvSpPr txBox="1"/>
          <p:nvPr/>
        </p:nvSpPr>
        <p:spPr>
          <a:xfrm>
            <a:off x="3429000" y="3291840"/>
            <a:ext cx="2423160" cy="1371600"/>
          </a:xfrm>
          <a:prstGeom prst="rect">
            <a:avLst/>
          </a:prstGeom>
          <a:noFill/>
          <a:ln/>
        </p:spPr>
        <p:txBody>
          <a:bodyPr wrap="square" lIns="0" tIns="0" rIns="0" bIns="0" rtlCol="0" anchor="t"/>
          <a:lstStyle/>
          <a:p>
            <a:pPr marL="0" indent="0" algn="ctr">
              <a:buNone/>
            </a:pPr>
            <a:r>
              <a:rPr lang="en-US" sz="2000" dirty="0">
                <a:solidFill>
                  <a:schemeClr val="tx1"/>
                </a:solidFill>
              </a:rPr>
              <a:t>quy tắc lệch theo</a:t>
            </a:r>
            <a:endParaRPr lang="en-US" sz="2000" dirty="0"/>
          </a:p>
        </p:txBody>
      </p:sp>
      <p:sp>
        <p:nvSpPr>
          <p:cNvPr id="11" name="Shape 8"/>
          <p:cNvSpPr/>
          <p:nvPr/>
        </p:nvSpPr>
        <p:spPr>
          <a:xfrm>
            <a:off x="5920740" y="225856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12" name="Shape 9"/>
          <p:cNvSpPr/>
          <p:nvPr/>
        </p:nvSpPr>
        <p:spPr>
          <a:xfrm>
            <a:off x="6309360" y="1737360"/>
            <a:ext cx="242316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3" name="Text 10"/>
          <p:cNvSpPr txBox="1"/>
          <p:nvPr/>
        </p:nvSpPr>
        <p:spPr>
          <a:xfrm>
            <a:off x="6400800" y="1737360"/>
            <a:ext cx="2240280" cy="1371600"/>
          </a:xfrm>
          <a:prstGeom prst="rect">
            <a:avLst/>
          </a:prstGeom>
          <a:noFill/>
          <a:ln/>
        </p:spPr>
        <p:txBody>
          <a:bodyPr wrap="square" lIns="0" tIns="0" rIns="0" bIns="0" rtlCol="0" anchor="ctr"/>
          <a:lstStyle/>
          <a:p>
            <a:pPr marL="0" indent="0" algn="ctr">
              <a:buNone/>
            </a:pPr>
            <a:r>
              <a:rPr lang="en-US" sz="2400" b="1" dirty="0">
                <a:solidFill>
                  <a:schemeClr val="tx2"/>
                </a:solidFill>
              </a:rPr>
              <a:t>Kết quả</a:t>
            </a:r>
            <a:endParaRPr lang="en-US" sz="2400" dirty="0"/>
          </a:p>
        </p:txBody>
      </p:sp>
      <p:sp>
        <p:nvSpPr>
          <p:cNvPr id="14" name="Text 11"/>
          <p:cNvSpPr txBox="1"/>
          <p:nvPr/>
        </p:nvSpPr>
        <p:spPr>
          <a:xfrm>
            <a:off x="6309360" y="3291840"/>
            <a:ext cx="2423160" cy="1371600"/>
          </a:xfrm>
          <a:prstGeom prst="rect">
            <a:avLst/>
          </a:prstGeom>
          <a:noFill/>
          <a:ln/>
        </p:spPr>
        <p:txBody>
          <a:bodyPr wrap="square" lIns="0" tIns="0" rIns="0" bIns="0" rtlCol="0" anchor="t"/>
          <a:lstStyle/>
          <a:p>
            <a:pPr marL="0" indent="0" algn="ctr">
              <a:buNone/>
            </a:pPr>
            <a:r>
              <a:rPr lang="en-US" sz="2000" dirty="0">
                <a:solidFill>
                  <a:schemeClr val="tx1"/>
                </a:solidFill>
              </a:rPr>
              <a:t>sai nhiều với nhóm bị thiếu</a:t>
            </a:r>
            <a:endParaRPr lang="en-US" sz="2000" dirty="0"/>
          </a:p>
        </p:txBody>
      </p:sp>
      <p:sp>
        <p:nvSpPr>
          <p:cNvPr id="15" name="Shape 12"/>
          <p:cNvSpPr/>
          <p:nvPr/>
        </p:nvSpPr>
        <p:spPr>
          <a:xfrm>
            <a:off x="8801100" y="2258568"/>
            <a:ext cx="320040" cy="329184"/>
          </a:xfrm>
          <a:prstGeom prst="rightArrow">
            <a:avLst/>
          </a:prstGeom>
          <a:solidFill>
            <a:schemeClr val="accent6"/>
          </a:solidFill>
          <a:ln w="12700">
            <a:solidFill>
              <a:schemeClr val="accent6"/>
            </a:solidFill>
            <a:prstDash val="solid"/>
          </a:ln>
        </p:spPr>
        <p:txBody>
          <a:bodyPr/>
          <a:lstStyle/>
          <a:p>
            <a:endParaRPr lang="en-US"/>
          </a:p>
        </p:txBody>
      </p:sp>
      <p:sp>
        <p:nvSpPr>
          <p:cNvPr id="16" name="Shape 13"/>
          <p:cNvSpPr/>
          <p:nvPr/>
        </p:nvSpPr>
        <p:spPr>
          <a:xfrm>
            <a:off x="9189720" y="1737360"/>
            <a:ext cx="2423160" cy="1371600"/>
          </a:xfrm>
          <a:prstGeom prst="roundRect">
            <a:avLst>
              <a:gd name="adj" fmla="val 8000"/>
            </a:avLst>
          </a:prstGeom>
          <a:solidFill>
            <a:schemeClr val="bg2"/>
          </a:solidFill>
          <a:ln w="12700">
            <a:solidFill>
              <a:schemeClr val="bg2"/>
            </a:solidFill>
            <a:prstDash val="solid"/>
          </a:ln>
        </p:spPr>
        <p:txBody>
          <a:bodyPr/>
          <a:lstStyle/>
          <a:p>
            <a:endParaRPr lang="en-US"/>
          </a:p>
        </p:txBody>
      </p:sp>
      <p:sp>
        <p:nvSpPr>
          <p:cNvPr id="17" name="Text 14"/>
          <p:cNvSpPr txBox="1"/>
          <p:nvPr/>
        </p:nvSpPr>
        <p:spPr>
          <a:xfrm>
            <a:off x="9281160" y="1737360"/>
            <a:ext cx="2240280" cy="1371600"/>
          </a:xfrm>
          <a:prstGeom prst="rect">
            <a:avLst/>
          </a:prstGeom>
          <a:noFill/>
          <a:ln/>
        </p:spPr>
        <p:txBody>
          <a:bodyPr wrap="square" lIns="0" tIns="0" rIns="0" bIns="0" rtlCol="0" anchor="ctr"/>
          <a:lstStyle/>
          <a:p>
            <a:pPr marL="0" indent="0" algn="ctr">
              <a:buNone/>
            </a:pPr>
            <a:r>
              <a:rPr lang="en-US" sz="2400" b="1" dirty="0">
                <a:solidFill>
                  <a:schemeClr val="tx2"/>
                </a:solidFill>
              </a:rPr>
              <a:t>Con người</a:t>
            </a:r>
            <a:endParaRPr lang="en-US" sz="2400" dirty="0"/>
          </a:p>
        </p:txBody>
      </p:sp>
      <p:sp>
        <p:nvSpPr>
          <p:cNvPr id="18" name="Text 15"/>
          <p:cNvSpPr txBox="1"/>
          <p:nvPr/>
        </p:nvSpPr>
        <p:spPr>
          <a:xfrm>
            <a:off x="9189720" y="3291840"/>
            <a:ext cx="2423160" cy="1371600"/>
          </a:xfrm>
          <a:prstGeom prst="rect">
            <a:avLst/>
          </a:prstGeom>
          <a:noFill/>
          <a:ln/>
        </p:spPr>
        <p:txBody>
          <a:bodyPr wrap="square" lIns="0" tIns="0" rIns="0" bIns="0" rtlCol="0" anchor="t"/>
          <a:lstStyle/>
          <a:p>
            <a:pPr marL="0" indent="0" algn="ctr">
              <a:buNone/>
            </a:pPr>
            <a:r>
              <a:rPr lang="en-US" sz="2000" dirty="0">
                <a:solidFill>
                  <a:schemeClr val="tx1"/>
                </a:solidFill>
              </a:rPr>
              <a:t>bị đối xử thiếu công bằng</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Khám bệnh cho dữ liệu</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22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1: bộ dữ liệu này mắc bệnh gì?</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10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Đọc hồ sơ dữ liệu của nhóm và chẩn đoán</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Gạch chân chi tiết đáng ngờ</a:t>
            </a:r>
            <a:endParaRPr lang="en-US" sz="2800" dirty="0"/>
          </a:p>
          <a:p>
            <a:pPr marL="342900" indent="-342900">
              <a:spcAft>
                <a:spcPts val="1200"/>
              </a:spcAft>
              <a:buSzPct val="100000"/>
              <a:buFont typeface="+mj-lt"/>
              <a:buAutoNum type="arabicPeriod"/>
            </a:pPr>
            <a:r>
              <a:rPr lang="en-US" sz="2800" dirty="0">
                <a:solidFill>
                  <a:schemeClr val="tx1"/>
                </a:solidFill>
              </a:rPr>
              <a:t>Gọi tên bệnh, có thể nhiều hơn một</a:t>
            </a:r>
            <a:endParaRPr lang="en-US" sz="2800" dirty="0"/>
          </a:p>
          <a:p>
            <a:pPr marL="342900" indent="-342900">
              <a:spcAft>
                <a:spcPts val="1200"/>
              </a:spcAft>
              <a:buSzPct val="100000"/>
              <a:buFont typeface="+mj-lt"/>
              <a:buAutoNum type="arabicPeriod"/>
            </a:pPr>
            <a:r>
              <a:rPr lang="en-US" sz="2800" dirty="0">
                <a:solidFill>
                  <a:schemeClr val="tx1"/>
                </a:solidFill>
              </a:rPr>
              <a:t>Dự đoán: hệ thống sẽ sai với ai?</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Ví dụ hồ sơ</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Ứng dụng nhận diện món ăn, huấn luyện bằng 50 ảnh chụp trong nhà hàng, dùng cho bữa cơm gia đình.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2: kê đơn</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12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Đề xuất cách chữa và trả lời ba câu hỏi</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Cần thêm dữ liệu gì, lấy từ đâu?</a:t>
            </a:r>
            <a:endParaRPr lang="en-US" sz="2800" dirty="0"/>
          </a:p>
          <a:p>
            <a:pPr marL="342900" indent="-342900">
              <a:spcAft>
                <a:spcPts val="1200"/>
              </a:spcAft>
              <a:buSzPct val="100000"/>
              <a:buFont typeface="+mj-lt"/>
              <a:buAutoNum type="arabicPeriod"/>
            </a:pPr>
            <a:r>
              <a:rPr lang="en-US" sz="2800" dirty="0">
                <a:solidFill>
                  <a:schemeClr val="tx1"/>
                </a:solidFill>
              </a:rPr>
              <a:t>Ai soát lại nhãn?</a:t>
            </a:r>
            <a:endParaRPr lang="en-US" sz="2800" dirty="0"/>
          </a:p>
          <a:p>
            <a:pPr marL="342900" indent="-342900">
              <a:spcAft>
                <a:spcPts val="1200"/>
              </a:spcAft>
              <a:buSzPct val="100000"/>
              <a:buFont typeface="+mj-lt"/>
              <a:buAutoNum type="arabicPeriod"/>
            </a:pPr>
            <a:r>
              <a:rPr lang="en-US" sz="2800" dirty="0">
                <a:solidFill>
                  <a:schemeClr val="tx1"/>
                </a:solidFill>
              </a:rPr>
              <a:t>Có cần xin phép ai không?</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Trình bày</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Mỗi nhóm một phút: bệnh gì, sai với ai, chữa thế nào.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Nghĩ thêm một bước</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Một nhóm đề xuất: “Cứ thu thật nhiều ảnh của các bạn trong trường là đủ dữ liệu.”</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Đề xuất này vướng câu hỏi nào trong ba câu hỏi?</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Bốn bệnh: </a:t>
            </a:r>
            <a:r>
              <a:rPr lang="en-US" sz="3200" b="1" dirty="0">
                <a:solidFill>
                  <a:schemeClr val="tx2"/>
                </a:solidFill>
              </a:rPr>
              <a:t>quá ít, sai nhãn, lệch nhóm, không hợp bối cảnh</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Dữ liệu tốt: </a:t>
            </a:r>
            <a:r>
              <a:rPr lang="en-US" sz="3200" b="1" dirty="0">
                <a:solidFill>
                  <a:schemeClr val="tx2"/>
                </a:solidFill>
              </a:rPr>
              <a:t>đủ, đúng, đa dạng, đúng bối cảnh</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Ba câu hỏi: </a:t>
            </a:r>
            <a:r>
              <a:rPr lang="en-US" sz="3200" b="1" dirty="0">
                <a:solidFill>
                  <a:schemeClr val="tx2"/>
                </a:solidFill>
              </a:rPr>
              <a:t>đúng không, đại diện không, được phép dùng không</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Nhiều</a:t>
            </a:r>
            <a:r>
              <a:rPr lang="en-US" sz="3200" dirty="0">
                <a:solidFill>
                  <a:schemeClr val="tx1"/>
                </a:solidFill>
              </a:rPr>
              <a:t> dữ liệu chưa chắc là dữ liệu tốt</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400" dirty="0">
                <a:solidFill>
                  <a:schemeClr val="tx1"/>
                </a:solidFill>
              </a:rPr>
              <a:t>Một ứng dụng chấm phát âm tiếng Anh được huấn luyện bằng giọng người lớn ở một vùng. Điều gì có thể xảy ra khi học sinh nhiều vùng miền dùng nó?</a:t>
            </a:r>
            <a:endParaRPr lang="en-US" sz="24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“Cứ nhiều dữ liệu là AI tốt.” Em đồng ý không? Vì sao?</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39" name="Picture 38">
            <a:extLst>
              <a:ext uri="{FF2B5EF4-FFF2-40B4-BE49-F238E27FC236}">
                <a16:creationId xmlns:a16="http://schemas.microsoft.com/office/drawing/2014/main" id="{F0739DF9-4DB4-2556-E5C3-E8D4250BEDCB}"/>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3046564720"/>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1258</Words>
  <Application>Microsoft Office PowerPoint</Application>
  <PresentationFormat>Widescreen</PresentationFormat>
  <Paragraphs>168</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Dữ liệu tốt, AI tốt</vt:lpstr>
      <vt:lpstr>Hôm nay chúng ta làm gì?</vt:lpstr>
      <vt:lpstr>Cả lớp làm “máy học”</vt:lpstr>
      <vt:lpstr>Bốn “bệnh” của dữ liệu</vt:lpstr>
      <vt:lpstr>Quá ít, sai nhãn</vt:lpstr>
      <vt:lpstr>Lệch nhóm, không hợp bối cảnh</vt:lpstr>
      <vt:lpstr>Chuyện có thật: lệch nhóm</vt:lpstr>
      <vt:lpstr>Nhiều chưa chắc là tốt</vt:lpstr>
      <vt:lpstr>Ba câu hỏi về một bộ dữ liệu</vt:lpstr>
      <vt:lpstr>Bệnh từ dữ liệu đi đến người dùng</vt:lpstr>
      <vt:lpstr>Khám bệnh cho dữ liệu</vt:lpstr>
      <vt:lpstr>Nhiệm vụ 1: bộ dữ liệu này mắc bệnh gì?</vt:lpstr>
      <vt:lpstr>Nhiệm vụ 2: kê đơn</vt:lpstr>
      <vt:lpstr>Nghĩ thêm một bước</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10.10. Dữ liệu tốt, AI tốt</dc:title>
  <dc:subject>Trí tuệ nhân tạo</dc:subject>
  <cp:lastModifiedBy>Phạm Văn Tú</cp:lastModifiedBy>
  <cp:revision>1</cp:revision>
  <dcterms:created xsi:type="dcterms:W3CDTF">2026-10-08T11:00:14Z</dcterms:created>
  <dcterms:modified xsi:type="dcterms:W3CDTF">2026-10-10T03:30:09Z</dcterms:modified>
  <dc:description>Email: phamtund@gmail.com</dc:description>
  <dc:creator>Phạm Văn Tú</dc:creator>
  <cp:category>Trí tuệ nhân tạo</cp:category>
  <cp:keywords>Trí tuệ nhân tạo</cp:keywords>
</cp:coreProperties>
</file>