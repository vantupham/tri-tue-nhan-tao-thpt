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28DFAF7F-957E-A449-E282-352DFA01D516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áu chuyện, sáu ranh giới" id="{CFC11EB8-C37D-EFC8-2D8D-13561B332D86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Tổng kết" id="{59536603-7043-D457-6EB3-72980E01A606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63D712-BF73-4C75-AF57-E63F74C3AF25}" v="1" dt="2026-10-10T03:26:05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0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ạm Văn Tú" userId="67199c852bdd6d1b" providerId="LiveId" clId="{CB377567-0116-4044-BB7C-6E46B7A5C596}"/>
    <pc:docChg chg="addSld modSld">
      <pc:chgData name="Phạm Văn Tú" userId="67199c852bdd6d1b" providerId="LiveId" clId="{CB377567-0116-4044-BB7C-6E46B7A5C596}" dt="2026-10-10T03:26:05.865" v="3"/>
      <pc:docMkLst>
        <pc:docMk/>
      </pc:docMkLst>
      <pc:sldChg chg="modSp mod">
        <pc:chgData name="Phạm Văn Tú" userId="67199c852bdd6d1b" providerId="LiveId" clId="{CB377567-0116-4044-BB7C-6E46B7A5C596}" dt="2026-10-10T03:25:47.801" v="2" actId="20577"/>
        <pc:sldMkLst>
          <pc:docMk/>
          <pc:sldMk cId="0" sldId="256"/>
        </pc:sldMkLst>
        <pc:spChg chg="mod">
          <ac:chgData name="Phạm Văn Tú" userId="67199c852bdd6d1b" providerId="LiveId" clId="{CB377567-0116-4044-BB7C-6E46B7A5C596}" dt="2026-10-10T03:25:47.801" v="2" actId="20577"/>
          <ac:spMkLst>
            <pc:docMk/>
            <pc:sldMk cId="0" sldId="256"/>
            <ac:spMk id="3" creationId="{00000000-0000-0000-0000-000000000000}"/>
          </ac:spMkLst>
        </pc:spChg>
      </pc:sldChg>
      <pc:sldChg chg="add">
        <pc:chgData name="Phạm Văn Tú" userId="67199c852bdd6d1b" providerId="LiveId" clId="{CB377567-0116-4044-BB7C-6E46B7A5C596}" dt="2026-10-10T03:26:05.865" v="3"/>
        <pc:sldMkLst>
          <pc:docMk/>
          <pc:sldMk cId="1324230337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1820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Chuẩn bị: thẻ xanh, vàng, đỏ cho mỗi học sinh; Phiếu phân tích tình huống (sáu chuyện); Phiếu khai báo mẫu; Phiếu ra cửa. Nếu trường đã có Quy tắc sử dụng AI: dùng văn bản đó làm căn cứ.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nhanh mục tiêu.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1 (5 phút). Học sinh giơ thẻ cho từng việc. Xanh: được làm; vàng: được nếu có điều kiện; đỏ: không được. Chỗ lớp giơ khác nhau (thường là việc 3, 4): cảm nhận mỗi người một khác, nên cần QUY ĐỊNH làm căn cứ chung.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2 (12 phút). Em có biết: theo Khung nội dung của Bộ, khai báo sử dụng AI trung thực không tự động làm tăng hay giảm kết quả đánh giá.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Học sinh vẽ sơ đồ ba vùng vào vở. Quay lại bốn việc đầu giờ: 1 xanh; 2 đỏ; 3 vàng; 4 đỏ.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Dễ nhầm: 'em không cố ý nên không sao'. Hai việc giữ an toàn ở vùng vàng: kiểm chứng và khai báo.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Chốt hoạt động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3. Phát Phiếu phân tích tình huống.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Sáu chuyện trong Tài liệu học tập, mục 4. Chữa nhanh từng chuyện. Phiếu phân tích là minh chứng đánh giá.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Phát Phiếu khai báo mẫu. Khai báo không tự động làm tăng hay giảm kết quả.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Đã đủ: công cụ, việc dùng, phần giữ lại, phần tự làm. Có thể bổ sung nguồn đã dùng để kiểm chứng.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Mời 2 em đọc. Phiếu khai báo là minh chứng đánh giá.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Học sinh chép vào trang đầu vở.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Sửa quan niệm sai: sợ khai báo sẽ bị đánh giá thấp.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4 (5 phút). Không lặp lại sáu tình huống đã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D14F4-D6CA-6C2F-9B84-050806F8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E9684-E8C6-B7CA-173E-C67E22F59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E0C13-1AE5-4B9C-2DB8-8AC62C19D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HOẠT ĐỘNG 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3ABBB-6B45-2E2E-903A-EB13E0184A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891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Bài 10.4 · Ranh giới: khi nào dùng AI là vi phạm?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Ranh giới: khi nào dùng AI là vi phạm?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Bài 10.4 · Chuyên đề 10.2: Dùng AI đúng quy định, có đạo đức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Giáo dục trí tuệ nhân tạo </a:t>
            </a:r>
            <a:r>
              <a:rPr lang="en-US" sz="2400" dirty="0" err="1">
                <a:solidFill>
                  <a:schemeClr val="accent5"/>
                </a:solidFill>
              </a:rPr>
              <a:t>lớp</a:t>
            </a:r>
            <a:r>
              <a:rPr lang="en-US" sz="2400" dirty="0">
                <a:solidFill>
                  <a:schemeClr val="accent5"/>
                </a:solidFill>
              </a:rPr>
              <a:t> 10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 flipV="1"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flipV="1"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 flipV="1"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 flipV="1"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 flipV="1"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 flipV="1"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 flipV="1"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49477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49477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49477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49477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995781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995781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995781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11420856" y="284835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142085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Hôm nay chúng ta làm gì?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6459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1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5544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Nêu</a:t>
            </a:r>
            <a:r>
              <a:rPr lang="en-US" sz="2800" dirty="0">
                <a:solidFill>
                  <a:schemeClr val="tx1"/>
                </a:solidFill>
              </a:rPr>
              <a:t> hai tầng quy định khi dùng AI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2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88036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Xếp</a:t>
            </a:r>
            <a:r>
              <a:rPr lang="en-US" sz="2800" dirty="0">
                <a:solidFill>
                  <a:schemeClr val="tx1"/>
                </a:solidFill>
              </a:rPr>
              <a:t> một việc vào vùng xanh, vàng hoặc đỏ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42976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4297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3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42062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Tập</a:t>
            </a:r>
            <a:r>
              <a:rPr lang="en-US" sz="2800" dirty="0">
                <a:solidFill>
                  <a:schemeClr val="tx1"/>
                </a:solidFill>
              </a:rPr>
              <a:t> khai báo việc sử dụng AI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8412480" y="1554480"/>
            <a:ext cx="3200400" cy="402336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68680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45 phút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5'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464040" y="2423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Đèn giao thông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31729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12'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9464040" y="317296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Hai tầng, hai loại vi phạm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392277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23'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9464040" y="392277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Tình huống, khai báo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0" y="467258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5'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9464040" y="4672584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Phiếu ra cửa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Đèn giao thông: xanh, vàng hay đỏ?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1064240" cy="92583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31520" y="1720215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1720215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27632"/>
            <a:ext cx="99669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Nhờ AI giải thích lại một khái niệm chưa hiểu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48640" y="2708910"/>
            <a:ext cx="11064240" cy="92583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31520" y="2874645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731520" y="2874645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508760" y="2782062"/>
            <a:ext cx="99669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Nhờ AI viết cả bài văn rồi nộp cho cô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48640" y="3863340"/>
            <a:ext cx="11064240" cy="92583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31520" y="4029075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731520" y="4029075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3936492"/>
            <a:ext cx="99669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Nhờ AI gợi ý dàn ý, sau đó tự viết bài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548640" y="5017770"/>
            <a:ext cx="11064240" cy="925830"/>
          </a:xfrm>
          <a:prstGeom prst="roundRect">
            <a:avLst>
              <a:gd name="adj" fmla="val 118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31520" y="5183505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31520" y="5183505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5090922"/>
            <a:ext cx="99669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Dùng AI ghép mặt bạn vào ảnh vui, đăng lên nhóm lớp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Hai tầng quy định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Nhà trường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51460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Nội quy, Quy tắc sử dụng AI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Quy chế kiểm tra, đánh giá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Bảo vệ: trung thực, công bằng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94960" cy="438912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3796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Pháp luật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514600"/>
            <a:ext cx="47548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An ninh mạng, dữ liệu cá nhân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Trí tuệ nhân tạo, sở hữu trí tuệ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Bảo vệ: quyền, danh dự, dữ liệu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Ba vùng: xanh, vàng, đỏ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1783080"/>
            <a:ext cx="29565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Xanh: được dùng</a:t>
            </a:r>
            <a:endParaRPr lang="en-US" sz="2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Nhờ giải thích lại; nhờ đặt câu hỏi tự kiểm tra; tra nghĩa của từ.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32816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602480" y="1783080"/>
            <a:ext cx="29565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Vàng: có điều kiện</a:t>
            </a:r>
            <a:endParaRPr lang="en-US" sz="2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Nhờ gợi ý dàn ý rồi tự viết; nhờ góp ý bản nháp.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Khai báo, theo hướng dẫn.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10768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382000" y="1783080"/>
            <a:ext cx="29565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Đỏ: không được</a:t>
            </a:r>
            <a:endParaRPr lang="en-US" sz="2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bg1"/>
                </a:solidFill>
              </a:rPr>
              <a:t>Nộp bài AI làm thay; dùng trong giờ kiểm tra; giả mạo người khác.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Hai con đường dẫn đến vi phạm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Hành vi (cố ý)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Nộp bài AI làm thay, không khai báo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Tạo ảnh, giọng nói giả để bôi nhọ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217920" y="155448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37960" y="1783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Sự cố (không cố ý)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Đưa vào bài một “số liệu” AI bịa ra</a:t>
            </a:r>
            <a:endParaRPr lang="en-US" sz="2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Dán danh sách họ tên, số điện thoại vào AI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Bất cẩn vẫn phải chịu trách nhiệm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Hai việc giữ em an toàn ở vùng vàng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737360"/>
            <a:ext cx="2423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40080" y="1737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Dùng AI theo hướng dẫn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040380" y="2258568"/>
            <a:ext cx="320040" cy="32918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429000" y="1737360"/>
            <a:ext cx="2423160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3520440" y="1737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Kiểm chứng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32918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đối chiếu với nguồn độc lập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920740" y="2258568"/>
            <a:ext cx="320040" cy="32918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309360" y="1737360"/>
            <a:ext cx="2423160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400800" y="1737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Khai báo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32918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nói thật về cách mình đã làm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801100" y="2258568"/>
            <a:ext cx="320040" cy="32918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189720" y="1737360"/>
            <a:ext cx="2423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9281160" y="1737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Nộp sản phẩm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Sáu chuyện, sáu ranh giới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Phần 2 · 23 phút · Làm việc nhóm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Nhiệm vụ 1: xử lí tình huống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13 phút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1554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Mỗi nhóm phân tích hai trong sáu chuyện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6858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Xếp vùng: xanh, vàng hay đỏ?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Vi phạm quy định của trường hay pháp luật? Hành vi hay sự cố?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Lẽ ra bạn ấy nên làm gì?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772400" y="1554480"/>
            <a:ext cx="3840480" cy="43891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9244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Căn cứ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4231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Dựa vào quy định, không dựa vào cảm tính. Chưa rõ thì ghi: cần hỏi thầy cô.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Khai báo sử dụng AI gồm những gì?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72593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72593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554480"/>
            <a:ext cx="6949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Dùng </a:t>
            </a:r>
            <a:r>
              <a:rPr lang="en-US" sz="3200" b="1" dirty="0">
                <a:solidFill>
                  <a:schemeClr val="tx2"/>
                </a:solidFill>
              </a:rPr>
              <a:t>công cụ nào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284607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84607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674620"/>
            <a:ext cx="6949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Dùng vào </a:t>
            </a:r>
            <a:r>
              <a:rPr lang="en-US" sz="3200" b="1" dirty="0">
                <a:solidFill>
                  <a:schemeClr val="tx2"/>
                </a:solidFill>
              </a:rPr>
              <a:t>việc gì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396621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396621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3794760"/>
            <a:ext cx="6949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Giữ lại</a:t>
            </a:r>
            <a:r>
              <a:rPr lang="en-US" sz="3200" dirty="0">
                <a:solidFill>
                  <a:schemeClr val="tx1"/>
                </a:solidFill>
              </a:rPr>
              <a:t> phần nào của AI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548640" y="508635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48640" y="50863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4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4914900"/>
            <a:ext cx="6949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Tự làm</a:t>
            </a:r>
            <a:r>
              <a:rPr lang="en-US" sz="3200" dirty="0">
                <a:solidFill>
                  <a:schemeClr val="tx1"/>
                </a:solidFill>
              </a:rPr>
              <a:t> phần nào</a:t>
            </a:r>
            <a:endParaRPr lang="en-US" sz="3200" dirty="0"/>
          </a:p>
        </p:txBody>
      </p:sp>
      <p:sp>
        <p:nvSpPr>
          <p:cNvPr id="16" name="Shape 13"/>
          <p:cNvSpPr/>
          <p:nvPr/>
        </p:nvSpPr>
        <p:spPr>
          <a:xfrm>
            <a:off x="8778240" y="1554480"/>
            <a:ext cx="2834640" cy="448056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006840" y="1737360"/>
            <a:ext cx="2377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</a:rPr>
              <a:t>Khai báo là minh chứng của trung thực.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Một phiếu khai báo mẫu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658368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68680" y="178308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“Em dùng trợ lí AI để gợi ý dàn ý cho bài thuyết trình.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Em giữ ba trong năm ý được gợi ý. Em tự tìm số liệu trong sách giáo khoa và tự viết lời thuyết trình.”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4206240" cy="438912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26680" y="18288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7266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chemeClr val="tx1"/>
                </a:solidFill>
              </a:rPr>
              <a:t>?</a:t>
            </a:r>
            <a:endParaRPr lang="en-US" sz="27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83464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Phiếu này đã đủ bốn ý chưa?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Nhiệm vụ 2: tập khai báo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828800" cy="1188720"/>
          </a:xfrm>
          <a:prstGeom prst="roundRect">
            <a:avLst>
              <a:gd name="adj" fmla="val 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</a:rPr>
              <a:t>10 phút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651760" y="15544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Viết phiếu khai báo cho một lần em đã dùng AI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6858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Nhớ lại một lần dùng AI cho việc học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Viết bốn ý theo phiếu mẫu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Đổi phiếu với bạn: bạn có hiểu em đã làm gì không?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772400" y="1554480"/>
            <a:ext cx="3840480" cy="43891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9244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Chưa từng dùng AI?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42316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Viết phiếu cho một tình huống trong sáu chuyện vừa phân tích.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Ba câu tự hỏi trước khi dùng AI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9126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9126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554480"/>
            <a:ext cx="1005840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Việc này </a:t>
            </a:r>
            <a:r>
              <a:rPr lang="en-US" sz="3200" b="1" dirty="0">
                <a:solidFill>
                  <a:schemeClr val="tx2"/>
                </a:solidFill>
              </a:rPr>
              <a:t>có được phép</a:t>
            </a:r>
            <a:r>
              <a:rPr lang="en-US" sz="3200" dirty="0">
                <a:solidFill>
                  <a:schemeClr val="tx1"/>
                </a:solidFill>
              </a:rPr>
              <a:t> không?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34061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34061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3048000"/>
            <a:ext cx="1005840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Có </a:t>
            </a:r>
            <a:r>
              <a:rPr lang="en-US" sz="3200" b="1" dirty="0">
                <a:solidFill>
                  <a:schemeClr val="tx2"/>
                </a:solidFill>
              </a:rPr>
              <a:t>hại</a:t>
            </a:r>
            <a:r>
              <a:rPr lang="en-US" sz="3200" dirty="0">
                <a:solidFill>
                  <a:schemeClr val="tx1"/>
                </a:solidFill>
              </a:rPr>
              <a:t> hay làm </a:t>
            </a:r>
            <a:r>
              <a:rPr lang="en-US" sz="3200" b="1" dirty="0">
                <a:solidFill>
                  <a:schemeClr val="tx2"/>
                </a:solidFill>
              </a:rPr>
              <a:t>lộ thông tin</a:t>
            </a:r>
            <a:r>
              <a:rPr lang="en-US" sz="3200" dirty="0">
                <a:solidFill>
                  <a:schemeClr val="tx1"/>
                </a:solidFill>
              </a:rPr>
              <a:t> của ai không?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48996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48996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4541520"/>
            <a:ext cx="1005840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Mình có </a:t>
            </a:r>
            <a:r>
              <a:rPr lang="en-US" sz="3200" b="1" dirty="0">
                <a:solidFill>
                  <a:schemeClr val="tx2"/>
                </a:solidFill>
              </a:rPr>
              <a:t>kiểm chứng</a:t>
            </a:r>
            <a:r>
              <a:rPr lang="en-US" sz="3200" dirty="0">
                <a:solidFill>
                  <a:schemeClr val="tx1"/>
                </a:solidFill>
              </a:rPr>
              <a:t> và </a:t>
            </a:r>
            <a:r>
              <a:rPr lang="en-US" sz="3200" b="1" dirty="0">
                <a:solidFill>
                  <a:schemeClr val="tx2"/>
                </a:solidFill>
              </a:rPr>
              <a:t>khai báo</a:t>
            </a:r>
            <a:r>
              <a:rPr lang="en-US" sz="3200" dirty="0">
                <a:solidFill>
                  <a:schemeClr val="tx1"/>
                </a:solidFill>
              </a:rPr>
              <a:t> không?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Điều cần hiểu đúng về khai báo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822960" y="1783080"/>
            <a:ext cx="29565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Không phải thú tội</a:t>
            </a:r>
            <a:endParaRPr lang="en-US" sz="2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Khai báo là nói rõ cách mình đã làm việc.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32816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602480" y="1783080"/>
            <a:ext cx="29565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tx2"/>
                </a:solidFill>
              </a:rPr>
              <a:t>Không làm mất điểm</a:t>
            </a:r>
            <a:endParaRPr lang="en-US" sz="2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Không tự động tăng hay giảm kết quả.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8107680" y="1554480"/>
            <a:ext cx="3505200" cy="4389120"/>
          </a:xfrm>
          <a:prstGeom prst="roundRect">
            <a:avLst>
              <a:gd name="adj" fmla="val 313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382000" y="1783080"/>
            <a:ext cx="29565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800" b="1" dirty="0">
                <a:solidFill>
                  <a:schemeClr val="accent2"/>
                </a:solidFill>
              </a:rPr>
              <a:t>Giữ uy tín</a:t>
            </a:r>
            <a:endParaRPr lang="en-US" sz="2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600" dirty="0">
                <a:solidFill>
                  <a:schemeClr val="bg1"/>
                </a:solidFill>
              </a:rPr>
              <a:t>Người đọc hiểu đúng sản phẩm của em.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2"/>
                </a:solidFill>
              </a:rPr>
              <a:t>Ghi nhớ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548640" y="172593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72593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1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55448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Hai tầng quy định:</a:t>
            </a:r>
            <a:r>
              <a:rPr lang="en-US" sz="3200" dirty="0">
                <a:solidFill>
                  <a:schemeClr val="tx1"/>
                </a:solidFill>
              </a:rPr>
              <a:t> nhà trường và pháp luật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284607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48640" y="284607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2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267462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Ba vùng: </a:t>
            </a:r>
            <a:r>
              <a:rPr lang="en-US" sz="3200" b="1" dirty="0">
                <a:solidFill>
                  <a:schemeClr val="tx2"/>
                </a:solidFill>
              </a:rPr>
              <a:t>xanh, vàng, đỏ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548640" y="396621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396621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3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379476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Vi phạm do </a:t>
            </a:r>
            <a:r>
              <a:rPr lang="en-US" sz="3200" b="1" dirty="0">
                <a:solidFill>
                  <a:schemeClr val="tx2"/>
                </a:solidFill>
              </a:rPr>
              <a:t>hành vi</a:t>
            </a:r>
            <a:r>
              <a:rPr lang="en-US" sz="3200" dirty="0">
                <a:solidFill>
                  <a:schemeClr val="tx1"/>
                </a:solidFill>
              </a:rPr>
              <a:t> hoặc do </a:t>
            </a:r>
            <a:r>
              <a:rPr lang="en-US" sz="3200" b="1" dirty="0">
                <a:solidFill>
                  <a:schemeClr val="tx2"/>
                </a:solidFill>
              </a:rPr>
              <a:t>sự cố</a:t>
            </a:r>
            <a:r>
              <a:rPr lang="en-US" sz="3200" dirty="0">
                <a:solidFill>
                  <a:schemeClr val="tx1"/>
                </a:solidFill>
              </a:rPr>
              <a:t>; bất cẩn vẫn chịu trách nhiệm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548640" y="508635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548640" y="50863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chemeClr val="tx1"/>
                </a:solidFill>
              </a:rPr>
              <a:t>4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1508760" y="4914900"/>
            <a:ext cx="10058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Ở vùng vàng: </a:t>
            </a:r>
            <a:r>
              <a:rPr lang="en-US" sz="3200" b="1" dirty="0">
                <a:solidFill>
                  <a:schemeClr val="tx2"/>
                </a:solidFill>
              </a:rPr>
              <a:t>kiểm chứng</a:t>
            </a:r>
            <a:r>
              <a:rPr lang="en-US" sz="3200" dirty="0">
                <a:solidFill>
                  <a:schemeClr val="tx1"/>
                </a:solidFill>
              </a:rPr>
              <a:t> và </a:t>
            </a:r>
            <a:r>
              <a:rPr lang="en-US" sz="3200" b="1" dirty="0">
                <a:solidFill>
                  <a:schemeClr val="tx2"/>
                </a:solidFill>
              </a:rPr>
              <a:t>khai báo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Phiếu ra cửa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3891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5"/>
                </a:solidFill>
              </a:rPr>
              <a:t>5 phút · Làm cá nhân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394960" y="960120"/>
            <a:ext cx="6217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623560" y="11887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6235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1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0972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Nêu một ví dụ về hành vi dùng AI vi phạm quy định của trường và một ví dụ vi phạm pháp luật.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394960" y="2697480"/>
            <a:ext cx="6217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23560" y="29260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62356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2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8346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Nêu một ví dụ về sự cố khi dùng AI: người dùng không cố ý nhưng vẫn gây hậu quả. Làm thế nào để phòng tránh?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5394960" y="4434840"/>
            <a:ext cx="621792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623560" y="46634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62356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3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57200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Hoàn thành câu: “Trong học kì này, khi dùng AI để học, em cam kết ...”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0FE57-DD6B-0941-A2BB-28D1A5388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A6725C-CB31-6472-2A29-F859C3B9EAD2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9224" y="1289265"/>
            <a:ext cx="618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vi-VN" sz="4600" b="1" dirty="0">
                <a:solidFill>
                  <a:schemeClr val="bg1"/>
                </a:solidFill>
              </a:rPr>
              <a:t>Tài liệu tham khảo</a:t>
            </a:r>
            <a:endParaRPr lang="en-US" sz="46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4FC6891-0F0B-8821-EA2F-EDAF20AF9F0E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726948" y="3717036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2400" dirty="0"/>
              <a:t>https://montinhoc.vn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C9A30BE-8829-96CA-B3B0-D88FAE88F21B}"/>
              </a:ext>
            </a:extLst>
          </p:cNvPr>
          <p:cNvSpPr/>
          <p:nvPr/>
        </p:nvSpPr>
        <p:spPr>
          <a:xfrm flipV="1">
            <a:off x="868680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028B981-D9D6-8DA6-85D8-DB014D5F0B3B}"/>
              </a:ext>
            </a:extLst>
          </p:cNvPr>
          <p:cNvSpPr/>
          <p:nvPr/>
        </p:nvSpPr>
        <p:spPr>
          <a:xfrm>
            <a:off x="868680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3B1873D-3AEF-FF0E-20B7-19D134D3BF51}"/>
              </a:ext>
            </a:extLst>
          </p:cNvPr>
          <p:cNvSpPr/>
          <p:nvPr/>
        </p:nvSpPr>
        <p:spPr>
          <a:xfrm>
            <a:off x="868680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058E345-0FEC-FED7-18D4-81DD99507C2D}"/>
              </a:ext>
            </a:extLst>
          </p:cNvPr>
          <p:cNvSpPr/>
          <p:nvPr/>
        </p:nvSpPr>
        <p:spPr>
          <a:xfrm>
            <a:off x="868680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80D36E4-1991-CC37-B0B9-2B2D83E02A20}"/>
              </a:ext>
            </a:extLst>
          </p:cNvPr>
          <p:cNvSpPr/>
          <p:nvPr/>
        </p:nvSpPr>
        <p:spPr>
          <a:xfrm flipV="1">
            <a:off x="868680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76BB1C4-6469-F0A3-DD3E-4EBEF5F6CC38}"/>
              </a:ext>
            </a:extLst>
          </p:cNvPr>
          <p:cNvSpPr/>
          <p:nvPr/>
        </p:nvSpPr>
        <p:spPr>
          <a:xfrm flipV="1">
            <a:off x="868680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80B6E7E-7896-4EC1-4475-2FC646E1027E}"/>
              </a:ext>
            </a:extLst>
          </p:cNvPr>
          <p:cNvSpPr/>
          <p:nvPr/>
        </p:nvSpPr>
        <p:spPr>
          <a:xfrm>
            <a:off x="868680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19D253D-1310-99A7-2103-35FF052B86F3}"/>
              </a:ext>
            </a:extLst>
          </p:cNvPr>
          <p:cNvSpPr/>
          <p:nvPr/>
        </p:nvSpPr>
        <p:spPr>
          <a:xfrm>
            <a:off x="868680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7093821-7F19-40FA-3D3D-44CFDC1F58DF}"/>
              </a:ext>
            </a:extLst>
          </p:cNvPr>
          <p:cNvSpPr/>
          <p:nvPr/>
        </p:nvSpPr>
        <p:spPr>
          <a:xfrm flipV="1">
            <a:off x="868680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ACBDD20-A61B-996B-BDB0-752F18E140AC}"/>
              </a:ext>
            </a:extLst>
          </p:cNvPr>
          <p:cNvSpPr/>
          <p:nvPr/>
        </p:nvSpPr>
        <p:spPr>
          <a:xfrm flipV="1">
            <a:off x="868680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7174946-DDCB-CB27-9AF4-4001176FEF51}"/>
              </a:ext>
            </a:extLst>
          </p:cNvPr>
          <p:cNvSpPr/>
          <p:nvPr/>
        </p:nvSpPr>
        <p:spPr>
          <a:xfrm flipV="1">
            <a:off x="868680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AFC1789-471C-2797-0415-2237AAA365EC}"/>
              </a:ext>
            </a:extLst>
          </p:cNvPr>
          <p:cNvSpPr/>
          <p:nvPr/>
        </p:nvSpPr>
        <p:spPr>
          <a:xfrm>
            <a:off x="868680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D95D154A-DE09-58FC-1981-2186A2BB8A5F}"/>
              </a:ext>
            </a:extLst>
          </p:cNvPr>
          <p:cNvSpPr/>
          <p:nvPr/>
        </p:nvSpPr>
        <p:spPr>
          <a:xfrm>
            <a:off x="10149840" y="22631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C5CF0A1-4524-41B4-80B3-D3831B078A65}"/>
              </a:ext>
            </a:extLst>
          </p:cNvPr>
          <p:cNvSpPr/>
          <p:nvPr/>
        </p:nvSpPr>
        <p:spPr>
          <a:xfrm>
            <a:off x="10149840" y="226314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4C287EB0-1B4C-6D0A-A568-624FA2D80A3D}"/>
              </a:ext>
            </a:extLst>
          </p:cNvPr>
          <p:cNvSpPr/>
          <p:nvPr/>
        </p:nvSpPr>
        <p:spPr>
          <a:xfrm>
            <a:off x="10149840" y="226314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7472C28-2774-3B7F-EE38-D1FE26D725B5}"/>
              </a:ext>
            </a:extLst>
          </p:cNvPr>
          <p:cNvSpPr/>
          <p:nvPr/>
        </p:nvSpPr>
        <p:spPr>
          <a:xfrm flipV="1">
            <a:off x="10149840" y="265176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29B49FE-2351-7D5A-7739-412432860157}"/>
              </a:ext>
            </a:extLst>
          </p:cNvPr>
          <p:cNvSpPr/>
          <p:nvPr/>
        </p:nvSpPr>
        <p:spPr>
          <a:xfrm>
            <a:off x="10149840" y="304038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DF800979-2DC3-4E1A-E90A-97154C0F5009}"/>
              </a:ext>
            </a:extLst>
          </p:cNvPr>
          <p:cNvSpPr/>
          <p:nvPr/>
        </p:nvSpPr>
        <p:spPr>
          <a:xfrm>
            <a:off x="10149840" y="304038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D6059B07-EE5C-FABC-F332-9DC490CD1D79}"/>
              </a:ext>
            </a:extLst>
          </p:cNvPr>
          <p:cNvSpPr/>
          <p:nvPr/>
        </p:nvSpPr>
        <p:spPr>
          <a:xfrm flipV="1">
            <a:off x="10149840" y="265176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F7534B69-69A3-698B-93D3-66A6B0094F65}"/>
              </a:ext>
            </a:extLst>
          </p:cNvPr>
          <p:cNvSpPr/>
          <p:nvPr/>
        </p:nvSpPr>
        <p:spPr>
          <a:xfrm flipV="1">
            <a:off x="10149840" y="342900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48344F8-1507-B882-7C9E-B332C5271B12}"/>
              </a:ext>
            </a:extLst>
          </p:cNvPr>
          <p:cNvSpPr/>
          <p:nvPr/>
        </p:nvSpPr>
        <p:spPr>
          <a:xfrm>
            <a:off x="10149840" y="381762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2D9300E0-4E52-5232-A0A0-0E7CE89D218D}"/>
              </a:ext>
            </a:extLst>
          </p:cNvPr>
          <p:cNvSpPr/>
          <p:nvPr/>
        </p:nvSpPr>
        <p:spPr>
          <a:xfrm flipV="1">
            <a:off x="10149840" y="2651760"/>
            <a:ext cx="1463040" cy="194310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57B8293B-E487-0777-ACDD-B84258075045}"/>
              </a:ext>
            </a:extLst>
          </p:cNvPr>
          <p:cNvSpPr/>
          <p:nvPr/>
        </p:nvSpPr>
        <p:spPr>
          <a:xfrm flipV="1">
            <a:off x="10149840" y="3429000"/>
            <a:ext cx="1463040" cy="116586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8CD7407F-32A4-6AD6-0975-BE6C3451FAF0}"/>
              </a:ext>
            </a:extLst>
          </p:cNvPr>
          <p:cNvSpPr/>
          <p:nvPr/>
        </p:nvSpPr>
        <p:spPr>
          <a:xfrm flipV="1">
            <a:off x="10149840" y="4206240"/>
            <a:ext cx="1463040" cy="38862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8B0667B1-079E-6CE7-39D0-356A6E4ECE2C}"/>
              </a:ext>
            </a:extLst>
          </p:cNvPr>
          <p:cNvSpPr/>
          <p:nvPr/>
        </p:nvSpPr>
        <p:spPr>
          <a:xfrm>
            <a:off x="849477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0B5CDD97-B920-3E27-DDF5-15D94164191C}"/>
              </a:ext>
            </a:extLst>
          </p:cNvPr>
          <p:cNvSpPr/>
          <p:nvPr/>
        </p:nvSpPr>
        <p:spPr>
          <a:xfrm>
            <a:off x="8494776" y="323697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2A4D2EE-C00B-307E-06C9-1F7C1DC158DD}"/>
              </a:ext>
            </a:extLst>
          </p:cNvPr>
          <p:cNvSpPr/>
          <p:nvPr/>
        </p:nvSpPr>
        <p:spPr>
          <a:xfrm>
            <a:off x="849477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3768F21F-1608-C34F-D970-6ECA809A91B2}"/>
              </a:ext>
            </a:extLst>
          </p:cNvPr>
          <p:cNvSpPr/>
          <p:nvPr/>
        </p:nvSpPr>
        <p:spPr>
          <a:xfrm>
            <a:off x="9957816" y="20711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8AD95141-1285-BD10-8D1A-FFCAC904CE3D}"/>
              </a:ext>
            </a:extLst>
          </p:cNvPr>
          <p:cNvSpPr/>
          <p:nvPr/>
        </p:nvSpPr>
        <p:spPr>
          <a:xfrm>
            <a:off x="9957816" y="284835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DDF7ED9A-5847-6BA1-A757-A970A5CAE67C}"/>
              </a:ext>
            </a:extLst>
          </p:cNvPr>
          <p:cNvSpPr/>
          <p:nvPr/>
        </p:nvSpPr>
        <p:spPr>
          <a:xfrm>
            <a:off x="9957816" y="362559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45226941-7C5E-0602-5D41-259AA60FB5B8}"/>
              </a:ext>
            </a:extLst>
          </p:cNvPr>
          <p:cNvSpPr/>
          <p:nvPr/>
        </p:nvSpPr>
        <p:spPr>
          <a:xfrm>
            <a:off x="9957816" y="44028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DB7C82DF-0D44-12FC-B608-14F2811EA2AE}"/>
              </a:ext>
            </a:extLst>
          </p:cNvPr>
          <p:cNvSpPr/>
          <p:nvPr/>
        </p:nvSpPr>
        <p:spPr>
          <a:xfrm>
            <a:off x="11420856" y="245973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F61ECE36-8002-A40B-5D82-6AA53B33E6BC}"/>
              </a:ext>
            </a:extLst>
          </p:cNvPr>
          <p:cNvSpPr/>
          <p:nvPr/>
        </p:nvSpPr>
        <p:spPr>
          <a:xfrm>
            <a:off x="11420856" y="32369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D6D1649A-4E60-5FE4-4461-EF6482CE2AEF}"/>
              </a:ext>
            </a:extLst>
          </p:cNvPr>
          <p:cNvSpPr/>
          <p:nvPr/>
        </p:nvSpPr>
        <p:spPr>
          <a:xfrm>
            <a:off x="11420856" y="4014216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0739DF9-4DB4-2556-E5C3-E8D4250BE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394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30337"/>
      </p:ext>
    </p:extLst>
  </p:cSld>
  <p:clrMapOvr>
    <a:masterClrMapping/>
  </p:clrMapOvr>
</p:sld>
</file>

<file path=ppt/theme/theme1.xml><?xml version="1.0" encoding="utf-8"?>
<a:theme xmlns:a="http://schemas.openxmlformats.org/drawingml/2006/main" name="GiaoDucAI">
  <a:themeElements>
    <a:clrScheme name="GiaoDucAI">
      <a:dk1>
        <a:srgbClr val="17313A"/>
      </a:dk1>
      <a:lt1>
        <a:srgbClr val="FFFFFF"/>
      </a:lt1>
      <a:dk2>
        <a:srgbClr val="0F4C5C"/>
      </a:dk2>
      <a:lt2>
        <a:srgbClr val="E8F1F0"/>
      </a:lt2>
      <a:accent1>
        <a:srgbClr val="0F4C5C"/>
      </a:accent1>
      <a:accent2>
        <a:srgbClr val="F2A541"/>
      </a:accent2>
      <a:accent3>
        <a:srgbClr val="5FA8A0"/>
      </a:accent3>
      <a:accent4>
        <a:srgbClr val="C8553D"/>
      </a:accent4>
      <a:accent5>
        <a:srgbClr val="8FB8B3"/>
      </a:accent5>
      <a:accent6>
        <a:srgbClr val="6B7F86"/>
      </a:accent6>
      <a:hlink>
        <a:srgbClr val="0F4C5C"/>
      </a:hlink>
      <a:folHlink>
        <a:srgbClr val="6B7F86"/>
      </a:folHlink>
    </a:clrScheme>
    <a:fontScheme name="GiaoDuc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1259</Words>
  <Application>Microsoft Office PowerPoint</Application>
  <PresentationFormat>Widescreen</PresentationFormat>
  <Paragraphs>174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GiaoDucAI</vt:lpstr>
      <vt:lpstr>Ranh giới: khi nào dùng AI là vi phạm?</vt:lpstr>
      <vt:lpstr>Hôm nay chúng ta làm gì?</vt:lpstr>
      <vt:lpstr>Đèn giao thông: xanh, vàng hay đỏ?</vt:lpstr>
      <vt:lpstr>Hai tầng quy định</vt:lpstr>
      <vt:lpstr>Ba vùng: xanh, vàng, đỏ</vt:lpstr>
      <vt:lpstr>Hai con đường dẫn đến vi phạm</vt:lpstr>
      <vt:lpstr>Hai việc giữ em an toàn ở vùng vàng</vt:lpstr>
      <vt:lpstr>Sáu chuyện, sáu ranh giới</vt:lpstr>
      <vt:lpstr>Nhiệm vụ 1: xử lí tình huống</vt:lpstr>
      <vt:lpstr>Khai báo sử dụng AI gồm những gì?</vt:lpstr>
      <vt:lpstr>Một phiếu khai báo mẫu</vt:lpstr>
      <vt:lpstr>Nhiệm vụ 2: tập khai báo</vt:lpstr>
      <vt:lpstr>Ba câu tự hỏi trước khi dùng AI</vt:lpstr>
      <vt:lpstr>Điều cần hiểu đúng về khai báo</vt:lpstr>
      <vt:lpstr>Ghi nhớ</vt:lpstr>
      <vt:lpstr>Phiếu ra cửa</vt:lpstr>
      <vt:lpstr>Tài liệu tham khảo</vt:lpstr>
    </vt:vector>
  </TitlesOfParts>
  <Company>0939725119</Company>
  <LinksUpToDate>false</LinksUpToDate>
  <SharedDoc>false</SharedDoc>
  <HyperlinksChanged>false</HyperlinksChanged>
  <AppVersion>16.0000</AppVersion>
  <Manager>Phạm Văn Tú</Manager>
  <HyperlinkBase>https://montinhoc.vn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Bài 10.4. Ranh giới: khi nào dùng AI là vi phạm?</dc:title>
  <dc:subject>Trí tuệ nhân tạo</dc:subject>
  <cp:lastModifiedBy>Phạm Văn Tú</cp:lastModifiedBy>
  <cp:revision>1</cp:revision>
  <dcterms:created xsi:type="dcterms:W3CDTF">2026-10-08T10:55:22Z</dcterms:created>
  <dcterms:modified xsi:type="dcterms:W3CDTF">2026-10-10T03:26:12Z</dcterms:modified>
  <dc:description>Email: phamtund@gmail.com</dc:description>
  <dc:creator>Phạm Văn Tú</dc:creator>
  <cp:category>Trí tuệ nhân tạo</cp:category>
  <cp:keywords>Trí tuệ nhân tạo</cp:keywords>
</cp:coreProperties>
</file>