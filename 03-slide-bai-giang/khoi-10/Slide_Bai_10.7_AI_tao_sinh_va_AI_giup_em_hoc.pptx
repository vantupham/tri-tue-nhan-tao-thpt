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24A2094-E485-8EA7-B607-1BDE272016DD}">
          <p14:sldIdLst>
            <p14:sldId id="256"/>
            <p14:sldId id="257"/>
            <p14:sldId id="258"/>
            <p14:sldId id="259"/>
            <p14:sldId id="260"/>
            <p14:sldId id="261"/>
            <p14:sldId id="262"/>
            <p14:sldId id="263"/>
            <p14:sldId id="264"/>
            <p14:sldId id="265"/>
            <p14:sldId id="266"/>
          </p14:sldIdLst>
        </p14:section>
        <p14:section name="Xếp loại và sửa cách dùng" id="{CBC6282F-A137-521A-5FEA-DA3F283213A8}">
          <p14:sldIdLst>
            <p14:sldId id="267"/>
            <p14:sldId id="268"/>
            <p14:sldId id="269"/>
          </p14:sldIdLst>
        </p14:section>
        <p14:section name="Tổng kết" id="{DA18A051-7190-1E2A-6605-B08889F8512B}">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A98CF2-6777-4FC6-AECC-AA2A7802C603}" v="1" dt="2026-10-10T03:28:14.0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28:14.027" v="3"/>
      <pc:docMkLst>
        <pc:docMk/>
      </pc:docMkLst>
      <pc:sldChg chg="modSp mod">
        <pc:chgData name="Phạm Văn Tú" userId="67199c852bdd6d1b" providerId="LiveId" clId="{CB377567-0116-4044-BB7C-6E46B7A5C596}" dt="2026-10-10T03:28:00.291" v="2" actId="20577"/>
        <pc:sldMkLst>
          <pc:docMk/>
          <pc:sldMk cId="0" sldId="256"/>
        </pc:sldMkLst>
        <pc:spChg chg="mod">
          <ac:chgData name="Phạm Văn Tú" userId="67199c852bdd6d1b" providerId="LiveId" clId="{CB377567-0116-4044-BB7C-6E46B7A5C596}" dt="2026-10-10T03:28:00.291" v="2" actId="20577"/>
          <ac:spMkLst>
            <pc:docMk/>
            <pc:sldMk cId="0" sldId="256"/>
            <ac:spMk id="3" creationId="{00000000-0000-0000-0000-000000000000}"/>
          </ac:spMkLst>
        </pc:spChg>
      </pc:sldChg>
      <pc:sldChg chg="add">
        <pc:chgData name="Phạm Văn Tú" userId="67199c852bdd6d1b" providerId="LiveId" clId="{CB377567-0116-4044-BB7C-6E46B7A5C596}" dt="2026-10-10T03:28:14.027" v="3"/>
        <pc:sldMkLst>
          <pc:docMk/>
          <pc:sldMk cId="2316284338"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4914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bộ thẻ ví dụ hệ thống AI cho nhóm, Phiếu học tập,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chuyên đề 10.3. Hai bài sau sẽ học viết câu lệnh và thực hành trên máy.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(4 phút). Tình huống giả định. Gợi ý: máy 1 trả về một cái nhãn, máy 2 trả về một con số, máy 3 trả về một nội dung trước đó chưa có.</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(18 phút). Cách nhận ra nhanh nhất: nhìn vào đầu ra.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ứng dụng có thể chứa nhiều loại. Ví dụ ứng dụng bản đồ vừa dự đoán thời gian, vừa có trợ lí trả lời bằng lời.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ở mức khái niệm: mô hình học từ rất nhiều văn bản để ước lượng từ nào hay đi sau từ nào. Không đi vào kĩ thuật.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Ảo giác AI: hệ thống đưa ra thông tin sai nhưng trình bày như thật. Đây là đặc điểm của cách máy tạo câu, không phải máy cố ý nói dối.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độc lập là nguồn không do chính công cụ AI đó tạo ra. Bài 10.9 sẽ thực hành bước này trên máy.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em đã từng dùng AI theo cách nào trong bốn cách này?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một công cụ, khác nhau ở cách dùng. Em có biết: một nghiên cứu năm 2024 (Bastani và cộng sự) trên học sinh trung học cho thấy nhóm dùng AI không có giới hạn làm bài luyện tập tốt hơn nhưng làm bài kiểm tra không có AI lại kém hơn nhóm không dùng.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câu trả lời là không, em đang để AI làm thay. Nhắc lại Bài 10.4: dùng AI phải theo quy định của giáo viên và ghi rõ đã dùng.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bộ thẻ và Phiếu học tập.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ví dụ: nhận diện loài hoa PL; ước tính tiền điện DĐ; viết lời chúc TS. Giáo viên dùng bộ thẻ trong kế hoạch bài dạy.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Đại diện hai nhóm trình bày. Phiếu học tập là minh chứng đánh giá thường xuyên.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 Giao nhiệm vụ: đọc trước Bài 10.8.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41255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10.7 · AI tạo sinh khác gì AI phân loại, dự đoán? AI giúp em học thế nào?</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AI tạo sinh khác gì AI phân loại, dự đoán? AI giúp em học thế nào?</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10.7 · Chuyên đề 10.3: Ứng dụng AI và kĩ năng đặt câu lệnh</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10</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AI phân loại, AI dự đoán và AI tạo sinh</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vì sao AI tạo sinh trôi chảy mà vẫn có thể sai</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Chọn</a:t>
            </a:r>
            <a:r>
              <a:rPr lang="en-US" sz="2800" dirty="0">
                <a:solidFill>
                  <a:schemeClr val="tx1"/>
                </a:solidFill>
              </a:rPr>
              <a:t> cách dùng AI để học, không để làm thay</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4'</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chiếc máy</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loại, một lưu ý</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18'</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Xếp loại, sửa cách dùng</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chiếc máy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Máy 1 nhận một bức thư, trả về: “Thư rác”.</a:t>
            </a:r>
            <a:endParaRPr lang="en-US" sz="2800" dirty="0"/>
          </a:p>
          <a:p>
            <a:pPr marL="0" indent="0">
              <a:buNone/>
            </a:pPr>
            <a:r>
              <a:rPr lang="en-US" sz="2800" dirty="0">
                <a:solidFill>
                  <a:schemeClr val="tx1"/>
                </a:solidFill>
              </a:rPr>
              <a:t>Máy 2 nhận số liệu thời tiết, trả về: “Mai mưa 80%”.</a:t>
            </a:r>
            <a:endParaRPr lang="en-US" sz="2800" dirty="0"/>
          </a:p>
          <a:p>
            <a:pPr marL="0" indent="0">
              <a:buNone/>
            </a:pPr>
            <a:r>
              <a:rPr lang="en-US" sz="2800" dirty="0">
                <a:solidFill>
                  <a:schemeClr val="tx1"/>
                </a:solidFill>
              </a:rPr>
              <a:t>Máy 3 nhận câu “Viết thư xin phép nghỉ học”, trả về một bức thư 150 chữ.</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Thứ ba chiếc máy trả về khác nhau ở điểm nào?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loại hệ thống AI</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Phân loại</a:t>
            </a:r>
            <a:endParaRPr lang="en-US" sz="2400" dirty="0"/>
          </a:p>
          <a:p>
            <a:pPr marL="0" indent="0">
              <a:spcAft>
                <a:spcPts val="800"/>
              </a:spcAft>
              <a:buNone/>
            </a:pPr>
            <a:r>
              <a:rPr lang="en-US" sz="2400" dirty="0">
                <a:solidFill>
                  <a:schemeClr val="tx1"/>
                </a:solidFill>
              </a:rPr>
              <a:t>Xếp đầu vào vào một nhóm có sẵn.</a:t>
            </a:r>
            <a:endParaRPr lang="en-US" sz="2400" dirty="0"/>
          </a:p>
          <a:p>
            <a:pPr marL="0" indent="0">
              <a:buNone/>
            </a:pPr>
            <a:r>
              <a:rPr lang="en-US" sz="2400" b="1" dirty="0">
                <a:solidFill>
                  <a:schemeClr val="accent4"/>
                </a:solidFill>
              </a:rPr>
              <a:t>Đầu ra: một nhãn</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Dự đoán</a:t>
            </a:r>
            <a:endParaRPr lang="en-US" sz="2400" dirty="0"/>
          </a:p>
          <a:p>
            <a:pPr marL="0" indent="0">
              <a:spcAft>
                <a:spcPts val="800"/>
              </a:spcAft>
              <a:buNone/>
            </a:pPr>
            <a:r>
              <a:rPr lang="en-US" sz="2400" dirty="0">
                <a:solidFill>
                  <a:schemeClr val="tx1"/>
                </a:solidFill>
              </a:rPr>
              <a:t>Ước lượng điều chưa biết từ số liệu đã có.</a:t>
            </a:r>
            <a:endParaRPr lang="en-US" sz="2400" dirty="0"/>
          </a:p>
          <a:p>
            <a:pPr marL="0" indent="0">
              <a:buNone/>
            </a:pPr>
            <a:r>
              <a:rPr lang="en-US" sz="2400" b="1" dirty="0">
                <a:solidFill>
                  <a:schemeClr val="accent4"/>
                </a:solidFill>
              </a:rPr>
              <a:t>Đầu ra: một con số</a:t>
            </a:r>
            <a:endParaRPr lang="en-US" sz="24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Tạo sinh</a:t>
            </a:r>
            <a:endParaRPr lang="en-US" sz="2400" dirty="0"/>
          </a:p>
          <a:p>
            <a:pPr marL="0" indent="0">
              <a:spcAft>
                <a:spcPts val="800"/>
              </a:spcAft>
              <a:buNone/>
            </a:pPr>
            <a:r>
              <a:rPr lang="en-US" sz="2400" dirty="0">
                <a:solidFill>
                  <a:schemeClr val="bg1"/>
                </a:solidFill>
              </a:rPr>
              <a:t>Tạo ra văn bản, hình ảnh, âm thanh theo yêu cầu.</a:t>
            </a:r>
            <a:endParaRPr lang="en-US" sz="2400" dirty="0"/>
          </a:p>
          <a:p>
            <a:pPr marL="0" indent="0">
              <a:buNone/>
            </a:pPr>
            <a:r>
              <a:rPr lang="en-US" sz="2400" b="1" dirty="0">
                <a:solidFill>
                  <a:schemeClr val="accent5"/>
                </a:solidFill>
              </a:rPr>
              <a:t>Đầu ra: nội dung mới</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Nhận ra bằng cách nhìn đầu ra</a:t>
            </a:r>
            <a:endParaRPr lang="en-US" sz="3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868680">
                <a:tc>
                  <a:txBody>
                    <a:bodyPr/>
                    <a:lstStyle/>
                    <a:p>
                      <a:pPr marL="0" indent="0" algn="ctr">
                        <a:buNone/>
                      </a:pPr>
                      <a:r>
                        <a:rPr lang="en-US" sz="2400" b="1" dirty="0">
                          <a:solidFill>
                            <a:schemeClr val="bg1"/>
                          </a:solidFill>
                        </a:rPr>
                        <a:t>Loại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Câu hỏi máy trả lời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Ví dụ</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400" b="1" dirty="0">
                          <a:solidFill>
                            <a:schemeClr val="tx1"/>
                          </a:solidFill>
                        </a:rPr>
                        <a:t>Phân loại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Cái này thuộc nhóm nào?</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Lọc thư rác, nhận diện loại rác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400" b="1" dirty="0">
                          <a:solidFill>
                            <a:schemeClr val="tx1"/>
                          </a:solidFill>
                        </a:rPr>
                        <a:t>Dự đoán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Sẽ là bao nhiêu?</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Dự báo mưa, thời gian đến nơi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400" b="1" dirty="0">
                          <a:solidFill>
                            <a:schemeClr val="tx1"/>
                          </a:solidFill>
                        </a:rPr>
                        <a:t>Tạo sinh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Hãy làm ra một nội dung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Viết đoạn văn, vẽ tranh, tóm tắt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tạo sinh viết ra câu chữ thế nào?</a:t>
            </a:r>
            <a:endParaRPr lang="en-US" sz="3800" dirty="0"/>
          </a:p>
        </p:txBody>
      </p:sp>
      <p:sp>
        <p:nvSpPr>
          <p:cNvPr id="4" name="Shape 1"/>
          <p:cNvSpPr/>
          <p:nvPr/>
        </p:nvSpPr>
        <p:spPr>
          <a:xfrm>
            <a:off x="548640" y="1737360"/>
            <a:ext cx="338328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4008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Nhận câu lệnh</a:t>
            </a:r>
            <a:endParaRPr lang="en-US" sz="2400" dirty="0"/>
          </a:p>
        </p:txBody>
      </p:sp>
      <p:sp>
        <p:nvSpPr>
          <p:cNvPr id="6" name="Text 3"/>
          <p:cNvSpPr txBox="1"/>
          <p:nvPr/>
        </p:nvSpPr>
        <p:spPr>
          <a:xfrm>
            <a:off x="54864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đọc yêu cầu của em</a:t>
            </a:r>
            <a:endParaRPr lang="en-US" sz="2000" dirty="0"/>
          </a:p>
        </p:txBody>
      </p:sp>
      <p:sp>
        <p:nvSpPr>
          <p:cNvPr id="7" name="Shape 4"/>
          <p:cNvSpPr/>
          <p:nvPr/>
        </p:nvSpPr>
        <p:spPr>
          <a:xfrm>
            <a:off x="400050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8" name="Shape 5"/>
          <p:cNvSpPr/>
          <p:nvPr/>
        </p:nvSpPr>
        <p:spPr>
          <a:xfrm>
            <a:off x="4389120" y="1737360"/>
            <a:ext cx="3383280" cy="1371600"/>
          </a:xfrm>
          <a:prstGeom prst="roundRect">
            <a:avLst>
              <a:gd name="adj" fmla="val 8000"/>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448056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Chọn từ tiếp theo</a:t>
            </a:r>
            <a:endParaRPr lang="en-US" sz="2400" dirty="0"/>
          </a:p>
        </p:txBody>
      </p:sp>
      <p:sp>
        <p:nvSpPr>
          <p:cNvPr id="10" name="Text 7"/>
          <p:cNvSpPr txBox="1"/>
          <p:nvPr/>
        </p:nvSpPr>
        <p:spPr>
          <a:xfrm>
            <a:off x="438912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từ có khả năng xuất hiện cao</a:t>
            </a:r>
            <a:endParaRPr lang="en-US" sz="2000" dirty="0"/>
          </a:p>
        </p:txBody>
      </p:sp>
      <p:sp>
        <p:nvSpPr>
          <p:cNvPr id="11" name="Shape 8"/>
          <p:cNvSpPr/>
          <p:nvPr/>
        </p:nvSpPr>
        <p:spPr>
          <a:xfrm>
            <a:off x="784098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2" name="Shape 9"/>
          <p:cNvSpPr/>
          <p:nvPr/>
        </p:nvSpPr>
        <p:spPr>
          <a:xfrm>
            <a:off x="8229600" y="1737360"/>
            <a:ext cx="338328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8321040" y="1737360"/>
            <a:ext cx="3200400" cy="1371600"/>
          </a:xfrm>
          <a:prstGeom prst="rect">
            <a:avLst/>
          </a:prstGeom>
          <a:noFill/>
          <a:ln/>
        </p:spPr>
        <p:txBody>
          <a:bodyPr wrap="square" lIns="0" tIns="0" rIns="0" bIns="0" rtlCol="0" anchor="ctr"/>
          <a:lstStyle/>
          <a:p>
            <a:pPr marL="0" indent="0" algn="ctr">
              <a:buNone/>
            </a:pPr>
            <a:r>
              <a:rPr lang="en-US" sz="2400" b="1" dirty="0">
                <a:solidFill>
                  <a:schemeClr val="tx2"/>
                </a:solidFill>
              </a:rPr>
              <a:t>Lặp lại</a:t>
            </a:r>
            <a:endParaRPr lang="en-US" sz="2400" dirty="0"/>
          </a:p>
        </p:txBody>
      </p:sp>
      <p:sp>
        <p:nvSpPr>
          <p:cNvPr id="14" name="Text 11"/>
          <p:cNvSpPr txBox="1"/>
          <p:nvPr/>
        </p:nvSpPr>
        <p:spPr>
          <a:xfrm>
            <a:off x="8229600" y="3291840"/>
            <a:ext cx="3383280" cy="1371600"/>
          </a:xfrm>
          <a:prstGeom prst="rect">
            <a:avLst/>
          </a:prstGeom>
          <a:noFill/>
          <a:ln/>
        </p:spPr>
        <p:txBody>
          <a:bodyPr wrap="square" lIns="0" tIns="0" rIns="0" bIns="0" rtlCol="0" anchor="t"/>
          <a:lstStyle/>
          <a:p>
            <a:pPr marL="0" indent="0" algn="ctr">
              <a:buNone/>
            </a:pPr>
            <a:r>
              <a:rPr lang="en-US" sz="2000" dirty="0">
                <a:solidFill>
                  <a:schemeClr val="tx1"/>
                </a:solidFill>
              </a:rPr>
              <a:t>từng từ nối nhau thành câu</a:t>
            </a:r>
            <a:endParaRPr lang="en-US" sz="2000" dirty="0"/>
          </a:p>
        </p:txBody>
      </p:sp>
      <p:sp>
        <p:nvSpPr>
          <p:cNvPr id="15" name="Shape 12"/>
          <p:cNvSpPr/>
          <p:nvPr/>
        </p:nvSpPr>
        <p:spPr>
          <a:xfrm>
            <a:off x="548640" y="525780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6" name="Text 13"/>
          <p:cNvSpPr txBox="1"/>
          <p:nvPr/>
        </p:nvSpPr>
        <p:spPr>
          <a:xfrm>
            <a:off x="868680" y="5257800"/>
            <a:ext cx="10424160" cy="777240"/>
          </a:xfrm>
          <a:prstGeom prst="rect">
            <a:avLst/>
          </a:prstGeom>
          <a:noFill/>
          <a:ln/>
        </p:spPr>
        <p:txBody>
          <a:bodyPr wrap="square" lIns="0" tIns="0" rIns="0" bIns="0" rtlCol="0" anchor="ctr"/>
          <a:lstStyle/>
          <a:p>
            <a:pPr marL="0" indent="0">
              <a:buNone/>
            </a:pPr>
            <a:r>
              <a:rPr lang="en-US" sz="2400" b="1" dirty="0">
                <a:solidFill>
                  <a:schemeClr val="tx1"/>
                </a:solidFill>
              </a:rPr>
              <a:t>Máy chọn điều “nghe hợp lí”, không tra xem điều đó có đúng không</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Trôi chảy không có nghĩa là đúng</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Điều em thấy</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Câu văn mạch lạc</a:t>
            </a:r>
            <a:endParaRPr lang="en-US" sz="2400" dirty="0"/>
          </a:p>
          <a:p>
            <a:pPr marL="342900" indent="-342900">
              <a:spcAft>
                <a:spcPts val="1000"/>
              </a:spcAft>
              <a:buSzPct val="100000"/>
              <a:buChar char="•"/>
            </a:pPr>
            <a:r>
              <a:rPr lang="en-US" sz="2400" dirty="0">
                <a:solidFill>
                  <a:schemeClr val="tx1"/>
                </a:solidFill>
              </a:rPr>
              <a:t>Giọng rất tự tin</a:t>
            </a:r>
            <a:endParaRPr lang="en-US" sz="2400" dirty="0"/>
          </a:p>
          <a:p>
            <a:pPr marL="342900" indent="-342900">
              <a:spcAft>
                <a:spcPts val="1000"/>
              </a:spcAft>
              <a:buSzPct val="100000"/>
              <a:buChar char="•"/>
            </a:pPr>
            <a:r>
              <a:rPr lang="en-US" sz="2400" dirty="0">
                <a:solidFill>
                  <a:schemeClr val="tx1"/>
                </a:solidFill>
              </a:rPr>
              <a:t>Có cả số liệu, tên sách</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Điều có thể xảy ra</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Sự kiện sai</a:t>
            </a:r>
            <a:endParaRPr lang="en-US" sz="2400" dirty="0"/>
          </a:p>
          <a:p>
            <a:pPr marL="342900" indent="-342900">
              <a:spcAft>
                <a:spcPts val="1000"/>
              </a:spcAft>
              <a:buSzPct val="100000"/>
              <a:buChar char="•"/>
            </a:pPr>
            <a:r>
              <a:rPr lang="en-US" sz="2400" dirty="0">
                <a:solidFill>
                  <a:schemeClr val="bg1"/>
                </a:solidFill>
              </a:rPr>
              <a:t>Số liệu bịa</a:t>
            </a:r>
            <a:endParaRPr lang="en-US" sz="2400" dirty="0"/>
          </a:p>
          <a:p>
            <a:pPr marL="342900" indent="-342900">
              <a:spcAft>
                <a:spcPts val="1000"/>
              </a:spcAft>
              <a:buSzPct val="100000"/>
              <a:buChar char="•"/>
            </a:pPr>
            <a:r>
              <a:rPr lang="en-US" sz="2400" dirty="0">
                <a:solidFill>
                  <a:schemeClr val="bg1"/>
                </a:solidFill>
              </a:rPr>
              <a:t>Nguồn không tồn tại</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Hiện tượng này gọi là ảo giác AI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Kiểm chứng trước khi dùng</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Chọn</a:t>
            </a:r>
            <a:r>
              <a:rPr lang="en-US" sz="3200" dirty="0">
                <a:solidFill>
                  <a:schemeClr val="tx1"/>
                </a:solidFill>
              </a:rPr>
              <a:t> thông tin quan trọng: số liệu, tên riêng, ngày tháng</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Tìm</a:t>
            </a:r>
            <a:r>
              <a:rPr lang="en-US" sz="3200" dirty="0">
                <a:solidFill>
                  <a:schemeClr val="tx1"/>
                </a:solidFill>
              </a:rPr>
              <a:t> ở một nguồn độc lập: sách giáo khoa, trang chính thức</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So sánh</a:t>
            </a:r>
            <a:r>
              <a:rPr lang="en-US" sz="3200" dirty="0">
                <a:solidFill>
                  <a:schemeClr val="tx1"/>
                </a:solidFill>
              </a:rPr>
              <a:t>, chỗ nào lệch thì tin nguồn gốc</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Hỏi lại chính AI không phải là kiểm chứng.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giúp em học được những gì?</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Giải thích lại điều em chưa hiểu</a:t>
            </a:r>
            <a:endParaRPr lang="en-US" sz="28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Đặt câu hỏi để em tự ôn</a:t>
            </a:r>
            <a:endParaRPr lang="en-US" sz="28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Góp ý cho bài em đã viết</a:t>
            </a:r>
            <a:endParaRPr lang="en-US" sz="28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Tạo bài luyện tập thêm</a:t>
            </a:r>
            <a:endParaRPr lang="en-US" sz="28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Trong cả bốn việc, người suy nghĩ vẫn là em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Dùng để học hay để làm thay?</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Để học</a:t>
            </a:r>
            <a:endParaRPr lang="en-US" sz="30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Em làm trước, AI góp ý</a:t>
            </a:r>
            <a:endParaRPr lang="en-US" sz="2800" dirty="0"/>
          </a:p>
          <a:p>
            <a:pPr marL="342900" indent="-342900">
              <a:spcAft>
                <a:spcPts val="1000"/>
              </a:spcAft>
              <a:buSzPct val="100000"/>
              <a:buChar char="•"/>
            </a:pPr>
            <a:r>
              <a:rPr lang="en-US" sz="2800" dirty="0">
                <a:solidFill>
                  <a:schemeClr val="tx1"/>
                </a:solidFill>
              </a:rPr>
              <a:t>Em hỏi “vì sao”</a:t>
            </a:r>
            <a:endParaRPr lang="en-US" sz="2800" dirty="0"/>
          </a:p>
          <a:p>
            <a:pPr marL="342900" indent="-342900">
              <a:spcAft>
                <a:spcPts val="1000"/>
              </a:spcAft>
              <a:buSzPct val="100000"/>
              <a:buChar char="•"/>
            </a:pPr>
            <a:r>
              <a:rPr lang="en-US" sz="2800" dirty="0">
                <a:solidFill>
                  <a:schemeClr val="tx1"/>
                </a:solidFill>
              </a:rPr>
              <a:t>Xong việc em hiểu hơn</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Làm thay</a:t>
            </a:r>
            <a:endParaRPr lang="en-US" sz="30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AI làm, em chép</a:t>
            </a:r>
            <a:endParaRPr lang="en-US" sz="2800" dirty="0"/>
          </a:p>
          <a:p>
            <a:pPr marL="342900" indent="-342900">
              <a:spcAft>
                <a:spcPts val="1000"/>
              </a:spcAft>
              <a:buSzPct val="100000"/>
              <a:buChar char="•"/>
            </a:pPr>
            <a:r>
              <a:rPr lang="en-US" sz="2800" dirty="0">
                <a:solidFill>
                  <a:schemeClr val="bg1"/>
                </a:solidFill>
              </a:rPr>
              <a:t>Em chỉ hỏi “đáp án”</a:t>
            </a:r>
            <a:endParaRPr lang="en-US" sz="2800" dirty="0"/>
          </a:p>
          <a:p>
            <a:pPr marL="342900" indent="-342900">
              <a:spcAft>
                <a:spcPts val="1000"/>
              </a:spcAft>
              <a:buSzPct val="100000"/>
              <a:buChar char="•"/>
            </a:pPr>
            <a:r>
              <a:rPr lang="en-US" sz="2800" dirty="0">
                <a:solidFill>
                  <a:schemeClr val="bg1"/>
                </a:solidFill>
              </a:rPr>
              <a:t>Xong việc em không nhớ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câu tự hỏi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Trước khi nộp một bài có dùng AI, em thử dừng lại mười giây và tự hỏi một câu.</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“Không có AI, mình có tự làm lại được không?”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Xếp loại và sửa cách dùng</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18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thẻ này thuộc loại nào?</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8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Xếp các thẻ ví dụ vào ba cột PL, DĐ, TS</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Đọc thẻ, tìm đầu ra của hệ thống</a:t>
            </a:r>
            <a:endParaRPr lang="en-US" sz="2800" dirty="0"/>
          </a:p>
          <a:p>
            <a:pPr marL="342900" indent="-342900">
              <a:spcAft>
                <a:spcPts val="1200"/>
              </a:spcAft>
              <a:buSzPct val="100000"/>
              <a:buFont typeface="+mj-lt"/>
              <a:buAutoNum type="arabicPeriod"/>
            </a:pPr>
            <a:r>
              <a:rPr lang="en-US" sz="2800" dirty="0">
                <a:solidFill>
                  <a:schemeClr val="tx1"/>
                </a:solidFill>
              </a:rPr>
              <a:t>Hỏi: đó là nhãn, con số hay nội dung mới?</a:t>
            </a:r>
            <a:endParaRPr lang="en-US" sz="2800" dirty="0"/>
          </a:p>
          <a:p>
            <a:pPr marL="342900" indent="-342900">
              <a:spcAft>
                <a:spcPts val="1200"/>
              </a:spcAft>
              <a:buSzPct val="100000"/>
              <a:buFont typeface="+mj-lt"/>
              <a:buAutoNum type="arabicPeriod"/>
            </a:pPr>
            <a:r>
              <a:rPr lang="en-US" sz="2800" dirty="0">
                <a:solidFill>
                  <a:schemeClr val="tx1"/>
                </a:solidFill>
              </a:rPr>
              <a:t>Ghi một câu giải thích cho thẻ khó nhất</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thẻ</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Ứng dụng nhận diện loài hoa qua ảnh. Ứng dụng ước tính tiền điện tháng sau. Công cụ viết lời chúc sinh nhật.</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đổi “làm thay” thành “để học”</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10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Viết lại cách dùng AI cho ba tình huống trên phiếu</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Gạch chân chỗ AI đang làm thay</a:t>
            </a:r>
            <a:endParaRPr lang="en-US" sz="2800" dirty="0"/>
          </a:p>
          <a:p>
            <a:pPr marL="342900" indent="-342900">
              <a:spcAft>
                <a:spcPts val="1200"/>
              </a:spcAft>
              <a:buSzPct val="100000"/>
              <a:buFont typeface="+mj-lt"/>
              <a:buAutoNum type="arabicPeriod"/>
            </a:pPr>
            <a:r>
              <a:rPr lang="en-US" sz="2800" dirty="0">
                <a:solidFill>
                  <a:schemeClr val="tx1"/>
                </a:solidFill>
              </a:rPr>
              <a:t>Viết lại: em làm phần nào, AI giúp phần nào</a:t>
            </a:r>
            <a:endParaRPr lang="en-US" sz="2800" dirty="0"/>
          </a:p>
          <a:p>
            <a:pPr marL="342900" indent="-342900">
              <a:spcAft>
                <a:spcPts val="1200"/>
              </a:spcAft>
              <a:buSzPct val="100000"/>
              <a:buFont typeface="+mj-lt"/>
              <a:buAutoNum type="arabicPeriod"/>
            </a:pPr>
            <a:r>
              <a:rPr lang="en-US" sz="2800" dirty="0">
                <a:solidFill>
                  <a:schemeClr val="tx1"/>
                </a:solidFill>
              </a:rPr>
              <a:t>Thêm một việc kiểm chứng</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“Nhờ AI viết bài cảm nhận rồi nộp” đổi thành “Em viết dàn ý, nhờ AI chỉ ra ý còn thiếu, em tự viết bài”.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Phân loại cho </a:t>
            </a:r>
            <a:r>
              <a:rPr lang="en-US" sz="3200" b="1" dirty="0">
                <a:solidFill>
                  <a:schemeClr val="tx2"/>
                </a:solidFill>
              </a:rPr>
              <a:t>nhãn</a:t>
            </a:r>
            <a:r>
              <a:rPr lang="en-US" sz="3200" dirty="0">
                <a:solidFill>
                  <a:schemeClr val="tx1"/>
                </a:solidFill>
              </a:rPr>
              <a:t>, dự đoán cho </a:t>
            </a:r>
            <a:r>
              <a:rPr lang="en-US" sz="3200" b="1" dirty="0">
                <a:solidFill>
                  <a:schemeClr val="tx2"/>
                </a:solidFill>
              </a:rPr>
              <a:t>con số</a:t>
            </a:r>
            <a:r>
              <a:rPr lang="en-US" sz="3200" dirty="0">
                <a:solidFill>
                  <a:schemeClr val="tx1"/>
                </a:solidFill>
              </a:rPr>
              <a:t>, tạo sinh cho </a:t>
            </a:r>
            <a:r>
              <a:rPr lang="en-US" sz="3200" b="1" dirty="0">
                <a:solidFill>
                  <a:schemeClr val="tx2"/>
                </a:solidFill>
              </a:rPr>
              <a:t>nội dung mới</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AI tạo sinh chọn từ nghe hợp lí nên </a:t>
            </a:r>
            <a:r>
              <a:rPr lang="en-US" sz="3200" b="1" dirty="0">
                <a:solidFill>
                  <a:schemeClr val="tx2"/>
                </a:solidFill>
              </a:rPr>
              <a:t>trôi chảy mà vẫn có thể sai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Kiểm chứng</a:t>
            </a:r>
            <a:r>
              <a:rPr lang="en-US" sz="3200" dirty="0">
                <a:solidFill>
                  <a:schemeClr val="tx1"/>
                </a:solidFill>
              </a:rPr>
              <a:t> thông tin quan trọng bằng nguồn độc lập</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Dùng AI </a:t>
            </a:r>
            <a:r>
              <a:rPr lang="en-US" sz="3200" b="1" dirty="0">
                <a:solidFill>
                  <a:schemeClr val="tx2"/>
                </a:solidFill>
              </a:rPr>
              <a:t>để học</a:t>
            </a:r>
            <a:r>
              <a:rPr lang="en-US" sz="3200" dirty="0">
                <a:solidFill>
                  <a:schemeClr val="tx1"/>
                </a:solidFill>
              </a:rPr>
              <a:t>: không có AI em vẫn làm lại được</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1188720"/>
          </a:xfrm>
          <a:prstGeom prst="rect">
            <a:avLst/>
          </a:prstGeom>
          <a:noFill/>
          <a:ln/>
        </p:spPr>
        <p:txBody>
          <a:bodyPr wrap="square" lIns="0" tIns="0" rIns="0" bIns="0" rtlCol="0" anchor="ctr"/>
          <a:lstStyle/>
          <a:p>
            <a:pPr marL="0" indent="0">
              <a:buNone/>
            </a:pPr>
            <a:r>
              <a:rPr lang="en-US" sz="2600" dirty="0">
                <a:solidFill>
                  <a:schemeClr val="tx1"/>
                </a:solidFill>
              </a:rPr>
              <a:t>Ghi PL, DĐ hoặc TS cho từng hệ thống trên phiếu.</a:t>
            </a:r>
            <a:endParaRPr lang="en-US" sz="2600" dirty="0"/>
          </a:p>
        </p:txBody>
      </p:sp>
      <p:sp>
        <p:nvSpPr>
          <p:cNvPr id="9" name="Shape 6"/>
          <p:cNvSpPr/>
          <p:nvPr/>
        </p:nvSpPr>
        <p:spPr>
          <a:xfrm>
            <a:off x="5394960" y="269748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292608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292608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2834640"/>
            <a:ext cx="4983480" cy="1188720"/>
          </a:xfrm>
          <a:prstGeom prst="rect">
            <a:avLst/>
          </a:prstGeom>
          <a:noFill/>
          <a:ln/>
        </p:spPr>
        <p:txBody>
          <a:bodyPr wrap="square" lIns="0" tIns="0" rIns="0" bIns="0" rtlCol="0" anchor="ctr"/>
          <a:lstStyle/>
          <a:p>
            <a:pPr marL="0" indent="0">
              <a:buNone/>
            </a:pPr>
            <a:r>
              <a:rPr lang="en-US" sz="2600" dirty="0">
                <a:solidFill>
                  <a:schemeClr val="tx1"/>
                </a:solidFill>
              </a:rPr>
              <a:t>Vì sao AI tạo sinh viết rất trôi chảy mà vẫn có thể sai? Em làm gì trước khi dùng kết quả?</a:t>
            </a:r>
            <a:endParaRPr lang="en-US" sz="2600" dirty="0"/>
          </a:p>
        </p:txBody>
      </p:sp>
      <p:sp>
        <p:nvSpPr>
          <p:cNvPr id="13" name="Shape 10"/>
          <p:cNvSpPr/>
          <p:nvPr/>
        </p:nvSpPr>
        <p:spPr>
          <a:xfrm>
            <a:off x="5394960" y="4434840"/>
            <a:ext cx="6217920" cy="1463040"/>
          </a:xfrm>
          <a:prstGeom prst="roundRect">
            <a:avLst>
              <a:gd name="adj" fmla="val 7500"/>
            </a:avLst>
          </a:prstGeom>
          <a:solidFill>
            <a:schemeClr val="bg1"/>
          </a:solidFill>
          <a:ln w="12700">
            <a:solidFill>
              <a:schemeClr val="bg1"/>
            </a:solidFill>
            <a:prstDash val="solid"/>
          </a:ln>
        </p:spPr>
        <p:txBody>
          <a:bodyPr/>
          <a:lstStyle/>
          <a:p>
            <a:endParaRPr lang="en-US"/>
          </a:p>
        </p:txBody>
      </p:sp>
      <p:sp>
        <p:nvSpPr>
          <p:cNvPr id="14" name="Shape 11"/>
          <p:cNvSpPr/>
          <p:nvPr/>
        </p:nvSpPr>
        <p:spPr>
          <a:xfrm>
            <a:off x="5623560" y="466344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5" name="Text 12"/>
          <p:cNvSpPr txBox="1"/>
          <p:nvPr/>
        </p:nvSpPr>
        <p:spPr>
          <a:xfrm>
            <a:off x="5623560" y="466344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3</a:t>
            </a:r>
            <a:endParaRPr lang="en-US" sz="2100" dirty="0"/>
          </a:p>
        </p:txBody>
      </p:sp>
      <p:sp>
        <p:nvSpPr>
          <p:cNvPr id="16" name="Text 13"/>
          <p:cNvSpPr txBox="1"/>
          <p:nvPr/>
        </p:nvSpPr>
        <p:spPr>
          <a:xfrm>
            <a:off x="6446520" y="4572000"/>
            <a:ext cx="4983480" cy="1188720"/>
          </a:xfrm>
          <a:prstGeom prst="rect">
            <a:avLst/>
          </a:prstGeom>
          <a:noFill/>
          <a:ln/>
        </p:spPr>
        <p:txBody>
          <a:bodyPr wrap="square" lIns="0" tIns="0" rIns="0" bIns="0" rtlCol="0" anchor="ctr"/>
          <a:lstStyle/>
          <a:p>
            <a:pPr marL="0" indent="0">
              <a:buNone/>
            </a:pPr>
            <a:r>
              <a:rPr lang="en-US" sz="2600" dirty="0">
                <a:solidFill>
                  <a:schemeClr val="tx1"/>
                </a:solidFill>
              </a:rPr>
              <a:t>Nêu một việc học cụ thể của em và cách em dùng AI “để học” cho việc đó.</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2316284338"/>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1386</Words>
  <Application>Microsoft Office PowerPoint</Application>
  <PresentationFormat>Widescreen</PresentationFormat>
  <Paragraphs>184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AI tạo sinh khác gì AI phân loại, dự đoán? AI giúp em học thế nào?</vt:lpstr>
      <vt:lpstr>Hôm nay chúng ta làm gì?</vt:lpstr>
      <vt:lpstr>Ba chiếc máy</vt:lpstr>
      <vt:lpstr>Ba loại hệ thống AI</vt:lpstr>
      <vt:lpstr>Nhận ra bằng cách nhìn đầu ra</vt:lpstr>
      <vt:lpstr>AI tạo sinh viết ra câu chữ thế nào?</vt:lpstr>
      <vt:lpstr>Trôi chảy không có nghĩa là đúng</vt:lpstr>
      <vt:lpstr>Kiểm chứng trước khi dùng</vt:lpstr>
      <vt:lpstr>AI giúp em học được những gì?</vt:lpstr>
      <vt:lpstr>Dùng để học hay để làm thay?</vt:lpstr>
      <vt:lpstr>Một câu tự hỏi</vt:lpstr>
      <vt:lpstr>Xếp loại và sửa cách dùng</vt:lpstr>
      <vt:lpstr>Nhiệm vụ 1: thẻ này thuộc loại nào?</vt:lpstr>
      <vt:lpstr>Nhiệm vụ 2: đổi “làm thay” thành “để học”</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10.7. AI tạo sinh khác gì AI phân loại, dự đoán? AI giúp em học thế nào?</dc:title>
  <dc:subject>Trí tuệ nhân tạo</dc:subject>
  <cp:lastModifiedBy>Phạm Văn Tú</cp:lastModifiedBy>
  <cp:revision>1</cp:revision>
  <dcterms:created xsi:type="dcterms:W3CDTF">2026-10-08T11:00:14Z</dcterms:created>
  <dcterms:modified xsi:type="dcterms:W3CDTF">2026-10-10T03:28:14Z</dcterms:modified>
  <dc:description>Email: phamtund@gmail.com</dc:description>
  <dc:creator>Phạm Văn Tú</dc:creator>
  <cp:category>Trí tuệ nhân tạo</cp:category>
  <cp:keywords>Trí tuệ nhân tạo</cp:keywords>
</cp:coreProperties>
</file>