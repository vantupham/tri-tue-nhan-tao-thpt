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245BF9EF-B09E-9D81-DCB2-46AC5C981D8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Góp ý Quy tắc sử dụng AI" id="{03292BE5-3AFB-49E0-22ED-403A12B3A66C}">
          <p14:sldIdLst>
            <p14:sldId id="265"/>
            <p14:sldId id="266"/>
            <p14:sldId id="267"/>
            <p14:sldId id="268"/>
            <p14:sldId id="269"/>
          </p14:sldIdLst>
        </p14:section>
        <p14:section name="Tổng kết" id="{2E2F2889-9E78-6DD0-B367-C1813ECD99F2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F28B6-FAE6-4FCD-9796-11415A567601}" v="1" dt="2026-10-10T03:44:02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44:02.493" v="3"/>
      <pc:docMkLst>
        <pc:docMk/>
      </pc:docMkLst>
      <pc:sldChg chg="modSp mod">
        <pc:chgData name="Phạm Văn Tú" userId="67199c852bdd6d1b" providerId="LiveId" clId="{CB377567-0116-4044-BB7C-6E46B7A5C596}" dt="2026-10-10T03:43:49.435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43:49.435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44:02.493" v="3"/>
        <pc:sldMkLst>
          <pc:docMk/>
          <pc:sldMk cId="3678090926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01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bản Quy tắc sử dụng AI của trường (hoặc bản dự thảo giả định), mẫu góp ý bốn phần, Phiếu ra cửa. Nếu trường đang lấy ý kiến thật: thông báo kênh gửi và thời gian phản hồi.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nhanh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(4 phút). Tình huống giả định. Danh sách có thể gồm: người tạo video; công ti làm công cụ; nền tảng; người bán; các bạn chuyển tiếp; và cả những bạn biết là giả mà im lặng.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(15 phút). Mũi tên liền: thứ được trao đi. Mũi tên nét đứt: tiếng nói phản hồi. Một người có thể ở nhiều vị trí: em là người sử dụng khi nhờ AI giải thích bài; là người bị ảnh hưởng khi bạn đăng ảnh có em; gần với người phát triển khi huấn luyện một mô hình nhỏ (Bài 12.8).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 lớp cùng lập bảng. Theo nội dung đã công bố của Luật Trí tuệ nhân tạo: hệ thống tương tác trực tiếp với con người phải để người dùng nhận biết đó là AI; nội dung mô phỏng ngoại hình, giọng nói người thật phải gắn nhãn dễ nhận biết.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Dễ nhầm: 'công cụ cho phép làm thì mình được làm; sai là lỗi của người làm ra công cụ'. Phần của người dùng không biến mất vì công cụ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ghi bốn nội dung kèm việc làm cụ thể. Bốn động từ: dùng đúng, tôn trọng, không gây hại, góp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có biết: Bộ Công an đã nhiều lần cảnh báo về cuộc gọi video giả mạo bằng AI và nêu dấu hiệu nhận biết; người lớn tuổi ít có cơ hội nghe các cảnh báo này. Mỗi học sinh hiểu về AI là một kênh truyền thông cho gia đình.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Liệt kê thêm các kênh có thật của trường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Nếu trường đã có Quy tắc sử dụng AI hoặc đang lấy ý kiến: dùng văn bản thật và gửi theo kênh chính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Căn cứ có sẵn: sáu biểu hiện (12.3), sáu nguyên tắc (12.4), thang rủi ro (12.5), năm quyền với dữ liệu (11.5), Khung nội dung của Bộ về khai báo sử dụng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giả định với Điều 4: 'Học sinh không được dùng AI trong mọi hoạt động học tập.'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phút: các nhóm đọc góp ý, lớp chọn ý gửi chung. Gợi ý: điều thứ nhất liên quan phân vai mức III và quyền được xem xét lại; điều thứ hai liên quan sự đồng ý và quyền rút lại. Bản góp ý là minh chứng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chuyên đề.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Dặn dò: phần Vận dụng (làm một việc thuộc nội dung 4 trong tuần này và ghi lại).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33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12.6 · Công dân có trách nhiệm trong hệ sinh thái 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Công dân có trách nhiệm trong hệ sinh thái AI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12.6 · Chuyên đề 12.2: Đạo đức, rủi ro và trách nhiệm công dân trong xã hội có AI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12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Phân tích</a:t>
            </a:r>
            <a:r>
              <a:rPr lang="en-US" sz="2800" dirty="0">
                <a:solidFill>
                  <a:schemeClr val="tx1"/>
                </a:solidFill>
              </a:rPr>
              <a:t> bốn nội dung trách nhiệm công dân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quyền và trách nhiệm của hai phía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Viết</a:t>
            </a:r>
            <a:r>
              <a:rPr lang="en-US" sz="2800" dirty="0">
                <a:solidFill>
                  <a:schemeClr val="tx1"/>
                </a:solidFill>
              </a:rPr>
              <a:t> một góp ý có căn cứ cho một quy định về AI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4'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Chuyện của ai?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15'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Bốn nội dung, hai phía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21'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Góp ý quy tắc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Chuyện của ai?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Một video lan nhanh trong các nhóm học sinh: một “bác sĩ nổi tiếng” khuyên uống một loại nước lạ để “tăng trí nhớ trước kì thi”.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Thực ra video do AI tạo để bán hàng. Nhiều bạn chuyển tiếp “cho vui”. Vài bạn đặt mua.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Đây là chuyện của ai? Liệt kê tất cả những người có phần trách nhiệm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Hệ sinh thái AI: ai ở trong đó?</a:t>
            </a:r>
            <a:endParaRPr lang="en-US" sz="3800" dirty="0"/>
          </a:p>
        </p:txBody>
      </p:sp>
      <p:pic>
        <p:nvPicPr>
          <p:cNvPr id="4" name="Image 0" descr="Hệ sinh thái AI: ai ở trong đó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285" y="1463040"/>
            <a:ext cx="8260951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Người phát triển: quyền và trách nhiệm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Quyền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Sáng tạo, kinh doanh hợp pháp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Được bảo vệ sản phẩm trí tuệ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Trách nhiệm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Bảo đảm an toàn, minh bạch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Bảo vệ dữ liệu người dùng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Tiếp nhận phản ánh, sửa lỗi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Người sử dụng: quyền và trách nhiệm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Quyền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Được biết đang tương tác với AI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Được bảo vệ dữ liệu, được an toàn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Được phản ánh, khiếu nại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Trách nhiệm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Dùng đúng mục đích, kiểm chứng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Không gây hại cho người khác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Tôn trọng dữ liệu của người khác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Trách nhiệm của phía này chính là quyền của phía kia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Bốn nội dung trách nhiệm công dân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Dùng đúng: an toàn, trung thực, có đạo đức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195060" y="155448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7794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7794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55180" y="162763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Tôn trọng: quyền riêng tư, dữ liệu của người khác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331470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38785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Không gây hại: không lan truyền tin sai, gian lận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195060" y="331470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7794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7794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155180" y="338785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Góp phần: xây dựng môi trường số tích cực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Ba nội dung đầu: không làm điều xấu. Nội dung 4: chủ động làm điều tốt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Quay lại video “bác sĩ”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Nội dung 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Không chuyển tiếp video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Nội dung 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Bấm “báo cáo” với nền tảng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Nhắn nhóm lớp: “video này là giả”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Chỉ cho ông bà cách nhận ra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“Mình không làm gì sai” chưa phải là đủ trách nhiệm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Lên tiếng đúng kênh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Việc cần lên tiếng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Kênh phù hợp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Nội dung giả mạo, lừa đảo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Nút “Báo cáo”; cha mẹ, thầy cô; cơ quan công an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Công cụ AI trả lời sai, thiên lệch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Mục góp ý của chính công cụ đó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Việc dùng AI trong trường chưa hợp lí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Giáo viên, Đoàn trường, hộp thư góp ý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Góp ý Quy tắc sử dụng AI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21 phút · Làm việc nhóm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Một góp ý hiệu quả có bốn phần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Nêu đúng </a:t>
            </a:r>
            <a:r>
              <a:rPr lang="en-US" sz="3200" b="1" dirty="0">
                <a:solidFill>
                  <a:schemeClr val="tx2"/>
                </a:solidFill>
              </a:rPr>
              <a:t>điều đang góp ý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Ghi nhận mục đích</a:t>
            </a:r>
            <a:r>
              <a:rPr lang="en-US" sz="3200" dirty="0">
                <a:solidFill>
                  <a:schemeClr val="tx1"/>
                </a:solidFill>
              </a:rPr>
              <a:t> của quy định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Nêu </a:t>
            </a:r>
            <a:r>
              <a:rPr lang="en-US" sz="3200" b="1" dirty="0">
                <a:solidFill>
                  <a:schemeClr val="tx2"/>
                </a:solidFill>
              </a:rPr>
              <a:t>vấn đề kèm căn cứ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Đề xuất </a:t>
            </a:r>
            <a:r>
              <a:rPr lang="en-US" sz="3200" b="1" dirty="0">
                <a:solidFill>
                  <a:schemeClr val="tx2"/>
                </a:solidFill>
              </a:rPr>
              <a:t>câu chữ thay thế</a:t>
            </a:r>
            <a:endParaRPr lang="en-US" sz="3200" dirty="0"/>
          </a:p>
        </p:txBody>
      </p:sp>
      <p:sp>
        <p:nvSpPr>
          <p:cNvPr id="16" name="Shape 13"/>
          <p:cNvSpPr/>
          <p:nvPr/>
        </p:nvSpPr>
        <p:spPr>
          <a:xfrm>
            <a:off x="8778240" y="155448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006840" y="1737360"/>
            <a:ext cx="2377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Lời lẽ tôn trọng làm góp ý được đọc.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Cùng một ý, hai cách nói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Chưa hiệu quả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“Điều 4 quá vô lí, thời nào rồi còn cấm AI!”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Hiệu quả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“Chúng em hiểu mục đích là giữ trung thực. Chúng em đề nghị sửa thành: được dùng AI theo hướng dẫn của giáo viên và phải khai báo.”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nhóm: viết một góp ý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13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Chọn một điều trong bản quy tắc và viết góp ý bốn phần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Đọc điều được giao, xác định mục đích của nó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Tìm vấn đề và một căn cứ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Viết câu chữ đề xuất thay thế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Hai điều gợi 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Bài bị phần mềm đánh dấu “do AI tạo” nhận điểm 0. Nhà trường dùng bài làm, hình ảnh học sinh để huấn luyện AI.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Nhìn lại chuyên đề 12.2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Sáu nguyên tắc đạo đức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Của người thiết kế.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Thang ba mức rủi ro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Của người dùng.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Trách nhiệm công dân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Của tất cả chúng ta.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Hệ sinh thái AI có </a:t>
            </a:r>
            <a:r>
              <a:rPr lang="en-US" sz="3200" b="1" dirty="0">
                <a:solidFill>
                  <a:schemeClr val="tx2"/>
                </a:solidFill>
              </a:rPr>
              <a:t>nhiều bên</a:t>
            </a:r>
            <a:r>
              <a:rPr lang="en-US" sz="3200" dirty="0">
                <a:solidFill>
                  <a:schemeClr val="tx1"/>
                </a:solidFill>
              </a:rPr>
              <a:t>; em có thể ở nhiều vị trí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Hai phía </a:t>
            </a:r>
            <a:r>
              <a:rPr lang="en-US" sz="3200" b="1" dirty="0">
                <a:solidFill>
                  <a:schemeClr val="tx2"/>
                </a:solidFill>
              </a:rPr>
              <a:t>đều có quyền và trách nhiệm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Bốn động từ: </a:t>
            </a:r>
            <a:r>
              <a:rPr lang="en-US" sz="3200" b="1" dirty="0">
                <a:solidFill>
                  <a:schemeClr val="tx2"/>
                </a:solidFill>
              </a:rPr>
              <a:t>dùng đúng, tôn trọng, không gây hại, góp phần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Góp ý: </a:t>
            </a:r>
            <a:r>
              <a:rPr lang="en-US" sz="3200" b="1" dirty="0">
                <a:solidFill>
                  <a:schemeClr val="tx2"/>
                </a:solidFill>
              </a:rPr>
              <a:t>đúng kênh, đủ bốn phần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Ghi số của nội dung trách nhiệm công dân (1 đến 4) tương ứng với mỗi việc làm trên phiếu.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269748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Nêu một trách nhiệm của người phát triển AI và một trách nhiệm của người sử dụng AI.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394960" y="443484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23560" y="4663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6235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720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Nếu thấy một quy định về AI chưa hợp lí, em có thể làm gì? Nêu một kênh cụ thể.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B702F8E-1303-8489-B184-517A57951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90926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Microsoft Office PowerPoint</Application>
  <PresentationFormat>Widescreen</PresentationFormat>
  <Paragraphs>172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Công dân có trách nhiệm trong hệ sinh thái AI</vt:lpstr>
      <vt:lpstr>Hôm nay chúng ta làm gì?</vt:lpstr>
      <vt:lpstr>Chuyện của ai?</vt:lpstr>
      <vt:lpstr>Hệ sinh thái AI: ai ở trong đó?</vt:lpstr>
      <vt:lpstr>Người phát triển: quyền và trách nhiệm</vt:lpstr>
      <vt:lpstr>Người sử dụng: quyền và trách nhiệm</vt:lpstr>
      <vt:lpstr>Bốn nội dung trách nhiệm công dân</vt:lpstr>
      <vt:lpstr>Quay lại video “bác sĩ”</vt:lpstr>
      <vt:lpstr>Lên tiếng đúng kênh</vt:lpstr>
      <vt:lpstr>Góp ý Quy tắc sử dụng AI</vt:lpstr>
      <vt:lpstr>Một góp ý hiệu quả có bốn phần</vt:lpstr>
      <vt:lpstr>Cùng một ý, hai cách nói</vt:lpstr>
      <vt:lpstr>Nhiệm vụ nhóm: viết một góp ý</vt:lpstr>
      <vt:lpstr>Nhìn lại chuyên đề 12.2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12.6. Công dân có trách nhiệm trong hệ sinh thái AI</dc:title>
  <dc:subject>Trí tuệ nhân tạo</dc:subject>
  <cp:lastModifiedBy>Phạm Văn Tú</cp:lastModifiedBy>
  <cp:revision>1</cp:revision>
  <dcterms:created xsi:type="dcterms:W3CDTF">2026-10-08T10:45:42Z</dcterms:created>
  <dcterms:modified xsi:type="dcterms:W3CDTF">2026-10-10T03:44:06Z</dcterms:modified>
  <dc:description>Email: phamtund@gmail.com</dc:description>
  <dc:creator>Phạm Văn Tú</dc:creator>
  <cp:category>Trí tuệ nhân tạo</cp:category>
  <cp:keywords>Trí tuệ nhân tạo</cp:keywords>
</cp:coreProperties>
</file>