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68A43A04-45A4-5787-C77B-FD8993DF0158}">
          <p14:sldIdLst>
            <p14:sldId id="256"/>
            <p14:sldId id="257"/>
            <p14:sldId id="258"/>
            <p14:sldId id="259"/>
            <p14:sldId id="260"/>
            <p14:sldId id="261"/>
            <p14:sldId id="262"/>
            <p14:sldId id="263"/>
            <p14:sldId id="264"/>
            <p14:sldId id="265"/>
          </p14:sldIdLst>
        </p14:section>
        <p14:section name="Chọn ý tưởng cho ba công việc" id="{C8DD3A6A-31C8-EAEF-57B1-7064FFA1E0FD}">
          <p14:sldIdLst>
            <p14:sldId id="266"/>
            <p14:sldId id="267"/>
            <p14:sldId id="268"/>
            <p14:sldId id="269"/>
          </p14:sldIdLst>
        </p14:section>
        <p14:section name="Tổng kết" id="{1FAE2027-22D6-C799-8E5C-8B50249C5EE8}">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83DDF2-BD38-4ADA-83C3-E5A8CE3DE545}" v="1" dt="2026-10-10T03:44:34.2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44:34.250" v="3"/>
      <pc:docMkLst>
        <pc:docMk/>
      </pc:docMkLst>
      <pc:sldChg chg="modSp mod">
        <pc:chgData name="Phạm Văn Tú" userId="67199c852bdd6d1b" providerId="LiveId" clId="{CB377567-0116-4044-BB7C-6E46B7A5C596}" dt="2026-10-10T03:44:21.357" v="2" actId="20577"/>
        <pc:sldMkLst>
          <pc:docMk/>
          <pc:sldMk cId="0" sldId="256"/>
        </pc:sldMkLst>
        <pc:spChg chg="mod">
          <ac:chgData name="Phạm Văn Tú" userId="67199c852bdd6d1b" providerId="LiveId" clId="{CB377567-0116-4044-BB7C-6E46B7A5C596}" dt="2026-10-10T03:44:21.357" v="2" actId="20577"/>
          <ac:spMkLst>
            <pc:docMk/>
            <pc:sldMk cId="0" sldId="256"/>
            <ac:spMk id="3" creationId="{00000000-0000-0000-0000-000000000000}"/>
          </ac:spMkLst>
        </pc:spChg>
      </pc:sldChg>
      <pc:sldChg chg="add">
        <pc:chgData name="Phạm Văn Tú" userId="67199c852bdd6d1b" providerId="LiveId" clId="{CB377567-0116-4044-BB7C-6E46B7A5C596}" dt="2026-10-10T03:44:34.250" v="3"/>
        <pc:sldMkLst>
          <pc:docMk/>
          <pc:sldMk cId="1048752354"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3706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thẻ ba loại hệ thống AI, thẻ năm kiểu ý tưởng (mỗi nhóm 2 bộ), Phiếu lựa chọn ý tưởng, Phiếu ra cửa. Học sinh ghi ở nhà vài công việc lặp lại trong trường.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bài này đến Bài 12.12, mỗi nhóm theo một 'dự án' xuyên suốt.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(5 phút). Học sinh bổ sung các công việc đã ghi ở nhà. Gợi ý: việc 1 đã có công thức, bảng tính làm đúng tuyệt đối; việc 2 không viết được thành quy tắc nhưng có thể chụp nhiều ảnh mẫu; việc 3 cần trả lời đúng theo văn bản của trường.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thức lớp 10 (Bài 10.7) và lớp 11 (Bài 11.11). Phát thẻ ba loại hệ thống.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(14 phút). Ví dụ rõ: 'Căn tin mỗi ngày nấu thừa hoặc thiếu vài chục suất. Cần một con số ước tính trước 4 giờ chiều hôm trước.' Dễ nhầm: 'có công nghệ hay thì tìm chỗ mà dùng'.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Phát thẻ năm kiểu. Chữ trong vòng tròn a đến e ứng với kiểu A đến E. Học sinh đã gặp cả bốn kiểu có AI: trạm phân loại rác (A); câu lệnh 'gia sư' (B); chatbot nội quy (C); dự báo ngập (D).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'cách viết mở bài hay' thì B đủ; hỏi 'thứ Hai mặc gì theo nội quy trường mình' thì phải là C, vì mô hình không tự biết nội quy và có thể bịa. Nhấn kiểu E: người thiết kế giỏi biết khi nào không cần AI.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Nhu cầu: mỗi học sinh cần một điểm số công bằng khi không thi được. Nguồn: bản tin tổng hợp của hãng thông tấn PA (Anh), 2020.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sinh ghi bốn câu hỏi. Câu 1 dẫn đến loại hệ thống; câu 2: không có nguyên liệu thì không có sản phẩm; câu 3: mức rủi ro quyết định mức kiểm soát; câu 4: nếu biểu mẫu, bảng tính giải quyết được thì chọn 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từ trên xuống. Làm mẫu với nhu cầu của căn tin: kết quả là một con số; có sổ bán hàng hai năm; lệch 10 đến 15 suất chấp nhận được; cách đơn giản hơn là cho đăng kí suất ăn trước (kiểu E). Kết luận có thể là D, E hoặc kết hợp. Luôn hỏi thêm: con người giữ phần việc gì?</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Phát Phiếu lựa chọn ý tưởng.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phút chữa; gợi ý đáp án theo phụ lục kế hoạch bài dạy. Phiếu là minh chứng đánh giá. Dặn nhóm giữ phiếu.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Phiếu mẫu trong Tài liệu học tập: nhận biết lá bệnh ở vườn trường (kiểu A; đã loại B và E; lá 'nghi bệnh' được thầy dạy Sinh xác nhận trước khi xử lí).</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việc về nhà: mỗi nhóm viết phiếu ý tưởng đủ năm mục cho một nhu cầu có thật.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Dặn dò: phần Vận dụng (hỏi một người lớn đang đi làm về một việc lặp lại họ mong có công cụ giúp).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956184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12.7 · Từ nhu cầu đến ý tưởng công cụ AI</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Từ nhu cầu đến ý tưởng công cụ AI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12.7 · Chuyên đề 12.3: Công cụ phát triển và đánh giá hiệu quả hệ thống AI</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12</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Phân biệt</a:t>
            </a:r>
            <a:r>
              <a:rPr lang="en-US" sz="2800" dirty="0">
                <a:solidFill>
                  <a:schemeClr val="tx1"/>
                </a:solidFill>
              </a:rPr>
              <a:t> năm kiểu ý tưởng, kể cả “không cần AI”</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Dùng</a:t>
            </a:r>
            <a:r>
              <a:rPr lang="en-US" sz="2800" dirty="0">
                <a:solidFill>
                  <a:schemeClr val="tx1"/>
                </a:solidFill>
              </a:rPr>
              <a:t> bốn câu hỏi để chọn kiểu ý tưởng</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Viết</a:t>
            </a:r>
            <a:r>
              <a:rPr lang="en-US" sz="2800" dirty="0">
                <a:solidFill>
                  <a:schemeClr val="tx1"/>
                </a:solidFill>
              </a:rPr>
              <a:t> phiếu ý tưởng cho một nhu cầu</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Việc gì cũng cần AI?</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14'</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Năm kiểu, bốn câu hỏi</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21'</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Chọn ý tưởng</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Có phải việc gì cũng cần AI?</a:t>
            </a:r>
            <a:endParaRPr lang="en-US" sz="3800" dirty="0"/>
          </a:p>
        </p:txBody>
      </p:sp>
      <p:sp>
        <p:nvSpPr>
          <p:cNvPr id="4" name="Shape 1"/>
          <p:cNvSpPr/>
          <p:nvPr/>
        </p:nvSpPr>
        <p:spPr>
          <a:xfrm>
            <a:off x="548640" y="1554480"/>
            <a:ext cx="11064240" cy="944880"/>
          </a:xfrm>
          <a:prstGeom prst="roundRect">
            <a:avLst>
              <a:gd name="adj" fmla="val 11613"/>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172974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172974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9966960" cy="798576"/>
          </a:xfrm>
          <a:prstGeom prst="rect">
            <a:avLst/>
          </a:prstGeom>
          <a:noFill/>
          <a:ln/>
        </p:spPr>
        <p:txBody>
          <a:bodyPr wrap="square" lIns="0" tIns="0" rIns="0" bIns="0" rtlCol="0" anchor="ctr"/>
          <a:lstStyle/>
          <a:p>
            <a:pPr marL="0" indent="0">
              <a:buNone/>
            </a:pPr>
            <a:r>
              <a:rPr lang="en-US" sz="2800" b="1" dirty="0">
                <a:solidFill>
                  <a:schemeClr val="tx1"/>
                </a:solidFill>
              </a:rPr>
              <a:t>Tính điểm trung bình môn của cả lớp</a:t>
            </a:r>
            <a:endParaRPr lang="en-US" sz="2800" dirty="0"/>
          </a:p>
        </p:txBody>
      </p:sp>
      <p:sp>
        <p:nvSpPr>
          <p:cNvPr id="8" name="Shape 5"/>
          <p:cNvSpPr/>
          <p:nvPr/>
        </p:nvSpPr>
        <p:spPr>
          <a:xfrm>
            <a:off x="548640" y="2727960"/>
            <a:ext cx="11064240" cy="944880"/>
          </a:xfrm>
          <a:prstGeom prst="roundRect">
            <a:avLst>
              <a:gd name="adj" fmla="val 11613"/>
            </a:avLst>
          </a:prstGeom>
          <a:solidFill>
            <a:schemeClr val="bg2"/>
          </a:solidFill>
          <a:ln w="12700">
            <a:solidFill>
              <a:schemeClr val="bg2"/>
            </a:solidFill>
            <a:prstDash val="solid"/>
          </a:ln>
        </p:spPr>
        <p:txBody>
          <a:bodyPr/>
          <a:lstStyle/>
          <a:p>
            <a:endParaRPr lang="en-US"/>
          </a:p>
        </p:txBody>
      </p:sp>
      <p:sp>
        <p:nvSpPr>
          <p:cNvPr id="9" name="Shape 6"/>
          <p:cNvSpPr/>
          <p:nvPr/>
        </p:nvSpPr>
        <p:spPr>
          <a:xfrm>
            <a:off x="731520" y="290322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731520" y="290322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1508760" y="2801112"/>
            <a:ext cx="9966960" cy="798576"/>
          </a:xfrm>
          <a:prstGeom prst="rect">
            <a:avLst/>
          </a:prstGeom>
          <a:noFill/>
          <a:ln/>
        </p:spPr>
        <p:txBody>
          <a:bodyPr wrap="square" lIns="0" tIns="0" rIns="0" bIns="0" rtlCol="0" anchor="ctr"/>
          <a:lstStyle/>
          <a:p>
            <a:pPr marL="0" indent="0">
              <a:buNone/>
            </a:pPr>
            <a:r>
              <a:rPr lang="en-US" sz="2800" b="1" dirty="0">
                <a:solidFill>
                  <a:schemeClr val="tx1"/>
                </a:solidFill>
              </a:rPr>
              <a:t>Nhận biết lá cây bị bệnh trong vườn trường</a:t>
            </a:r>
            <a:endParaRPr lang="en-US" sz="2800" dirty="0"/>
          </a:p>
        </p:txBody>
      </p:sp>
      <p:sp>
        <p:nvSpPr>
          <p:cNvPr id="12" name="Shape 9"/>
          <p:cNvSpPr/>
          <p:nvPr/>
        </p:nvSpPr>
        <p:spPr>
          <a:xfrm>
            <a:off x="548640" y="3901440"/>
            <a:ext cx="11064240" cy="944880"/>
          </a:xfrm>
          <a:prstGeom prst="roundRect">
            <a:avLst>
              <a:gd name="adj" fmla="val 11613"/>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407670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407670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974592"/>
            <a:ext cx="9966960" cy="798576"/>
          </a:xfrm>
          <a:prstGeom prst="rect">
            <a:avLst/>
          </a:prstGeom>
          <a:noFill/>
          <a:ln/>
        </p:spPr>
        <p:txBody>
          <a:bodyPr wrap="square" lIns="0" tIns="0" rIns="0" bIns="0" rtlCol="0" anchor="ctr"/>
          <a:lstStyle/>
          <a:p>
            <a:pPr marL="0" indent="0">
              <a:buNone/>
            </a:pPr>
            <a:r>
              <a:rPr lang="en-US" sz="2800" b="1" dirty="0">
                <a:solidFill>
                  <a:schemeClr val="tx1"/>
                </a:solidFill>
              </a:rPr>
              <a:t>Trả lời học sinh về lịch thi, phòng thi</a:t>
            </a:r>
            <a:endParaRPr lang="en-US" sz="2800" dirty="0"/>
          </a:p>
        </p:txBody>
      </p:sp>
      <p:sp>
        <p:nvSpPr>
          <p:cNvPr id="16" name="Shape 13"/>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17" name="Text 14"/>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400" b="1" dirty="0">
                <a:solidFill>
                  <a:schemeClr val="bg1"/>
                </a:solidFill>
              </a:rPr>
              <a:t>Việc nào cần AI? Hai việc cần AI có dùng cùng một kiểu công cụ không?</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Nhắc lại: ba loại hệ thống AI</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295656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Phân loại</a:t>
            </a:r>
            <a:endParaRPr lang="en-US" sz="2600" dirty="0"/>
          </a:p>
          <a:p>
            <a:pPr marL="0" indent="0">
              <a:spcAft>
                <a:spcPts val="800"/>
              </a:spcAft>
              <a:buNone/>
            </a:pPr>
            <a:r>
              <a:rPr lang="en-US" sz="2600" dirty="0">
                <a:solidFill>
                  <a:schemeClr val="tx1"/>
                </a:solidFill>
              </a:rPr>
              <a:t>Đầu ra là một nhãn: “lá bệnh” hay “lá khỏe”.</a:t>
            </a:r>
            <a:endParaRPr lang="en-US" sz="2600" dirty="0"/>
          </a:p>
        </p:txBody>
      </p:sp>
      <p:sp>
        <p:nvSpPr>
          <p:cNvPr id="6" name="Shape 3"/>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7" name="Text 4"/>
          <p:cNvSpPr txBox="1"/>
          <p:nvPr/>
        </p:nvSpPr>
        <p:spPr>
          <a:xfrm>
            <a:off x="4602480" y="1783080"/>
            <a:ext cx="295656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Dự đoán</a:t>
            </a:r>
            <a:endParaRPr lang="en-US" sz="2600" dirty="0"/>
          </a:p>
          <a:p>
            <a:pPr marL="0" indent="0">
              <a:spcAft>
                <a:spcPts val="800"/>
              </a:spcAft>
              <a:buNone/>
            </a:pPr>
            <a:r>
              <a:rPr lang="en-US" sz="2600" dirty="0">
                <a:solidFill>
                  <a:schemeClr val="tx1"/>
                </a:solidFill>
              </a:rPr>
              <a:t>Đầu ra là một con số ước tính: số suất ăn ngày mai.</a:t>
            </a:r>
            <a:endParaRPr lang="en-US" sz="2600" dirty="0"/>
          </a:p>
        </p:txBody>
      </p:sp>
      <p:sp>
        <p:nvSpPr>
          <p:cNvPr id="8" name="Shape 5"/>
          <p:cNvSpPr/>
          <p:nvPr/>
        </p:nvSpPr>
        <p:spPr>
          <a:xfrm>
            <a:off x="810768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Text 6"/>
          <p:cNvSpPr txBox="1"/>
          <p:nvPr/>
        </p:nvSpPr>
        <p:spPr>
          <a:xfrm>
            <a:off x="8382000" y="1783080"/>
            <a:ext cx="295656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Tạo sinh</a:t>
            </a:r>
            <a:endParaRPr lang="en-US" sz="2600" dirty="0"/>
          </a:p>
          <a:p>
            <a:pPr marL="0" indent="0">
              <a:spcAft>
                <a:spcPts val="800"/>
              </a:spcAft>
              <a:buNone/>
            </a:pPr>
            <a:r>
              <a:rPr lang="en-US" sz="2600" dirty="0">
                <a:solidFill>
                  <a:schemeClr val="tx1"/>
                </a:solidFill>
              </a:rPr>
              <a:t>Đầu ra là nội dung mới: câu trả lời, bản tóm tắt.</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Bắt đầu từ nhu cầu</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Phát biểu mơ hồ</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“Làm AI cho thư viện.”</a:t>
            </a:r>
            <a:endParaRPr lang="en-US" sz="2800" dirty="0"/>
          </a:p>
          <a:p>
            <a:pPr marL="342900" indent="-342900">
              <a:spcAft>
                <a:spcPts val="1000"/>
              </a:spcAft>
              <a:buSzPct val="100000"/>
              <a:buChar char="•"/>
            </a:pPr>
            <a:r>
              <a:rPr lang="en-US" sz="2800" dirty="0">
                <a:solidFill>
                  <a:schemeClr val="tx1"/>
                </a:solidFill>
              </a:rPr>
              <a:t>“Dùng AI chống lãng phí thức ăn.”</a:t>
            </a:r>
            <a:endParaRPr lang="en-US" sz="28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Phát biểu rõ</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bg1"/>
                </a:solidFill>
              </a:rPr>
              <a:t>Ai cần?</a:t>
            </a:r>
            <a:endParaRPr lang="en-US" sz="2400" dirty="0"/>
          </a:p>
          <a:p>
            <a:pPr marL="342900" indent="-342900">
              <a:spcAft>
                <a:spcPts val="1000"/>
              </a:spcAft>
              <a:buSzPct val="100000"/>
              <a:buChar char="•"/>
            </a:pPr>
            <a:r>
              <a:rPr lang="en-US" sz="2400" dirty="0">
                <a:solidFill>
                  <a:schemeClr val="bg1"/>
                </a:solidFill>
              </a:rPr>
              <a:t>Cần kết quả gì?</a:t>
            </a:r>
            <a:endParaRPr lang="en-US" sz="2400" dirty="0"/>
          </a:p>
          <a:p>
            <a:pPr marL="342900" indent="-342900">
              <a:spcAft>
                <a:spcPts val="1000"/>
              </a:spcAft>
              <a:buSzPct val="100000"/>
              <a:buChar char="•"/>
            </a:pPr>
            <a:r>
              <a:rPr lang="en-US" sz="2400" dirty="0">
                <a:solidFill>
                  <a:schemeClr val="bg1"/>
                </a:solidFill>
              </a:rPr>
              <a:t>Hiện đang làm thế nào?</a:t>
            </a:r>
            <a:endParaRPr lang="en-US" sz="24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Phát biểu rõ không nhắc gì đến AI. Công nghệ đến sau</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Năm kiểu ý tưởng</a:t>
            </a:r>
            <a:endParaRPr lang="en-US" sz="3800" dirty="0"/>
          </a:p>
        </p:txBody>
      </p:sp>
      <p:sp>
        <p:nvSpPr>
          <p:cNvPr id="4" name="Shape 1"/>
          <p:cNvSpPr/>
          <p:nvPr/>
        </p:nvSpPr>
        <p:spPr>
          <a:xfrm>
            <a:off x="548640" y="1554480"/>
            <a:ext cx="11064240" cy="694944"/>
          </a:xfrm>
          <a:prstGeom prst="roundRect">
            <a:avLst>
              <a:gd name="adj" fmla="val 15789"/>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1604772"/>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1604772"/>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a</a:t>
            </a:r>
            <a:endParaRPr lang="en-US" sz="2000" dirty="0"/>
          </a:p>
        </p:txBody>
      </p:sp>
      <p:sp>
        <p:nvSpPr>
          <p:cNvPr id="7" name="Text 4"/>
          <p:cNvSpPr txBox="1"/>
          <p:nvPr/>
        </p:nvSpPr>
        <p:spPr>
          <a:xfrm>
            <a:off x="1508760" y="1627632"/>
            <a:ext cx="9966960" cy="548640"/>
          </a:xfrm>
          <a:prstGeom prst="rect">
            <a:avLst/>
          </a:prstGeom>
          <a:noFill/>
          <a:ln/>
        </p:spPr>
        <p:txBody>
          <a:bodyPr wrap="square" lIns="0" tIns="0" rIns="0" bIns="0" rtlCol="0" anchor="ctr"/>
          <a:lstStyle/>
          <a:p>
            <a:pPr marL="0" indent="0">
              <a:buNone/>
            </a:pPr>
            <a:r>
              <a:rPr lang="en-US" sz="2400" b="1" dirty="0">
                <a:solidFill>
                  <a:schemeClr val="tx1"/>
                </a:solidFill>
              </a:rPr>
              <a:t>Mô hình phân loại tự huấn luyện</a:t>
            </a:r>
            <a:endParaRPr lang="en-US" sz="2400" dirty="0"/>
          </a:p>
        </p:txBody>
      </p:sp>
      <p:sp>
        <p:nvSpPr>
          <p:cNvPr id="8" name="Shape 5"/>
          <p:cNvSpPr/>
          <p:nvPr/>
        </p:nvSpPr>
        <p:spPr>
          <a:xfrm>
            <a:off x="548640" y="2478024"/>
            <a:ext cx="11064240" cy="694944"/>
          </a:xfrm>
          <a:prstGeom prst="roundRect">
            <a:avLst>
              <a:gd name="adj" fmla="val 15789"/>
            </a:avLst>
          </a:prstGeom>
          <a:solidFill>
            <a:schemeClr val="bg2"/>
          </a:solidFill>
          <a:ln w="12700">
            <a:solidFill>
              <a:schemeClr val="bg2"/>
            </a:solidFill>
            <a:prstDash val="solid"/>
          </a:ln>
        </p:spPr>
        <p:txBody>
          <a:bodyPr/>
          <a:lstStyle/>
          <a:p>
            <a:endParaRPr lang="en-US"/>
          </a:p>
        </p:txBody>
      </p:sp>
      <p:sp>
        <p:nvSpPr>
          <p:cNvPr id="9" name="Shape 6"/>
          <p:cNvSpPr/>
          <p:nvPr/>
        </p:nvSpPr>
        <p:spPr>
          <a:xfrm>
            <a:off x="731520" y="2528316"/>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731520" y="2528316"/>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b</a:t>
            </a:r>
            <a:endParaRPr lang="en-US" sz="2000" dirty="0"/>
          </a:p>
        </p:txBody>
      </p:sp>
      <p:sp>
        <p:nvSpPr>
          <p:cNvPr id="11" name="Text 8"/>
          <p:cNvSpPr txBox="1"/>
          <p:nvPr/>
        </p:nvSpPr>
        <p:spPr>
          <a:xfrm>
            <a:off x="1508760" y="2551176"/>
            <a:ext cx="9966960" cy="548640"/>
          </a:xfrm>
          <a:prstGeom prst="rect">
            <a:avLst/>
          </a:prstGeom>
          <a:noFill/>
          <a:ln/>
        </p:spPr>
        <p:txBody>
          <a:bodyPr wrap="square" lIns="0" tIns="0" rIns="0" bIns="0" rtlCol="0" anchor="ctr"/>
          <a:lstStyle/>
          <a:p>
            <a:pPr marL="0" indent="0">
              <a:buNone/>
            </a:pPr>
            <a:r>
              <a:rPr lang="en-US" sz="2400" b="1" dirty="0">
                <a:solidFill>
                  <a:schemeClr val="tx1"/>
                </a:solidFill>
              </a:rPr>
              <a:t>Trợ lí dùng mô hình ngôn ngữ có sẵn, kèm hướng dẫn</a:t>
            </a:r>
            <a:endParaRPr lang="en-US" sz="2400" dirty="0"/>
          </a:p>
        </p:txBody>
      </p:sp>
      <p:sp>
        <p:nvSpPr>
          <p:cNvPr id="12" name="Shape 9"/>
          <p:cNvSpPr/>
          <p:nvPr/>
        </p:nvSpPr>
        <p:spPr>
          <a:xfrm>
            <a:off x="548640" y="3401568"/>
            <a:ext cx="11064240" cy="694944"/>
          </a:xfrm>
          <a:prstGeom prst="roundRect">
            <a:avLst>
              <a:gd name="adj" fmla="val 15789"/>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45186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45186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c</a:t>
            </a:r>
            <a:endParaRPr lang="en-US" sz="2000" dirty="0"/>
          </a:p>
        </p:txBody>
      </p:sp>
      <p:sp>
        <p:nvSpPr>
          <p:cNvPr id="15" name="Text 12"/>
          <p:cNvSpPr txBox="1"/>
          <p:nvPr/>
        </p:nvSpPr>
        <p:spPr>
          <a:xfrm>
            <a:off x="1508760" y="3474720"/>
            <a:ext cx="9966960" cy="548640"/>
          </a:xfrm>
          <a:prstGeom prst="rect">
            <a:avLst/>
          </a:prstGeom>
          <a:noFill/>
          <a:ln/>
        </p:spPr>
        <p:txBody>
          <a:bodyPr wrap="square" lIns="0" tIns="0" rIns="0" bIns="0" rtlCol="0" anchor="ctr"/>
          <a:lstStyle/>
          <a:p>
            <a:pPr marL="0" indent="0">
              <a:buNone/>
            </a:pPr>
            <a:r>
              <a:rPr lang="en-US" sz="2400" b="1" dirty="0">
                <a:solidFill>
                  <a:schemeClr val="tx1"/>
                </a:solidFill>
              </a:rPr>
              <a:t>Trợ lí có tra cứu tài liệu, trả lời kèm nguồn</a:t>
            </a:r>
            <a:endParaRPr lang="en-US" sz="2400" dirty="0"/>
          </a:p>
        </p:txBody>
      </p:sp>
      <p:sp>
        <p:nvSpPr>
          <p:cNvPr id="16" name="Shape 13"/>
          <p:cNvSpPr/>
          <p:nvPr/>
        </p:nvSpPr>
        <p:spPr>
          <a:xfrm>
            <a:off x="548640" y="4325112"/>
            <a:ext cx="11064240" cy="694944"/>
          </a:xfrm>
          <a:prstGeom prst="roundRect">
            <a:avLst>
              <a:gd name="adj" fmla="val 15789"/>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731520" y="4375404"/>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731520" y="4375404"/>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d</a:t>
            </a:r>
            <a:endParaRPr lang="en-US" sz="2000" dirty="0"/>
          </a:p>
        </p:txBody>
      </p:sp>
      <p:sp>
        <p:nvSpPr>
          <p:cNvPr id="19" name="Text 16"/>
          <p:cNvSpPr txBox="1"/>
          <p:nvPr/>
        </p:nvSpPr>
        <p:spPr>
          <a:xfrm>
            <a:off x="1508760" y="4398264"/>
            <a:ext cx="9966960" cy="548640"/>
          </a:xfrm>
          <a:prstGeom prst="rect">
            <a:avLst/>
          </a:prstGeom>
          <a:noFill/>
          <a:ln/>
        </p:spPr>
        <p:txBody>
          <a:bodyPr wrap="square" lIns="0" tIns="0" rIns="0" bIns="0" rtlCol="0" anchor="ctr"/>
          <a:lstStyle/>
          <a:p>
            <a:pPr marL="0" indent="0">
              <a:buNone/>
            </a:pPr>
            <a:r>
              <a:rPr lang="en-US" sz="2400" b="1" dirty="0">
                <a:solidFill>
                  <a:schemeClr val="tx1"/>
                </a:solidFill>
              </a:rPr>
              <a:t>Mô hình dự đoán từ số liệu</a:t>
            </a:r>
            <a:endParaRPr lang="en-US" sz="2400" dirty="0"/>
          </a:p>
        </p:txBody>
      </p:sp>
      <p:sp>
        <p:nvSpPr>
          <p:cNvPr id="20" name="Shape 17"/>
          <p:cNvSpPr/>
          <p:nvPr/>
        </p:nvSpPr>
        <p:spPr>
          <a:xfrm>
            <a:off x="548640" y="5248656"/>
            <a:ext cx="11064240" cy="694944"/>
          </a:xfrm>
          <a:prstGeom prst="roundRect">
            <a:avLst>
              <a:gd name="adj" fmla="val 15789"/>
            </a:avLst>
          </a:prstGeom>
          <a:solidFill>
            <a:schemeClr val="bg2"/>
          </a:solidFill>
          <a:ln w="12700">
            <a:solidFill>
              <a:schemeClr val="bg2"/>
            </a:solidFill>
            <a:prstDash val="solid"/>
          </a:ln>
        </p:spPr>
        <p:txBody>
          <a:bodyPr/>
          <a:lstStyle/>
          <a:p>
            <a:endParaRPr lang="en-US"/>
          </a:p>
        </p:txBody>
      </p:sp>
      <p:sp>
        <p:nvSpPr>
          <p:cNvPr id="21" name="Shape 18"/>
          <p:cNvSpPr/>
          <p:nvPr/>
        </p:nvSpPr>
        <p:spPr>
          <a:xfrm>
            <a:off x="731520" y="5298948"/>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2" name="Text 19"/>
          <p:cNvSpPr txBox="1"/>
          <p:nvPr/>
        </p:nvSpPr>
        <p:spPr>
          <a:xfrm>
            <a:off x="731520" y="5298948"/>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e</a:t>
            </a:r>
            <a:endParaRPr lang="en-US" sz="2000" dirty="0"/>
          </a:p>
        </p:txBody>
      </p:sp>
      <p:sp>
        <p:nvSpPr>
          <p:cNvPr id="23" name="Text 20"/>
          <p:cNvSpPr txBox="1"/>
          <p:nvPr/>
        </p:nvSpPr>
        <p:spPr>
          <a:xfrm>
            <a:off x="1508760" y="5321808"/>
            <a:ext cx="9966960" cy="548640"/>
          </a:xfrm>
          <a:prstGeom prst="rect">
            <a:avLst/>
          </a:prstGeom>
          <a:noFill/>
          <a:ln/>
        </p:spPr>
        <p:txBody>
          <a:bodyPr wrap="square" lIns="0" tIns="0" rIns="0" bIns="0" rtlCol="0" anchor="ctr"/>
          <a:lstStyle/>
          <a:p>
            <a:pPr marL="0" indent="0">
              <a:buNone/>
            </a:pPr>
            <a:r>
              <a:rPr lang="en-US" sz="2400" b="1" dirty="0">
                <a:solidFill>
                  <a:schemeClr val="tx1"/>
                </a:solidFill>
              </a:rPr>
              <a:t>Không cần AI: công thức, bảng tính, biểu mẫu</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Hai cặp dễ lẫn</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2400" b="1" dirty="0">
                <a:solidFill>
                  <a:schemeClr val="tx2"/>
                </a:solidFill>
              </a:rPr>
              <a:t>B và C: lấy nội dung từ đâu?</a:t>
            </a:r>
            <a:endParaRPr lang="en-US" sz="24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B: từ hiểu biết chung của mô hình</a:t>
            </a:r>
            <a:endParaRPr lang="en-US" sz="2800" dirty="0"/>
          </a:p>
          <a:p>
            <a:pPr marL="342900" indent="-342900">
              <a:spcAft>
                <a:spcPts val="1000"/>
              </a:spcAft>
              <a:buSzPct val="100000"/>
              <a:buChar char="•"/>
            </a:pPr>
            <a:r>
              <a:rPr lang="en-US" sz="2800" dirty="0">
                <a:solidFill>
                  <a:schemeClr val="tx1"/>
                </a:solidFill>
              </a:rPr>
              <a:t>C: từ tài liệu em đưa cho nó</a:t>
            </a:r>
            <a:endParaRPr lang="en-US" sz="28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A và D: đầu ra là gì?</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bg1"/>
                </a:solidFill>
              </a:rPr>
              <a:t>A: một nhãn</a:t>
            </a:r>
            <a:endParaRPr lang="en-US" sz="2800" dirty="0"/>
          </a:p>
          <a:p>
            <a:pPr marL="342900" indent="-342900">
              <a:spcAft>
                <a:spcPts val="1000"/>
              </a:spcAft>
              <a:buSzPct val="100000"/>
              <a:buChar char="•"/>
            </a:pPr>
            <a:r>
              <a:rPr lang="en-US" sz="2800" dirty="0">
                <a:solidFill>
                  <a:schemeClr val="bg1"/>
                </a:solidFill>
              </a:rPr>
              <a:t>D: một con số</a:t>
            </a:r>
            <a:endParaRPr lang="en-US" sz="28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Kiểu E không phải là “thua cuộc”</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Chuyện có thật: giải pháp cuối cùng dựa vào con người</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Nước Anh, năm 2020. Kì thi bị hủy; một thuật toán được dùng để xác định điểm.</a:t>
            </a:r>
            <a:endParaRPr lang="en-US" sz="2800" dirty="0"/>
          </a:p>
          <a:p>
            <a:pPr marL="0" indent="0">
              <a:buNone/>
            </a:pPr>
            <a:endParaRPr lang="en-US" sz="2800" dirty="0"/>
          </a:p>
          <a:p>
            <a:pPr marL="0" indent="0">
              <a:buNone/>
            </a:pPr>
            <a:r>
              <a:rPr lang="en-US" sz="2800" dirty="0">
                <a:solidFill>
                  <a:schemeClr val="tx1"/>
                </a:solidFill>
              </a:rPr>
              <a:t>39,1% số điểm bị hạ ít nhất một bậc.</a:t>
            </a:r>
            <a:endParaRPr lang="en-US" sz="2800" dirty="0"/>
          </a:p>
          <a:p>
            <a:pPr marL="0" indent="0">
              <a:buNone/>
            </a:pPr>
            <a:endParaRPr lang="en-US" sz="2800" dirty="0"/>
          </a:p>
          <a:p>
            <a:pPr marL="0" indent="0">
              <a:buNone/>
            </a:pPr>
            <a:r>
              <a:rPr lang="en-US" sz="2800" dirty="0">
                <a:solidFill>
                  <a:schemeClr val="tx1"/>
                </a:solidFill>
              </a:rPr>
              <a:t>Bốn ngày sau, chính phủ quay về dùng đánh giá của giáo viên.</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Không phải nhu cầu nào cũng được giải quyết tốt nhất bằng một mô hình</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Bốn câu hỏi để chọn kiểu</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Kết quả</a:t>
            </a:r>
            <a:r>
              <a:rPr lang="en-US" sz="3200" dirty="0">
                <a:solidFill>
                  <a:schemeClr val="tx1"/>
                </a:solidFill>
              </a:rPr>
              <a:t> cần có là gì?</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Dữ liệu, tài liệu</a:t>
            </a:r>
            <a:r>
              <a:rPr lang="en-US" sz="3200" dirty="0">
                <a:solidFill>
                  <a:schemeClr val="tx1"/>
                </a:solidFill>
              </a:rPr>
              <a:t> nào dùng được?</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Cần </a:t>
            </a:r>
            <a:r>
              <a:rPr lang="en-US" sz="3200" b="1" dirty="0">
                <a:solidFill>
                  <a:schemeClr val="tx2"/>
                </a:solidFill>
              </a:rPr>
              <a:t>chính xác</a:t>
            </a:r>
            <a:r>
              <a:rPr lang="en-US" sz="3200" dirty="0">
                <a:solidFill>
                  <a:schemeClr val="tx1"/>
                </a:solidFill>
              </a:rPr>
              <a:t> đến đâu? Sai thì sao?</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Có </a:t>
            </a:r>
            <a:r>
              <a:rPr lang="en-US" sz="3200" b="1" dirty="0">
                <a:solidFill>
                  <a:schemeClr val="tx2"/>
                </a:solidFill>
              </a:rPr>
              <a:t>cách đơn giản hơn</a:t>
            </a:r>
            <a:r>
              <a:rPr lang="en-US" sz="3200" dirty="0">
                <a:solidFill>
                  <a:schemeClr val="tx1"/>
                </a:solidFill>
              </a:rPr>
              <a:t> không?</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Sơ đồ chọn kiểu ý tưởng</a:t>
            </a:r>
            <a:endParaRPr lang="en-US" sz="3800" dirty="0"/>
          </a:p>
        </p:txBody>
      </p:sp>
      <p:pic>
        <p:nvPicPr>
          <p:cNvPr id="4" name="Image 0" descr="Sơ đồ chọn kiểu ý tưởng"/>
          <p:cNvPicPr>
            <a:picLocks noChangeAspect="1"/>
          </p:cNvPicPr>
          <p:nvPr/>
        </p:nvPicPr>
        <p:blipFill>
          <a:blip r:embed="rId3"/>
          <a:stretch>
            <a:fillRect/>
          </a:stretch>
        </p:blipFill>
        <p:spPr>
          <a:xfrm>
            <a:off x="2832071" y="1463040"/>
            <a:ext cx="6497377"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Chọn ý tưởng cho ba công việc</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21 phút · Làm việc nhóm</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nhóm: chọn kiểu, nêu căn cứ</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13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Với ba công việc trên phiếu: chọn kiểu A, B, C, D hoặc E</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Trả lời bốn câu hỏi cho từng công việc</a:t>
            </a:r>
            <a:endParaRPr lang="en-US" sz="2800" dirty="0"/>
          </a:p>
          <a:p>
            <a:pPr marL="342900" indent="-342900">
              <a:spcAft>
                <a:spcPts val="1200"/>
              </a:spcAft>
              <a:buSzPct val="100000"/>
              <a:buFont typeface="+mj-lt"/>
              <a:buAutoNum type="arabicPeriod"/>
            </a:pPr>
            <a:r>
              <a:rPr lang="en-US" sz="2800" dirty="0">
                <a:solidFill>
                  <a:schemeClr val="tx1"/>
                </a:solidFill>
              </a:rPr>
              <a:t>Chọn kiểu và nêu kiểu đã loại, vì sao</a:t>
            </a:r>
            <a:endParaRPr lang="en-US" sz="2800" dirty="0"/>
          </a:p>
          <a:p>
            <a:pPr marL="342900" indent="-342900">
              <a:spcAft>
                <a:spcPts val="1200"/>
              </a:spcAft>
              <a:buSzPct val="100000"/>
              <a:buFont typeface="+mj-lt"/>
              <a:buAutoNum type="arabicPeriod"/>
            </a:pPr>
            <a:r>
              <a:rPr lang="en-US" sz="2800" dirty="0">
                <a:solidFill>
                  <a:schemeClr val="tx1"/>
                </a:solidFill>
              </a:rPr>
              <a:t>Ghi phần việc con người giữ</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Yêu cầu</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Dùng ít nhất hai trong bốn câu hỏi làm căn cứ. Không chọn theo cảm tính.</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Phiếu ý tưởng gồm năm mục</a:t>
            </a:r>
            <a:endParaRPr lang="en-US" sz="3800" dirty="0"/>
          </a:p>
        </p:txBody>
      </p:sp>
      <p:sp>
        <p:nvSpPr>
          <p:cNvPr id="4" name="Shape 1"/>
          <p:cNvSpPr/>
          <p:nvPr/>
        </p:nvSpPr>
        <p:spPr>
          <a:xfrm>
            <a:off x="548640" y="1554480"/>
            <a:ext cx="11064240" cy="694944"/>
          </a:xfrm>
          <a:prstGeom prst="roundRect">
            <a:avLst>
              <a:gd name="adj" fmla="val 15789"/>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1604772"/>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1604772"/>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9966960" cy="548640"/>
          </a:xfrm>
          <a:prstGeom prst="rect">
            <a:avLst/>
          </a:prstGeom>
          <a:noFill/>
          <a:ln/>
        </p:spPr>
        <p:txBody>
          <a:bodyPr wrap="square" lIns="0" tIns="0" rIns="0" bIns="0" rtlCol="0" anchor="ctr"/>
          <a:lstStyle/>
          <a:p>
            <a:pPr marL="0" indent="0">
              <a:buNone/>
            </a:pPr>
            <a:r>
              <a:rPr lang="en-US" sz="2600" b="1" dirty="0">
                <a:solidFill>
                  <a:schemeClr val="tx1"/>
                </a:solidFill>
              </a:rPr>
              <a:t>Nhu cầu: ai cần, kết quả gì, hiện làm thế nào</a:t>
            </a:r>
            <a:endParaRPr lang="en-US" sz="2600" dirty="0"/>
          </a:p>
        </p:txBody>
      </p:sp>
      <p:sp>
        <p:nvSpPr>
          <p:cNvPr id="8" name="Shape 5"/>
          <p:cNvSpPr/>
          <p:nvPr/>
        </p:nvSpPr>
        <p:spPr>
          <a:xfrm>
            <a:off x="548640" y="2478024"/>
            <a:ext cx="11064240" cy="694944"/>
          </a:xfrm>
          <a:prstGeom prst="roundRect">
            <a:avLst>
              <a:gd name="adj" fmla="val 15789"/>
            </a:avLst>
          </a:prstGeom>
          <a:solidFill>
            <a:schemeClr val="bg2"/>
          </a:solidFill>
          <a:ln w="12700">
            <a:solidFill>
              <a:schemeClr val="bg2"/>
            </a:solidFill>
            <a:prstDash val="solid"/>
          </a:ln>
        </p:spPr>
        <p:txBody>
          <a:bodyPr/>
          <a:lstStyle/>
          <a:p>
            <a:endParaRPr lang="en-US"/>
          </a:p>
        </p:txBody>
      </p:sp>
      <p:sp>
        <p:nvSpPr>
          <p:cNvPr id="9" name="Shape 6"/>
          <p:cNvSpPr/>
          <p:nvPr/>
        </p:nvSpPr>
        <p:spPr>
          <a:xfrm>
            <a:off x="731520" y="2528316"/>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731520" y="2528316"/>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1508760" y="2551176"/>
            <a:ext cx="9966960" cy="548640"/>
          </a:xfrm>
          <a:prstGeom prst="rect">
            <a:avLst/>
          </a:prstGeom>
          <a:noFill/>
          <a:ln/>
        </p:spPr>
        <p:txBody>
          <a:bodyPr wrap="square" lIns="0" tIns="0" rIns="0" bIns="0" rtlCol="0" anchor="ctr"/>
          <a:lstStyle/>
          <a:p>
            <a:pPr marL="0" indent="0">
              <a:buNone/>
            </a:pPr>
            <a:r>
              <a:rPr lang="en-US" sz="2600" b="1" dirty="0">
                <a:solidFill>
                  <a:schemeClr val="tx1"/>
                </a:solidFill>
              </a:rPr>
              <a:t>Bốn câu hỏi: trả lời ngắn gọn</a:t>
            </a:r>
            <a:endParaRPr lang="en-US" sz="2600" dirty="0"/>
          </a:p>
        </p:txBody>
      </p:sp>
      <p:sp>
        <p:nvSpPr>
          <p:cNvPr id="12" name="Shape 9"/>
          <p:cNvSpPr/>
          <p:nvPr/>
        </p:nvSpPr>
        <p:spPr>
          <a:xfrm>
            <a:off x="548640" y="3401568"/>
            <a:ext cx="11064240" cy="694944"/>
          </a:xfrm>
          <a:prstGeom prst="roundRect">
            <a:avLst>
              <a:gd name="adj" fmla="val 15789"/>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45186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45186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474720"/>
            <a:ext cx="9966960" cy="548640"/>
          </a:xfrm>
          <a:prstGeom prst="rect">
            <a:avLst/>
          </a:prstGeom>
          <a:noFill/>
          <a:ln/>
        </p:spPr>
        <p:txBody>
          <a:bodyPr wrap="square" lIns="0" tIns="0" rIns="0" bIns="0" rtlCol="0" anchor="ctr"/>
          <a:lstStyle/>
          <a:p>
            <a:pPr marL="0" indent="0">
              <a:buNone/>
            </a:pPr>
            <a:r>
              <a:rPr lang="en-US" sz="2600" b="1" dirty="0">
                <a:solidFill>
                  <a:schemeClr val="tx1"/>
                </a:solidFill>
              </a:rPr>
              <a:t>Kiểu ý tưởng chọn: nhận gì, làm gì, trả ra gì</a:t>
            </a:r>
            <a:endParaRPr lang="en-US" sz="2600" dirty="0"/>
          </a:p>
        </p:txBody>
      </p:sp>
      <p:sp>
        <p:nvSpPr>
          <p:cNvPr id="16" name="Shape 13"/>
          <p:cNvSpPr/>
          <p:nvPr/>
        </p:nvSpPr>
        <p:spPr>
          <a:xfrm>
            <a:off x="548640" y="4325112"/>
            <a:ext cx="11064240" cy="694944"/>
          </a:xfrm>
          <a:prstGeom prst="roundRect">
            <a:avLst>
              <a:gd name="adj" fmla="val 15789"/>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731520" y="4375404"/>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731520" y="4375404"/>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1508760" y="4398264"/>
            <a:ext cx="9966960" cy="548640"/>
          </a:xfrm>
          <a:prstGeom prst="rect">
            <a:avLst/>
          </a:prstGeom>
          <a:noFill/>
          <a:ln/>
        </p:spPr>
        <p:txBody>
          <a:bodyPr wrap="square" lIns="0" tIns="0" rIns="0" bIns="0" rtlCol="0" anchor="ctr"/>
          <a:lstStyle/>
          <a:p>
            <a:pPr marL="0" indent="0">
              <a:buNone/>
            </a:pPr>
            <a:r>
              <a:rPr lang="en-US" sz="2600" b="1" dirty="0">
                <a:solidFill>
                  <a:schemeClr val="tx1"/>
                </a:solidFill>
              </a:rPr>
              <a:t>Kiểu đã loại và lí do</a:t>
            </a:r>
            <a:endParaRPr lang="en-US" sz="2600" dirty="0"/>
          </a:p>
        </p:txBody>
      </p:sp>
      <p:sp>
        <p:nvSpPr>
          <p:cNvPr id="20" name="Shape 17"/>
          <p:cNvSpPr/>
          <p:nvPr/>
        </p:nvSpPr>
        <p:spPr>
          <a:xfrm>
            <a:off x="548640" y="5248656"/>
            <a:ext cx="11064240" cy="694944"/>
          </a:xfrm>
          <a:prstGeom prst="roundRect">
            <a:avLst>
              <a:gd name="adj" fmla="val 15789"/>
            </a:avLst>
          </a:prstGeom>
          <a:solidFill>
            <a:schemeClr val="bg2"/>
          </a:solidFill>
          <a:ln w="12700">
            <a:solidFill>
              <a:schemeClr val="bg2"/>
            </a:solidFill>
            <a:prstDash val="solid"/>
          </a:ln>
        </p:spPr>
        <p:txBody>
          <a:bodyPr/>
          <a:lstStyle/>
          <a:p>
            <a:endParaRPr lang="en-US"/>
          </a:p>
        </p:txBody>
      </p:sp>
      <p:sp>
        <p:nvSpPr>
          <p:cNvPr id="21" name="Shape 18"/>
          <p:cNvSpPr/>
          <p:nvPr/>
        </p:nvSpPr>
        <p:spPr>
          <a:xfrm>
            <a:off x="731520" y="5298948"/>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2" name="Text 19"/>
          <p:cNvSpPr txBox="1"/>
          <p:nvPr/>
        </p:nvSpPr>
        <p:spPr>
          <a:xfrm>
            <a:off x="731520" y="5298948"/>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5</a:t>
            </a:r>
            <a:endParaRPr lang="en-US" sz="2000" dirty="0"/>
          </a:p>
        </p:txBody>
      </p:sp>
      <p:sp>
        <p:nvSpPr>
          <p:cNvPr id="23" name="Text 20"/>
          <p:cNvSpPr txBox="1"/>
          <p:nvPr/>
        </p:nvSpPr>
        <p:spPr>
          <a:xfrm>
            <a:off x="1508760" y="5321808"/>
            <a:ext cx="9966960" cy="548640"/>
          </a:xfrm>
          <a:prstGeom prst="rect">
            <a:avLst/>
          </a:prstGeom>
          <a:noFill/>
          <a:ln/>
        </p:spPr>
        <p:txBody>
          <a:bodyPr wrap="square" lIns="0" tIns="0" rIns="0" bIns="0" rtlCol="0" anchor="ctr"/>
          <a:lstStyle/>
          <a:p>
            <a:pPr marL="0" indent="0">
              <a:buNone/>
            </a:pPr>
            <a:r>
              <a:rPr lang="en-US" sz="2600" b="1" dirty="0">
                <a:solidFill>
                  <a:schemeClr val="tx1"/>
                </a:solidFill>
              </a:rPr>
              <a:t>Phần việc con người giữ</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Dự án của nhóm bắt đầu từ đây</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Phiếu ý tưởng sẽ theo nhóm qua các bài tiếp theo:</a:t>
            </a:r>
            <a:endParaRPr lang="en-US" sz="2800" dirty="0"/>
          </a:p>
          <a:p>
            <a:pPr marL="0" indent="0">
              <a:buNone/>
            </a:pPr>
            <a:endParaRPr lang="en-US" sz="2800" dirty="0"/>
          </a:p>
          <a:p>
            <a:pPr marL="0" indent="0">
              <a:buNone/>
            </a:pPr>
            <a:r>
              <a:rPr lang="en-US" sz="2800" dirty="0">
                <a:solidFill>
                  <a:schemeClr val="tx1"/>
                </a:solidFill>
              </a:rPr>
              <a:t>chọn công cụ (12.8), đánh giá (12.9), so sánh phương án (12.10), phân vai (12.11), báo cáo (12.12).</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Nhóm em chọn nhu cầu có thật nào trong trường?</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Bắt đầu từ </a:t>
            </a:r>
            <a:r>
              <a:rPr lang="en-US" sz="3200" b="1" dirty="0">
                <a:solidFill>
                  <a:schemeClr val="tx2"/>
                </a:solidFill>
              </a:rPr>
              <a:t>nhu cầu</a:t>
            </a:r>
            <a:r>
              <a:rPr lang="en-US" sz="3200" dirty="0">
                <a:solidFill>
                  <a:schemeClr val="tx1"/>
                </a:solidFill>
              </a:rPr>
              <a:t>, không từ công nghệ</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Năm kiểu:</a:t>
            </a:r>
            <a:r>
              <a:rPr lang="en-US" sz="3200" dirty="0">
                <a:solidFill>
                  <a:schemeClr val="tx1"/>
                </a:solidFill>
              </a:rPr>
              <a:t> A, B, C, D và E (không cần AI)</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Bốn câu hỏi:</a:t>
            </a:r>
            <a:r>
              <a:rPr lang="en-US" sz="3200" dirty="0">
                <a:solidFill>
                  <a:schemeClr val="tx1"/>
                </a:solidFill>
              </a:rPr>
              <a:t> kết quả; dữ liệu; chính xác; cách đơn giản hơn</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Kiểu nào cũng nêu </a:t>
            </a:r>
            <a:r>
              <a:rPr lang="en-US" sz="3200" b="1" dirty="0">
                <a:solidFill>
                  <a:schemeClr val="tx2"/>
                </a:solidFill>
              </a:rPr>
              <a:t>phần việc con người giữ</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Chọn kiểu ý tưởng (A, B, C, D hoặc E) cho mỗi công việc trên phiếu và nêu một lí do.</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400" dirty="0">
                <a:solidFill>
                  <a:schemeClr val="tx1"/>
                </a:solidFill>
              </a:rPr>
              <a:t>Vì sao với câu hỏi về quy chế thi, một trợ lí có tra cứu tài liệu phù hợp hơn một trợ lí chỉ dựa vào hiểu biết chung của mô hình?</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39" name="Picture 38">
            <a:extLst>
              <a:ext uri="{FF2B5EF4-FFF2-40B4-BE49-F238E27FC236}">
                <a16:creationId xmlns:a16="http://schemas.microsoft.com/office/drawing/2014/main" id="{AB702F8E-1303-8489-B184-517A579519C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1048752354"/>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1508</Words>
  <Application>Microsoft Office PowerPoint</Application>
  <PresentationFormat>Widescreen</PresentationFormat>
  <Paragraphs>171</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Từ nhu cầu đến ý tưởng công cụ AI</vt:lpstr>
      <vt:lpstr>Hôm nay chúng ta làm gì?</vt:lpstr>
      <vt:lpstr>Có phải việc gì cũng cần AI?</vt:lpstr>
      <vt:lpstr>Nhắc lại: ba loại hệ thống AI</vt:lpstr>
      <vt:lpstr>Bắt đầu từ nhu cầu</vt:lpstr>
      <vt:lpstr>Năm kiểu ý tưởng</vt:lpstr>
      <vt:lpstr>Hai cặp dễ lẫn</vt:lpstr>
      <vt:lpstr>Chuyện có thật: giải pháp cuối cùng dựa vào con người</vt:lpstr>
      <vt:lpstr>Bốn câu hỏi để chọn kiểu</vt:lpstr>
      <vt:lpstr>Sơ đồ chọn kiểu ý tưởng</vt:lpstr>
      <vt:lpstr>Chọn ý tưởng cho ba công việc</vt:lpstr>
      <vt:lpstr>Nhiệm vụ nhóm: chọn kiểu, nêu căn cứ</vt:lpstr>
      <vt:lpstr>Phiếu ý tưởng gồm năm mục</vt:lpstr>
      <vt:lpstr>Dự án của nhóm bắt đầu từ đây</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12.7. Từ nhu cầu đến ý tưởng công cụ AI</dc:title>
  <dc:subject>Trí tuệ nhân tạo</dc:subject>
  <cp:lastModifiedBy>Phạm Văn Tú</cp:lastModifiedBy>
  <cp:revision>1</cp:revision>
  <dcterms:created xsi:type="dcterms:W3CDTF">2026-10-08T10:45:42Z</dcterms:created>
  <dcterms:modified xsi:type="dcterms:W3CDTF">2026-10-10T03:44:36Z</dcterms:modified>
  <dc:description>Email: phamtund@gmail.com</dc:description>
  <dc:creator>Phạm Văn Tú</dc:creator>
  <cp:category>Trí tuệ nhân tạo</cp:category>
  <cp:keywords>Trí tuệ nhân tạo</cp:keywords>
</cp:coreProperties>
</file>