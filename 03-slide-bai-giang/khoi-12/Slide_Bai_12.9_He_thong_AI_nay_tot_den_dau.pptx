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F8A19DAF-E8F6-8C66-0AEA-2A461A167FE6}">
          <p14:sldIdLst>
            <p14:sldId id="256"/>
            <p14:sldId id="257"/>
            <p14:sldId id="258"/>
            <p14:sldId id="259"/>
            <p14:sldId id="260"/>
            <p14:sldId id="261"/>
            <p14:sldId id="262"/>
            <p14:sldId id="263"/>
            <p14:sldId id="264"/>
            <p14:sldId id="265"/>
            <p14:sldId id="266"/>
          </p14:sldIdLst>
        </p14:section>
        <p14:section name="Đánh giá từ số liệu thử nghiệm" id="{EBC0276E-37D2-AFEC-2B97-EF9E7975271A}">
          <p14:sldIdLst>
            <p14:sldId id="267"/>
            <p14:sldId id="268"/>
            <p14:sldId id="269"/>
          </p14:sldIdLst>
        </p14:section>
        <p14:section name="Tổng kết" id="{B70A2FDE-629C-AE4E-F3F2-29CD663909A3}">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12DE6-DA99-41B8-8DC2-4F9B43AA4F25}" v="1" dt="2026-10-10T03:45:43.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5:43.421" v="3"/>
      <pc:docMkLst>
        <pc:docMk/>
      </pc:docMkLst>
      <pc:sldChg chg="modSp mod">
        <pc:chgData name="Phạm Văn Tú" userId="67199c852bdd6d1b" providerId="LiveId" clId="{CB377567-0116-4044-BB7C-6E46B7A5C596}" dt="2026-10-10T03:45:31.610" v="2" actId="20577"/>
        <pc:sldMkLst>
          <pc:docMk/>
          <pc:sldMk cId="0" sldId="256"/>
        </pc:sldMkLst>
        <pc:spChg chg="mod">
          <ac:chgData name="Phạm Văn Tú" userId="67199c852bdd6d1b" providerId="LiveId" clId="{CB377567-0116-4044-BB7C-6E46B7A5C596}" dt="2026-10-10T03:45:31.610" v="2" actId="20577"/>
          <ac:spMkLst>
            <pc:docMk/>
            <pc:sldMk cId="0" sldId="256"/>
            <ac:spMk id="3" creationId="{00000000-0000-0000-0000-000000000000}"/>
          </ac:spMkLst>
        </pc:spChg>
      </pc:sldChg>
      <pc:sldChg chg="add">
        <pc:chgData name="Phạm Văn Tú" userId="67199c852bdd6d1b" providerId="LiveId" clId="{CB377567-0116-4044-BB7C-6E46B7A5C596}" dt="2026-10-10T03:45:43.421" v="3"/>
        <pc:sldMkLst>
          <pc:docMk/>
          <pc:sldMk cId="636045946"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916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ba hồ sơ số liệu thử nghiệm (phân loại, dự đoán, tạo sinh), Bảng đánh giá hiệu quả, máy tính cầm tay,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Mỗi học sinh viết ít nhất ba câu hỏi. Gợi ý: đo trên ảnh nào; 95% của cái gì; với cây vùng mình có được 95% không; 5% sai là sai kiểu gì. Giữ các câu hỏi trên bảng, cuối hoạt động 2 gắn với từng nguyên tắc.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(14 phút). Khái niệm: dữ liệu thử là phần để riêng, không dùng khi huấn luyện. QUÁ KHỚP: mô hình giỏi với ví dụ đã học, kém với ví dụ mới, giống học vẹt. Dữ liệu thử cũng phải giống thực tế sử dụng.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bảng. Với hệ thống tạo sinh thường chấm theo bốn tiêu chí: chính xác, có căn cứ, an toàn, nhất quán. Một câu trả lời sai mà tự tin nguy hiểm hơn một lần từ chối.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giả định: thử 100 ảnh lá. BỎ SÓT: thực tế bệnh mà máy báo khỏe (8 lần; bệnh lan sang cây khác). BÁO NHẦM: thực tế khỏe mà máy báo bệnh (5 lần; mất công, phun thuốc không cần).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Dễ nhầm: 'tỉ lệ đúng cao thì hệ thống tốt'. Nếu 100 lá chỉ có 2 lá bệnh, một 'hệ thống' luôn trả lời 'khỏe' đúng 98% và hoàn toàn vô dụng.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giả định: mô hình dự đoán số suất ăn của căn tin. Bốn ngày đầu lệch trung bình 7,5 suất; thứ Sáu lệch 100 vì khối 12 đi tham quan, điều mô hình không biết. Kết luận đúng: mô hình khá tốt vào ngày thường và không biết về sự kiện đặc biệt. Cải tiến: cô quản lí xem lịch hoạt động và điều chỉnh.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100 ảnh thử có 80 ảnh đồng bằng, 20 ảnh miền núi. Kết quả tính bằng chương trình ở slide sau (chạy thật). Liên hệ Gender Shades (2018): sai 0,8% với nam giới da sáng, 34,7% với phụ nữ da sẫm màu; chỉ lộ ra khi đo riêng từng nhóm.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RỘNG, không bắt buộc; đọc theo số dòng. Dòng 2 đến 11 (không chiếu): bảng kết quả thử, mỗi phần tử gồm vùng trồng, nhãn đúng, nhãn máy dự đoán. Dòng 13 đến 18: cách tính tỉ lệ đúng (đếm số ảnh mà nhãn đúng trùng với dự đoán, chia cho tổng). Dòng 20: tính trên toàn bộ. Dòng 22 đến 24: lọc riêng từng vùng rồi tính. Toàn bộ chương trình có trong Tài liệu học tập.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của nhóm ở Đại học Pennsylvania (Bastani và cộng sự, 2024; dẫn theo Knowledge at Wharton). Mục tiêu của việc học là năng lực thật, không phải điểm luyện tập.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hồ sơ: một hệ thống phân loại, một dự đoán, một tạo sinh.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phút chữa. Rút ra: hai mô hình cùng tỉ lệ đúng chung vẫn có thể khác nhau về công bằng; câu trả lời sai mà tự tin nguy hiểm hơn một lần từ chối; một ngày lệch lớn cho thấy mô hình chưa biết về sự kiện đặc biệt. Bảng đánh giá là minh chứng.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gia sư có làm học sinh giỏi lên không? Mô hình dự đoán suất ăn có làm giảm thức ăn thừa không? Chỉ trả lời được sau một thời gian sử dụng thật (giai đoạn giám sát, Bài 12.1).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 lại câu 'chính xác 95%': các câu hỏi ban đầu của lớp ứng với nguyên tắc nào? Tổng kết chuyên đề 12.3.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(tự đánh giá một trợ lí AI bằng 10 câu hỏi, có 2 câu bẫy).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0861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12.9 · Hệ thống AI này tốt đến đâu?</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Hệ thống AI này tốt đến đâu?</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12.9 · Chuyên đề 12.3: Công cụ phát triển và đánh giá hiệu quả hệ thống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12</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ba nguyên tắc khi đánh giá một hệ thống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Chọn</a:t>
            </a:r>
            <a:r>
              <a:rPr lang="en-US" sz="2800" dirty="0">
                <a:solidFill>
                  <a:schemeClr val="tx1"/>
                </a:solidFill>
              </a:rPr>
              <a:t> cách đánh giá cho từng loại hệ thống</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Đọc</a:t>
            </a:r>
            <a:r>
              <a:rPr lang="en-US" sz="2800" dirty="0">
                <a:solidFill>
                  <a:schemeClr val="tx1"/>
                </a:solidFill>
              </a:rPr>
              <a:t> số liệu và chỉ ra điểm yếu bị con số chung che</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“Chính xác 95%”</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14'</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Ba nguyên tắc</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21'</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Đánh giá từ số liệu</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“Chính xác 95%” nghĩa là gì?</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Một tờ quảng cáo viết:</a:t>
            </a:r>
            <a:endParaRPr lang="en-US" sz="2800" dirty="0"/>
          </a:p>
          <a:p>
            <a:pPr marL="0" indent="0">
              <a:buNone/>
            </a:pPr>
            <a:endParaRPr lang="en-US" sz="2800" dirty="0"/>
          </a:p>
          <a:p>
            <a:pPr marL="0" indent="0">
              <a:buNone/>
            </a:pPr>
            <a:r>
              <a:rPr lang="en-US" sz="2800" dirty="0">
                <a:solidFill>
                  <a:schemeClr val="tx1"/>
                </a:solidFill>
              </a:rPr>
              <a:t>“Ứng dụng nhận diện bệnh cây bằng AI. Chính xác 95%!”</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Trước khi tin con số này, em muốn hỏi những câu gì?</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Nguyên tắc 1: thử bằng dữ liệu mới</a:t>
            </a:r>
            <a:endParaRPr lang="en-US" sz="3800" dirty="0"/>
          </a:p>
        </p:txBody>
      </p:sp>
      <p:pic>
        <p:nvPicPr>
          <p:cNvPr id="4" name="Image 0" descr="Nguyên tắc 1: thử bằng dữ liệu mới"/>
          <p:cNvPicPr>
            <a:picLocks noChangeAspect="1"/>
          </p:cNvPicPr>
          <p:nvPr/>
        </p:nvPicPr>
        <p:blipFill>
          <a:blip r:embed="rId3"/>
          <a:stretch>
            <a:fillRect/>
          </a:stretch>
        </p:blipFill>
        <p:spPr>
          <a:xfrm>
            <a:off x="1011803" y="1463040"/>
            <a:ext cx="10137913" cy="3886200"/>
          </a:xfrm>
          <a:prstGeom prst="rect">
            <a:avLst/>
          </a:prstGeom>
        </p:spPr>
      </p:pic>
      <p:sp>
        <p:nvSpPr>
          <p:cNvPr id="5" name="Shape 1"/>
          <p:cNvSpPr/>
          <p:nvPr/>
        </p:nvSpPr>
        <p:spPr>
          <a:xfrm>
            <a:off x="548640" y="544068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Giống như kiểm tra học sinh bằng đề chưa làm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Nguyên tắc 2: đo theo mục tiêu</a:t>
            </a:r>
            <a:endParaRPr lang="en-US" sz="3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868680">
                <a:tc>
                  <a:txBody>
                    <a:bodyPr/>
                    <a:lstStyle/>
                    <a:p>
                      <a:pPr marL="0" indent="0" algn="ctr">
                        <a:buNone/>
                      </a:pPr>
                      <a:r>
                        <a:rPr lang="en-US" sz="2200" b="1" dirty="0">
                          <a:solidFill>
                            <a:schemeClr val="bg1"/>
                          </a:solidFill>
                        </a:rPr>
                        <a:t>Loại hệ thống</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Đo bằng</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Xem thêm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200" b="1" dirty="0">
                          <a:solidFill>
                            <a:schemeClr val="tx1"/>
                          </a:solidFill>
                        </a:rPr>
                        <a:t>Phân loại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Tỉ lệ đúng trên ví dụ mới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Nhóm nào hay bị nhầm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200" b="1" dirty="0">
                          <a:solidFill>
                            <a:schemeClr val="tx1"/>
                          </a:solidFill>
                        </a:rPr>
                        <a:t>Dự đoán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Độ lệch trung bình so với thực tế</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Ngày lệch nhiều nhất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200" b="1" dirty="0">
                          <a:solidFill>
                            <a:schemeClr val="tx1"/>
                          </a:solidFill>
                        </a:rPr>
                        <a:t>Tạo sinh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Con người chấm: tỉ lệ câu chấp nhận được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Sai kiểu gì: bịa hay lạc đề</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Phân loại: không phải lỗi nào cũng như nhau</a:t>
            </a:r>
            <a:endParaRPr lang="en-US" sz="3800" dirty="0"/>
          </a:p>
        </p:txBody>
      </p:sp>
      <p:pic>
        <p:nvPicPr>
          <p:cNvPr id="4" name="Image 0" descr="Phân loại: không phải lỗi nào cũng như nhau"/>
          <p:cNvPicPr>
            <a:picLocks noChangeAspect="1"/>
          </p:cNvPicPr>
          <p:nvPr/>
        </p:nvPicPr>
        <p:blipFill>
          <a:blip r:embed="rId3"/>
          <a:stretch>
            <a:fillRect/>
          </a:stretch>
        </p:blipFill>
        <p:spPr>
          <a:xfrm>
            <a:off x="548640" y="1992337"/>
            <a:ext cx="7498080" cy="3604846"/>
          </a:xfrm>
          <a:prstGeom prst="rect">
            <a:avLst/>
          </a:prstGeom>
        </p:spPr>
      </p:pic>
      <p:sp>
        <p:nvSpPr>
          <p:cNvPr id="5" name="Shape 1"/>
          <p:cNvSpPr/>
          <p:nvPr/>
        </p:nvSpPr>
        <p:spPr>
          <a:xfrm>
            <a:off x="8321040" y="1554480"/>
            <a:ext cx="3291840" cy="4480560"/>
          </a:xfrm>
          <a:prstGeom prst="roundRect">
            <a:avLst>
              <a:gd name="adj" fmla="val 3333"/>
            </a:avLst>
          </a:prstGeom>
          <a:solidFill>
            <a:schemeClr val="tx2"/>
          </a:solidFill>
          <a:ln w="12700">
            <a:solidFill>
              <a:schemeClr val="tx2"/>
            </a:solidFill>
            <a:prstDash val="solid"/>
          </a:ln>
        </p:spPr>
        <p:txBody>
          <a:bodyPr/>
          <a:lstStyle/>
          <a:p>
            <a:endParaRPr lang="en-US"/>
          </a:p>
        </p:txBody>
      </p:sp>
      <p:sp>
        <p:nvSpPr>
          <p:cNvPr id="6" name="Text 2"/>
          <p:cNvSpPr txBox="1"/>
          <p:nvPr/>
        </p:nvSpPr>
        <p:spPr>
          <a:xfrm>
            <a:off x="8595360" y="1737360"/>
            <a:ext cx="2743200" cy="4114800"/>
          </a:xfrm>
          <a:prstGeom prst="rect">
            <a:avLst/>
          </a:prstGeom>
          <a:noFill/>
          <a:ln/>
        </p:spPr>
        <p:txBody>
          <a:bodyPr wrap="square" lIns="0" tIns="0" rIns="0" bIns="0" rtlCol="0" anchor="ctr"/>
          <a:lstStyle/>
          <a:p>
            <a:pPr marL="0" indent="0">
              <a:buNone/>
            </a:pPr>
            <a:r>
              <a:rPr lang="en-US" sz="2800" b="1" dirty="0">
                <a:solidFill>
                  <a:schemeClr val="bg1"/>
                </a:solidFill>
              </a:rPr>
              <a:t>Tỉ lệ đúng: (42 + 45) / 100 = 87%. Nhưng 13 lần sai gồm hai kiểu khác nhau.</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Kiểu sai nào đáng lo hơn? Tùy mục tiêu</a:t>
            </a:r>
            <a:endParaRPr lang="en-US" sz="3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822960">
                <a:tc>
                  <a:txBody>
                    <a:bodyPr/>
                    <a:lstStyle/>
                    <a:p>
                      <a:pPr marL="0" indent="0" algn="ctr">
                        <a:buNone/>
                      </a:pPr>
                      <a:r>
                        <a:rPr lang="en-US" sz="2200" b="1" dirty="0">
                          <a:solidFill>
                            <a:schemeClr val="bg1"/>
                          </a:solidFill>
                        </a:rPr>
                        <a:t>Hệ thống</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Đáng lo hơn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Vì sao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22960">
                <a:tc>
                  <a:txBody>
                    <a:bodyPr/>
                    <a:lstStyle/>
                    <a:p>
                      <a:pPr marL="0" indent="0" algn="l">
                        <a:buNone/>
                      </a:pPr>
                      <a:r>
                        <a:rPr lang="en-US" sz="2200" b="1" dirty="0">
                          <a:solidFill>
                            <a:schemeClr val="tx1"/>
                          </a:solidFill>
                        </a:rPr>
                        <a:t>Sàng lọc bệnh</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Bỏ sót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Người bệnh không được chữa</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lgn="l">
                        <a:buNone/>
                      </a:pPr>
                      <a:r>
                        <a:rPr lang="en-US" sz="2200" b="1" dirty="0">
                          <a:solidFill>
                            <a:schemeClr val="tx1"/>
                          </a:solidFill>
                        </a:rPr>
                        <a:t>Lọc thư rác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Báo nhầm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Thư quan trọng bị vứt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22960">
                <a:tc>
                  <a:txBody>
                    <a:bodyPr/>
                    <a:lstStyle/>
                    <a:p>
                      <a:pPr marL="0" indent="0" algn="l">
                        <a:buNone/>
                      </a:pPr>
                      <a:r>
                        <a:rPr lang="en-US" sz="2200" b="1" dirty="0">
                          <a:solidFill>
                            <a:schemeClr val="tx1"/>
                          </a:solidFill>
                        </a:rPr>
                        <a:t>Phát hiện “bài do AI viết”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Báo nhầm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Học sinh trung thực bị oan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Thà sai kiểu nào: đó là quyết định của con người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Dự đoán: lệch bao nhiêu, lệch khi nào</a:t>
            </a:r>
            <a:endParaRPr lang="en-US" sz="3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844040">
                  <a:extLst>
                    <a:ext uri="{9D8B030D-6E8A-4147-A177-3AD203B41FA5}">
                      <a16:colId xmlns:a16="http://schemas.microsoft.com/office/drawing/2014/main" val="20000"/>
                    </a:ext>
                  </a:extLst>
                </a:gridCol>
                <a:gridCol w="1844040">
                  <a:extLst>
                    <a:ext uri="{9D8B030D-6E8A-4147-A177-3AD203B41FA5}">
                      <a16:colId xmlns:a16="http://schemas.microsoft.com/office/drawing/2014/main" val="20001"/>
                    </a:ext>
                  </a:extLst>
                </a:gridCol>
                <a:gridCol w="1844040">
                  <a:extLst>
                    <a:ext uri="{9D8B030D-6E8A-4147-A177-3AD203B41FA5}">
                      <a16:colId xmlns:a16="http://schemas.microsoft.com/office/drawing/2014/main" val="20002"/>
                    </a:ext>
                  </a:extLst>
                </a:gridCol>
                <a:gridCol w="1844040">
                  <a:extLst>
                    <a:ext uri="{9D8B030D-6E8A-4147-A177-3AD203B41FA5}">
                      <a16:colId xmlns:a16="http://schemas.microsoft.com/office/drawing/2014/main" val="20003"/>
                    </a:ext>
                  </a:extLst>
                </a:gridCol>
                <a:gridCol w="1844040">
                  <a:extLst>
                    <a:ext uri="{9D8B030D-6E8A-4147-A177-3AD203B41FA5}">
                      <a16:colId xmlns:a16="http://schemas.microsoft.com/office/drawing/2014/main" val="20004"/>
                    </a:ext>
                  </a:extLst>
                </a:gridCol>
                <a:gridCol w="1844040">
                  <a:extLst>
                    <a:ext uri="{9D8B030D-6E8A-4147-A177-3AD203B41FA5}">
                      <a16:colId xmlns:a16="http://schemas.microsoft.com/office/drawing/2014/main" val="20005"/>
                    </a:ext>
                  </a:extLst>
                </a:gridCol>
              </a:tblGrid>
              <a:tr h="822960">
                <a:tc>
                  <a:txBody>
                    <a:bodyPr/>
                    <a:lstStyle/>
                    <a:p>
                      <a:pPr marL="0" indent="0" algn="ctr">
                        <a:buNone/>
                      </a:pP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Thứ Hai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Thứ Ba</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Thứ Tư</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Thứ Năm</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Thứ Sáu</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22960">
                <a:tc>
                  <a:txBody>
                    <a:bodyPr/>
                    <a:lstStyle/>
                    <a:p>
                      <a:pPr marL="0" indent="0" algn="l">
                        <a:buNone/>
                      </a:pPr>
                      <a:r>
                        <a:rPr lang="en-US" sz="2400" b="1" dirty="0">
                          <a:solidFill>
                            <a:schemeClr val="tx1"/>
                          </a:solidFill>
                        </a:rPr>
                        <a:t>Dự đoán</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300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320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310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280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350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22960">
                <a:tc>
                  <a:txBody>
                    <a:bodyPr/>
                    <a:lstStyle/>
                    <a:p>
                      <a:pPr marL="0" indent="0" algn="l">
                        <a:buNone/>
                      </a:pPr>
                      <a:r>
                        <a:rPr lang="en-US" sz="2400" b="1" dirty="0">
                          <a:solidFill>
                            <a:schemeClr val="tx1"/>
                          </a:solidFill>
                        </a:rPr>
                        <a:t>Thực tế</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290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325</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300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285</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ctr">
                        <a:buNone/>
                      </a:pPr>
                      <a:r>
                        <a:rPr lang="en-US" sz="2400" dirty="0">
                          <a:solidFill>
                            <a:schemeClr val="tx1"/>
                          </a:solidFill>
                        </a:rPr>
                        <a:t>250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22960">
                <a:tc>
                  <a:txBody>
                    <a:bodyPr/>
                    <a:lstStyle/>
                    <a:p>
                      <a:pPr marL="0" indent="0" algn="l">
                        <a:buNone/>
                      </a:pPr>
                      <a:r>
                        <a:rPr lang="en-US" sz="2400" b="1" dirty="0">
                          <a:solidFill>
                            <a:schemeClr val="tx1"/>
                          </a:solidFill>
                        </a:rPr>
                        <a:t>Độ lệch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10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5</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10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dirty="0">
                          <a:solidFill>
                            <a:schemeClr val="tx1"/>
                          </a:solidFill>
                        </a:rPr>
                        <a:t>5</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ctr">
                        <a:buNone/>
                      </a:pPr>
                      <a:r>
                        <a:rPr lang="en-US" sz="2400" b="1" dirty="0">
                          <a:solidFill>
                            <a:schemeClr val="tx1"/>
                          </a:solidFill>
                        </a:rPr>
                        <a:t>100</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Trung bình lệch 26 suất. Con số này che mất điều gì?</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Nguyên tắc 3: xem cả chung lẫn từng nhóm</a:t>
            </a:r>
            <a:endParaRPr lang="en-US" sz="3800" dirty="0"/>
          </a:p>
        </p:txBody>
      </p:sp>
      <p:pic>
        <p:nvPicPr>
          <p:cNvPr id="4" name="Image 0" descr="Nguyên tắc 3: xem cả chung lẫn từng nhóm"/>
          <p:cNvPicPr>
            <a:picLocks noChangeAspect="1"/>
          </p:cNvPicPr>
          <p:nvPr/>
        </p:nvPicPr>
        <p:blipFill>
          <a:blip r:embed="rId3"/>
          <a:stretch>
            <a:fillRect/>
          </a:stretch>
        </p:blipFill>
        <p:spPr>
          <a:xfrm>
            <a:off x="548640" y="1463040"/>
            <a:ext cx="7161711" cy="4663440"/>
          </a:xfrm>
          <a:prstGeom prst="rect">
            <a:avLst/>
          </a:prstGeom>
        </p:spPr>
      </p:pic>
      <p:sp>
        <p:nvSpPr>
          <p:cNvPr id="5" name="Shape 1"/>
          <p:cNvSpPr/>
          <p:nvPr/>
        </p:nvSpPr>
        <p:spPr>
          <a:xfrm>
            <a:off x="8321040" y="1554480"/>
            <a:ext cx="3291840" cy="4480560"/>
          </a:xfrm>
          <a:prstGeom prst="roundRect">
            <a:avLst>
              <a:gd name="adj" fmla="val 3333"/>
            </a:avLst>
          </a:prstGeom>
          <a:solidFill>
            <a:schemeClr val="tx2"/>
          </a:solidFill>
          <a:ln w="12700">
            <a:solidFill>
              <a:schemeClr val="tx2"/>
            </a:solidFill>
            <a:prstDash val="solid"/>
          </a:ln>
        </p:spPr>
        <p:txBody>
          <a:bodyPr/>
          <a:lstStyle/>
          <a:p>
            <a:endParaRPr lang="en-US"/>
          </a:p>
        </p:txBody>
      </p:sp>
      <p:sp>
        <p:nvSpPr>
          <p:cNvPr id="6" name="Text 2"/>
          <p:cNvSpPr txBox="1"/>
          <p:nvPr/>
        </p:nvSpPr>
        <p:spPr>
          <a:xfrm>
            <a:off x="8595360" y="1737360"/>
            <a:ext cx="2743200" cy="4114800"/>
          </a:xfrm>
          <a:prstGeom prst="rect">
            <a:avLst/>
          </a:prstGeom>
          <a:noFill/>
          <a:ln/>
        </p:spPr>
        <p:txBody>
          <a:bodyPr wrap="square" lIns="0" tIns="0" rIns="0" bIns="0" rtlCol="0" anchor="ctr"/>
          <a:lstStyle/>
          <a:p>
            <a:pPr marL="0" indent="0">
              <a:buNone/>
            </a:pPr>
            <a:r>
              <a:rPr lang="en-US" sz="2800" b="1" dirty="0">
                <a:solidFill>
                  <a:schemeClr val="bg1"/>
                </a:solidFill>
              </a:rPr>
              <a:t>Con số chung 87% che đi việc hệ thống chỉ đúng 60% với ảnh chụp ở miền núi.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Tính tỉ lệ đúng theo từng nhóm</a:t>
            </a:r>
            <a:endParaRPr lang="en-US" sz="3800" dirty="0"/>
          </a:p>
        </p:txBody>
      </p:sp>
      <p:sp>
        <p:nvSpPr>
          <p:cNvPr id="4" name="Shape 1"/>
          <p:cNvSpPr/>
          <p:nvPr/>
        </p:nvSpPr>
        <p:spPr>
          <a:xfrm>
            <a:off x="548640" y="1554480"/>
            <a:ext cx="11064240" cy="3611880"/>
          </a:xfrm>
          <a:prstGeom prst="roundRect">
            <a:avLst>
              <a:gd name="adj" fmla="val 3038"/>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777240" y="1737360"/>
            <a:ext cx="10607040" cy="3246120"/>
          </a:xfrm>
          <a:prstGeom prst="rect">
            <a:avLst/>
          </a:prstGeom>
          <a:noFill/>
          <a:ln/>
        </p:spPr>
        <p:txBody>
          <a:bodyPr wrap="square" lIns="0" tIns="0" rIns="0" bIns="0" rtlCol="0" anchor="t"/>
          <a:lstStyle/>
          <a:p>
            <a:pPr marL="0" indent="0">
              <a:buNone/>
            </a:pPr>
            <a:r>
              <a:rPr lang="en-US" sz="1700" dirty="0">
                <a:solidFill>
                  <a:schemeClr val="accent6"/>
                </a:solidFill>
                <a:latin typeface="Courier New" pitchFamily="34" charset="0"/>
                <a:ea typeface="Courier New" pitchFamily="34" charset="-122"/>
                <a:cs typeface="Courier New" pitchFamily="34" charset="-120"/>
              </a:rPr>
              <a:t>13  </a:t>
            </a:r>
            <a:r>
              <a:rPr lang="en-US" sz="1700" b="1" dirty="0">
                <a:solidFill>
                  <a:schemeClr val="tx2"/>
                </a:solidFill>
                <a:latin typeface="Courier New" pitchFamily="34" charset="0"/>
                <a:ea typeface="Courier New" pitchFamily="34" charset="-122"/>
                <a:cs typeface="Courier New" pitchFamily="34" charset="-120"/>
              </a:rPr>
              <a:t>def</a:t>
            </a:r>
            <a:r>
              <a:rPr lang="en-US" sz="1700" dirty="0">
                <a:solidFill>
                  <a:schemeClr val="tx1"/>
                </a:solidFill>
                <a:latin typeface="Courier New" pitchFamily="34" charset="0"/>
                <a:ea typeface="Courier New" pitchFamily="34" charset="-122"/>
                <a:cs typeface="Courier New" pitchFamily="34" charset="-120"/>
              </a:rPr>
              <a:t> ti_le_dung(danh_sach):</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14  </a:t>
            </a:r>
            <a:r>
              <a:rPr lang="en-US" sz="1700" dirty="0">
                <a:solidFill>
                  <a:schemeClr val="tx1"/>
                </a:solidFill>
                <a:latin typeface="Courier New" pitchFamily="34" charset="0"/>
                <a:ea typeface="Courier New" pitchFamily="34" charset="-122"/>
                <a:cs typeface="Courier New" pitchFamily="34" charset="-120"/>
              </a:rPr>
              <a:t>    dung = 0</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15  </a:t>
            </a:r>
            <a:r>
              <a:rPr lang="en-US" sz="1700" dirty="0">
                <a:solidFill>
                  <a:schemeClr val="tx1"/>
                </a:solidFill>
                <a:latin typeface="Courier New" pitchFamily="34" charset="0"/>
                <a:ea typeface="Courier New" pitchFamily="34" charset="-122"/>
                <a:cs typeface="Courier New" pitchFamily="34" charset="-120"/>
              </a:rPr>
              <a:t>    </a:t>
            </a:r>
            <a:r>
              <a:rPr lang="en-US" sz="1700" b="1" dirty="0">
                <a:solidFill>
                  <a:schemeClr val="tx2"/>
                </a:solidFill>
                <a:latin typeface="Courier New" pitchFamily="34" charset="0"/>
                <a:ea typeface="Courier New" pitchFamily="34" charset="-122"/>
                <a:cs typeface="Courier New" pitchFamily="34" charset="-120"/>
              </a:rPr>
              <a:t>for</a:t>
            </a:r>
            <a:r>
              <a:rPr lang="en-US" sz="1700" dirty="0">
                <a:solidFill>
                  <a:schemeClr val="tx1"/>
                </a:solidFill>
                <a:latin typeface="Courier New" pitchFamily="34" charset="0"/>
                <a:ea typeface="Courier New" pitchFamily="34" charset="-122"/>
                <a:cs typeface="Courier New" pitchFamily="34" charset="-120"/>
              </a:rPr>
              <a:t> vung, nhan_dung, du_doan </a:t>
            </a:r>
            <a:r>
              <a:rPr lang="en-US" sz="1700" b="1" dirty="0">
                <a:solidFill>
                  <a:schemeClr val="tx2"/>
                </a:solidFill>
                <a:latin typeface="Courier New" pitchFamily="34" charset="0"/>
                <a:ea typeface="Courier New" pitchFamily="34" charset="-122"/>
                <a:cs typeface="Courier New" pitchFamily="34" charset="-120"/>
              </a:rPr>
              <a:t>in</a:t>
            </a:r>
            <a:r>
              <a:rPr lang="en-US" sz="1700" dirty="0">
                <a:solidFill>
                  <a:schemeClr val="tx1"/>
                </a:solidFill>
                <a:latin typeface="Courier New" pitchFamily="34" charset="0"/>
                <a:ea typeface="Courier New" pitchFamily="34" charset="-122"/>
                <a:cs typeface="Courier New" pitchFamily="34" charset="-120"/>
              </a:rPr>
              <a:t> danh_sach:</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16  </a:t>
            </a:r>
            <a:r>
              <a:rPr lang="en-US" sz="1700" dirty="0">
                <a:solidFill>
                  <a:schemeClr val="tx1"/>
                </a:solidFill>
                <a:latin typeface="Courier New" pitchFamily="34" charset="0"/>
                <a:ea typeface="Courier New" pitchFamily="34" charset="-122"/>
                <a:cs typeface="Courier New" pitchFamily="34" charset="-120"/>
              </a:rPr>
              <a:t>        </a:t>
            </a:r>
            <a:r>
              <a:rPr lang="en-US" sz="1700" b="1" dirty="0">
                <a:solidFill>
                  <a:schemeClr val="tx2"/>
                </a:solidFill>
                <a:latin typeface="Courier New" pitchFamily="34" charset="0"/>
                <a:ea typeface="Courier New" pitchFamily="34" charset="-122"/>
                <a:cs typeface="Courier New" pitchFamily="34" charset="-120"/>
              </a:rPr>
              <a:t>if</a:t>
            </a:r>
            <a:r>
              <a:rPr lang="en-US" sz="1700" dirty="0">
                <a:solidFill>
                  <a:schemeClr val="tx1"/>
                </a:solidFill>
                <a:latin typeface="Courier New" pitchFamily="34" charset="0"/>
                <a:ea typeface="Courier New" pitchFamily="34" charset="-122"/>
                <a:cs typeface="Courier New" pitchFamily="34" charset="-120"/>
              </a:rPr>
              <a:t> nhan_dung == du_doan:</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17  </a:t>
            </a:r>
            <a:r>
              <a:rPr lang="en-US" sz="1700" dirty="0">
                <a:solidFill>
                  <a:schemeClr val="tx1"/>
                </a:solidFill>
                <a:latin typeface="Courier New" pitchFamily="34" charset="0"/>
                <a:ea typeface="Courier New" pitchFamily="34" charset="-122"/>
                <a:cs typeface="Courier New" pitchFamily="34" charset="-120"/>
              </a:rPr>
              <a:t>            dung = dung + 1</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18  </a:t>
            </a:r>
            <a:r>
              <a:rPr lang="en-US" sz="1700" dirty="0">
                <a:solidFill>
                  <a:schemeClr val="tx1"/>
                </a:solidFill>
                <a:latin typeface="Courier New" pitchFamily="34" charset="0"/>
                <a:ea typeface="Courier New" pitchFamily="34" charset="-122"/>
                <a:cs typeface="Courier New" pitchFamily="34" charset="-120"/>
              </a:rPr>
              <a:t>    </a:t>
            </a:r>
            <a:r>
              <a:rPr lang="en-US" sz="1700" b="1" dirty="0">
                <a:solidFill>
                  <a:schemeClr val="tx2"/>
                </a:solidFill>
                <a:latin typeface="Courier New" pitchFamily="34" charset="0"/>
                <a:ea typeface="Courier New" pitchFamily="34" charset="-122"/>
                <a:cs typeface="Courier New" pitchFamily="34" charset="-120"/>
              </a:rPr>
              <a:t>return</a:t>
            </a:r>
            <a:r>
              <a:rPr lang="en-US" sz="1700" dirty="0">
                <a:solidFill>
                  <a:schemeClr val="tx1"/>
                </a:solidFill>
                <a:latin typeface="Courier New" pitchFamily="34" charset="0"/>
                <a:ea typeface="Courier New" pitchFamily="34" charset="-122"/>
                <a:cs typeface="Courier New" pitchFamily="34" charset="-120"/>
              </a:rPr>
              <a:t> round(100 * dung / len(danh_sach), 1)</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19  </a:t>
            </a:r>
            <a:r>
              <a:rPr lang="en-US" sz="1700" dirty="0">
                <a:solidFill>
                  <a:schemeClr val="tx1"/>
                </a:solidFill>
                <a:latin typeface="Courier New" pitchFamily="34" charset="0"/>
                <a:ea typeface="Courier New" pitchFamily="34" charset="-122"/>
                <a:cs typeface="Courier New" pitchFamily="34" charset="-120"/>
              </a:rPr>
              <a:t> </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20  </a:t>
            </a:r>
            <a:r>
              <a:rPr lang="en-US" sz="1700" b="1" dirty="0">
                <a:solidFill>
                  <a:schemeClr val="tx2"/>
                </a:solidFill>
                <a:latin typeface="Courier New" pitchFamily="34" charset="0"/>
                <a:ea typeface="Courier New" pitchFamily="34" charset="-122"/>
                <a:cs typeface="Courier New" pitchFamily="34" charset="-120"/>
              </a:rPr>
              <a:t>print</a:t>
            </a:r>
            <a:r>
              <a:rPr lang="en-US" sz="1700" dirty="0">
                <a:solidFill>
                  <a:schemeClr val="tx1"/>
                </a:solidFill>
                <a:latin typeface="Courier New" pitchFamily="34" charset="0"/>
                <a:ea typeface="Courier New" pitchFamily="34" charset="-122"/>
                <a:cs typeface="Courier New" pitchFamily="34" charset="-120"/>
              </a:rPr>
              <a:t>(</a:t>
            </a:r>
            <a:r>
              <a:rPr lang="en-US" sz="1700" dirty="0">
                <a:solidFill>
                  <a:schemeClr val="accent4"/>
                </a:solidFill>
                <a:latin typeface="Courier New" pitchFamily="34" charset="0"/>
                <a:ea typeface="Courier New" pitchFamily="34" charset="-122"/>
                <a:cs typeface="Courier New" pitchFamily="34" charset="-120"/>
              </a:rPr>
              <a:t>"Chung:"</a:t>
            </a:r>
            <a:r>
              <a:rPr lang="en-US" sz="1700" dirty="0">
                <a:solidFill>
                  <a:schemeClr val="tx1"/>
                </a:solidFill>
                <a:latin typeface="Courier New" pitchFamily="34" charset="0"/>
                <a:ea typeface="Courier New" pitchFamily="34" charset="-122"/>
                <a:cs typeface="Courier New" pitchFamily="34" charset="-120"/>
              </a:rPr>
              <a:t>, ti_le_dung(ket_qua), </a:t>
            </a:r>
            <a:r>
              <a:rPr lang="en-US" sz="1700" dirty="0">
                <a:solidFill>
                  <a:schemeClr val="accent4"/>
                </a:solidFill>
                <a:latin typeface="Courier New" pitchFamily="34" charset="0"/>
                <a:ea typeface="Courier New" pitchFamily="34" charset="-122"/>
                <a:cs typeface="Courier New" pitchFamily="34" charset="-120"/>
              </a:rPr>
              <a:t>"% trên"</a:t>
            </a:r>
            <a:r>
              <a:rPr lang="en-US" sz="1700" dirty="0">
                <a:solidFill>
                  <a:schemeClr val="tx1"/>
                </a:solidFill>
                <a:latin typeface="Courier New" pitchFamily="34" charset="0"/>
                <a:ea typeface="Courier New" pitchFamily="34" charset="-122"/>
                <a:cs typeface="Courier New" pitchFamily="34" charset="-120"/>
              </a:rPr>
              <a:t>, len(ket_qua), </a:t>
            </a:r>
            <a:r>
              <a:rPr lang="en-US" sz="1700" dirty="0">
                <a:solidFill>
                  <a:schemeClr val="accent4"/>
                </a:solidFill>
                <a:latin typeface="Courier New" pitchFamily="34" charset="0"/>
                <a:ea typeface="Courier New" pitchFamily="34" charset="-122"/>
                <a:cs typeface="Courier New" pitchFamily="34" charset="-120"/>
              </a:rPr>
              <a:t>"ảnh"</a:t>
            </a:r>
            <a:r>
              <a:rPr lang="en-US" sz="1700" dirty="0">
                <a:solidFill>
                  <a:schemeClr val="tx1"/>
                </a:solidFill>
                <a:latin typeface="Courier New" pitchFamily="34" charset="0"/>
                <a:ea typeface="Courier New" pitchFamily="34" charset="-122"/>
                <a:cs typeface="Courier New" pitchFamily="34" charset="-120"/>
              </a:rPr>
              <a:t>)</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21  </a:t>
            </a:r>
            <a:r>
              <a:rPr lang="en-US" sz="1700" dirty="0">
                <a:solidFill>
                  <a:schemeClr val="tx1"/>
                </a:solidFill>
                <a:latin typeface="Courier New" pitchFamily="34" charset="0"/>
                <a:ea typeface="Courier New" pitchFamily="34" charset="-122"/>
                <a:cs typeface="Courier New" pitchFamily="34" charset="-120"/>
              </a:rPr>
              <a:t> </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22  </a:t>
            </a:r>
            <a:r>
              <a:rPr lang="en-US" sz="1700" b="1" dirty="0">
                <a:solidFill>
                  <a:schemeClr val="tx2"/>
                </a:solidFill>
                <a:latin typeface="Courier New" pitchFamily="34" charset="0"/>
                <a:ea typeface="Courier New" pitchFamily="34" charset="-122"/>
                <a:cs typeface="Courier New" pitchFamily="34" charset="-120"/>
              </a:rPr>
              <a:t>for</a:t>
            </a:r>
            <a:r>
              <a:rPr lang="en-US" sz="1700" dirty="0">
                <a:solidFill>
                  <a:schemeClr val="tx1"/>
                </a:solidFill>
                <a:latin typeface="Courier New" pitchFamily="34" charset="0"/>
                <a:ea typeface="Courier New" pitchFamily="34" charset="-122"/>
                <a:cs typeface="Courier New" pitchFamily="34" charset="-120"/>
              </a:rPr>
              <a:t> ten_vung </a:t>
            </a:r>
            <a:r>
              <a:rPr lang="en-US" sz="1700" b="1" dirty="0">
                <a:solidFill>
                  <a:schemeClr val="tx2"/>
                </a:solidFill>
                <a:latin typeface="Courier New" pitchFamily="34" charset="0"/>
                <a:ea typeface="Courier New" pitchFamily="34" charset="-122"/>
                <a:cs typeface="Courier New" pitchFamily="34" charset="-120"/>
              </a:rPr>
              <a:t>in</a:t>
            </a:r>
            <a:r>
              <a:rPr lang="en-US" sz="1700" dirty="0">
                <a:solidFill>
                  <a:schemeClr val="tx1"/>
                </a:solidFill>
                <a:latin typeface="Courier New" pitchFamily="34" charset="0"/>
                <a:ea typeface="Courier New" pitchFamily="34" charset="-122"/>
                <a:cs typeface="Courier New" pitchFamily="34" charset="-120"/>
              </a:rPr>
              <a:t> [</a:t>
            </a:r>
            <a:r>
              <a:rPr lang="en-US" sz="1700" dirty="0">
                <a:solidFill>
                  <a:schemeClr val="accent4"/>
                </a:solidFill>
                <a:latin typeface="Courier New" pitchFamily="34" charset="0"/>
                <a:ea typeface="Courier New" pitchFamily="34" charset="-122"/>
                <a:cs typeface="Courier New" pitchFamily="34" charset="-120"/>
              </a:rPr>
              <a:t>"đồng bằng"</a:t>
            </a:r>
            <a:r>
              <a:rPr lang="en-US" sz="1700" dirty="0">
                <a:solidFill>
                  <a:schemeClr val="tx1"/>
                </a:solidFill>
                <a:latin typeface="Courier New" pitchFamily="34" charset="0"/>
                <a:ea typeface="Courier New" pitchFamily="34" charset="-122"/>
                <a:cs typeface="Courier New" pitchFamily="34" charset="-120"/>
              </a:rPr>
              <a:t>, </a:t>
            </a:r>
            <a:r>
              <a:rPr lang="en-US" sz="1700" dirty="0">
                <a:solidFill>
                  <a:schemeClr val="accent4"/>
                </a:solidFill>
                <a:latin typeface="Courier New" pitchFamily="34" charset="0"/>
                <a:ea typeface="Courier New" pitchFamily="34" charset="-122"/>
                <a:cs typeface="Courier New" pitchFamily="34" charset="-120"/>
              </a:rPr>
              <a:t>"miền núi"</a:t>
            </a:r>
            <a:r>
              <a:rPr lang="en-US" sz="1700" dirty="0">
                <a:solidFill>
                  <a:schemeClr val="tx1"/>
                </a:solidFill>
                <a:latin typeface="Courier New" pitchFamily="34" charset="0"/>
                <a:ea typeface="Courier New" pitchFamily="34" charset="-122"/>
                <a:cs typeface="Courier New" pitchFamily="34" charset="-120"/>
              </a:rPr>
              <a:t>]:</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23  </a:t>
            </a:r>
            <a:r>
              <a:rPr lang="en-US" sz="1700" dirty="0">
                <a:solidFill>
                  <a:schemeClr val="tx1"/>
                </a:solidFill>
                <a:latin typeface="Courier New" pitchFamily="34" charset="0"/>
                <a:ea typeface="Courier New" pitchFamily="34" charset="-122"/>
                <a:cs typeface="Courier New" pitchFamily="34" charset="-120"/>
              </a:rPr>
              <a:t>    nhom = [dong </a:t>
            </a:r>
            <a:r>
              <a:rPr lang="en-US" sz="1700" b="1" dirty="0">
                <a:solidFill>
                  <a:schemeClr val="tx2"/>
                </a:solidFill>
                <a:latin typeface="Courier New" pitchFamily="34" charset="0"/>
                <a:ea typeface="Courier New" pitchFamily="34" charset="-122"/>
                <a:cs typeface="Courier New" pitchFamily="34" charset="-120"/>
              </a:rPr>
              <a:t>for</a:t>
            </a:r>
            <a:r>
              <a:rPr lang="en-US" sz="1700" dirty="0">
                <a:solidFill>
                  <a:schemeClr val="tx1"/>
                </a:solidFill>
                <a:latin typeface="Courier New" pitchFamily="34" charset="0"/>
                <a:ea typeface="Courier New" pitchFamily="34" charset="-122"/>
                <a:cs typeface="Courier New" pitchFamily="34" charset="-120"/>
              </a:rPr>
              <a:t> dong </a:t>
            </a:r>
            <a:r>
              <a:rPr lang="en-US" sz="1700" b="1" dirty="0">
                <a:solidFill>
                  <a:schemeClr val="tx2"/>
                </a:solidFill>
                <a:latin typeface="Courier New" pitchFamily="34" charset="0"/>
                <a:ea typeface="Courier New" pitchFamily="34" charset="-122"/>
                <a:cs typeface="Courier New" pitchFamily="34" charset="-120"/>
              </a:rPr>
              <a:t>in</a:t>
            </a:r>
            <a:r>
              <a:rPr lang="en-US" sz="1700" dirty="0">
                <a:solidFill>
                  <a:schemeClr val="tx1"/>
                </a:solidFill>
                <a:latin typeface="Courier New" pitchFamily="34" charset="0"/>
                <a:ea typeface="Courier New" pitchFamily="34" charset="-122"/>
                <a:cs typeface="Courier New" pitchFamily="34" charset="-120"/>
              </a:rPr>
              <a:t> ket_qua </a:t>
            </a:r>
            <a:r>
              <a:rPr lang="en-US" sz="1700" b="1" dirty="0">
                <a:solidFill>
                  <a:schemeClr val="tx2"/>
                </a:solidFill>
                <a:latin typeface="Courier New" pitchFamily="34" charset="0"/>
                <a:ea typeface="Courier New" pitchFamily="34" charset="-122"/>
                <a:cs typeface="Courier New" pitchFamily="34" charset="-120"/>
              </a:rPr>
              <a:t>if</a:t>
            </a:r>
            <a:r>
              <a:rPr lang="en-US" sz="1700" dirty="0">
                <a:solidFill>
                  <a:schemeClr val="tx1"/>
                </a:solidFill>
                <a:latin typeface="Courier New" pitchFamily="34" charset="0"/>
                <a:ea typeface="Courier New" pitchFamily="34" charset="-122"/>
                <a:cs typeface="Courier New" pitchFamily="34" charset="-120"/>
              </a:rPr>
              <a:t> dong[0] == ten_vung]</a:t>
            </a:r>
            <a:endParaRPr lang="en-US" sz="1700" dirty="0"/>
          </a:p>
          <a:p>
            <a:pPr marL="0" indent="0">
              <a:buNone/>
            </a:pPr>
            <a:r>
              <a:rPr lang="en-US" sz="1700" dirty="0">
                <a:solidFill>
                  <a:schemeClr val="accent6"/>
                </a:solidFill>
                <a:latin typeface="Courier New" pitchFamily="34" charset="0"/>
                <a:ea typeface="Courier New" pitchFamily="34" charset="-122"/>
                <a:cs typeface="Courier New" pitchFamily="34" charset="-120"/>
              </a:rPr>
              <a:t>24  </a:t>
            </a:r>
            <a:r>
              <a:rPr lang="en-US" sz="1700" dirty="0">
                <a:solidFill>
                  <a:schemeClr val="tx1"/>
                </a:solidFill>
                <a:latin typeface="Courier New" pitchFamily="34" charset="0"/>
                <a:ea typeface="Courier New" pitchFamily="34" charset="-122"/>
                <a:cs typeface="Courier New" pitchFamily="34" charset="-120"/>
              </a:rPr>
              <a:t>    </a:t>
            </a:r>
            <a:r>
              <a:rPr lang="en-US" sz="1700" b="1" dirty="0">
                <a:solidFill>
                  <a:schemeClr val="tx2"/>
                </a:solidFill>
                <a:latin typeface="Courier New" pitchFamily="34" charset="0"/>
                <a:ea typeface="Courier New" pitchFamily="34" charset="-122"/>
                <a:cs typeface="Courier New" pitchFamily="34" charset="-120"/>
              </a:rPr>
              <a:t>print</a:t>
            </a:r>
            <a:r>
              <a:rPr lang="en-US" sz="1700" dirty="0">
                <a:solidFill>
                  <a:schemeClr val="tx1"/>
                </a:solidFill>
                <a:latin typeface="Courier New" pitchFamily="34" charset="0"/>
                <a:ea typeface="Courier New" pitchFamily="34" charset="-122"/>
                <a:cs typeface="Courier New" pitchFamily="34" charset="-120"/>
              </a:rPr>
              <a:t>(ten_vung + </a:t>
            </a:r>
            <a:r>
              <a:rPr lang="en-US" sz="1700" dirty="0">
                <a:solidFill>
                  <a:schemeClr val="accent4"/>
                </a:solidFill>
                <a:latin typeface="Courier New" pitchFamily="34" charset="0"/>
                <a:ea typeface="Courier New" pitchFamily="34" charset="-122"/>
                <a:cs typeface="Courier New" pitchFamily="34" charset="-120"/>
              </a:rPr>
              <a:t>":"</a:t>
            </a:r>
            <a:r>
              <a:rPr lang="en-US" sz="1700" dirty="0">
                <a:solidFill>
                  <a:schemeClr val="tx1"/>
                </a:solidFill>
                <a:latin typeface="Courier New" pitchFamily="34" charset="0"/>
                <a:ea typeface="Courier New" pitchFamily="34" charset="-122"/>
                <a:cs typeface="Courier New" pitchFamily="34" charset="-120"/>
              </a:rPr>
              <a:t>, ti_le_dung(nhom), </a:t>
            </a:r>
            <a:r>
              <a:rPr lang="en-US" sz="1700" dirty="0">
                <a:solidFill>
                  <a:schemeClr val="accent4"/>
                </a:solidFill>
                <a:latin typeface="Courier New" pitchFamily="34" charset="0"/>
                <a:ea typeface="Courier New" pitchFamily="34" charset="-122"/>
                <a:cs typeface="Courier New" pitchFamily="34" charset="-120"/>
              </a:rPr>
              <a:t>"% trên"</a:t>
            </a:r>
            <a:r>
              <a:rPr lang="en-US" sz="1700" dirty="0">
                <a:solidFill>
                  <a:schemeClr val="tx1"/>
                </a:solidFill>
                <a:latin typeface="Courier New" pitchFamily="34" charset="0"/>
                <a:ea typeface="Courier New" pitchFamily="34" charset="-122"/>
                <a:cs typeface="Courier New" pitchFamily="34" charset="-120"/>
              </a:rPr>
              <a:t>, len(nhom), </a:t>
            </a:r>
            <a:r>
              <a:rPr lang="en-US" sz="1700" dirty="0">
                <a:solidFill>
                  <a:schemeClr val="accent4"/>
                </a:solidFill>
                <a:latin typeface="Courier New" pitchFamily="34" charset="0"/>
                <a:ea typeface="Courier New" pitchFamily="34" charset="-122"/>
                <a:cs typeface="Courier New" pitchFamily="34" charset="-120"/>
              </a:rPr>
              <a:t>"ảnh"</a:t>
            </a:r>
            <a:r>
              <a:rPr lang="en-US" sz="1700" dirty="0">
                <a:solidFill>
                  <a:schemeClr val="tx1"/>
                </a:solidFill>
                <a:latin typeface="Courier New" pitchFamily="34" charset="0"/>
                <a:ea typeface="Courier New" pitchFamily="34" charset="-122"/>
                <a:cs typeface="Courier New" pitchFamily="34" charset="-120"/>
              </a:rPr>
              <a:t>)</a:t>
            </a:r>
            <a:endParaRPr lang="en-US" sz="1700" dirty="0"/>
          </a:p>
        </p:txBody>
      </p:sp>
      <p:sp>
        <p:nvSpPr>
          <p:cNvPr id="6" name="Shape 3"/>
          <p:cNvSpPr/>
          <p:nvPr/>
        </p:nvSpPr>
        <p:spPr>
          <a:xfrm>
            <a:off x="548640" y="534924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868680" y="534924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Kết quả: chung 87%; đồng bằng 93,8%; miền núi 60%</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đo cái dễ đo thay cho cái cần đo</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Gần 1.000 học sinh luyện Toán với trợ lí AI trả lời trực tiếp.</a:t>
            </a:r>
            <a:endParaRPr lang="en-US" sz="2800" dirty="0"/>
          </a:p>
          <a:p>
            <a:pPr marL="0" indent="0">
              <a:buNone/>
            </a:pPr>
            <a:endParaRPr lang="en-US" sz="2800" dirty="0"/>
          </a:p>
          <a:p>
            <a:pPr marL="0" indent="0">
              <a:buNone/>
            </a:pPr>
            <a:r>
              <a:rPr lang="en-US" sz="2800" dirty="0">
                <a:solidFill>
                  <a:schemeClr val="tx1"/>
                </a:solidFill>
              </a:rPr>
              <a:t>Đo trong lúc luyện tập: làm bài tốt hơn 48%.</a:t>
            </a:r>
            <a:endParaRPr lang="en-US" sz="2800" dirty="0"/>
          </a:p>
          <a:p>
            <a:pPr marL="0" indent="0">
              <a:buNone/>
            </a:pPr>
            <a:endParaRPr lang="en-US" sz="2800" dirty="0"/>
          </a:p>
          <a:p>
            <a:pPr marL="0" indent="0">
              <a:buNone/>
            </a:pPr>
            <a:r>
              <a:rPr lang="en-US" sz="2800" dirty="0">
                <a:solidFill>
                  <a:schemeClr val="tx1"/>
                </a:solidFill>
              </a:rPr>
              <a:t>Đo bằng bài kiểm tra không có AI: kém hơn 17%.</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Cùng một công cụ, hai cách đo, hai kết luận ngược nhau</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Đánh giá từ số liệu thử nghiệm</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21 phút · Ba hồ sơ số liệu</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đọc và tính số liệu</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13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Hoàn thành Bảng đánh giá hiệu quả cho hồ sơ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Tính con số chung</a:t>
            </a:r>
            <a:endParaRPr lang="en-US" sz="2800" dirty="0"/>
          </a:p>
          <a:p>
            <a:pPr marL="342900" indent="-342900">
              <a:spcAft>
                <a:spcPts val="1200"/>
              </a:spcAft>
              <a:buSzPct val="100000"/>
              <a:buFont typeface="+mj-lt"/>
              <a:buAutoNum type="arabicPeriod"/>
            </a:pPr>
            <a:r>
              <a:rPr lang="en-US" sz="2800" dirty="0">
                <a:solidFill>
                  <a:schemeClr val="tx1"/>
                </a:solidFill>
              </a:rPr>
              <a:t>Tính theo từng nhóm, từng ngày, từng loại câu hỏi</a:t>
            </a:r>
            <a:endParaRPr lang="en-US" sz="2800" dirty="0"/>
          </a:p>
          <a:p>
            <a:pPr marL="342900" indent="-342900">
              <a:spcAft>
                <a:spcPts val="1200"/>
              </a:spcAft>
              <a:buSzPct val="100000"/>
              <a:buFont typeface="+mj-lt"/>
              <a:buAutoNum type="arabicPeriod"/>
            </a:pPr>
            <a:r>
              <a:rPr lang="en-US" sz="2800" dirty="0">
                <a:solidFill>
                  <a:schemeClr val="tx1"/>
                </a:solidFill>
              </a:rPr>
              <a:t>Chỉ ra điểm yếu mà con số chung che mất</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Kết luận</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Nên dùng, dùng có điều kiện, hay chưa nên dùng? Kèm một đề xuất cải tiến.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Hiệu quả không chỉ là độ chính xác</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Tốc độ phản hồi</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Mức hài lòng của người dùng</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Công bằng giữa các nhóm</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Chi phí vận hành</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Và: hệ thống có đạt được mục đích ban đầu không?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Thử bằng </a:t>
            </a:r>
            <a:r>
              <a:rPr lang="en-US" sz="3200" b="1" dirty="0">
                <a:solidFill>
                  <a:schemeClr val="tx2"/>
                </a:solidFill>
              </a:rPr>
              <a:t>dữ liệu mới</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Đo theo </a:t>
            </a:r>
            <a:r>
              <a:rPr lang="en-US" sz="3200" b="1" dirty="0">
                <a:solidFill>
                  <a:schemeClr val="tx2"/>
                </a:solidFill>
              </a:rPr>
              <a:t>mục tiêu</a:t>
            </a:r>
            <a:r>
              <a:rPr lang="en-US" sz="3200" dirty="0">
                <a:solidFill>
                  <a:schemeClr val="tx1"/>
                </a:solidFill>
              </a:rPr>
              <a:t> của hệ thống</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Xem cả </a:t>
            </a:r>
            <a:r>
              <a:rPr lang="en-US" sz="3200" b="1" dirty="0">
                <a:solidFill>
                  <a:schemeClr val="tx2"/>
                </a:solidFill>
              </a:rPr>
              <a:t>chung lẫn từng nhóm</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Nhận định trung thực: nêu </a:t>
            </a:r>
            <a:r>
              <a:rPr lang="en-US" sz="3200" b="1" dirty="0">
                <a:solidFill>
                  <a:schemeClr val="tx2"/>
                </a:solidFill>
              </a:rPr>
              <a:t>cả điểm mạnh lẫn điểm yếu</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Nêu một ví dụ về cách đánh giá hiệu quả cho mỗi hệ thống trên phiếu.</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Một ứng dụng chấm phát âm được thử với 200 học sinh, tỉ lệ chấm đúng chung là 90%. Em cần xem thêm số liệu nào trước khi kết luận ứng dụng này tốt? Vì sao?</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636045946"/>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1698</Words>
  <Application>Microsoft Office PowerPoint</Application>
  <PresentationFormat>Widescreen</PresentationFormat>
  <Paragraphs>189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GiaoDucAI</vt:lpstr>
      <vt:lpstr>Hệ thống AI này tốt đến đâu?</vt:lpstr>
      <vt:lpstr>Hôm nay chúng ta làm gì?</vt:lpstr>
      <vt:lpstr>“Chính xác 95%” nghĩa là gì?</vt:lpstr>
      <vt:lpstr>Nguyên tắc 1: thử bằng dữ liệu mới</vt:lpstr>
      <vt:lpstr>Nguyên tắc 2: đo theo mục tiêu</vt:lpstr>
      <vt:lpstr>Phân loại: không phải lỗi nào cũng như nhau</vt:lpstr>
      <vt:lpstr>Kiểu sai nào đáng lo hơn? Tùy mục tiêu</vt:lpstr>
      <vt:lpstr>Dự đoán: lệch bao nhiêu, lệch khi nào</vt:lpstr>
      <vt:lpstr>Nguyên tắc 3: xem cả chung lẫn từng nhóm</vt:lpstr>
      <vt:lpstr>Tính tỉ lệ đúng theo từng nhóm</vt:lpstr>
      <vt:lpstr>Chuyện có thật: đo cái dễ đo thay cho cái cần đo</vt:lpstr>
      <vt:lpstr>Đánh giá từ số liệu thử nghiệm</vt:lpstr>
      <vt:lpstr>Nhiệm vụ nhóm: đọc và tính số liệu</vt:lpstr>
      <vt:lpstr>Hiệu quả không chỉ là độ chính xác</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12.9. Hệ thống AI này tốt đến đâu?</dc:title>
  <dc:subject>Trí tuệ nhân tạo</dc:subject>
  <cp:lastModifiedBy>Phạm Văn Tú</cp:lastModifiedBy>
  <cp:revision>1</cp:revision>
  <dcterms:created xsi:type="dcterms:W3CDTF">2026-10-08T10:45:42Z</dcterms:created>
  <dcterms:modified xsi:type="dcterms:W3CDTF">2026-10-10T03:45:46Z</dcterms:modified>
  <dc:description>Email: phamtund@gmail.com</dc:description>
  <dc:creator>Phạm Văn Tú</dc:creator>
  <cp:category>Trí tuệ nhân tạo</cp:category>
  <cp:keywords>Trí tuệ nhân tạo</cp:keywords>
</cp:coreProperties>
</file>