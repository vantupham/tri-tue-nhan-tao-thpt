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89F6EEBB-ACCD-9D9F-187A-EA926D0A6505}">
          <p14:sldIdLst>
            <p14:sldId id="256"/>
            <p14:sldId id="257"/>
            <p14:sldId id="258"/>
            <p14:sldId id="259"/>
          </p14:sldIdLst>
        </p14:section>
        <p14:section name="Tám giai đoạn của vòng đời" id="{C9FA106A-6E90-3B06-D7DB-D4CD1CBB9576}">
          <p14:sldIdLst>
            <p14:sldId id="260"/>
            <p14:sldId id="261"/>
            <p14:sldId id="262"/>
            <p14:sldId id="263"/>
            <p14:sldId id="264"/>
            <p14:sldId id="265"/>
          </p14:sldIdLst>
        </p14:section>
        <p14:section name="Phân tích vòng đời một hệ thống" id="{873B4C9B-A3EA-AA54-F509-74044D863A75}">
          <p14:sldIdLst>
            <p14:sldId id="266"/>
            <p14:sldId id="267"/>
            <p14:sldId id="268"/>
            <p14:sldId id="269"/>
          </p14:sldIdLst>
        </p14:section>
        <p14:section name="Tổng kết" id="{483E8069-5030-7A0D-9C89-9AAFB36D73D6}">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F256B0-D507-4884-BA0E-63968ECFCE98}" v="1" dt="2026-10-10T03:40:34.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custSel addSld modSld">
      <pc:chgData name="Phạm Văn Tú" userId="67199c852bdd6d1b" providerId="LiveId" clId="{CB377567-0116-4044-BB7C-6E46B7A5C596}" dt="2026-10-10T03:40:52.169" v="5" actId="1076"/>
      <pc:docMkLst>
        <pc:docMk/>
      </pc:docMkLst>
      <pc:sldChg chg="modSp mod">
        <pc:chgData name="Phạm Văn Tú" userId="67199c852bdd6d1b" providerId="LiveId" clId="{CB377567-0116-4044-BB7C-6E46B7A5C596}" dt="2026-10-10T03:40:03.919" v="1" actId="20577"/>
        <pc:sldMkLst>
          <pc:docMk/>
          <pc:sldMk cId="0" sldId="256"/>
        </pc:sldMkLst>
        <pc:spChg chg="mod">
          <ac:chgData name="Phạm Văn Tú" userId="67199c852bdd6d1b" providerId="LiveId" clId="{CB377567-0116-4044-BB7C-6E46B7A5C596}" dt="2026-10-10T03:40:03.919" v="1" actId="20577"/>
          <ac:spMkLst>
            <pc:docMk/>
            <pc:sldMk cId="0" sldId="256"/>
            <ac:spMk id="3" creationId="{00000000-0000-0000-0000-000000000000}"/>
          </ac:spMkLst>
        </pc:spChg>
      </pc:sldChg>
      <pc:sldChg chg="addSp delSp modSp add mod">
        <pc:chgData name="Phạm Văn Tú" userId="67199c852bdd6d1b" providerId="LiveId" clId="{CB377567-0116-4044-BB7C-6E46B7A5C596}" dt="2026-10-10T03:40:52.169" v="5" actId="1076"/>
        <pc:sldMkLst>
          <pc:docMk/>
          <pc:sldMk cId="3585364132" sldId="272"/>
        </pc:sldMkLst>
        <pc:picChg chg="add mod">
          <ac:chgData name="Phạm Văn Tú" userId="67199c852bdd6d1b" providerId="LiveId" clId="{CB377567-0116-4044-BB7C-6E46B7A5C596}" dt="2026-10-10T03:40:52.169" v="5" actId="1076"/>
          <ac:picMkLst>
            <pc:docMk/>
            <pc:sldMk cId="3585364132" sldId="272"/>
            <ac:picMk id="39" creationId="{AB702F8E-1303-8489-B184-517A579519C9}"/>
          </ac:picMkLst>
        </pc:picChg>
        <pc:picChg chg="del">
          <ac:chgData name="Phạm Văn Tú" userId="67199c852bdd6d1b" providerId="LiveId" clId="{CB377567-0116-4044-BB7C-6E46B7A5C596}" dt="2026-10-10T03:40:37.775" v="3" actId="478"/>
          <ac:picMkLst>
            <pc:docMk/>
            <pc:sldMk cId="3585364132" sldId="272"/>
            <ac:picMk id="40" creationId="{89A7351B-B717-C7D6-1B54-81AA1B57E5E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8213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phiếu khảo sát đầu năm, thẻ tám giai đoạn (xáo trộn), hồ sơ hệ thống cho các nhóm, giấy A3,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đầu năm: dành vài phút cho phiếu khảo sát.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(7 phút). Tình huống giả định. Hỏi thêm: ai lẽ ra phải phát hiện? Ghi dự đoán của lớp lên bảng; sẽ gắn lại vào các giai đoạn ở hoạt động 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hoạt động 1. Lỗi người dùng chịu hôm nay có thể đã được gieo từ nhiều tháng trước.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Phát thẻ tám giai đoạn đã xáo trộn; các cặp xếp thứ tự 2 phút rồi mới chiếu hình.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dấu tròn là một điểm kiểm soát: chỗ phải có người xem xét và kí nhận trước khi đi tiếp. Đường nét đứt: kết quả giám sát và xử lí sự cố quay về các giai đoạn trước. Quay lại tình huống mở đầu: gắn dự đoán của lớp vào giai đoạn 2, 4, 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giai đoạn có câu hỏi về kiểm soát và trách nhiệm (bảng đầy đủ trong Tài liệu học tập). Dễ nhầm: 'các giai đoạn trước khi ra mắt là việc của kĩ sư'.</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Khái niệm lỗ hổng kiểm soát: bước quan trọng không có con người CỤ THỂ vừa có quyền kiểm soát thật vừa chịu trách nhiệm. 'Công ti chịu trách nhiệm' chưa đủ; phải trả lời: ai, ở vị trí nào, làm gì, khi nào. Liên hệ: theo nội dung đã công bố của Luật Trí tuệ nhân tạo, hệ thống rủi ro cao phải được thiết kế để con người giám sát, can thiệp được và phải lưu hồ sơ kĩ thuật, nhật kí hoạt động.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điều này không phải lúc nào cũng nằm ở cùng một người.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lỗ hổng ở giai đoạn 4 (chưa thử với người dùng có ý xấu) và 3 (thiết kế cho hệ thống tự học từ người dùng mà không có ai xem xét ở giữa). Làm đúng ở giai đoạn 7: có người có quyền dừng và đã dừng nhanh, có người giải thích công khai. Nguồn: bài viết của Microsoft ngày 25/3/2016.</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Phát hồ sơ hệ thống cho các nhóm.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mẫu nhanh với ứng dụng chấm phát âm: giai đoạn 2 không ai kiểm tra tính đại diện; giai đoạn 4 nhóm kĩ thuật tự thử, tự xác nhận; giai đoạn 6 không ai đọc góp ý; giai đoạn 7 chưa có quy trình.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phút báo cáo. Bảng A3 là minh chứng đánh giá (yêu cầu cần đạt 12.A1.1).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hãng hàng không Canada (2024) lập luận chatbot tự chịu trách nhiệm và bị bác bỏ (vụ Moffatt v. Air Canada).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câu hỏi đi cùng mọi giai đoạn: ai kiểm soát, ai chịu trách nhiệm.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Các việc của câu 1 in trên Phiếu ra cửa. Dặn dò: phần Vận dụng (tìm một bản tin về sự cố AI và phân tích theo vòng đời).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357289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12.1 · Vòng đời hệ thống AI và các điểm kiểm soát của con người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Vòng đời hệ thống AI và các điểm kiểm soát của con người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12.1 · Chuyên đề 12.1: Quyền kiểm soát và trách nhiệm giải trình trong vòng đời AI</a:t>
            </a:r>
            <a:endParaRPr lang="en-US" sz="2400" dirty="0"/>
          </a:p>
          <a:p>
            <a:pPr marL="0" indent="0" algn="l">
              <a:buNone/>
            </a:pPr>
            <a:r>
              <a:rPr lang="en-US" sz="2400" dirty="0">
                <a:solidFill>
                  <a:schemeClr val="accent5"/>
                </a:solidFill>
              </a:rPr>
              <a:t>Giáo dục trí tuệ nhân tạo lớp 12 </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Kể được</a:t>
            </a:r>
            <a:r>
              <a:rPr lang="en-US" sz="2800" dirty="0">
                <a:solidFill>
                  <a:schemeClr val="tx1"/>
                </a:solidFill>
              </a:rPr>
              <a:t> tám giai đoạn trong vòng đời một hệ thống AI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Phân biệt</a:t>
            </a:r>
            <a:r>
              <a:rPr lang="en-US" sz="2800" dirty="0">
                <a:solidFill>
                  <a:schemeClr val="tx1"/>
                </a:solidFill>
              </a:rPr>
              <a:t> quyền kiểm soát với chịu trách nhiệm</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Phân tích</a:t>
            </a:r>
            <a:r>
              <a:rPr lang="en-US" sz="2800" dirty="0">
                <a:solidFill>
                  <a:schemeClr val="tx1"/>
                </a:solidFill>
              </a:rPr>
              <a:t> một hệ thống để tìm “lỗ hổng kiểm soát”</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7'</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Lỗi bắt đầu từ khi nào?</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13'</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Tám giai đoạn</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20'</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Phân tích vòng đời</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Lỗi này bắt đầu từ khi nào?</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Một ứng dụng chấm phát âm tiếng Anh cho điểm thấp bất thường với học sinh nói giọng một số vùng miền.</a:t>
            </a:r>
            <a:endParaRPr lang="en-US" sz="2800" dirty="0"/>
          </a:p>
          <a:p>
            <a:pPr marL="0" indent="0">
              <a:buNone/>
            </a:pPr>
            <a:endParaRPr lang="en-US" sz="2800" dirty="0"/>
          </a:p>
          <a:p>
            <a:pPr marL="0" indent="0">
              <a:buNone/>
            </a:pPr>
            <a:r>
              <a:rPr lang="en-US" sz="2800" dirty="0">
                <a:solidFill>
                  <a:schemeClr val="tx1"/>
                </a:solidFill>
              </a:rPr>
              <a:t>Thầy cô và học sinh phản ánh suốt ba tháng. Không ai trả lời.</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Lỗi bắt đầu lúc học sinh dùng, lúc ra mắt, hay sớm hơn nữa?</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Một lỗi, ba chỗ được “gieo”</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Khâu dữ liệu</a:t>
            </a:r>
            <a:endParaRPr lang="en-US" sz="2400" dirty="0"/>
          </a:p>
          <a:p>
            <a:pPr marL="0" indent="0">
              <a:spcAft>
                <a:spcPts val="800"/>
              </a:spcAft>
              <a:buNone/>
            </a:pPr>
            <a:r>
              <a:rPr lang="en-US" sz="2400" dirty="0">
                <a:solidFill>
                  <a:schemeClr val="tx1"/>
                </a:solidFill>
              </a:rPr>
              <a:t>Mô hình học chủ yếu bằng giọng của một số vùng.</a:t>
            </a:r>
            <a:endParaRPr lang="en-US" sz="2400" dirty="0"/>
          </a:p>
        </p:txBody>
      </p:sp>
      <p:sp>
        <p:nvSpPr>
          <p:cNvPr id="6" name="Shape 3"/>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Khâu thử nghiệm</a:t>
            </a:r>
            <a:endParaRPr lang="en-US" sz="2400" dirty="0"/>
          </a:p>
          <a:p>
            <a:pPr marL="0" indent="0">
              <a:spcAft>
                <a:spcPts val="800"/>
              </a:spcAft>
              <a:buNone/>
            </a:pPr>
            <a:r>
              <a:rPr lang="en-US" sz="2400" dirty="0">
                <a:solidFill>
                  <a:schemeClr val="tx1"/>
                </a:solidFill>
              </a:rPr>
              <a:t>Chỉ thử với học sinh ở một thành phố.</a:t>
            </a:r>
            <a:endParaRPr lang="en-US" sz="2400" dirty="0"/>
          </a:p>
        </p:txBody>
      </p:sp>
      <p:sp>
        <p:nvSpPr>
          <p:cNvPr id="8" name="Shape 5"/>
          <p:cNvSpPr/>
          <p:nvPr/>
        </p:nvSpPr>
        <p:spPr>
          <a:xfrm>
            <a:off x="810768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38200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Khâu giám sát</a:t>
            </a:r>
            <a:endParaRPr lang="en-US" sz="2400" dirty="0"/>
          </a:p>
          <a:p>
            <a:pPr marL="0" indent="0">
              <a:spcAft>
                <a:spcPts val="800"/>
              </a:spcAft>
              <a:buNone/>
            </a:pPr>
            <a:r>
              <a:rPr lang="en-US" sz="2400" dirty="0">
                <a:solidFill>
                  <a:schemeClr val="tx1"/>
                </a:solidFill>
              </a:rPr>
              <a:t>Người dùng phản ánh nhưng không ai đọc.</a:t>
            </a:r>
            <a:endParaRPr lang="en-US" sz="2400" dirty="0"/>
          </a:p>
        </p:txBody>
      </p:sp>
      <p:sp>
        <p:nvSpPr>
          <p:cNvPr id="10" name="Shape 7"/>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Muốn kiểm soát AI, phải nhìn cả cuộc đời của hệ thống</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Tám giai đoạn của vòng đời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1 · 13 phút · Vẽ sơ đồ vòng đời vào vở</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Vòng đời của một hệ thống AI</a:t>
            </a:r>
            <a:endParaRPr lang="en-US" sz="3800" dirty="0"/>
          </a:p>
        </p:txBody>
      </p:sp>
      <p:pic>
        <p:nvPicPr>
          <p:cNvPr id="4" name="Image 0" descr="Vòng đời của một hệ thống AI"/>
          <p:cNvPicPr>
            <a:picLocks noChangeAspect="1"/>
          </p:cNvPicPr>
          <p:nvPr/>
        </p:nvPicPr>
        <p:blipFill>
          <a:blip r:embed="rId3"/>
          <a:stretch>
            <a:fillRect/>
          </a:stretch>
        </p:blipFill>
        <p:spPr>
          <a:xfrm>
            <a:off x="1417320" y="1463040"/>
            <a:ext cx="9326880"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giai đoạn hay bị xem nhẹ</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Xác định vấn đề</a:t>
            </a:r>
            <a:endParaRPr lang="en-US" sz="2400" dirty="0"/>
          </a:p>
          <a:p>
            <a:pPr marL="0" indent="0">
              <a:spcAft>
                <a:spcPts val="800"/>
              </a:spcAft>
              <a:buNone/>
            </a:pPr>
            <a:r>
              <a:rPr lang="en-US" sz="2400" dirty="0">
                <a:solidFill>
                  <a:schemeClr val="tx1"/>
                </a:solidFill>
              </a:rPr>
              <a:t>Có thể kết thúc bằng câu “không cần AI”.</a:t>
            </a:r>
            <a:endParaRPr lang="en-US" sz="2400" dirty="0"/>
          </a:p>
          <a:p>
            <a:pPr marL="0" indent="0">
              <a:buNone/>
            </a:pPr>
            <a:r>
              <a:rPr lang="en-US" sz="2400" b="1" dirty="0">
                <a:solidFill>
                  <a:schemeClr val="accent4"/>
                </a:solidFill>
              </a:rPr>
              <a:t>Điểm kiểm soát sớm nhất.</a:t>
            </a:r>
            <a:endParaRPr lang="en-US" sz="24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6</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Giám sát</a:t>
            </a:r>
            <a:endParaRPr lang="en-US" sz="2400" dirty="0"/>
          </a:p>
          <a:p>
            <a:pPr marL="0" indent="0">
              <a:spcAft>
                <a:spcPts val="800"/>
              </a:spcAft>
              <a:buNone/>
            </a:pPr>
            <a:r>
              <a:rPr lang="en-US" sz="2400" dirty="0">
                <a:solidFill>
                  <a:schemeClr val="tx1"/>
                </a:solidFill>
              </a:rPr>
              <a:t>Dài hơn mọi giai đoạn trước cộng lại.</a:t>
            </a:r>
            <a:endParaRPr lang="en-US" sz="2400" dirty="0"/>
          </a:p>
          <a:p>
            <a:pPr marL="0" indent="0">
              <a:buNone/>
            </a:pPr>
            <a:r>
              <a:rPr lang="en-US" sz="2400" b="1" dirty="0">
                <a:solidFill>
                  <a:schemeClr val="accent4"/>
                </a:solidFill>
              </a:rPr>
              <a:t>Ai đọc phản ánh?</a:t>
            </a:r>
            <a:endParaRPr lang="en-US" sz="24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8</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Kết thúc sử dụng</a:t>
            </a:r>
            <a:endParaRPr lang="en-US" sz="2400" dirty="0"/>
          </a:p>
          <a:p>
            <a:pPr marL="0" indent="0">
              <a:spcAft>
                <a:spcPts val="800"/>
              </a:spcAft>
              <a:buNone/>
            </a:pPr>
            <a:r>
              <a:rPr lang="en-US" sz="2400" dirty="0">
                <a:solidFill>
                  <a:schemeClr val="tx1"/>
                </a:solidFill>
              </a:rPr>
              <a:t>Dữ liệu của học sinh đi đâu khi ứng dụng đóng cửa?</a:t>
            </a:r>
            <a:endParaRPr lang="en-US" sz="2400" dirty="0"/>
          </a:p>
          <a:p>
            <a:pPr marL="0" indent="0">
              <a:buNone/>
            </a:pPr>
            <a:r>
              <a:rPr lang="en-US" sz="2400" b="1" dirty="0">
                <a:solidFill>
                  <a:schemeClr val="accent4"/>
                </a:solidFill>
              </a:rPr>
              <a:t>Thường bị quên.</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Hai điều phải có ở mỗi giai đoạn</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Quyền kiểm soát</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Xem xét</a:t>
            </a:r>
            <a:endParaRPr lang="en-US" sz="2400" dirty="0"/>
          </a:p>
          <a:p>
            <a:pPr marL="342900" indent="-342900">
              <a:spcAft>
                <a:spcPts val="1000"/>
              </a:spcAft>
              <a:buSzPct val="100000"/>
              <a:buChar char="•"/>
            </a:pPr>
            <a:r>
              <a:rPr lang="en-US" sz="2400" dirty="0">
                <a:solidFill>
                  <a:schemeClr val="tx1"/>
                </a:solidFill>
              </a:rPr>
              <a:t>Can thiệp</a:t>
            </a:r>
            <a:endParaRPr lang="en-US" sz="2400" dirty="0"/>
          </a:p>
          <a:p>
            <a:pPr marL="342900" indent="-342900">
              <a:spcAft>
                <a:spcPts val="1000"/>
              </a:spcAft>
              <a:buSzPct val="100000"/>
              <a:buChar char="•"/>
            </a:pPr>
            <a:r>
              <a:rPr lang="en-US" sz="2400" dirty="0">
                <a:solidFill>
                  <a:schemeClr val="tx1"/>
                </a:solidFill>
              </a:rPr>
              <a:t>Dừng lại</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Chịu trách nhiệm</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Đứng ra giải thích</a:t>
            </a:r>
            <a:endParaRPr lang="en-US" sz="2800" dirty="0"/>
          </a:p>
          <a:p>
            <a:pPr marL="342900" indent="-342900">
              <a:spcAft>
                <a:spcPts val="1000"/>
              </a:spcAft>
              <a:buSzPct val="100000"/>
              <a:buChar char="•"/>
            </a:pPr>
            <a:r>
              <a:rPr lang="en-US" sz="2800" dirty="0">
                <a:solidFill>
                  <a:schemeClr val="bg1"/>
                </a:solidFill>
              </a:rPr>
              <a:t>Khắc phục hậu quả</a:t>
            </a:r>
            <a:endParaRPr lang="en-US" sz="28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Thiếu người cụ thể giữ cả hai: một lỗ hổng kiểm soát</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Có tên nhưng chưa chắc có quyền</a:t>
            </a:r>
            <a:endParaRPr lang="en-US" sz="3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66751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868680">
                <a:tc>
                  <a:txBody>
                    <a:bodyPr/>
                    <a:lstStyle/>
                    <a:p>
                      <a:pPr marL="0" indent="0" algn="ctr">
                        <a:buNone/>
                      </a:pPr>
                      <a:r>
                        <a:rPr lang="en-US" sz="2400" b="1" dirty="0">
                          <a:solidFill>
                            <a:schemeClr val="bg1"/>
                          </a:solidFill>
                        </a:rPr>
                        <a:t>Tình huống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Vấn đề</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400" b="1" dirty="0">
                          <a:solidFill>
                            <a:schemeClr val="tx1"/>
                          </a:solidFill>
                        </a:rPr>
                        <a:t>Nhân viên phải bấm “duyệt” 300 hồ sơ mỗi giờ</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Trách nhiệm mà không có quyền thật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400" b="1" dirty="0">
                          <a:solidFill>
                            <a:schemeClr val="tx1"/>
                          </a:solidFill>
                        </a:rPr>
                        <a:t>Kĩ sư sửa mô hình bất cứ lúc nào, không ai duyệt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Quyền mà không kèm trách nhiệm</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400" b="1" dirty="0">
                          <a:solidFill>
                            <a:schemeClr val="tx1"/>
                          </a:solidFill>
                        </a:rPr>
                        <a:t>Mục “Góp ý” không ai được phân công đọc</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Không có cả hai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chatbot bị gỡ sau chưa đầy một ngày</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Năm 2016, một hãng công nghệ đưa lên mạng xã hội một chatbot học từ các cuộc trò chuyện với người dùng.</a:t>
            </a:r>
            <a:endParaRPr lang="en-US" sz="2800" dirty="0"/>
          </a:p>
          <a:p>
            <a:pPr marL="0" indent="0">
              <a:buNone/>
            </a:pPr>
            <a:endParaRPr lang="en-US" sz="2800" dirty="0"/>
          </a:p>
          <a:p>
            <a:pPr marL="0" indent="0">
              <a:buNone/>
            </a:pPr>
            <a:r>
              <a:rPr lang="en-US" sz="2800" dirty="0">
                <a:solidFill>
                  <a:schemeClr val="tx1"/>
                </a:solidFill>
              </a:rPr>
              <a:t>Một nhóm người dùng cố tình “dạy” nó những phát ngôn xúc phạm. Hãng gỡ nó xuống và xin lỗi.</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Lỗ hổng nằm ở giai đoạn nào? Giai đoạn nào đã làm đúng?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Phân tích vòng đời một hệ thống</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20 phút · Làm việc nhóm trên giấy A3</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Cách phân tích: bảng tám dòng, hai câu hỏi</a:t>
            </a:r>
            <a:endParaRPr lang="en-US" sz="3800" dirty="0"/>
          </a:p>
        </p:txBody>
      </p:sp>
      <p:sp>
        <p:nvSpPr>
          <p:cNvPr id="4" name="Shape 1"/>
          <p:cNvSpPr/>
          <p:nvPr/>
        </p:nvSpPr>
        <p:spPr>
          <a:xfrm>
            <a:off x="548640" y="228600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228600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2148840"/>
          </a:xfrm>
          <a:prstGeom prst="rect">
            <a:avLst/>
          </a:prstGeom>
          <a:noFill/>
          <a:ln/>
        </p:spPr>
        <p:txBody>
          <a:bodyPr wrap="square" lIns="0" tIns="0" rIns="0" bIns="0" rtlCol="0" anchor="ctr"/>
          <a:lstStyle/>
          <a:p>
            <a:pPr marL="0" indent="0">
              <a:buNone/>
            </a:pPr>
            <a:r>
              <a:rPr lang="en-US" sz="3200" dirty="0">
                <a:solidFill>
                  <a:schemeClr val="tx1"/>
                </a:solidFill>
              </a:rPr>
              <a:t>Ở giai đoạn này, </a:t>
            </a:r>
            <a:r>
              <a:rPr lang="en-US" sz="3200" b="1" dirty="0">
                <a:solidFill>
                  <a:schemeClr val="tx2"/>
                </a:solidFill>
              </a:rPr>
              <a:t>ai kiểm soát</a:t>
            </a:r>
            <a:r>
              <a:rPr lang="en-US" sz="3200" dirty="0">
                <a:solidFill>
                  <a:schemeClr val="tx1"/>
                </a:solidFill>
              </a:rPr>
              <a:t>?</a:t>
            </a:r>
            <a:endParaRPr lang="en-US" sz="3200" dirty="0"/>
          </a:p>
        </p:txBody>
      </p:sp>
      <p:sp>
        <p:nvSpPr>
          <p:cNvPr id="7" name="Shape 4"/>
          <p:cNvSpPr/>
          <p:nvPr/>
        </p:nvSpPr>
        <p:spPr>
          <a:xfrm>
            <a:off x="548640" y="45262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45262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794760"/>
            <a:ext cx="6949440" cy="2148840"/>
          </a:xfrm>
          <a:prstGeom prst="rect">
            <a:avLst/>
          </a:prstGeom>
          <a:noFill/>
          <a:ln/>
        </p:spPr>
        <p:txBody>
          <a:bodyPr wrap="square" lIns="0" tIns="0" rIns="0" bIns="0" rtlCol="0" anchor="ctr"/>
          <a:lstStyle/>
          <a:p>
            <a:pPr marL="0" indent="0">
              <a:buNone/>
            </a:pPr>
            <a:r>
              <a:rPr lang="en-US" sz="3200" dirty="0">
                <a:solidFill>
                  <a:schemeClr val="tx1"/>
                </a:solidFill>
              </a:rPr>
              <a:t>Ở giai đoạn này, </a:t>
            </a:r>
            <a:r>
              <a:rPr lang="en-US" sz="3200" b="1" dirty="0">
                <a:solidFill>
                  <a:schemeClr val="tx2"/>
                </a:solidFill>
              </a:rPr>
              <a:t>ai chịu trách nhiệm</a:t>
            </a:r>
            <a:r>
              <a:rPr lang="en-US" sz="3200" dirty="0">
                <a:solidFill>
                  <a:schemeClr val="tx1"/>
                </a:solidFill>
              </a:rPr>
              <a:t>?</a:t>
            </a:r>
            <a:endParaRPr lang="en-US" sz="3200" dirty="0"/>
          </a:p>
        </p:txBody>
      </p:sp>
      <p:sp>
        <p:nvSpPr>
          <p:cNvPr id="10" name="Shape 7"/>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1" name="Text 8"/>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Câu trả lời là “không ai”, “chưa rõ”, “hệ thống tự làm”: đó là một lỗ hổng.</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tìm lỗ hổng và vá</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13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Lập bảng phân tích vòng đời cho hệ thống của nhóm</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Điền tám dòng: ai kiểm soát, ai chịu trách nhiệm</a:t>
            </a:r>
            <a:endParaRPr lang="en-US" sz="2800" dirty="0"/>
          </a:p>
          <a:p>
            <a:pPr marL="342900" indent="-342900">
              <a:spcAft>
                <a:spcPts val="1200"/>
              </a:spcAft>
              <a:buSzPct val="100000"/>
              <a:buFont typeface="+mj-lt"/>
              <a:buAutoNum type="arabicPeriod"/>
            </a:pPr>
            <a:r>
              <a:rPr lang="en-US" sz="2800" dirty="0">
                <a:solidFill>
                  <a:schemeClr val="tx1"/>
                </a:solidFill>
              </a:rPr>
              <a:t>Đánh dấu các lỗ hổng kiểm soát</a:t>
            </a:r>
            <a:endParaRPr lang="en-US" sz="2800" dirty="0"/>
          </a:p>
          <a:p>
            <a:pPr marL="342900" indent="-342900">
              <a:spcAft>
                <a:spcPts val="1200"/>
              </a:spcAft>
              <a:buSzPct val="100000"/>
              <a:buFont typeface="+mj-lt"/>
              <a:buAutoNum type="arabicPeriod"/>
            </a:pPr>
            <a:r>
              <a:rPr lang="en-US" sz="2800" dirty="0">
                <a:solidFill>
                  <a:schemeClr val="tx1"/>
                </a:solidFill>
              </a:rPr>
              <a:t>Đề xuất cách vá cho hai lỗ hổng nghiêm trọng nhất</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Cách vá tốt</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Nêu người cụ thể: ai làm gì, khi nào. Ví dụ: một người ngoài nhóm kiểm tra dữ liệu trước khi huấn luyện.</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Vì sao phải là con người?</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2400" b="1" dirty="0">
                <a:solidFill>
                  <a:schemeClr val="tx2"/>
                </a:solidFill>
              </a:rPr>
              <a:t>Chỉ con người chịu trách nhiệm được</a:t>
            </a:r>
            <a:endParaRPr lang="en-US" sz="24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Xin lỗi, bồi thường</a:t>
            </a:r>
            <a:endParaRPr lang="en-US" sz="2800" dirty="0"/>
          </a:p>
          <a:p>
            <a:pPr marL="342900" indent="-342900">
              <a:spcAft>
                <a:spcPts val="1000"/>
              </a:spcAft>
              <a:buSzPct val="100000"/>
              <a:buChar char="•"/>
            </a:pPr>
            <a:r>
              <a:rPr lang="en-US" sz="2800" dirty="0">
                <a:solidFill>
                  <a:schemeClr val="tx1"/>
                </a:solidFill>
              </a:rPr>
              <a:t>Ra trước cơ quan có thẩm quyền</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2400" b="1" dirty="0">
                <a:solidFill>
                  <a:schemeClr val="accent2"/>
                </a:solidFill>
              </a:rPr>
              <a:t>Chỉ con người cân nhắc được giá trị</a:t>
            </a:r>
            <a:endParaRPr lang="en-US" sz="24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Điều gì quan trọng hơn điều gì</a:t>
            </a:r>
            <a:endParaRPr lang="en-US" sz="2800" dirty="0"/>
          </a:p>
          <a:p>
            <a:pPr marL="342900" indent="-342900">
              <a:spcAft>
                <a:spcPts val="1000"/>
              </a:spcAft>
              <a:buSzPct val="100000"/>
              <a:buChar char="•"/>
            </a:pPr>
            <a:r>
              <a:rPr lang="en-US" sz="2800" dirty="0">
                <a:solidFill>
                  <a:schemeClr val="bg1"/>
                </a:solidFill>
              </a:rPr>
              <a:t>Dữ liệu không trả lời thay</a:t>
            </a:r>
            <a:endParaRPr lang="en-US" sz="28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Phân tích vòng đời để vá lỗ hổng, không để bác bỏ hệ thống</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Vòng đời có </a:t>
            </a:r>
            <a:r>
              <a:rPr lang="en-US" sz="3200" b="1" dirty="0">
                <a:solidFill>
                  <a:schemeClr val="tx2"/>
                </a:solidFill>
              </a:rPr>
              <a:t>tám giai đoạn</a:t>
            </a:r>
            <a:r>
              <a:rPr lang="en-US" sz="3200" dirty="0">
                <a:solidFill>
                  <a:schemeClr val="tx1"/>
                </a:solidFill>
              </a:rPr>
              <a:t>, từ xác định vấn đề đến kết thúc</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Quyền kiểm soát:</a:t>
            </a:r>
            <a:r>
              <a:rPr lang="en-US" sz="3200" dirty="0">
                <a:solidFill>
                  <a:schemeClr val="tx1"/>
                </a:solidFill>
              </a:rPr>
              <a:t> xem xét, can thiệp, dừng lại</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Chịu trách nhiệm:</a:t>
            </a:r>
            <a:r>
              <a:rPr lang="en-US" sz="3200" dirty="0">
                <a:solidFill>
                  <a:schemeClr val="tx1"/>
                </a:solidFill>
              </a:rPr>
              <a:t> giải thích, khắc phục</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Lỗ hổng kiểm soát:</a:t>
            </a:r>
            <a:r>
              <a:rPr lang="en-US" sz="3200" dirty="0">
                <a:solidFill>
                  <a:schemeClr val="tx1"/>
                </a:solidFill>
              </a:rPr>
              <a:t> không có người cụ thể giữ cả hai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Một trường triển khai AI hỗ trợ chấm bài luận. Ghi số giai đoạn vòng đời (1 đến 8) cho mỗi việc trên phiếu.</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400" dirty="0">
                <a:solidFill>
                  <a:schemeClr val="tx1"/>
                </a:solidFill>
              </a:rPr>
              <a:t>Với hệ thống trên, chọn một bước em cho là quan trọng nhất. Ai phải kiểm soát, ai chịu trách nhiệm ở bước đó? Nếu thiếu thì hậu quả là gì?</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AB702F8E-1303-8489-B184-517A579519C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3585364132"/>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1499</Words>
  <Application>Microsoft Office PowerPoint</Application>
  <PresentationFormat>Widescreen</PresentationFormat>
  <Paragraphs>160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Vòng đời hệ thống AI và các điểm kiểm soát của con người</vt:lpstr>
      <vt:lpstr>Hôm nay chúng ta làm gì?</vt:lpstr>
      <vt:lpstr>Lỗi này bắt đầu từ khi nào?</vt:lpstr>
      <vt:lpstr>Một lỗi, ba chỗ được “gieo”</vt:lpstr>
      <vt:lpstr>Tám giai đoạn của vòng đời</vt:lpstr>
      <vt:lpstr>Vòng đời của một hệ thống AI</vt:lpstr>
      <vt:lpstr>Ba giai đoạn hay bị xem nhẹ</vt:lpstr>
      <vt:lpstr>Hai điều phải có ở mỗi giai đoạn</vt:lpstr>
      <vt:lpstr>Có tên nhưng chưa chắc có quyền</vt:lpstr>
      <vt:lpstr>Chuyện có thật: chatbot bị gỡ sau chưa đầy một ngày</vt:lpstr>
      <vt:lpstr>Phân tích vòng đời một hệ thống</vt:lpstr>
      <vt:lpstr>Cách phân tích: bảng tám dòng, hai câu hỏi</vt:lpstr>
      <vt:lpstr>Nhiệm vụ nhóm: tìm lỗ hổng và vá</vt:lpstr>
      <vt:lpstr>Vì sao phải là con người?</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12.1. Vòng đời hệ thống AI và các điểm kiểm soát của con người</dc:title>
  <dc:subject>Trí tuệ nhân tạo</dc:subject>
  <cp:lastModifiedBy>Phạm Văn Tú</cp:lastModifiedBy>
  <cp:revision>1</cp:revision>
  <dcterms:created xsi:type="dcterms:W3CDTF">2026-10-08T10:45:42Z</dcterms:created>
  <dcterms:modified xsi:type="dcterms:W3CDTF">2026-10-10T03:40:54Z</dcterms:modified>
  <dc:description>Email: phamtund@gmail.com</dc:description>
  <dc:creator>Phạm Văn Tú</dc:creator>
  <cp:category>Trí tuệ nhân tạo</cp:category>
  <cp:keywords>Trí tuệ nhân tạo</cp:keywords>
</cp:coreProperties>
</file>