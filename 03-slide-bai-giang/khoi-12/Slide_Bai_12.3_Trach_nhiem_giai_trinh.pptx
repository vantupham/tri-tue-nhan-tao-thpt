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B3ED3261-F494-2BB6-0451-9358C7738848}">
          <p14:sldIdLst>
            <p14:sldId id="256"/>
            <p14:sldId id="257"/>
            <p14:sldId id="258"/>
            <p14:sldId id="259"/>
            <p14:sldId id="260"/>
            <p14:sldId id="261"/>
            <p14:sldId id="262"/>
            <p14:sldId id="263"/>
            <p14:sldId id="264"/>
          </p14:sldIdLst>
        </p14:section>
        <p14:section name="Kiểm tra và đối chiếu" id="{D5054319-8DDC-1FF7-0F62-90A1AC5CB8ED}">
          <p14:sldIdLst>
            <p14:sldId id="265"/>
            <p14:sldId id="266"/>
            <p14:sldId id="267"/>
            <p14:sldId id="268"/>
            <p14:sldId id="269"/>
          </p14:sldIdLst>
        </p14:section>
        <p14:section name="Tổng kết" id="{B066BD53-B49E-890D-82D0-B003848FB09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4081E6-7023-4C97-9A8F-343A293C9D4F}" v="1" dt="2026-10-10T03:42:24.9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2:24.958" v="3"/>
      <pc:docMkLst>
        <pc:docMk/>
      </pc:docMkLst>
      <pc:sldChg chg="modSp mod">
        <pc:chgData name="Phạm Văn Tú" userId="67199c852bdd6d1b" providerId="LiveId" clId="{CB377567-0116-4044-BB7C-6E46B7A5C596}" dt="2026-10-10T03:42:01.887" v="2" actId="20577"/>
        <pc:sldMkLst>
          <pc:docMk/>
          <pc:sldMk cId="0" sldId="256"/>
        </pc:sldMkLst>
        <pc:spChg chg="mod">
          <ac:chgData name="Phạm Văn Tú" userId="67199c852bdd6d1b" providerId="LiveId" clId="{CB377567-0116-4044-BB7C-6E46B7A5C596}" dt="2026-10-10T03:42:01.887" v="2" actId="20577"/>
          <ac:spMkLst>
            <pc:docMk/>
            <pc:sldMk cId="0" sldId="256"/>
            <ac:spMk id="3" creationId="{00000000-0000-0000-0000-000000000000}"/>
          </ac:spMkLst>
        </pc:spChg>
      </pc:sldChg>
      <pc:sldChg chg="add">
        <pc:chgData name="Phạm Văn Tú" userId="67199c852bdd6d1b" providerId="LiveId" clId="{CB377567-0116-4044-BB7C-6E46B7A5C596}" dt="2026-10-10T03:42:24.958" v="3"/>
        <pc:sldMkLst>
          <pc:docMk/>
          <pc:sldMk cId="1226520073"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31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ba hồ sơ tình huống (mỗi hồ sơ 2 bản), Bảng kiểm trách nhiệm giải trình, Phiếu ra cửa. Phần pháp luật: đối chiếu văn bản đang có hiệu lực trước khi dạy.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Đóng vai ngắn: một học sinh là sinh viên, giáo viên là nhân viên. Ghi các ý của lớp lên bảng; chúng chính là nội dung của trách nhiệm giải trình.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(14 phút). Trách nhiệm giải trình là cách 'chịu trách nhiệm' (Bài 12.1) được thực hiện ra bên ngoài: trước người bị ảnh hưởng, cấp trên, cơ quan có thẩm quyền.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Hãng chịu trách nhiệm về mọi thông tin trên trang của mình, dù do trang tĩnh hay chatbot đưa ra (vụ Moffatt v. Air Canada; dẫn theo McCarthy Tétrault). Câu 'hệ thống quyết định như vậy' không miễn trách nhiệm cho 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danh sách của lớp ở phần mở đầu, hoàn chỉnh sáu biểu hiện. Học sinh ghi bảng vào vở.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biểu hiện nối thành chuỗi: không lưu vết thì không giải thích được; không giải thích thì không có căn cứ để đề nghị xem xét lại; không xem xét lại thì không có gì để khắc phục. Dễ nhầm: 'đã có người kí duyệt là đã có trách nhiệm giải trình'; chữ kí mới là biểu hiện thứ nhất.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Mạng nơ-ron khó giải thích theo kiểu chỉ ra từng trọng số (Bài 11.10). Giải thích ở đây là: yếu tố chính nào dẫn đến kết quả, và người bị ảnh hưởng có thể làm gì.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dòng đầu: theo nội dung đã công bố của Luật Trí tuệ nhân tạo (hiệu lực 01/3/2026). Dòng cuối: Luật Bảo vệ dữ liệu cá nhân (hiệu lực 01/01/2026). CHỈ NÊU TINH THẦN, dẫn theo bài giới thiệu luật; giáo viên đối chiếu văn bản gốc trước khi dạy. Học sinh không cần thuộc điều khoản. Ngoài pháp luật còn có quy chế đánh giá, quy định khiếu nại điểm của nhà trường. Quốc tế: nguyên tắc AI của OECD (2019, cập nhật 2024) có 'trách nhiệm giải trình' và 'minh bạch, giải thích được'.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mẫu với tình huống phần mềm gợi ý danh sách học sinh 'có nguy cơ học yếu' (Tài liệu học tập, mục 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chữa theo từng hồ sơ; nhận xét việc dùng căn cứ. Bảng kiểm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phải ai cũng sẽ thiết kế AI, nhưng tất cả sẽ là người bị ảnh hưởng: khi xét tuyển, xin việc, vay vốn, khám bệnh.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chuyên đề.</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(hỏi người lớn trong nhà về một quyết định tự động họ từng nhận mà không hiểu vì sao).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84932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12.3 · Trách nhiệm giải trình: đối chiếu với quy định</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Trách nhiệm giải trình: đối chiếu với quy định</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12.3 · Chuyên đề 12.1: Quyền kiểm soát và trách nhiệm giải trình trong vòng đời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12</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trách nhiệm giải trình là gì</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sáu biểu hiện của trách nhiệm giải trình</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Đối chiếu</a:t>
            </a:r>
            <a:r>
              <a:rPr lang="en-US" sz="2800" dirty="0">
                <a:solidFill>
                  <a:schemeClr val="tx1"/>
                </a:solidFill>
              </a:rPr>
              <a:t> một tình huống với quy định</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“Hệ thống quyết định như vậy”</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14'</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Sáu biểu hiện, quy định</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21'</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Kiểm tra và đối chiếu</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“Hệ thống quyết định như vậy”</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Chị Thảo nộp hồ sơ xin học bổng. Hai tuần sau: “Hồ sơ không đạt.”</a:t>
            </a:r>
            <a:endParaRPr lang="en-US" sz="2800" dirty="0"/>
          </a:p>
          <a:p>
            <a:pPr marL="0" indent="0">
              <a:buNone/>
            </a:pPr>
            <a:endParaRPr lang="en-US" sz="2800" dirty="0"/>
          </a:p>
          <a:p>
            <a:pPr marL="0" indent="0">
              <a:buNone/>
            </a:pPr>
            <a:r>
              <a:rPr lang="en-US" sz="2800" dirty="0">
                <a:solidFill>
                  <a:schemeClr val="tx1"/>
                </a:solidFill>
              </a:rPr>
              <a:t>Chị đến hỏi lí do. Nhân viên trả lời:</a:t>
            </a:r>
            <a:endParaRPr lang="en-US" sz="2800" dirty="0"/>
          </a:p>
          <a:p>
            <a:pPr marL="0" indent="0">
              <a:buNone/>
            </a:pPr>
            <a:endParaRPr lang="en-US" sz="2800" dirty="0"/>
          </a:p>
          <a:p>
            <a:pPr marL="0" indent="0">
              <a:buNone/>
            </a:pPr>
            <a:r>
              <a:rPr lang="en-US" sz="2800" dirty="0">
                <a:solidFill>
                  <a:schemeClr val="tx1"/>
                </a:solidFill>
              </a:rPr>
              <a:t>“Hồ sơ do hệ thống chấm. Hệ thống quyết định như vậy, tôi cũng không rõ vì sao.”</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Chị Thảo có quyền đòi hỏi những gì? Câu trả lời trên thiếu điều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Trách nhiệm giải trình là gì?</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Nói rõ</a:t>
            </a:r>
            <a:endParaRPr lang="en-US" sz="2400" dirty="0"/>
          </a:p>
          <a:p>
            <a:pPr marL="0" indent="0">
              <a:spcAft>
                <a:spcPts val="800"/>
              </a:spcAft>
              <a:buNone/>
            </a:pPr>
            <a:r>
              <a:rPr lang="en-US" sz="2400" dirty="0">
                <a:solidFill>
                  <a:schemeClr val="tx1"/>
                </a:solidFill>
              </a:rPr>
              <a:t>Đã quyết định gì, dựa vào đâu, vì sao.</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Chịu hậu quả</a:t>
            </a:r>
            <a:endParaRPr lang="en-US" sz="2400" dirty="0"/>
          </a:p>
          <a:p>
            <a:pPr marL="0" indent="0">
              <a:spcAft>
                <a:spcPts val="800"/>
              </a:spcAft>
              <a:buNone/>
            </a:pPr>
            <a:r>
              <a:rPr lang="en-US" sz="2400" dirty="0">
                <a:solidFill>
                  <a:schemeClr val="tx1"/>
                </a:solidFill>
              </a:rPr>
              <a:t>Sửa sai khi quyết định không đúng.</a:t>
            </a:r>
            <a:endParaRPr lang="en-US" sz="2400" dirty="0"/>
          </a:p>
        </p:txBody>
      </p:sp>
      <p:sp>
        <p:nvSpPr>
          <p:cNvPr id="8" name="Shape 5"/>
          <p:cNvSpPr/>
          <p:nvPr/>
        </p:nvSpPr>
        <p:spPr>
          <a:xfrm>
            <a:off x="8107680" y="1554480"/>
            <a:ext cx="3505200" cy="352044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Máy không làm được</a:t>
            </a:r>
            <a:endParaRPr lang="en-US" sz="2400" dirty="0"/>
          </a:p>
          <a:p>
            <a:pPr marL="0" indent="0">
              <a:spcAft>
                <a:spcPts val="800"/>
              </a:spcAft>
              <a:buNone/>
            </a:pPr>
            <a:r>
              <a:rPr lang="en-US" sz="2400" dirty="0">
                <a:solidFill>
                  <a:schemeClr val="bg1"/>
                </a:solidFill>
              </a:rPr>
              <a:t>Không xin lỗi, không bồi thường, không bị xử lí.</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Mỗi quyết định có AI phải có người hoặc đơn vị cụ thể đứng tên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chatbot tự chịu trách nhiệm?</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Chatbot của một hãng hàng không ở Canada hướng dẫn sai cho hành khách về chính sách giảm giá vé.</a:t>
            </a:r>
            <a:endParaRPr lang="en-US" sz="2800" dirty="0"/>
          </a:p>
          <a:p>
            <a:pPr marL="0" indent="0">
              <a:buNone/>
            </a:pPr>
            <a:endParaRPr lang="en-US" sz="2800" dirty="0"/>
          </a:p>
          <a:p>
            <a:pPr marL="0" indent="0">
              <a:buNone/>
            </a:pPr>
            <a:r>
              <a:rPr lang="en-US" sz="2800" dirty="0">
                <a:solidFill>
                  <a:schemeClr val="tx1"/>
                </a:solidFill>
              </a:rPr>
              <a:t>Hãng từ chối hoàn tiền và lập luận: chatbot phải tự chịu trách nhiệm về lời nói của nó.</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Năm 2024, lập luận này bị bác bỏ. Hãng phải bồi thường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Sáu biểu hiện, xếp theo thời gian</a:t>
            </a:r>
            <a:endParaRPr lang="en-US" sz="3800" dirty="0"/>
          </a:p>
        </p:txBody>
      </p:sp>
      <p:pic>
        <p:nvPicPr>
          <p:cNvPr id="4" name="Image 0" descr="Sáu biểu hiện, xếp theo thời gian"/>
          <p:cNvPicPr>
            <a:picLocks noChangeAspect="1"/>
          </p:cNvPicPr>
          <p:nvPr/>
        </p:nvPicPr>
        <p:blipFill>
          <a:blip r:embed="rId3"/>
          <a:stretch>
            <a:fillRect/>
          </a:stretch>
        </p:blipFill>
        <p:spPr>
          <a:xfrm>
            <a:off x="548640" y="1697908"/>
            <a:ext cx="11064240" cy="4193704"/>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Mỗi biểu hiện, một câu hỏi kiểm tra</a:t>
            </a:r>
            <a:endParaRPr lang="en-US" sz="3800" dirty="0"/>
          </a:p>
        </p:txBody>
      </p:sp>
      <p:sp>
        <p:nvSpPr>
          <p:cNvPr id="4" name="Shape 1"/>
          <p:cNvSpPr/>
          <p:nvPr/>
        </p:nvSpPr>
        <p:spPr>
          <a:xfrm>
            <a:off x="548640" y="155448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Có người cụ thể đứng tên không?</a:t>
            </a:r>
            <a:endParaRPr lang="en-US" sz="2400" dirty="0"/>
          </a:p>
        </p:txBody>
      </p:sp>
      <p:sp>
        <p:nvSpPr>
          <p:cNvPr id="8" name="Shape 5"/>
          <p:cNvSpPr/>
          <p:nvPr/>
        </p:nvSpPr>
        <p:spPr>
          <a:xfrm>
            <a:off x="6195060" y="155448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Người bị ảnh hưởng có biết có AI tham gia?</a:t>
            </a:r>
            <a:endParaRPr lang="en-US" sz="2400" dirty="0"/>
          </a:p>
        </p:txBody>
      </p:sp>
      <p:sp>
        <p:nvSpPr>
          <p:cNvPr id="12" name="Shape 9"/>
          <p:cNvSpPr/>
          <p:nvPr/>
        </p:nvSpPr>
        <p:spPr>
          <a:xfrm>
            <a:off x="548640" y="309372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16687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Có nêu lí do bằng lời dễ hiểu không?</a:t>
            </a:r>
            <a:endParaRPr lang="en-US" sz="2400" dirty="0"/>
          </a:p>
        </p:txBody>
      </p:sp>
      <p:sp>
        <p:nvSpPr>
          <p:cNvPr id="16" name="Shape 13"/>
          <p:cNvSpPr/>
          <p:nvPr/>
        </p:nvSpPr>
        <p:spPr>
          <a:xfrm>
            <a:off x="6195060" y="309372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16687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Có ghi lại dữ liệu, kết quả, người duyệt?</a:t>
            </a:r>
            <a:endParaRPr lang="en-US" sz="2400" dirty="0"/>
          </a:p>
        </p:txBody>
      </p:sp>
      <p:sp>
        <p:nvSpPr>
          <p:cNvPr id="20" name="Shape 17"/>
          <p:cNvSpPr/>
          <p:nvPr/>
        </p:nvSpPr>
        <p:spPr>
          <a:xfrm>
            <a:off x="548640" y="463296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470611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Có kênh để một con người xem xét lại?</a:t>
            </a:r>
            <a:endParaRPr lang="en-US" sz="2400" dirty="0"/>
          </a:p>
        </p:txBody>
      </p:sp>
      <p:sp>
        <p:nvSpPr>
          <p:cNvPr id="24" name="Shape 21"/>
          <p:cNvSpPr/>
          <p:nvPr/>
        </p:nvSpPr>
        <p:spPr>
          <a:xfrm>
            <a:off x="6195060" y="463296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470611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Khi sai, có sửa và bù đắp không?</a:t>
            </a:r>
            <a:endParaRPr lang="en-US" sz="24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Giải thích thế nào mới đạt?</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Chưa đạt</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“Hồ sơ không đạt.”</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Đạt</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“Hồ sơ thiếu giấy xác nhận hoàn cảnh nên tiêu chí thứ hai không có điểm. Bạn có thể bổ sung trước ngày 15.”</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Giải thích cho người bị ảnh hưởng, không phải công bố mô hình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Quy định nói gì? (mức khái quát)</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868680">
                <a:tc>
                  <a:txBody>
                    <a:bodyPr/>
                    <a:lstStyle/>
                    <a:p>
                      <a:pPr marL="0" indent="0" algn="ctr">
                        <a:buNone/>
                      </a:pPr>
                      <a:r>
                        <a:rPr lang="en-US" sz="2200" b="1" dirty="0">
                          <a:solidFill>
                            <a:schemeClr val="bg1"/>
                          </a:solidFill>
                        </a:rPr>
                        <a:t>Biểu hiện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Quy định có liên quan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200" b="1" dirty="0">
                          <a:solidFill>
                            <a:schemeClr val="tx1"/>
                          </a:solidFill>
                        </a:rPr>
                        <a:t>Thông báo</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Người dùng phải nhận biết được mình đang tương tác với AI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200" b="1" dirty="0">
                          <a:solidFill>
                            <a:schemeClr val="tx1"/>
                          </a:solidFill>
                        </a:rPr>
                        <a:t>Lưu vết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Hệ thống rủi ro cao: lưu hồ sơ kĩ thuật, nhật kí hoạt động</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200" b="1" dirty="0">
                          <a:solidFill>
                            <a:schemeClr val="tx1"/>
                          </a:solidFill>
                        </a:rPr>
                        <a:t>Xem xét lại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Hệ thống rủi ro cao: con người giám sát, can thiệp được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l">
                        <a:buNone/>
                      </a:pPr>
                      <a:r>
                        <a:rPr lang="en-US" sz="2200" b="1" dirty="0">
                          <a:solidFill>
                            <a:schemeClr val="tx1"/>
                          </a:solidFill>
                        </a:rPr>
                        <a:t>Giải thích, khắc phục</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Quyền được biết, chỉnh sửa, xóa dữ liệu cá nhân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Kiểm tra và đối chiếu</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21 phút · Ba hồ sơ, sáu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bước phân tích một tình huống</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402080"/>
          </a:xfrm>
          <a:prstGeom prst="rect">
            <a:avLst/>
          </a:prstGeom>
          <a:noFill/>
          <a:ln/>
        </p:spPr>
        <p:txBody>
          <a:bodyPr wrap="square" lIns="0" tIns="0" rIns="0" bIns="0" rtlCol="0" anchor="ctr"/>
          <a:lstStyle/>
          <a:p>
            <a:pPr marL="0" indent="0">
              <a:buNone/>
            </a:pPr>
            <a:r>
              <a:rPr lang="en-US" sz="3200" b="1" dirty="0">
                <a:solidFill>
                  <a:schemeClr val="tx2"/>
                </a:solidFill>
              </a:rPr>
              <a:t>Mô tả:</a:t>
            </a:r>
            <a:r>
              <a:rPr lang="en-US" sz="3200" dirty="0">
                <a:solidFill>
                  <a:schemeClr val="tx1"/>
                </a:solidFill>
              </a:rPr>
              <a:t> quyết định gì, ảnh hưởng ai, AI ở bước nào</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10058400" cy="1402080"/>
          </a:xfrm>
          <a:prstGeom prst="rect">
            <a:avLst/>
          </a:prstGeom>
          <a:noFill/>
          <a:ln/>
        </p:spPr>
        <p:txBody>
          <a:bodyPr wrap="square" lIns="0" tIns="0" rIns="0" bIns="0" rtlCol="0" anchor="ctr"/>
          <a:lstStyle/>
          <a:p>
            <a:pPr marL="0" indent="0">
              <a:buNone/>
            </a:pPr>
            <a:r>
              <a:rPr lang="en-US" sz="3200" b="1" dirty="0">
                <a:solidFill>
                  <a:schemeClr val="tx2"/>
                </a:solidFill>
              </a:rPr>
              <a:t>Kiểm tra:</a:t>
            </a:r>
            <a:r>
              <a:rPr lang="en-US" sz="3200" dirty="0">
                <a:solidFill>
                  <a:schemeClr val="tx1"/>
                </a:solidFill>
              </a:rPr>
              <a:t> sáu biểu hiện, ghi “có”, “chưa”, “chưa rõ”</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10058400" cy="1402080"/>
          </a:xfrm>
          <a:prstGeom prst="rect">
            <a:avLst/>
          </a:prstGeom>
          <a:noFill/>
          <a:ln/>
        </p:spPr>
        <p:txBody>
          <a:bodyPr wrap="square" lIns="0" tIns="0" rIns="0" bIns="0" rtlCol="0" anchor="ctr"/>
          <a:lstStyle/>
          <a:p>
            <a:pPr marL="0" indent="0">
              <a:buNone/>
            </a:pPr>
            <a:r>
              <a:rPr lang="en-US" sz="3200" b="1" dirty="0">
                <a:solidFill>
                  <a:schemeClr val="tx2"/>
                </a:solidFill>
              </a:rPr>
              <a:t>Đối chiếu:</a:t>
            </a:r>
            <a:r>
              <a:rPr lang="en-US" sz="3200" dirty="0">
                <a:solidFill>
                  <a:schemeClr val="tx1"/>
                </a:solidFill>
              </a:rPr>
              <a:t> liên quan quy định nào, ai cần làm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điền bảng kiểm</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13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Dùng bảng kiểm sáu biểu hiện cho hồ sơ của nhóm</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Mỗi biểu hiện: đánh giá kèm bằng chứng trong hồ sơ</a:t>
            </a:r>
            <a:endParaRPr lang="en-US" sz="2800" dirty="0"/>
          </a:p>
          <a:p>
            <a:pPr marL="342900" indent="-342900">
              <a:spcAft>
                <a:spcPts val="1200"/>
              </a:spcAft>
              <a:buSzPct val="100000"/>
              <a:buFont typeface="+mj-lt"/>
              <a:buAutoNum type="arabicPeriod"/>
            </a:pPr>
            <a:r>
              <a:rPr lang="en-US" sz="2800" dirty="0">
                <a:solidFill>
                  <a:schemeClr val="tx1"/>
                </a:solidFill>
              </a:rPr>
              <a:t>Biểu hiện chưa đạt: liên quan quy định nào?</a:t>
            </a:r>
            <a:endParaRPr lang="en-US" sz="2800" dirty="0"/>
          </a:p>
          <a:p>
            <a:pPr marL="342900" indent="-342900">
              <a:spcAft>
                <a:spcPts val="1200"/>
              </a:spcAft>
              <a:buSzPct val="100000"/>
              <a:buFont typeface="+mj-lt"/>
              <a:buAutoNum type="arabicPeriod"/>
            </a:pPr>
            <a:r>
              <a:rPr lang="en-US" sz="2800" dirty="0">
                <a:solidFill>
                  <a:schemeClr val="tx1"/>
                </a:solidFill>
              </a:rPr>
              <a:t>Đề xuất việc cần làm và ai làm</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Kết luận</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Không phải là “bỏ hệ thống”, mà là: muốn dùng thì phải bổ sung những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câu hỏi của một công dân</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Có AI</a:t>
            </a:r>
            <a:r>
              <a:rPr lang="en-US" sz="3200" dirty="0">
                <a:solidFill>
                  <a:schemeClr val="tx1"/>
                </a:solidFill>
              </a:rPr>
              <a:t> tham gia vào quyết định này không?</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Vì sao</a:t>
            </a:r>
            <a:r>
              <a:rPr lang="en-US" sz="3200" dirty="0">
                <a:solidFill>
                  <a:schemeClr val="tx1"/>
                </a:solidFill>
              </a:rPr>
              <a:t> quyết định như vậy?</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dirty="0">
                <a:solidFill>
                  <a:schemeClr val="tx1"/>
                </a:solidFill>
              </a:rPr>
              <a:t>Tôi đề nghị </a:t>
            </a:r>
            <a:r>
              <a:rPr lang="en-US" sz="3200" b="1" dirty="0">
                <a:solidFill>
                  <a:schemeClr val="tx2"/>
                </a:solidFill>
              </a:rPr>
              <a:t>xem xét lại</a:t>
            </a:r>
            <a:r>
              <a:rPr lang="en-US" sz="3200" dirty="0">
                <a:solidFill>
                  <a:schemeClr val="tx1"/>
                </a:solidFill>
              </a:rPr>
              <a:t> ở đâu, với ai?</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Hỏi bình tĩnh, lịch sự và có căn cứ.</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lại chuyên đề 12.1</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Nhìn cả vòng đời</a:t>
            </a:r>
            <a:endParaRPr lang="en-US" sz="2600" dirty="0"/>
          </a:p>
          <a:p>
            <a:pPr marL="0" indent="0">
              <a:spcAft>
                <a:spcPts val="800"/>
              </a:spcAft>
              <a:buNone/>
            </a:pPr>
            <a:r>
              <a:rPr lang="en-US" sz="2600" dirty="0">
                <a:solidFill>
                  <a:schemeClr val="tx1"/>
                </a:solidFill>
              </a:rPr>
              <a:t>Tìm lỗ hổng kiểm soát.</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Phân vai hợp lí</a:t>
            </a:r>
            <a:endParaRPr lang="en-US" sz="2600" dirty="0"/>
          </a:p>
          <a:p>
            <a:pPr marL="0" indent="0">
              <a:spcAft>
                <a:spcPts val="800"/>
              </a:spcAft>
              <a:buNone/>
            </a:pPr>
            <a:r>
              <a:rPr lang="en-US" sz="2600" dirty="0">
                <a:solidFill>
                  <a:schemeClr val="tx1"/>
                </a:solidFill>
              </a:rPr>
              <a:t>Việc hệ trọng thì con người quyết định.</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Giải trình được</a:t>
            </a:r>
            <a:endParaRPr lang="en-US" sz="2600" dirty="0"/>
          </a:p>
          <a:p>
            <a:pPr marL="0" indent="0">
              <a:spcAft>
                <a:spcPts val="800"/>
              </a:spcAft>
              <a:buNone/>
            </a:pPr>
            <a:r>
              <a:rPr lang="en-US" sz="2600" dirty="0">
                <a:solidFill>
                  <a:schemeClr val="tx1"/>
                </a:solidFill>
              </a:rPr>
              <a:t>Có người đứng tên, có lí do, có kênh xem xét lại.</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Trách nhiệm giải trình:</a:t>
            </a:r>
            <a:r>
              <a:rPr lang="en-US" sz="3200" dirty="0">
                <a:solidFill>
                  <a:schemeClr val="tx1"/>
                </a:solidFill>
              </a:rPr>
              <a:t> nói rõ và chịu hậu quả</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Sáu biểu hiện:</a:t>
            </a:r>
            <a:r>
              <a:rPr lang="en-US" sz="3200" dirty="0">
                <a:solidFill>
                  <a:schemeClr val="tx1"/>
                </a:solidFill>
              </a:rPr>
              <a:t> người chịu trách nhiệm; thông báo; giải thích; lưu vết; xem xét lại; khắc phục</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Nhiều biểu hiện đã thành </a:t>
            </a:r>
            <a:r>
              <a:rPr lang="en-US" sz="3200" b="1" dirty="0">
                <a:solidFill>
                  <a:schemeClr val="tx2"/>
                </a:solidFill>
              </a:rPr>
              <a:t>quy định</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Ba câu hỏi</a:t>
            </a:r>
            <a:r>
              <a:rPr lang="en-US" sz="3200" dirty="0">
                <a:solidFill>
                  <a:schemeClr val="tx1"/>
                </a:solidFill>
              </a:rPr>
              <a:t> của người bị ảnh hưởng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tình huống trên phiếu: chọn ba biểu hiện của trách nhiệm giải trình và đánh giá Có, Một phần hay Không, kèm căn cứ.</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Nêu một văn bản trong nước hoặc quốc tế có thể dùng để đối chiếu và ý liên quan.</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226520073"/>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1499</Words>
  <Application>Microsoft Office PowerPoint</Application>
  <PresentationFormat>Widescreen</PresentationFormat>
  <Paragraphs>171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Trách nhiệm giải trình: đối chiếu với quy định</vt:lpstr>
      <vt:lpstr>Hôm nay chúng ta làm gì?</vt:lpstr>
      <vt:lpstr>“Hệ thống quyết định như vậy”</vt:lpstr>
      <vt:lpstr>Trách nhiệm giải trình là gì?</vt:lpstr>
      <vt:lpstr>Chuyện có thật: chatbot tự chịu trách nhiệm?</vt:lpstr>
      <vt:lpstr>Sáu biểu hiện, xếp theo thời gian</vt:lpstr>
      <vt:lpstr>Mỗi biểu hiện, một câu hỏi kiểm tra</vt:lpstr>
      <vt:lpstr>Giải thích thế nào mới đạt?</vt:lpstr>
      <vt:lpstr>Quy định nói gì? (mức khái quát)</vt:lpstr>
      <vt:lpstr>Kiểm tra và đối chiếu</vt:lpstr>
      <vt:lpstr>Ba bước phân tích một tình huống</vt:lpstr>
      <vt:lpstr>Nhiệm vụ nhóm: điền bảng kiểm</vt:lpstr>
      <vt:lpstr>Ba câu hỏi của một công dân</vt:lpstr>
      <vt:lpstr>Nhìn lại chuyên đề 12.1</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12.3. Trách nhiệm giải trình: đối chiếu với quy định</dc:title>
  <dc:subject>Trí tuệ nhân tạo</dc:subject>
  <cp:lastModifiedBy>Phạm Văn Tú</cp:lastModifiedBy>
  <cp:revision>1</cp:revision>
  <dcterms:created xsi:type="dcterms:W3CDTF">2026-10-08T10:45:42Z</dcterms:created>
  <dcterms:modified xsi:type="dcterms:W3CDTF">2026-10-10T03:42:34Z</dcterms:modified>
  <dc:description>Email: phamtund@gmail.com</dc:description>
  <dc:creator>Phạm Văn Tú</dc:creator>
  <cp:category>Trí tuệ nhân tạo</cp:category>
  <cp:keywords>Trí tuệ nhân tạo</cp:keywords>
</cp:coreProperties>
</file>