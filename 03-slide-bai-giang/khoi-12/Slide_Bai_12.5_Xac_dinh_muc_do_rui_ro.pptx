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BAC3DCC0-3030-621B-BD6C-CCBD22722E8B}">
          <p14:sldIdLst>
            <p14:sldId id="256"/>
            <p14:sldId id="257"/>
            <p14:sldId id="258"/>
            <p14:sldId id="259"/>
            <p14:sldId id="260"/>
            <p14:sldId id="261"/>
            <p14:sldId id="262"/>
            <p14:sldId id="263"/>
            <p14:sldId id="264"/>
            <p14:sldId id="265"/>
            <p14:sldId id="266"/>
          </p14:sldIdLst>
        </p14:section>
        <p14:section name="Xếp 12 tình huống theo mức rủi ro" id="{9C625CA7-AB40-3D9F-26E0-5F2F0E2F5075}">
          <p14:sldIdLst>
            <p14:sldId id="267"/>
            <p14:sldId id="268"/>
            <p14:sldId id="269"/>
          </p14:sldIdLst>
        </p14:section>
        <p14:section name="Tổng kết" id="{128F7201-35BC-F0D6-D568-2116E93CF064}">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CF459D-57F7-4CB1-8DA5-1771442AE2FC}" v="1" dt="2026-10-10T03:43:32.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43:32.882" v="3"/>
      <pc:docMkLst>
        <pc:docMk/>
      </pc:docMkLst>
      <pc:sldChg chg="modSp mod">
        <pc:chgData name="Phạm Văn Tú" userId="67199c852bdd6d1b" providerId="LiveId" clId="{CB377567-0116-4044-BB7C-6E46B7A5C596}" dt="2026-10-10T03:43:20.030" v="2" actId="20577"/>
        <pc:sldMkLst>
          <pc:docMk/>
          <pc:sldMk cId="0" sldId="256"/>
        </pc:sldMkLst>
        <pc:spChg chg="mod">
          <ac:chgData name="Phạm Văn Tú" userId="67199c852bdd6d1b" providerId="LiveId" clId="{CB377567-0116-4044-BB7C-6E46B7A5C596}" dt="2026-10-10T03:43:20.030" v="2" actId="20577"/>
          <ac:spMkLst>
            <pc:docMk/>
            <pc:sldMk cId="0" sldId="256"/>
            <ac:spMk id="3" creationId="{00000000-0000-0000-0000-000000000000}"/>
          </ac:spMkLst>
        </pc:spChg>
      </pc:sldChg>
      <pc:sldChg chg="add">
        <pc:chgData name="Phạm Văn Tú" userId="67199c852bdd6d1b" providerId="LiveId" clId="{CB377567-0116-4044-BB7C-6E46B7A5C596}" dt="2026-10-10T03:43:32.882" v="3"/>
        <pc:sldMkLst>
          <pc:docMk/>
          <pc:sldMk cId="1418842747"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671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bộ 12 thẻ tình huống cho mỗi nhóm, bảng xếp mức rủi ro khổ A3, Phiếu ra cửa. Phần pháp luật: đối chiếu văn bản đang có hiệu lực.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Tình huống giả định. Mời 3 học sinh nêu thứ tự và căn cứ; ghi các căn cứ lên bảng: ảnh hưởng đến ai, có sửa lại được không, có vi phạm gì không.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thức Bài 11.3: rủi ro là điều có hại có thể xảy ra, sự cố là điều đã xảy ra; bốn nhóm: dữ liệu và riêng tư; giả mạo và thông tin sai; bản quyền; trung thực học thuật.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(13 phút). Câu hỏi thứ hai hay bị xem nhẹ nhất và quan trọng nhất: bài tập sai làm lại được; video ghép mặt đã chia sẻ thì không ai thu hồi hết.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hai căn cứ vào vở.</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Mức độ rủi ro tăng dần về góc trên bên phải. Mũi tên nét đứt: hai cách hạ mức là giảm khả năng xảy ra và giảm hậu quả. Hậu quả nặng thì dừng lại, dù khả năng có vẻ thấp. Dễ nhầm: 'rủi ro cao nghĩa là chắc chắn có chuyện'.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Áp dụng cho bốn việc ở phần mở đầu: a) thấp; b) trung bình (sửa được nếu phát hiện trước khi thi); c) cao (ảnh hưởng người khác, không đảo ngược, có thể vi phạm pháp luật); d) cao (gian dối, ảnh hưởng người khác).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quan trọng là nêu được căn cứ, không phải thuộc bảng đáp 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không hạ được: dùng AI trong phòng thi, tạo nội dung giả mạo về người khác, gian dối trong hồ sơ. Quy trình bảy bước (Bài 11.1) chính là bộ biện pháp hạ mức rủi 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nội dung đã công bố của Luật Trí tuệ nhân tạo (thông qua 10/12/2025, hiệu lực 01/3/2026): hệ thống AI chia ba mức rủi ro; mức cao là hệ thống có kết quả làm căn cứ cho quyết định ảnh hưởng đến quyền, nghĩa vụ, lợi ích hợp pháp của con người, có thể gây hậu quả nghiêm trọng, hoặc triển khai rộng. Nhà cung cấp tự phân loại trước khi đưa vào sử dụng. DẪN THEO BÀI BÁO, giáo viên đối chiếu văn bản gốc. Khác biệt: thang của bài xếp một VIỆC SỬ DỤNG của em; thang của luật xếp một HỆ THỐNG. Luật An ninh mạng 2025 cấm dùng AI giả mạo hình ảnh, video, giọng nói của người khác trái pháp luật.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Phát bộ 12 thẻ.</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phút chữa; gợi ý đáp án theo phụ lục kế hoạch bài dạy. Có thẻ phụ thuộc bối cảnh. Bảng xếp mức là minh chứng đánh giá (12.B2.1).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câu trả lời cho câu thứ nhất là 'nặng, người khác chịu, không sửa được' thì dừng lại.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Ba việc in trên Phiếu ra cửa. Dặn dò: phần Vận dụng (lập bản đồ rủi ro cho việc dùng AI của em trong một tuần).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23265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12.5 · Xác định mức độ rủi ro khi sử dụng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Xác định mức độ rủi ro khi sử dụng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12.5 · Chuyên đề 12.2: Đạo đức, rủi ro và trách nhiệm công dân trong xã hội có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12</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hai căn cứ để xác định mức độ rủi ro</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Xếp</a:t>
            </a:r>
            <a:r>
              <a:rPr lang="en-US" sz="2800" dirty="0">
                <a:solidFill>
                  <a:schemeClr val="tx1"/>
                </a:solidFill>
              </a:rPr>
              <a:t> một việc dùng AI vào mức thấp, trung bình, cao</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Đề xuất</a:t>
            </a:r>
            <a:r>
              <a:rPr lang="en-US" sz="2800" dirty="0">
                <a:solidFill>
                  <a:schemeClr val="tx1"/>
                </a:solidFill>
              </a:rPr>
              <a:t> cách hạ mức rủi ro</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Việc nào đáng lo hơn?</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13'</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Căn cứ, thang ba mức</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22'</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Xếp 12 tình huống</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Việc nào đáng lo hơn?</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a</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400" b="1" dirty="0">
                <a:solidFill>
                  <a:schemeClr val="tx1"/>
                </a:solidFill>
              </a:rPr>
              <a:t>Nhờ AI gợi ý tên cho nhóm thuyết trình</a:t>
            </a:r>
            <a:endParaRPr lang="en-US" sz="24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b</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400" b="1" dirty="0">
                <a:solidFill>
                  <a:schemeClr val="tx1"/>
                </a:solidFill>
              </a:rPr>
              <a:t>Ôn thi bằng bản tóm tắt của AI, không đối chiếu sách</a:t>
            </a:r>
            <a:endParaRPr lang="en-US" sz="24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c</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400" b="1" dirty="0">
                <a:solidFill>
                  <a:schemeClr val="tx1"/>
                </a:solidFill>
              </a:rPr>
              <a:t>Dùng AI ghép mặt một bạn vào video hài, đăng lên nhóm lớp</a:t>
            </a:r>
            <a:endParaRPr lang="en-US" sz="24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d</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400" b="1" dirty="0">
                <a:solidFill>
                  <a:schemeClr val="tx1"/>
                </a:solidFill>
              </a:rPr>
              <a:t>Nộp bài luận AI viết trong hồ sơ xin học bổng</a:t>
            </a:r>
            <a:endParaRPr lang="en-US" sz="24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Xếp từ ít đáng lo đến đáng lo nhất. Em dựa vào căn cứ gì?</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Nhắc lại: rủi ro và sự cố</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Lớp 11 đã hỏi</a:t>
            </a:r>
            <a:endParaRPr lang="en-US" sz="3000" dirty="0"/>
          </a:p>
        </p:txBody>
      </p:sp>
      <p:sp>
        <p:nvSpPr>
          <p:cNvPr id="6" name="Text 3"/>
          <p:cNvSpPr txBox="1"/>
          <p:nvPr/>
        </p:nvSpPr>
        <p:spPr>
          <a:xfrm>
            <a:off x="86868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Rủi ro hay sự cố?</a:t>
            </a:r>
            <a:endParaRPr lang="en-US" sz="2800" dirty="0"/>
          </a:p>
          <a:p>
            <a:pPr marL="342900" indent="-342900">
              <a:spcAft>
                <a:spcPts val="1000"/>
              </a:spcAft>
              <a:buSzPct val="100000"/>
              <a:buChar char="•"/>
            </a:pPr>
            <a:r>
              <a:rPr lang="en-US" sz="2800" dirty="0">
                <a:solidFill>
                  <a:schemeClr val="tx1"/>
                </a:solidFill>
              </a:rPr>
              <a:t>Rủi ro loại gì?</a:t>
            </a:r>
            <a:endParaRPr lang="en-US" sz="2800" dirty="0"/>
          </a:p>
        </p:txBody>
      </p:sp>
      <p:sp>
        <p:nvSpPr>
          <p:cNvPr id="7" name="Shape 4"/>
          <p:cNvSpPr/>
          <p:nvPr/>
        </p:nvSpPr>
        <p:spPr>
          <a:xfrm>
            <a:off x="621792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Hôm nay hỏi tiếp</a:t>
            </a:r>
            <a:endParaRPr lang="en-US" sz="3000" dirty="0"/>
          </a:p>
        </p:txBody>
      </p:sp>
      <p:sp>
        <p:nvSpPr>
          <p:cNvPr id="9" name="Text 6"/>
          <p:cNvSpPr txBox="1"/>
          <p:nvPr/>
        </p:nvSpPr>
        <p:spPr>
          <a:xfrm>
            <a:off x="653796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Rủi ro lớn đến đâu?</a:t>
            </a:r>
            <a:endParaRPr lang="en-US" sz="2800" dirty="0"/>
          </a:p>
          <a:p>
            <a:pPr marL="342900" indent="-342900">
              <a:spcAft>
                <a:spcPts val="1000"/>
              </a:spcAft>
              <a:buSzPct val="100000"/>
              <a:buChar char="•"/>
            </a:pPr>
            <a:r>
              <a:rPr lang="en-US" sz="2800" dirty="0">
                <a:solidFill>
                  <a:schemeClr val="bg1"/>
                </a:solidFill>
              </a:rPr>
              <a:t>Làm gì để hạ xuống?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Căn cứ 1: hậu quả nặng đến đâu?</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Ai bị ảnh hưởng?</a:t>
            </a:r>
            <a:endParaRPr lang="en-US" sz="2600" dirty="0"/>
          </a:p>
          <a:p>
            <a:pPr marL="0" indent="0">
              <a:spcAft>
                <a:spcPts val="800"/>
              </a:spcAft>
              <a:buNone/>
            </a:pPr>
            <a:r>
              <a:rPr lang="en-US" sz="2600" dirty="0">
                <a:solidFill>
                  <a:schemeClr val="tx1"/>
                </a:solidFill>
              </a:rPr>
              <a:t>Chỉ mình, hay người khác, nhiều người?</a:t>
            </a:r>
            <a:endParaRPr lang="en-US" sz="2600" dirty="0"/>
          </a:p>
        </p:txBody>
      </p:sp>
      <p:sp>
        <p:nvSpPr>
          <p:cNvPr id="8" name="Shape 5"/>
          <p:cNvSpPr/>
          <p:nvPr/>
        </p:nvSpPr>
        <p:spPr>
          <a:xfrm>
            <a:off x="4328160" y="1554480"/>
            <a:ext cx="3505200" cy="438912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Có đảo ngược được không?</a:t>
            </a:r>
            <a:endParaRPr lang="en-US" sz="2600" dirty="0"/>
          </a:p>
          <a:p>
            <a:pPr marL="0" indent="0">
              <a:spcAft>
                <a:spcPts val="800"/>
              </a:spcAft>
              <a:buNone/>
            </a:pPr>
            <a:r>
              <a:rPr lang="en-US" sz="2600" dirty="0">
                <a:solidFill>
                  <a:schemeClr val="bg1"/>
                </a:solidFill>
              </a:rPr>
              <a:t>Làm lại được, hay không lấy lại được?</a:t>
            </a:r>
            <a:endParaRPr lang="en-US" sz="26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Vi phạm quy định nào?</a:t>
            </a:r>
            <a:endParaRPr lang="en-US" sz="2600" dirty="0"/>
          </a:p>
          <a:p>
            <a:pPr marL="0" indent="0">
              <a:spcAft>
                <a:spcPts val="800"/>
              </a:spcAft>
              <a:buNone/>
            </a:pPr>
            <a:r>
              <a:rPr lang="en-US" sz="2600" dirty="0">
                <a:solidFill>
                  <a:schemeClr val="tx1"/>
                </a:solidFill>
              </a:rPr>
              <a:t>Nội quy, quy chế thi, pháp luật?</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Căn cứ 2: có dễ xảy ra không?</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Khả năng thấp hơn khi</a:t>
            </a:r>
            <a:endParaRPr lang="en-US" sz="3000" dirty="0"/>
          </a:p>
        </p:txBody>
      </p:sp>
      <p:sp>
        <p:nvSpPr>
          <p:cNvPr id="6" name="Text 3"/>
          <p:cNvSpPr txBox="1"/>
          <p:nvPr/>
        </p:nvSpPr>
        <p:spPr>
          <a:xfrm>
            <a:off x="86868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Có bước kiểm chứng</a:t>
            </a:r>
            <a:endParaRPr lang="en-US" sz="2800" dirty="0"/>
          </a:p>
          <a:p>
            <a:pPr marL="342900" indent="-342900">
              <a:spcAft>
                <a:spcPts val="1000"/>
              </a:spcAft>
              <a:buSzPct val="100000"/>
              <a:buChar char="•"/>
            </a:pPr>
            <a:r>
              <a:rPr lang="en-US" sz="2800" dirty="0">
                <a:solidFill>
                  <a:schemeClr val="tx1"/>
                </a:solidFill>
              </a:rPr>
              <a:t>Công cụ đã được rà soát</a:t>
            </a:r>
            <a:endParaRPr lang="en-US" sz="2800" dirty="0"/>
          </a:p>
          <a:p>
            <a:pPr marL="342900" indent="-342900">
              <a:spcAft>
                <a:spcPts val="1000"/>
              </a:spcAft>
              <a:buSzPct val="100000"/>
              <a:buChar char="•"/>
            </a:pPr>
            <a:r>
              <a:rPr lang="en-US" sz="2800" dirty="0">
                <a:solidFill>
                  <a:schemeClr val="tx1"/>
                </a:solidFill>
              </a:rPr>
              <a:t>Việc quen, biết chỗ dễ sai</a:t>
            </a:r>
            <a:endParaRPr lang="en-US" sz="2800" dirty="0"/>
          </a:p>
        </p:txBody>
      </p:sp>
      <p:sp>
        <p:nvSpPr>
          <p:cNvPr id="7" name="Shape 4"/>
          <p:cNvSpPr/>
          <p:nvPr/>
        </p:nvSpPr>
        <p:spPr>
          <a:xfrm>
            <a:off x="621792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Khả năng cao hơn khi</a:t>
            </a:r>
            <a:endParaRPr lang="en-US" sz="3000" dirty="0"/>
          </a:p>
        </p:txBody>
      </p:sp>
      <p:sp>
        <p:nvSpPr>
          <p:cNvPr id="9" name="Text 6"/>
          <p:cNvSpPr txBox="1"/>
          <p:nvPr/>
        </p:nvSpPr>
        <p:spPr>
          <a:xfrm>
            <a:off x="653796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Dùng thẳng kết quả</a:t>
            </a:r>
            <a:endParaRPr lang="en-US" sz="2800" dirty="0"/>
          </a:p>
          <a:p>
            <a:pPr marL="342900" indent="-342900">
              <a:spcAft>
                <a:spcPts val="1000"/>
              </a:spcAft>
              <a:buSzPct val="100000"/>
              <a:buChar char="•"/>
            </a:pPr>
            <a:r>
              <a:rPr lang="en-US" sz="2800" dirty="0">
                <a:solidFill>
                  <a:schemeClr val="bg1"/>
                </a:solidFill>
              </a:rPr>
              <a:t>Công cụ không rõ nguồn gốc</a:t>
            </a:r>
            <a:endParaRPr lang="en-US" sz="2800" dirty="0"/>
          </a:p>
          <a:p>
            <a:pPr marL="342900" indent="-342900">
              <a:spcAft>
                <a:spcPts val="1000"/>
              </a:spcAft>
              <a:buSzPct val="100000"/>
              <a:buChar char="•"/>
            </a:pPr>
            <a:r>
              <a:rPr lang="en-US" sz="2800" dirty="0">
                <a:solidFill>
                  <a:schemeClr val="bg1"/>
                </a:solidFill>
              </a:rPr>
              <a:t>Dùng lặp lại, cho nhiều người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Ghép hai căn cứ: ma trận rủi ro</a:t>
            </a:r>
            <a:endParaRPr lang="en-US" sz="3800" dirty="0"/>
          </a:p>
        </p:txBody>
      </p:sp>
      <p:pic>
        <p:nvPicPr>
          <p:cNvPr id="4" name="Image 0" descr="Ghép hai căn cứ: ma trận rủi ro"/>
          <p:cNvPicPr>
            <a:picLocks noChangeAspect="1"/>
          </p:cNvPicPr>
          <p:nvPr/>
        </p:nvPicPr>
        <p:blipFill>
          <a:blip r:embed="rId3"/>
          <a:stretch>
            <a:fillRect/>
          </a:stretch>
        </p:blipFill>
        <p:spPr>
          <a:xfrm>
            <a:off x="2299592" y="1463040"/>
            <a:ext cx="7562335"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mức, ba cách ứng xử</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224028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Thấp</a:t>
            </a:r>
            <a:endParaRPr lang="en-US" sz="2400" dirty="0"/>
          </a:p>
          <a:p>
            <a:pPr marL="0" indent="0">
              <a:spcAft>
                <a:spcPts val="800"/>
              </a:spcAft>
              <a:buNone/>
            </a:pPr>
            <a:r>
              <a:rPr lang="en-US" sz="2400" dirty="0">
                <a:solidFill>
                  <a:schemeClr val="tx1"/>
                </a:solidFill>
              </a:rPr>
              <a:t>Dùng được; vẫn giữ thói quen kiểm chứng.</a:t>
            </a:r>
            <a:endParaRPr lang="en-US" sz="2400" dirty="0"/>
          </a:p>
        </p:txBody>
      </p:sp>
      <p:sp>
        <p:nvSpPr>
          <p:cNvPr id="8" name="Shape 5"/>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224028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Trung bình</a:t>
            </a:r>
            <a:endParaRPr lang="en-US" sz="2400" dirty="0"/>
          </a:p>
          <a:p>
            <a:pPr marL="0" indent="0">
              <a:spcAft>
                <a:spcPts val="800"/>
              </a:spcAft>
              <a:buNone/>
            </a:pPr>
            <a:r>
              <a:rPr lang="en-US" sz="2400" dirty="0">
                <a:solidFill>
                  <a:schemeClr val="tx1"/>
                </a:solidFill>
              </a:rPr>
              <a:t>Chỉ dùng khi có biện pháp kiểm soát.</a:t>
            </a:r>
            <a:endParaRPr lang="en-US" sz="2400" dirty="0"/>
          </a:p>
        </p:txBody>
      </p:sp>
      <p:sp>
        <p:nvSpPr>
          <p:cNvPr id="12" name="Shape 9"/>
          <p:cNvSpPr/>
          <p:nvPr/>
        </p:nvSpPr>
        <p:spPr>
          <a:xfrm>
            <a:off x="8107680" y="1554480"/>
            <a:ext cx="3505200" cy="352044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224028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Cao</a:t>
            </a:r>
            <a:endParaRPr lang="en-US" sz="2400" dirty="0"/>
          </a:p>
          <a:p>
            <a:pPr marL="0" indent="0">
              <a:spcAft>
                <a:spcPts val="800"/>
              </a:spcAft>
              <a:buNone/>
            </a:pPr>
            <a:r>
              <a:rPr lang="en-US" sz="2400" dirty="0">
                <a:solidFill>
                  <a:schemeClr val="bg1"/>
                </a:solidFill>
              </a:rPr>
              <a:t>Không làm, hoặc đổi hẳn cách làm.</a:t>
            </a:r>
            <a:endParaRPr lang="en-US" sz="2400" dirty="0"/>
          </a:p>
        </p:txBody>
      </p:sp>
      <p:sp>
        <p:nvSpPr>
          <p:cNvPr id="16" name="Shape 13"/>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7" name="Text 14"/>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Gợi ý tên nhóm: thấp. Ghép mặt bạn, hồ sơ học bổng: cao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Cùng một việc, khác bối cảnh, khác mức</a:t>
            </a:r>
            <a:endParaRPr lang="en-US" sz="3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2004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822960">
                <a:tc>
                  <a:txBody>
                    <a:bodyPr/>
                    <a:lstStyle/>
                    <a:p>
                      <a:pPr marL="0" indent="0" algn="ctr">
                        <a:buNone/>
                      </a:pPr>
                      <a:r>
                        <a:rPr lang="en-US" sz="2200" b="1" dirty="0">
                          <a:solidFill>
                            <a:schemeClr val="bg1"/>
                          </a:solidFill>
                        </a:rPr>
                        <a:t>Việc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Bối cảnh 1</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Bối cảnh 2</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22960">
                <a:tc>
                  <a:txBody>
                    <a:bodyPr/>
                    <a:lstStyle/>
                    <a:p>
                      <a:pPr marL="0" indent="0" algn="l">
                        <a:buNone/>
                      </a:pPr>
                      <a:r>
                        <a:rPr lang="en-US" sz="2200" b="1" dirty="0">
                          <a:solidFill>
                            <a:schemeClr val="tx1"/>
                          </a:solidFill>
                        </a:rPr>
                        <a:t>Nhờ AI giải toán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Bài tập về nhà: thấp</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Trong kì thi: cao</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22960">
                <a:tc>
                  <a:txBody>
                    <a:bodyPr/>
                    <a:lstStyle/>
                    <a:p>
                      <a:pPr marL="0" indent="0" algn="l">
                        <a:buNone/>
                      </a:pPr>
                      <a:r>
                        <a:rPr lang="en-US" sz="2200" b="1" dirty="0">
                          <a:solidFill>
                            <a:schemeClr val="tx1"/>
                          </a:solidFill>
                        </a:rPr>
                        <a:t>Tải ảnh lên công cụ tạo ảnh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Ảnh của mình: thấp</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Ảnh cả lớp, chưa hỏi: cao</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22960">
                <a:tc>
                  <a:txBody>
                    <a:bodyPr/>
                    <a:lstStyle/>
                    <a:p>
                      <a:pPr marL="0" indent="0" algn="l">
                        <a:buNone/>
                      </a:pPr>
                      <a:r>
                        <a:rPr lang="en-US" sz="2200" b="1" dirty="0">
                          <a:solidFill>
                            <a:schemeClr val="tx1"/>
                          </a:solidFill>
                        </a:rPr>
                        <a:t>Nhờ AI dịch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Bài báo: thấp</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Hướng dẫn dùng thuốc: cao</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800" b="1" dirty="0">
                <a:solidFill>
                  <a:schemeClr val="tx1"/>
                </a:solidFill>
              </a:rPr>
              <a:t>“Còn tùy” là được, miễn nói rõ tùy vào điều gì</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Hạ mức rủi ro: ba hướng</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224028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Giảm khả năng</a:t>
            </a:r>
            <a:endParaRPr lang="en-US" sz="2400" dirty="0"/>
          </a:p>
          <a:p>
            <a:pPr marL="0" indent="0">
              <a:spcAft>
                <a:spcPts val="800"/>
              </a:spcAft>
              <a:buNone/>
            </a:pPr>
            <a:r>
              <a:rPr lang="en-US" sz="2400" dirty="0">
                <a:solidFill>
                  <a:schemeClr val="tx1"/>
                </a:solidFill>
              </a:rPr>
              <a:t>Thêm bước kiểm chứng; nhờ người hiểu biết xem lại.</a:t>
            </a:r>
            <a:endParaRPr lang="en-US" sz="2400" dirty="0"/>
          </a:p>
        </p:txBody>
      </p:sp>
      <p:sp>
        <p:nvSpPr>
          <p:cNvPr id="8" name="Shape 5"/>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224028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Giảm hậu quả</a:t>
            </a:r>
            <a:endParaRPr lang="en-US" sz="2400" dirty="0"/>
          </a:p>
          <a:p>
            <a:pPr marL="0" indent="0">
              <a:spcAft>
                <a:spcPts val="800"/>
              </a:spcAft>
              <a:buNone/>
            </a:pPr>
            <a:r>
              <a:rPr lang="en-US" sz="2400" dirty="0">
                <a:solidFill>
                  <a:schemeClr val="tx1"/>
                </a:solidFill>
              </a:rPr>
              <a:t>Bỏ dữ liệu cá nhân; không công bố; thử phạm vi nhỏ.</a:t>
            </a:r>
            <a:endParaRPr lang="en-US" sz="2400" dirty="0"/>
          </a:p>
        </p:txBody>
      </p:sp>
      <p:sp>
        <p:nvSpPr>
          <p:cNvPr id="12" name="Shape 9"/>
          <p:cNvSpPr/>
          <p:nvPr/>
        </p:nvSpPr>
        <p:spPr>
          <a:xfrm>
            <a:off x="810768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224028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Đổi cách làm</a:t>
            </a:r>
            <a:endParaRPr lang="en-US" sz="2400" dirty="0"/>
          </a:p>
          <a:p>
            <a:pPr marL="0" indent="0">
              <a:spcAft>
                <a:spcPts val="800"/>
              </a:spcAft>
              <a:buNone/>
            </a:pPr>
            <a:r>
              <a:rPr lang="en-US" sz="2400" dirty="0">
                <a:solidFill>
                  <a:schemeClr val="tx1"/>
                </a:solidFill>
              </a:rPr>
              <a:t>Chuyển phần cốt lõi về cho mình.</a:t>
            </a:r>
            <a:endParaRPr lang="en-US" sz="2400" dirty="0"/>
          </a:p>
        </p:txBody>
      </p:sp>
      <p:sp>
        <p:nvSpPr>
          <p:cNvPr id="16" name="Shape 13"/>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7" name="Text 14"/>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Có việc không hạ mức được: câu trả lời là không làm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Pháp luật cũng dùng thang rủi ro</a:t>
            </a:r>
            <a:endParaRPr lang="en-US" sz="3800" dirty="0"/>
          </a:p>
        </p:txBody>
      </p:sp>
      <p:pic>
        <p:nvPicPr>
          <p:cNvPr id="4" name="Image 0" descr="Pháp luật cũng dùng thang rủi ro"/>
          <p:cNvPicPr>
            <a:picLocks noChangeAspect="1"/>
          </p:cNvPicPr>
          <p:nvPr/>
        </p:nvPicPr>
        <p:blipFill>
          <a:blip r:embed="rId3"/>
          <a:stretch>
            <a:fillRect/>
          </a:stretch>
        </p:blipFill>
        <p:spPr>
          <a:xfrm>
            <a:off x="577901" y="1463040"/>
            <a:ext cx="11005718"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Xếp 12 tình huống theo mức rủi ro</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22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xếp mức và nêu căn cứ</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14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Xếp 12 thẻ vào ba mức: thấp, trung bình, cao</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Mỗi thẻ: một căn cứ về hậu quả, một về khả năng</a:t>
            </a:r>
            <a:endParaRPr lang="en-US" sz="2800" dirty="0"/>
          </a:p>
          <a:p>
            <a:pPr marL="342900" indent="-342900">
              <a:spcAft>
                <a:spcPts val="1200"/>
              </a:spcAft>
              <a:buSzPct val="100000"/>
              <a:buFont typeface="+mj-lt"/>
              <a:buAutoNum type="arabicPeriod"/>
            </a:pPr>
            <a:r>
              <a:rPr lang="en-US" sz="2800" dirty="0">
                <a:solidFill>
                  <a:schemeClr val="tx1"/>
                </a:solidFill>
              </a:rPr>
              <a:t>Thẻ “còn tùy”: ghi rõ tùy vào điều gì</a:t>
            </a:r>
            <a:endParaRPr lang="en-US" sz="2800" dirty="0"/>
          </a:p>
          <a:p>
            <a:pPr marL="342900" indent="-342900">
              <a:spcAft>
                <a:spcPts val="1200"/>
              </a:spcAft>
              <a:buSzPct val="100000"/>
              <a:buFont typeface="+mj-lt"/>
              <a:buAutoNum type="arabicPeriod"/>
            </a:pPr>
            <a:r>
              <a:rPr lang="en-US" sz="2800" dirty="0">
                <a:solidFill>
                  <a:schemeClr val="tx1"/>
                </a:solidFill>
              </a:rPr>
              <a:t>Chọn hai thẻ mức cao: hạ mức được không?</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Nhớ</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Vi phạm quy chế thi, quy định của trường hay pháp luật: luôn là mức cao.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Hai câu hỏi trước khi bấm</a:t>
            </a:r>
            <a:endParaRPr lang="en-US" sz="3800" dirty="0"/>
          </a:p>
        </p:txBody>
      </p:sp>
      <p:sp>
        <p:nvSpPr>
          <p:cNvPr id="4" name="Shape 1"/>
          <p:cNvSpPr/>
          <p:nvPr/>
        </p:nvSpPr>
        <p:spPr>
          <a:xfrm>
            <a:off x="548640" y="228600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228600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2148840"/>
          </a:xfrm>
          <a:prstGeom prst="rect">
            <a:avLst/>
          </a:prstGeom>
          <a:noFill/>
          <a:ln/>
        </p:spPr>
        <p:txBody>
          <a:bodyPr wrap="square" lIns="0" tIns="0" rIns="0" bIns="0" rtlCol="0" anchor="ctr"/>
          <a:lstStyle/>
          <a:p>
            <a:pPr marL="0" indent="0">
              <a:buNone/>
            </a:pPr>
            <a:r>
              <a:rPr lang="en-US" sz="3200" dirty="0">
                <a:solidFill>
                  <a:schemeClr val="tx1"/>
                </a:solidFill>
              </a:rPr>
              <a:t>Nếu sai: </a:t>
            </a:r>
            <a:r>
              <a:rPr lang="en-US" sz="3200" b="1" dirty="0">
                <a:solidFill>
                  <a:schemeClr val="tx2"/>
                </a:solidFill>
              </a:rPr>
              <a:t>hậu quả nặng đến đâu</a:t>
            </a:r>
            <a:r>
              <a:rPr lang="en-US" sz="3200" dirty="0">
                <a:solidFill>
                  <a:schemeClr val="tx1"/>
                </a:solidFill>
              </a:rPr>
              <a:t>, ai chịu, có sửa được không?</a:t>
            </a:r>
            <a:endParaRPr lang="en-US" sz="3200" dirty="0"/>
          </a:p>
        </p:txBody>
      </p:sp>
      <p:sp>
        <p:nvSpPr>
          <p:cNvPr id="7" name="Shape 4"/>
          <p:cNvSpPr/>
          <p:nvPr/>
        </p:nvSpPr>
        <p:spPr>
          <a:xfrm>
            <a:off x="548640" y="45262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45262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794760"/>
            <a:ext cx="6949440" cy="2148840"/>
          </a:xfrm>
          <a:prstGeom prst="rect">
            <a:avLst/>
          </a:prstGeom>
          <a:noFill/>
          <a:ln/>
        </p:spPr>
        <p:txBody>
          <a:bodyPr wrap="square" lIns="0" tIns="0" rIns="0" bIns="0" rtlCol="0" anchor="ctr"/>
          <a:lstStyle/>
          <a:p>
            <a:pPr marL="0" indent="0">
              <a:buNone/>
            </a:pPr>
            <a:r>
              <a:rPr lang="en-US" sz="3200" dirty="0">
                <a:solidFill>
                  <a:schemeClr val="tx1"/>
                </a:solidFill>
              </a:rPr>
              <a:t>Điều đó có </a:t>
            </a:r>
            <a:r>
              <a:rPr lang="en-US" sz="3200" b="1" dirty="0">
                <a:solidFill>
                  <a:schemeClr val="tx2"/>
                </a:solidFill>
              </a:rPr>
              <a:t>dễ xảy ra</a:t>
            </a:r>
            <a:r>
              <a:rPr lang="en-US" sz="3200" dirty="0">
                <a:solidFill>
                  <a:schemeClr val="tx1"/>
                </a:solidFill>
              </a:rPr>
              <a:t> không, mình đã làm gì để phòng?</a:t>
            </a:r>
            <a:endParaRPr lang="en-US" sz="3200" dirty="0"/>
          </a:p>
        </p:txBody>
      </p:sp>
      <p:sp>
        <p:nvSpPr>
          <p:cNvPr id="10" name="Shape 7"/>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1" name="Text 8"/>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Mất chừng năm giây.</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Hai căn cứ: </a:t>
            </a:r>
            <a:r>
              <a:rPr lang="en-US" sz="3200" b="1" dirty="0">
                <a:solidFill>
                  <a:schemeClr val="tx2"/>
                </a:solidFill>
              </a:rPr>
              <a:t>hậu quả</a:t>
            </a:r>
            <a:r>
              <a:rPr lang="en-US" sz="3200" dirty="0">
                <a:solidFill>
                  <a:schemeClr val="tx1"/>
                </a:solidFill>
              </a:rPr>
              <a:t> và </a:t>
            </a:r>
            <a:r>
              <a:rPr lang="en-US" sz="3200" b="1" dirty="0">
                <a:solidFill>
                  <a:schemeClr val="tx2"/>
                </a:solidFill>
              </a:rPr>
              <a:t>khả năng xảy ra</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Ba mức:</a:t>
            </a:r>
            <a:r>
              <a:rPr lang="en-US" sz="3200" dirty="0">
                <a:solidFill>
                  <a:schemeClr val="tx1"/>
                </a:solidFill>
              </a:rPr>
              <a:t> thấp, trung bình, cao</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Cùng một việc, </a:t>
            </a:r>
            <a:r>
              <a:rPr lang="en-US" sz="3200" b="1" dirty="0">
                <a:solidFill>
                  <a:schemeClr val="tx2"/>
                </a:solidFill>
              </a:rPr>
              <a:t>khác bối cảnh thì khác mức</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Hạ mức:</a:t>
            </a:r>
            <a:r>
              <a:rPr lang="en-US" sz="3200" dirty="0">
                <a:solidFill>
                  <a:schemeClr val="tx1"/>
                </a:solidFill>
              </a:rPr>
              <a:t> giảm khả năng, giảm hậu quả, đổi cách làm</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Với ba việc trên phiếu: xác định mức rủi ro (thấp, trung bình, cao) và nêu một căn cứ.</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Chọn việc (b): nêu một biện pháp để hạ mức rủi ro.</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1418842747"/>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1465</Words>
  <Application>Microsoft Office PowerPoint</Application>
  <PresentationFormat>Widescreen</PresentationFormat>
  <Paragraphs>173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Xác định mức độ rủi ro khi sử dụng AI</vt:lpstr>
      <vt:lpstr>Hôm nay chúng ta làm gì?</vt:lpstr>
      <vt:lpstr>Việc nào đáng lo hơn?</vt:lpstr>
      <vt:lpstr>Nhắc lại: rủi ro và sự cố</vt:lpstr>
      <vt:lpstr>Căn cứ 1: hậu quả nặng đến đâu?</vt:lpstr>
      <vt:lpstr>Căn cứ 2: có dễ xảy ra không?</vt:lpstr>
      <vt:lpstr>Ghép hai căn cứ: ma trận rủi ro</vt:lpstr>
      <vt:lpstr>Ba mức, ba cách ứng xử</vt:lpstr>
      <vt:lpstr>Cùng một việc, khác bối cảnh, khác mức</vt:lpstr>
      <vt:lpstr>Hạ mức rủi ro: ba hướng</vt:lpstr>
      <vt:lpstr>Pháp luật cũng dùng thang rủi ro</vt:lpstr>
      <vt:lpstr>Xếp 12 tình huống theo mức rủi ro</vt:lpstr>
      <vt:lpstr>Nhiệm vụ nhóm: xếp mức và nêu căn cứ</vt:lpstr>
      <vt:lpstr>Hai câu hỏi trước khi bấm</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12.5. Xác định mức độ rủi ro khi sử dụng AI</dc:title>
  <dc:subject>Trí tuệ nhân tạo</dc:subject>
  <cp:lastModifiedBy>Phạm Văn Tú</cp:lastModifiedBy>
  <cp:revision>1</cp:revision>
  <dcterms:created xsi:type="dcterms:W3CDTF">2026-10-08T10:45:42Z</dcterms:created>
  <dcterms:modified xsi:type="dcterms:W3CDTF">2026-10-10T03:43:35Z</dcterms:modified>
  <dc:description>Email: phamtund@gmail.com</dc:description>
  <dc:creator>Phạm Văn Tú</dc:creator>
  <cp:category>Trí tuệ nhân tạo</cp:category>
  <cp:keywords>Trí tuệ nhân tạo</cp:keywords>
</cp:coreProperties>
</file>