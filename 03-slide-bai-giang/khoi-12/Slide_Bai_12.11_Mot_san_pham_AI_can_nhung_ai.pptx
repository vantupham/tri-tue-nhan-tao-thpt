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D386F7BD-8DBB-D92B-C7C0-4AD6023E50FB}">
          <p14:sldIdLst>
            <p14:sldId id="256"/>
            <p14:sldId id="257"/>
            <p14:sldId id="258"/>
            <p14:sldId id="259"/>
            <p14:sldId id="260"/>
            <p14:sldId id="261"/>
            <p14:sldId id="262"/>
            <p14:sldId id="263"/>
            <p14:sldId id="264"/>
          </p14:sldIdLst>
        </p14:section>
        <p14:section name="Cuộc họp dự án" id="{0F46A93D-B789-304C-82D3-32C7579CB6D8}">
          <p14:sldIdLst>
            <p14:sldId id="265"/>
            <p14:sldId id="266"/>
            <p14:sldId id="267"/>
            <p14:sldId id="268"/>
            <p14:sldId id="269"/>
          </p14:sldIdLst>
        </p14:section>
        <p14:section name="Tổng kết" id="{A9E9BB12-439C-544A-86C5-93A89EDD903F}">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52AB3F-E8D8-4B48-9B24-560467E27006}" v="1" dt="2026-10-10T03:46:50.2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6:50.242" v="2"/>
      <pc:docMkLst>
        <pc:docMk/>
      </pc:docMkLst>
      <pc:sldChg chg="modSp mod">
        <pc:chgData name="Phạm Văn Tú" userId="67199c852bdd6d1b" providerId="LiveId" clId="{CB377567-0116-4044-BB7C-6E46B7A5C596}" dt="2026-10-10T03:46:37.979" v="1" actId="20577"/>
        <pc:sldMkLst>
          <pc:docMk/>
          <pc:sldMk cId="0" sldId="256"/>
        </pc:sldMkLst>
        <pc:spChg chg="mod">
          <ac:chgData name="Phạm Văn Tú" userId="67199c852bdd6d1b" providerId="LiveId" clId="{CB377567-0116-4044-BB7C-6E46B7A5C596}" dt="2026-10-10T03:46:37.979" v="1" actId="20577"/>
          <ac:spMkLst>
            <pc:docMk/>
            <pc:sldMk cId="0" sldId="256"/>
            <ac:spMk id="3" creationId="{00000000-0000-0000-0000-000000000000}"/>
          </ac:spMkLst>
        </pc:spChg>
      </pc:sldChg>
      <pc:sldChg chg="add">
        <pc:chgData name="Phạm Văn Tú" userId="67199c852bdd6d1b" providerId="LiveId" clId="{CB377567-0116-4044-BB7C-6E46B7A5C596}" dt="2026-10-10T03:46:50.242" v="2"/>
        <pc:sldMkLst>
          <pc:docMk/>
          <pc:sldMk cId="177062214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47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thẻ vai trò, thẻ sự cố cho 'cuộc họp dự án', bảng phân vai, Phiếu định hướng cá nhân. Học sinh mang hồ sơ dự án của nhóm (Bài 12.10).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(4 phút). Dự án ví dụ: ứng dụng nhận biết lá bệnh cho vườn trường. Hỏi: nếu làm được, có nên không? Việc nào người làm không nên tự làm (việc 6: khó thấy lỗi của chính mình)? Việc nào em thấy hợp với mình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(12 phút). Bốn vai trò nêu trong Khung của Bộ. Quản lí sản phẩm: tìm hiểu nhu cầu, xác định mục tiêu, điều phối. Lập trình: viết ứng dụng, nối mô hình với giao diện. Huấn luyện: chọn cách học, cho máy học, điều chỉnh. Kiểm thử: thử với trường hợp mới, đo hiệu quả, tìm lỗi, kiểm tra công bằng.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bảng vai trò. Chỉ hai trong tám vai đòi hỏi lập trình là chính. Một sản phẩm chạy đúng về kĩ thuật vẫn thất bại nếu không ai hỏi người dùng cần gì, không ai hiểu về bệnh cây để gán nhãn đúng.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đường nối là 'chỗ nối' nơi hai vai phải trao đổi; lỗi thường nằm ở chính các chỗ nối. Trong nhóm nhỏ, một người có thể giữ nhiều vai, nhưng không vai nào bỏ trống và nên giữ vai kiểm thử riêng.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chỗ nối: quản lí sản phẩm và dữ liệu (thu ảnh ở vườn khác); lập trình và thiết kế trải nghiệm (người lớn tuổi không đọc được chữ nhỏ); huấn luyện và kiểm thử (báo cáo con số đo trên dữ liệu đã học).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vai kiểm thử (đo riêng từng nhóm) và vai phụ trách dữ liệu (dữ liệu có đủ mọi nhóm người không). Nguồn: Gender Shades (2018). Thêm: chatbot năm 2016 bị gỡ sau chưa đầy một ngày; thiếu người hỏi 'nếu có người cố tình dùng sai thì sao?'.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Sửa một dòng trên giấy rẻ hơn nhiều so với sửa một sản phẩm.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thẻ vai trò và thẻ sự cố.</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phân vai là minh chứng đánh giá; giữ để báo cáo ở Bài 12.12.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3 nhóm trình bày kết quả. Chốt: hầu hết sự cố cần từ hai vai trở lên; vai kiểm thử và vai chuyên gia lĩnh vực, đạo đức thường phát hiện sớm.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(7 phút). Thêm: thích một lĩnh vực chuyên sâu (y, nông nghiệp, sư phạm, luật) thì hợp vai chuyên gia lĩnh vực hoặc đạo đức, pháp lí. Tên gọi vị trí công việc thực tế thay đổi theo nơi và thời gian; bảng mô tả loại công việc.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Lĩnh vực AI cần nhiều kiểu người. Hiểu cách một sản phẩm AI được làm ra giúp em biết hỏi đúng người, đúng câu.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định hướng cá nhân (trong 7 phút của hoạt động 4). Dặn dò: chuẩn bị báo cáo phương án cho Bài 12.12; phần Vận dụng (tìm hiểu một người đang làm công việc liên quan đến AI hoặc dữ liệu).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26300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12.11 · Một sản phẩm AI cần những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Một sản phẩm AI cần những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12.11 · Chuyên đề 12.4: Giải pháp và hợp tác phát triển sản phẩm AI</a:t>
            </a:r>
            <a:endParaRPr lang="en-US" sz="2400" dirty="0"/>
          </a:p>
          <a:p>
            <a:pPr marL="0" indent="0" algn="l">
              <a:buNone/>
            </a:pPr>
            <a:r>
              <a:rPr lang="en-US" sz="2400" dirty="0">
                <a:solidFill>
                  <a:schemeClr val="accent5"/>
                </a:solidFill>
              </a:rPr>
              <a:t>Giáo dục trí tuệ nhân tạo lớp 12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Nhận biết</a:t>
            </a:r>
            <a:r>
              <a:rPr lang="en-US" sz="2800" dirty="0">
                <a:solidFill>
                  <a:schemeClr val="tx1"/>
                </a:solidFill>
              </a:rPr>
              <a:t> các vai trò trong phát triển một sản phẩm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vì sao cần hợp tác nhiều chuyên môn</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Lập</a:t>
            </a:r>
            <a:r>
              <a:rPr lang="en-US" sz="2800" dirty="0">
                <a:solidFill>
                  <a:schemeClr val="tx1"/>
                </a:solidFill>
              </a:rPr>
              <a:t> bảng phân vai cho dự án của nhóm</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4'</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Một người làm hết?</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12'</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Các vai trò</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Cuộc họp dự án</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7'</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Vai trò hợp với em</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người có làm hết được không?</a:t>
            </a:r>
            <a:endParaRPr lang="en-US" sz="3800" dirty="0"/>
          </a:p>
        </p:txBody>
      </p:sp>
      <p:sp>
        <p:nvSpPr>
          <p:cNvPr id="4" name="Shape 1"/>
          <p:cNvSpPr/>
          <p:nvPr/>
        </p:nvSpPr>
        <p:spPr>
          <a:xfrm>
            <a:off x="548640" y="155448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72021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72021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Hỏi đội vườn thật sự cần gì</a:t>
            </a:r>
            <a:endParaRPr lang="en-US" sz="2400" dirty="0"/>
          </a:p>
        </p:txBody>
      </p:sp>
      <p:sp>
        <p:nvSpPr>
          <p:cNvPr id="8" name="Shape 5"/>
          <p:cNvSpPr/>
          <p:nvPr/>
        </p:nvSpPr>
        <p:spPr>
          <a:xfrm>
            <a:off x="6195060" y="155448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72021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72021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Chụp 300 ảnh lá, nhờ thầy xác nhận</a:t>
            </a:r>
            <a:endParaRPr lang="en-US" sz="2400" dirty="0"/>
          </a:p>
        </p:txBody>
      </p:sp>
      <p:sp>
        <p:nvSpPr>
          <p:cNvPr id="12" name="Shape 9"/>
          <p:cNvSpPr/>
          <p:nvPr/>
        </p:nvSpPr>
        <p:spPr>
          <a:xfrm>
            <a:off x="548640" y="270891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287464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287464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278206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Huấn luyện mô hình cho đến khi đạt</a:t>
            </a:r>
            <a:endParaRPr lang="en-US" sz="2400" dirty="0"/>
          </a:p>
        </p:txBody>
      </p:sp>
      <p:sp>
        <p:nvSpPr>
          <p:cNvPr id="16" name="Shape 13"/>
          <p:cNvSpPr/>
          <p:nvPr/>
        </p:nvSpPr>
        <p:spPr>
          <a:xfrm>
            <a:off x="6195060" y="270891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287464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287464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278206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Viết ứng dụng chụp ảnh, hiện kết quả</a:t>
            </a:r>
            <a:endParaRPr lang="en-US" sz="2400" dirty="0"/>
          </a:p>
        </p:txBody>
      </p:sp>
      <p:sp>
        <p:nvSpPr>
          <p:cNvPr id="20" name="Shape 17"/>
          <p:cNvSpPr/>
          <p:nvPr/>
        </p:nvSpPr>
        <p:spPr>
          <a:xfrm>
            <a:off x="548640" y="386334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02907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02907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393649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Thiết kế màn hình dễ hiểu</a:t>
            </a:r>
            <a:endParaRPr lang="en-US" sz="2400" dirty="0"/>
          </a:p>
        </p:txBody>
      </p:sp>
      <p:sp>
        <p:nvSpPr>
          <p:cNvPr id="24" name="Shape 21"/>
          <p:cNvSpPr/>
          <p:nvPr/>
        </p:nvSpPr>
        <p:spPr>
          <a:xfrm>
            <a:off x="6195060" y="386334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02907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02907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393649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Thử với ảnh mới, đo, tìm lỗi</a:t>
            </a:r>
            <a:endParaRPr lang="en-US" sz="2400" dirty="0"/>
          </a:p>
        </p:txBody>
      </p:sp>
      <p:sp>
        <p:nvSpPr>
          <p:cNvPr id="28" name="Shape 25"/>
          <p:cNvSpPr/>
          <p:nvPr/>
        </p:nvSpPr>
        <p:spPr>
          <a:xfrm>
            <a:off x="548640" y="501777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29" name="Shape 26"/>
          <p:cNvSpPr/>
          <p:nvPr/>
        </p:nvSpPr>
        <p:spPr>
          <a:xfrm>
            <a:off x="731520" y="518350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30" name="Text 27"/>
          <p:cNvSpPr txBox="1"/>
          <p:nvPr/>
        </p:nvSpPr>
        <p:spPr>
          <a:xfrm>
            <a:off x="731520" y="518350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7</a:t>
            </a:r>
            <a:endParaRPr lang="en-US" sz="2000" dirty="0"/>
          </a:p>
        </p:txBody>
      </p:sp>
      <p:sp>
        <p:nvSpPr>
          <p:cNvPr id="31" name="Text 28"/>
          <p:cNvSpPr txBox="1"/>
          <p:nvPr/>
        </p:nvSpPr>
        <p:spPr>
          <a:xfrm>
            <a:off x="1508760" y="509092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Kiểm tra có vô tình thu hình các bạn</a:t>
            </a:r>
            <a:endParaRPr lang="en-US" sz="2400" dirty="0"/>
          </a:p>
        </p:txBody>
      </p:sp>
      <p:sp>
        <p:nvSpPr>
          <p:cNvPr id="32" name="Shape 29"/>
          <p:cNvSpPr/>
          <p:nvPr/>
        </p:nvSpPr>
        <p:spPr>
          <a:xfrm>
            <a:off x="6195060" y="5017770"/>
            <a:ext cx="541782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33" name="Shape 30"/>
          <p:cNvSpPr/>
          <p:nvPr/>
        </p:nvSpPr>
        <p:spPr>
          <a:xfrm>
            <a:off x="6377940" y="5183505"/>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34" name="Text 31"/>
          <p:cNvSpPr txBox="1"/>
          <p:nvPr/>
        </p:nvSpPr>
        <p:spPr>
          <a:xfrm>
            <a:off x="6377940" y="5183505"/>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8</a:t>
            </a:r>
            <a:endParaRPr lang="en-US" sz="2000" dirty="0"/>
          </a:p>
        </p:txBody>
      </p:sp>
      <p:sp>
        <p:nvSpPr>
          <p:cNvPr id="35" name="Text 32"/>
          <p:cNvSpPr txBox="1"/>
          <p:nvPr/>
        </p:nvSpPr>
        <p:spPr>
          <a:xfrm>
            <a:off x="7155180" y="5090922"/>
            <a:ext cx="4320540" cy="779526"/>
          </a:xfrm>
          <a:prstGeom prst="rect">
            <a:avLst/>
          </a:prstGeom>
          <a:noFill/>
          <a:ln/>
        </p:spPr>
        <p:txBody>
          <a:bodyPr wrap="square" lIns="0" tIns="0" rIns="0" bIns="0" rtlCol="0" anchor="ctr"/>
          <a:lstStyle/>
          <a:p>
            <a:pPr marL="0" indent="0">
              <a:buNone/>
            </a:pPr>
            <a:r>
              <a:rPr lang="en-US" sz="2400" b="1" dirty="0">
                <a:solidFill>
                  <a:schemeClr val="tx1"/>
                </a:solidFill>
              </a:rPr>
              <a:t>Hướng dẫn cách dùng, nhận góp ý</a:t>
            </a:r>
            <a:endParaRPr lang="en-US" sz="24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vai trò cốt lõi</a:t>
            </a:r>
            <a:endParaRPr lang="en-US" sz="3800" dirty="0"/>
          </a:p>
        </p:txBody>
      </p:sp>
      <p:sp>
        <p:nvSpPr>
          <p:cNvPr id="4" name="Shape 1"/>
          <p:cNvSpPr/>
          <p:nvPr/>
        </p:nvSpPr>
        <p:spPr>
          <a:xfrm>
            <a:off x="54864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Đề xuất ý tưởng, quản lí sản phẩm</a:t>
            </a:r>
            <a:endParaRPr lang="en-US" sz="2800" dirty="0"/>
          </a:p>
        </p:txBody>
      </p:sp>
      <p:sp>
        <p:nvSpPr>
          <p:cNvPr id="8" name="Shape 5"/>
          <p:cNvSpPr/>
          <p:nvPr/>
        </p:nvSpPr>
        <p:spPr>
          <a:xfrm>
            <a:off x="619506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Lập trình</a:t>
            </a:r>
            <a:endParaRPr lang="en-US" sz="2800" dirty="0"/>
          </a:p>
        </p:txBody>
      </p:sp>
      <p:sp>
        <p:nvSpPr>
          <p:cNvPr id="12" name="Shape 9"/>
          <p:cNvSpPr/>
          <p:nvPr/>
        </p:nvSpPr>
        <p:spPr>
          <a:xfrm>
            <a:off x="54864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93649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Huấn luyện mô hình</a:t>
            </a:r>
            <a:endParaRPr lang="en-US" sz="2800" dirty="0"/>
          </a:p>
        </p:txBody>
      </p:sp>
      <p:sp>
        <p:nvSpPr>
          <p:cNvPr id="16" name="Shape 13"/>
          <p:cNvSpPr/>
          <p:nvPr/>
        </p:nvSpPr>
        <p:spPr>
          <a:xfrm>
            <a:off x="619506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936492"/>
            <a:ext cx="4320540" cy="1933956"/>
          </a:xfrm>
          <a:prstGeom prst="rect">
            <a:avLst/>
          </a:prstGeom>
          <a:noFill/>
          <a:ln/>
        </p:spPr>
        <p:txBody>
          <a:bodyPr wrap="square" lIns="0" tIns="0" rIns="0" bIns="0" rtlCol="0" anchor="ctr"/>
          <a:lstStyle/>
          <a:p>
            <a:pPr marL="0" indent="0">
              <a:buNone/>
            </a:pPr>
            <a:r>
              <a:rPr lang="en-US" sz="2800" b="1" dirty="0">
                <a:solidFill>
                  <a:schemeClr val="tx1"/>
                </a:solidFill>
              </a:rPr>
              <a:t>Kiểm thử</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Và những vai trò không làm kĩ thuật</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Phụ trách dữ liệu</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Thiết kế trải nghiệm</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Chuyên gia lĩnh vực</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Phụ trách đạo đức, pháp lí</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Dễ nhầm: “làm AI là việc của người giỏi lập trình”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Các vai trò quanh một sản phẩm AI</a:t>
            </a:r>
            <a:endParaRPr lang="en-US" sz="3800" dirty="0"/>
          </a:p>
        </p:txBody>
      </p:sp>
      <p:pic>
        <p:nvPicPr>
          <p:cNvPr id="4" name="Image 0" descr="Các vai trò quanh một sản phẩm AI"/>
          <p:cNvPicPr>
            <a:picLocks noChangeAspect="1"/>
          </p:cNvPicPr>
          <p:nvPr/>
        </p:nvPicPr>
        <p:blipFill>
          <a:blip r:embed="rId3"/>
          <a:stretch>
            <a:fillRect/>
          </a:stretch>
        </p:blipFill>
        <p:spPr>
          <a:xfrm>
            <a:off x="2583180" y="1463040"/>
            <a:ext cx="6995160"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Vì sao phải hợp tác?</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Mỗi vai chỉ thấy một phần</a:t>
            </a:r>
            <a:endParaRPr lang="en-US" sz="2600" dirty="0"/>
          </a:p>
          <a:p>
            <a:pPr marL="0" indent="0">
              <a:spcAft>
                <a:spcPts val="800"/>
              </a:spcAft>
              <a:buNone/>
            </a:pPr>
            <a:r>
              <a:rPr lang="en-US" sz="2600" dirty="0">
                <a:solidFill>
                  <a:schemeClr val="tx1"/>
                </a:solidFill>
              </a:rPr>
              <a:t>Người huấn luyện thấy 93%. Người kiểm thử thấy sai khi trời râm.</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Lỗi nằm ở chỗ nối</a:t>
            </a:r>
            <a:endParaRPr lang="en-US" sz="2600" dirty="0"/>
          </a:p>
          <a:p>
            <a:pPr marL="0" indent="0">
              <a:spcAft>
                <a:spcPts val="800"/>
              </a:spcAft>
              <a:buNone/>
            </a:pPr>
            <a:r>
              <a:rPr lang="en-US" sz="2600" dirty="0">
                <a:solidFill>
                  <a:schemeClr val="tx1"/>
                </a:solidFill>
              </a:rPr>
              <a:t>Dữ liệu không khớp mục tiêu; chạy đúng nhưng không dùng được.</a:t>
            </a:r>
            <a:endParaRPr lang="en-US" sz="2600" dirty="0"/>
          </a:p>
        </p:txBody>
      </p:sp>
      <p:sp>
        <p:nvSpPr>
          <p:cNvPr id="12" name="Shape 9"/>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Hợp tác là kiểm soát</a:t>
            </a:r>
            <a:endParaRPr lang="en-US" sz="2600" dirty="0"/>
          </a:p>
          <a:p>
            <a:pPr marL="0" indent="0">
              <a:spcAft>
                <a:spcPts val="800"/>
              </a:spcAft>
              <a:buNone/>
            </a:pPr>
            <a:r>
              <a:rPr lang="en-US" sz="2600" dirty="0">
                <a:solidFill>
                  <a:schemeClr val="bg1"/>
                </a:solidFill>
              </a:rPr>
              <a:t>Mỗi góc nhìn là một điểm kiểm soát của vòng đời.</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thứ còn thiếu không phải là lập trình</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Ba phần mềm thương mại đoán giới tính qua khuôn mặt, do các công ti lớn với kĩ sư giỏi làm ra.</a:t>
            </a:r>
            <a:endParaRPr lang="en-US" sz="2800" dirty="0"/>
          </a:p>
          <a:p>
            <a:pPr marL="0" indent="0">
              <a:buNone/>
            </a:pPr>
            <a:endParaRPr lang="en-US" sz="2800" dirty="0"/>
          </a:p>
          <a:p>
            <a:pPr marL="0" indent="0">
              <a:buNone/>
            </a:pPr>
            <a:r>
              <a:rPr lang="en-US" sz="2800" dirty="0">
                <a:solidFill>
                  <a:schemeClr val="tx1"/>
                </a:solidFill>
              </a:rPr>
              <a:t>Sai tới 34,7% với phụ nữ da sẫm màu; với nam giới da sáng chỉ 0,8%.</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Vai trò nào lẽ ra có thể phát hiện sớm?</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thói quen để hợp tác tốt</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Viết ra thứ mình bàn giao</a:t>
            </a:r>
            <a:endParaRPr lang="en-US" sz="2600" dirty="0"/>
          </a:p>
          <a:p>
            <a:pPr marL="0" indent="0">
              <a:spcAft>
                <a:spcPts val="800"/>
              </a:spcAft>
              <a:buNone/>
            </a:pPr>
            <a:r>
              <a:rPr lang="en-US" sz="2600" dirty="0">
                <a:solidFill>
                  <a:schemeClr val="tx1"/>
                </a:solidFill>
              </a:rPr>
              <a:t>Kèm một trang ghi chú: bao nhiêu ảnh, ai gán nhãn, còn thiếu gì.</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Mời người “ngoài” vào sớm</a:t>
            </a:r>
            <a:endParaRPr lang="en-US" sz="2600" dirty="0"/>
          </a:p>
          <a:p>
            <a:pPr marL="0" indent="0">
              <a:spcAft>
                <a:spcPts val="800"/>
              </a:spcAft>
              <a:buNone/>
            </a:pPr>
            <a:r>
              <a:rPr lang="en-US" sz="2600" dirty="0">
                <a:solidFill>
                  <a:schemeClr val="tx1"/>
                </a:solidFill>
              </a:rPr>
              <a:t>Hỏi chuyên gia và người dùng từ lúc còn là phiếu ý tưởng.</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Người tìm ra lỗi là người giúp mình</a:t>
            </a:r>
            <a:endParaRPr lang="en-US" sz="2600" dirty="0"/>
          </a:p>
          <a:p>
            <a:pPr marL="0" indent="0">
              <a:spcAft>
                <a:spcPts val="800"/>
              </a:spcAft>
              <a:buNone/>
            </a:pPr>
            <a:r>
              <a:rPr lang="en-US" sz="2600" dirty="0">
                <a:solidFill>
                  <a:schemeClr val="tx1"/>
                </a:solidFill>
              </a:rPr>
              <a:t>“Cảm ơn, mình cần thêm ảnh trời râm.”</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Cuộc họp dự án</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phân vai cho dự án của nhóm</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10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Lập bảng phân vai gắn với phương án đã chọn</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Mỗi vai: ai phụ trách, việc cụ thể trong dự án</a:t>
            </a:r>
            <a:endParaRPr lang="en-US" sz="2800" dirty="0"/>
          </a:p>
          <a:p>
            <a:pPr marL="342900" indent="-342900">
              <a:spcAft>
                <a:spcPts val="1200"/>
              </a:spcAft>
              <a:buSzPct val="100000"/>
              <a:buFont typeface="+mj-lt"/>
              <a:buAutoNum type="arabicPeriod"/>
            </a:pPr>
            <a:r>
              <a:rPr lang="en-US" sz="2800" dirty="0">
                <a:solidFill>
                  <a:schemeClr val="tx1"/>
                </a:solidFill>
              </a:rPr>
              <a:t>Kiểm tra: không vai nào bỏ trống</a:t>
            </a:r>
            <a:endParaRPr lang="en-US" sz="2800" dirty="0"/>
          </a:p>
          <a:p>
            <a:pPr marL="342900" indent="-342900">
              <a:spcAft>
                <a:spcPts val="1200"/>
              </a:spcAft>
              <a:buSzPct val="100000"/>
              <a:buFont typeface="+mj-lt"/>
              <a:buAutoNum type="arabicPeriod"/>
            </a:pPr>
            <a:r>
              <a:rPr lang="en-US" sz="2800" dirty="0">
                <a:solidFill>
                  <a:schemeClr val="tx1"/>
                </a:solidFill>
              </a:rPr>
              <a:t>Có ít nhất một người “ngoài nhóm”</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Nhóm chỉ có bốn người?</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Gộp lập trình với huấn luyện; gộp thiết kế với quản lí sản phẩm. Vẫn giữ vai kiểm thử riêng.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xử lí một sự cố</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Mỗi nhóm bốc một thẻ sự cố và họp dự án</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Sự cố liên quan đến những vai nào?</a:t>
            </a:r>
            <a:endParaRPr lang="en-US" sz="2800" dirty="0"/>
          </a:p>
          <a:p>
            <a:pPr marL="342900" indent="-342900">
              <a:spcAft>
                <a:spcPts val="1200"/>
              </a:spcAft>
              <a:buSzPct val="100000"/>
              <a:buFont typeface="+mj-lt"/>
              <a:buAutoNum type="arabicPeriod"/>
            </a:pPr>
            <a:r>
              <a:rPr lang="en-US" sz="2800" dirty="0">
                <a:solidFill>
                  <a:schemeClr val="tx1"/>
                </a:solidFill>
              </a:rPr>
              <a:t>“Chỗ nối” nào đã bị đứt?</a:t>
            </a:r>
            <a:endParaRPr lang="en-US" sz="2800" dirty="0"/>
          </a:p>
          <a:p>
            <a:pPr marL="342900" indent="-342900">
              <a:spcAft>
                <a:spcPts val="1200"/>
              </a:spcAft>
              <a:buSzPct val="100000"/>
              <a:buFont typeface="+mj-lt"/>
              <a:buAutoNum type="arabicPeriod"/>
            </a:pPr>
            <a:r>
              <a:rPr lang="en-US" sz="2800" dirty="0">
                <a:solidFill>
                  <a:schemeClr val="tx1"/>
                </a:solidFill>
              </a:rPr>
              <a:t>Mỗi vai sẽ làm gì để khắc phục?</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 sự cố</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Ứng dụng chạy đúng trên máy của nhóm nhưng mở quá chậm trên điện thoại cũ của đội vườn.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Vai trò nào hợp với em?</a:t>
            </a:r>
            <a:endParaRPr lang="en-US" sz="3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6766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731520">
                <a:tc>
                  <a:txBody>
                    <a:bodyPr/>
                    <a:lstStyle/>
                    <a:p>
                      <a:pPr marL="0" indent="0" algn="ctr">
                        <a:buNone/>
                      </a:pPr>
                      <a:r>
                        <a:rPr lang="en-US" sz="2200" b="1" dirty="0">
                          <a:solidFill>
                            <a:schemeClr val="bg1"/>
                          </a:solidFill>
                        </a:rPr>
                        <a:t>Nếu em thích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Em có thể hợp với vai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31520">
                <a:tc>
                  <a:txBody>
                    <a:bodyPr/>
                    <a:lstStyle/>
                    <a:p>
                      <a:pPr marL="0" indent="0" algn="l">
                        <a:buNone/>
                      </a:pPr>
                      <a:r>
                        <a:rPr lang="en-US" sz="2200" b="1" dirty="0">
                          <a:solidFill>
                            <a:schemeClr val="tx1"/>
                          </a:solidFill>
                        </a:rPr>
                        <a:t>Trò chuyện, tìm hiểu người khác cần gì</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Quản lí sản phẩm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lgn="l">
                        <a:buNone/>
                      </a:pPr>
                      <a:r>
                        <a:rPr lang="en-US" sz="2200" b="1" dirty="0">
                          <a:solidFill>
                            <a:schemeClr val="tx1"/>
                          </a:solidFill>
                        </a:rPr>
                        <a:t>Sắp xếp, soát lỗi, làm việc với số liệu</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Phụ trách dữ liệu</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31520">
                <a:tc>
                  <a:txBody>
                    <a:bodyPr/>
                    <a:lstStyle/>
                    <a:p>
                      <a:pPr marL="0" indent="0" algn="l">
                        <a:buNone/>
                      </a:pPr>
                      <a:r>
                        <a:rPr lang="en-US" sz="2200" b="1" dirty="0">
                          <a:solidFill>
                            <a:schemeClr val="tx1"/>
                          </a:solidFill>
                        </a:rPr>
                        <a:t>Giải bài toán khó, tìm quy luật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Huấn luyện, lập trình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lgn="l">
                        <a:buNone/>
                      </a:pPr>
                      <a:r>
                        <a:rPr lang="en-US" sz="2200" b="1" dirty="0">
                          <a:solidFill>
                            <a:schemeClr val="tx1"/>
                          </a:solidFill>
                        </a:rPr>
                        <a:t>Bắt lỗi, hỏi “nếu... thì sao”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Kiểm thử</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731520">
                <a:tc>
                  <a:txBody>
                    <a:bodyPr/>
                    <a:lstStyle/>
                    <a:p>
                      <a:pPr marL="0" indent="0" algn="l">
                        <a:buNone/>
                      </a:pPr>
                      <a:r>
                        <a:rPr lang="en-US" sz="2200" b="1" dirty="0">
                          <a:solidFill>
                            <a:schemeClr val="tx1"/>
                          </a:solidFill>
                        </a:rPr>
                        <a:t>Vẽ, viết, để ý cảm nhận của người khác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Thiết kế trải nghiệm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Dù em theo ngành nào</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Người bác sĩ làm việc với phần mềm đọc phim.</a:t>
            </a:r>
            <a:endParaRPr lang="en-US" sz="2800" dirty="0"/>
          </a:p>
          <a:p>
            <a:pPr marL="0" indent="0">
              <a:buNone/>
            </a:pPr>
            <a:endParaRPr lang="en-US" sz="2800" dirty="0"/>
          </a:p>
          <a:p>
            <a:pPr marL="0" indent="0">
              <a:buNone/>
            </a:pPr>
            <a:r>
              <a:rPr lang="en-US" sz="2800" dirty="0">
                <a:solidFill>
                  <a:schemeClr val="tx1"/>
                </a:solidFill>
              </a:rPr>
              <a:t>Người giáo viên chọn công cụ cho lớp mình.</a:t>
            </a:r>
            <a:endParaRPr lang="en-US" sz="2800" dirty="0"/>
          </a:p>
          <a:p>
            <a:pPr marL="0" indent="0">
              <a:buNone/>
            </a:pPr>
            <a:endParaRPr lang="en-US" sz="2800" dirty="0"/>
          </a:p>
          <a:p>
            <a:pPr marL="0" indent="0">
              <a:buNone/>
            </a:pPr>
            <a:r>
              <a:rPr lang="en-US" sz="2800" dirty="0">
                <a:solidFill>
                  <a:schemeClr val="tx1"/>
                </a:solidFill>
              </a:rPr>
              <a:t>Người nông dân góp ý cho ứng dụng bệnh cây.</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Em sẽ làm việc cùng AI và cùng những người làm 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Bốn vai cốt lõi: </a:t>
            </a:r>
            <a:r>
              <a:rPr lang="en-US" sz="3200" b="1" dirty="0">
                <a:solidFill>
                  <a:schemeClr val="tx2"/>
                </a:solidFill>
              </a:rPr>
              <a:t>ý tưởng, lập trình, huấn luyện, kiểm thử</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Sản phẩm AI cần cả người </a:t>
            </a:r>
            <a:r>
              <a:rPr lang="en-US" sz="3200" b="1" dirty="0">
                <a:solidFill>
                  <a:schemeClr val="tx2"/>
                </a:solidFill>
              </a:rPr>
              <a:t>không làm kĩ thuật</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Lỗi thường nằm ở </a:t>
            </a:r>
            <a:r>
              <a:rPr lang="en-US" sz="3200" b="1" dirty="0">
                <a:solidFill>
                  <a:schemeClr val="tx2"/>
                </a:solidFill>
              </a:rPr>
              <a:t>chỗ nối</a:t>
            </a:r>
            <a:r>
              <a:rPr lang="en-US" sz="3200" dirty="0">
                <a:solidFill>
                  <a:schemeClr val="tx1"/>
                </a:solidFill>
              </a:rPr>
              <a:t> giữa hai vai</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Nhóm nhỏ gộp vai, nhưng </a:t>
            </a:r>
            <a:r>
              <a:rPr lang="en-US" sz="3200" b="1" dirty="0">
                <a:solidFill>
                  <a:schemeClr val="tx2"/>
                </a:solidFill>
              </a:rPr>
              <a:t>giữ kiểm thử riêng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1463040"/>
          </a:xfrm>
          <a:prstGeom prst="roundRect">
            <a:avLst>
              <a:gd name="adj" fmla="val 7500"/>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1188720"/>
          </a:xfrm>
          <a:prstGeom prst="rect">
            <a:avLst/>
          </a:prstGeom>
          <a:noFill/>
          <a:ln/>
        </p:spPr>
        <p:txBody>
          <a:bodyPr wrap="square" lIns="0" tIns="0" rIns="0" bIns="0" rtlCol="0" anchor="ctr"/>
          <a:lstStyle/>
          <a:p>
            <a:pPr marL="0" indent="0">
              <a:buNone/>
            </a:pPr>
            <a:r>
              <a:rPr lang="en-US" sz="2600" dirty="0">
                <a:solidFill>
                  <a:schemeClr val="tx1"/>
                </a:solidFill>
              </a:rPr>
              <a:t>Ghi vai trò tương ứng với mỗi việc trên phiếu.</a:t>
            </a:r>
            <a:endParaRPr lang="en-US" sz="2600" dirty="0"/>
          </a:p>
        </p:txBody>
      </p:sp>
      <p:sp>
        <p:nvSpPr>
          <p:cNvPr id="9" name="Shape 6"/>
          <p:cNvSpPr/>
          <p:nvPr/>
        </p:nvSpPr>
        <p:spPr>
          <a:xfrm>
            <a:off x="5394960" y="2697480"/>
            <a:ext cx="6217920" cy="1463040"/>
          </a:xfrm>
          <a:prstGeom prst="roundRect">
            <a:avLst>
              <a:gd name="adj" fmla="val 7500"/>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292608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292608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2834640"/>
            <a:ext cx="4983480" cy="1188720"/>
          </a:xfrm>
          <a:prstGeom prst="rect">
            <a:avLst/>
          </a:prstGeom>
          <a:noFill/>
          <a:ln/>
        </p:spPr>
        <p:txBody>
          <a:bodyPr wrap="square" lIns="0" tIns="0" rIns="0" bIns="0" rtlCol="0" anchor="ctr"/>
          <a:lstStyle/>
          <a:p>
            <a:pPr marL="0" indent="0">
              <a:buNone/>
            </a:pPr>
            <a:r>
              <a:rPr lang="en-US" sz="2400" dirty="0">
                <a:solidFill>
                  <a:schemeClr val="tx1"/>
                </a:solidFill>
              </a:rPr>
              <a:t>Vì sao làm ra một sản phẩm AI cần sự hợp tác của nhiều người có chuyên môn khác nhau? Nêu một ví dụ về điều có thể hỏng nếu thiếu một vai.</a:t>
            </a:r>
            <a:endParaRPr lang="en-US" sz="2400" dirty="0"/>
          </a:p>
        </p:txBody>
      </p:sp>
      <p:sp>
        <p:nvSpPr>
          <p:cNvPr id="13" name="Shape 10"/>
          <p:cNvSpPr/>
          <p:nvPr/>
        </p:nvSpPr>
        <p:spPr>
          <a:xfrm>
            <a:off x="5394960" y="4434840"/>
            <a:ext cx="6217920" cy="1463040"/>
          </a:xfrm>
          <a:prstGeom prst="roundRect">
            <a:avLst>
              <a:gd name="adj" fmla="val 7500"/>
            </a:avLst>
          </a:prstGeom>
          <a:solidFill>
            <a:schemeClr val="bg1"/>
          </a:solidFill>
          <a:ln w="12700">
            <a:solidFill>
              <a:schemeClr val="bg1"/>
            </a:solidFill>
            <a:prstDash val="solid"/>
          </a:ln>
        </p:spPr>
        <p:txBody>
          <a:bodyPr/>
          <a:lstStyle/>
          <a:p>
            <a:endParaRPr lang="en-US"/>
          </a:p>
        </p:txBody>
      </p:sp>
      <p:sp>
        <p:nvSpPr>
          <p:cNvPr id="14" name="Shape 11"/>
          <p:cNvSpPr/>
          <p:nvPr/>
        </p:nvSpPr>
        <p:spPr>
          <a:xfrm>
            <a:off x="5623560" y="466344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5" name="Text 12"/>
          <p:cNvSpPr txBox="1"/>
          <p:nvPr/>
        </p:nvSpPr>
        <p:spPr>
          <a:xfrm>
            <a:off x="5623560" y="466344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3</a:t>
            </a:r>
            <a:endParaRPr lang="en-US" sz="2100" dirty="0"/>
          </a:p>
        </p:txBody>
      </p:sp>
      <p:sp>
        <p:nvSpPr>
          <p:cNvPr id="16" name="Text 13"/>
          <p:cNvSpPr txBox="1"/>
          <p:nvPr/>
        </p:nvSpPr>
        <p:spPr>
          <a:xfrm>
            <a:off x="6446520" y="4572000"/>
            <a:ext cx="4983480" cy="1188720"/>
          </a:xfrm>
          <a:prstGeom prst="rect">
            <a:avLst/>
          </a:prstGeom>
          <a:noFill/>
          <a:ln/>
        </p:spPr>
        <p:txBody>
          <a:bodyPr wrap="square" lIns="0" tIns="0" rIns="0" bIns="0" rtlCol="0" anchor="ctr"/>
          <a:lstStyle/>
          <a:p>
            <a:pPr marL="0" indent="0">
              <a:buNone/>
            </a:pPr>
            <a:r>
              <a:rPr lang="en-US" sz="2600" dirty="0">
                <a:solidFill>
                  <a:schemeClr val="tx1"/>
                </a:solidFill>
              </a:rPr>
              <a:t>Định hướng của em: vai trò em thấy hợp với mình nhất, và vì sao.</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770622142"/>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1563</Words>
  <Application>Microsoft Office PowerPoint</Application>
  <PresentationFormat>Widescreen</PresentationFormat>
  <Paragraphs>187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Một sản phẩm AI cần những ai?</vt:lpstr>
      <vt:lpstr>Hôm nay chúng ta làm gì?</vt:lpstr>
      <vt:lpstr>Một người có làm hết được không?</vt:lpstr>
      <vt:lpstr>Bốn vai trò cốt lõi</vt:lpstr>
      <vt:lpstr>Và những vai trò không làm kĩ thuật</vt:lpstr>
      <vt:lpstr>Các vai trò quanh một sản phẩm AI</vt:lpstr>
      <vt:lpstr>Vì sao phải hợp tác?</vt:lpstr>
      <vt:lpstr>Chuyện có thật: thứ còn thiếu không phải là lập trình</vt:lpstr>
      <vt:lpstr>Ba thói quen để hợp tác tốt</vt:lpstr>
      <vt:lpstr>Cuộc họp dự án</vt:lpstr>
      <vt:lpstr>Nhiệm vụ 1: phân vai cho dự án của nhóm</vt:lpstr>
      <vt:lpstr>Nhiệm vụ 2: xử lí một sự cố</vt:lpstr>
      <vt:lpstr>Vai trò nào hợp với em?</vt:lpstr>
      <vt:lpstr>Dù em theo ngành nào</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12.11. Một sản phẩm AI cần những ai?</dc:title>
  <dc:subject>Trí tuệ nhân tạo</dc:subject>
  <cp:lastModifiedBy>Phạm Văn Tú</cp:lastModifiedBy>
  <cp:revision>1</cp:revision>
  <dcterms:created xsi:type="dcterms:W3CDTF">2026-10-08T10:45:43Z</dcterms:created>
  <dcterms:modified xsi:type="dcterms:W3CDTF">2026-10-10T03:46:52Z</dcterms:modified>
  <dc:description>Email: phamtund@gmail.com</dc:description>
  <dc:creator>Phạm Văn Tú</dc:creator>
  <cp:category>Trí tuệ nhân tạo</cp:category>
  <cp:keywords>Trí tuệ nhân tạo</cp:keywords>
</cp:coreProperties>
</file>