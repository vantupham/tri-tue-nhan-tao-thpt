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8E72E71C-059A-DE5B-9C16-AE256000ECF8}">
          <p14:sldIdLst>
            <p14:sldId id="256"/>
            <p14:sldId id="257"/>
            <p14:sldId id="258"/>
          </p14:sldIdLst>
        </p14:section>
        <p14:section name="Sáu bước của một quyết định" id="{1024AE28-9E71-5834-5286-E91988AE427C}">
          <p14:sldIdLst>
            <p14:sldId id="259"/>
            <p14:sldId id="260"/>
            <p14:sldId id="261"/>
            <p14:sldId id="262"/>
            <p14:sldId id="263"/>
            <p14:sldId id="264"/>
            <p14:sldId id="265"/>
          </p14:sldIdLst>
        </p14:section>
        <p14:section name="Lập sơ đồ phân vai" id="{DA330680-C7A1-5290-B564-4E150C7503A1}">
          <p14:sldIdLst>
            <p14:sldId id="266"/>
            <p14:sldId id="267"/>
            <p14:sldId id="268"/>
            <p14:sldId id="269"/>
          </p14:sldIdLst>
        </p14:section>
        <p14:section name="Tổng kết" id="{A69078FE-A53B-A323-F373-279519268DC3}">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CCC80D-DC24-472F-B0EB-4DA802525B41}" v="1" dt="2026-10-10T03:41:44.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1:44.021" v="3"/>
      <pc:docMkLst>
        <pc:docMk/>
      </pc:docMkLst>
      <pc:sldChg chg="modSp mod">
        <pc:chgData name="Phạm Văn Tú" userId="67199c852bdd6d1b" providerId="LiveId" clId="{CB377567-0116-4044-BB7C-6E46B7A5C596}" dt="2026-10-10T03:41:19.822" v="2" actId="20577"/>
        <pc:sldMkLst>
          <pc:docMk/>
          <pc:sldMk cId="0" sldId="256"/>
        </pc:sldMkLst>
        <pc:spChg chg="mod">
          <ac:chgData name="Phạm Văn Tú" userId="67199c852bdd6d1b" providerId="LiveId" clId="{CB377567-0116-4044-BB7C-6E46B7A5C596}" dt="2026-10-10T03:41:19.822" v="2" actId="20577"/>
          <ac:spMkLst>
            <pc:docMk/>
            <pc:sldMk cId="0" sldId="256"/>
            <ac:spMk id="3" creationId="{00000000-0000-0000-0000-000000000000}"/>
          </ac:spMkLst>
        </pc:spChg>
      </pc:sldChg>
      <pc:sldChg chg="add">
        <pc:chgData name="Phạm Văn Tú" userId="67199c852bdd6d1b" providerId="LiveId" clId="{CB377567-0116-4044-BB7C-6E46B7A5C596}" dt="2026-10-10T03:41:44.021" v="3"/>
        <pc:sldMkLst>
          <pc:docMk/>
          <pc:sldMk cId="81010171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6381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ba cách tổ chức việc 'duyệt đơn xin nghỉ học', thẻ tình huống cho nhóm, giấy A3,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Tình huống giả định. Gợi mở: ai đặt mục tiêu 'nhanh nhất'? Bố có thật sự xem xét đề xuất không? Chốt: một quyết định không phải một khoảnh khắc mà là một chuỗi bước.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Hàng trên: việc AI làm tốt (độ đậm cho thấy nhiều hay ít). Hàng dưới: phần con người phải giữ. AI mạnh nhất ở thu thập, tính toán, đề xuất, tự động hóa. Con người không thể thiếu ở bước 1 (mục tiêu) và bước 6 (trách nhiệm). Ở bước 4, AI xếp hạng theo tiêu chí, nhưng tiêu chí do con người cho. Dễ nhầm: 'AI chỉ đề xuất nên con người vẫn quyết định'; nếu chỉ có một phương án và không có thời gian xem xét thì thực tế hệ thống đã quyết định.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nhanh ba cách tổ chức việc 'duyệt đơn xin nghỉ học' (ví dụ giả định) để rút ra ba mức: phần mềm chỉ hiện thông tin (I); phần mềm đề xuất 'nên duyệt' kèm lí do (II); phần mềm tự duyệt và nhắn phụ huynh (III).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chọn mức: quyết định càng ảnh hưởng đến sức khỏe, cơ hội, quyền lợi của con người và càng khó sửa lại thì càng phải ở mức I hoặc II.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học sinh thêm ví dụ của mình.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Gần mức III cho một quyết định ảnh hưởng lớn đến cơ hội của từng học sinh; sau phản đối, đưa về cho con người (giáo viên). Khoảng 280.000 lượt điểm bị ảnh hưởng. Lưu ý: đây là thuật toán thống kê, không hẳn là hệ thống AI học từ dữ liệu; bài học về phân vai thì giống. Nguồn: bản tin tổng hợp của hãng thông tấn PA (Anh), 2020.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Khái niệm: có tên người duyệt nhưng thực tế chỉ bấm đồng ý. Ví dụ: hai luật sư ở New York (2023) kí tên vào văn bản có sáu bản án do AI bịa ra, bị phạt 5.000 đô la Mỹ. Để phê duyệt là thật: đủ thời gian; có lí do và dữ liệu; người duyệt đủ hiểu biết; bác dễ như đồng ý.</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thẻ tình huống.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phút báo cáo. Sơ đồ A3 là minh chứng đánh giá. Chốt: AI mạnh ở thu thập, tính toán, đề xuất; con người giữ mục tiêu, lựa chọn có cân nhắc giá trị, và trách nhiệm.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tin tuyển sinh thay đổi hằng năm, AI có thể nói tự tin mà sai: phải kiểm chứng với đề án tuyển sinh chính thức, hỏi thầy cô và người đang làm nghề.</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bài.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(bảng sáu bước cho một quyết định sắp tới của 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775013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12.2 · Ai quyết định: con người hay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Ai quyết định: con người hay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12.2 · Chuyên đề 12.1: Quyền kiểm soát và trách nhiệm giải trình trong vòng đời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12</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Tách</a:t>
            </a:r>
            <a:r>
              <a:rPr lang="en-US" sz="2800" dirty="0">
                <a:solidFill>
                  <a:schemeClr val="tx1"/>
                </a:solidFill>
              </a:rPr>
              <a:t> một quyết định thành sáu bước</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biệt</a:t>
            </a:r>
            <a:r>
              <a:rPr lang="en-US" sz="2800" dirty="0">
                <a:solidFill>
                  <a:schemeClr val="tx1"/>
                </a:solidFill>
              </a:rPr>
              <a:t> ba mức phân vai giữa con người và AI</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Lập</a:t>
            </a:r>
            <a:r>
              <a:rPr lang="en-US" sz="2800" dirty="0">
                <a:solidFill>
                  <a:schemeClr val="tx1"/>
                </a:solidFill>
              </a:rPr>
              <a:t> sơ đồ phân vai cho một quyết định cụ thể</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Ai đã chọn con đường này?</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Sáu bước, ba mức</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Sơ đồ phân vai</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Ai đã chọn con đường này?</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Cả nhà Khoa đi Vũng Tàu. Ứng dụng bản đồ đề xuất một con đường “nhanh hơn 12 phút”. Bố đi theo.</a:t>
            </a:r>
            <a:endParaRPr lang="en-US" sz="2400" dirty="0"/>
          </a:p>
          <a:p>
            <a:pPr marL="0" indent="0">
              <a:buNone/>
            </a:pPr>
            <a:endParaRPr lang="en-US" sz="2400" dirty="0"/>
          </a:p>
          <a:p>
            <a:pPr marL="0" indent="0">
              <a:buNone/>
            </a:pPr>
            <a:r>
              <a:rPr lang="en-US" sz="2400" dirty="0">
                <a:solidFill>
                  <a:schemeClr val="tx1"/>
                </a:solidFill>
              </a:rPr>
              <a:t>Đường hẹp, nhiều ổ gà, có đoạn đang sửa cầu. Cả nhà đến muộn gần một giờ.</a:t>
            </a:r>
            <a:endParaRPr lang="en-US" sz="2400" dirty="0"/>
          </a:p>
          <a:p>
            <a:pPr marL="0" indent="0">
              <a:buNone/>
            </a:pPr>
            <a:endParaRPr lang="en-US" sz="2400" dirty="0"/>
          </a:p>
          <a:p>
            <a:pPr marL="0" indent="0">
              <a:buNone/>
            </a:pPr>
            <a:r>
              <a:rPr lang="en-US" sz="2400" dirty="0">
                <a:solidFill>
                  <a:schemeClr val="tx1"/>
                </a:solidFill>
              </a:rPr>
              <a:t>Mẹ: “Tại cái bản đồ.” Bố: “Thì nó bảo đi đường này mà.”</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Ai đã quyết định: ứng dụng hay bố của Khoa?</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Sáu bước của một quyết định</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1 · 13 phút</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AI mạnh ở giữa, con người giữ hai đầu</a:t>
            </a:r>
            <a:endParaRPr lang="en-US" sz="3800" dirty="0"/>
          </a:p>
        </p:txBody>
      </p:sp>
      <p:pic>
        <p:nvPicPr>
          <p:cNvPr id="4" name="Image 0" descr="AI mạnh ở giữa, con người giữ hai đầu"/>
          <p:cNvPicPr>
            <a:picLocks noChangeAspect="1"/>
          </p:cNvPicPr>
          <p:nvPr/>
        </p:nvPicPr>
        <p:blipFill>
          <a:blip r:embed="rId3"/>
          <a:stretch>
            <a:fillRect/>
          </a:stretch>
        </p:blipFill>
        <p:spPr>
          <a:xfrm>
            <a:off x="1261872" y="1463040"/>
            <a:ext cx="9637776"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mức phân vai</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I</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Người quyết định</a:t>
            </a:r>
            <a:endParaRPr lang="en-US" sz="2600" dirty="0"/>
          </a:p>
          <a:p>
            <a:pPr marL="0" indent="0">
              <a:spcAft>
                <a:spcPts val="800"/>
              </a:spcAft>
              <a:buNone/>
            </a:pPr>
            <a:r>
              <a:rPr lang="en-US" sz="2600" dirty="0">
                <a:solidFill>
                  <a:schemeClr val="tx1"/>
                </a:solidFill>
              </a:rPr>
              <a:t>AI cung cấp thông tin. Con người tự tạo phương án, tự chọn.</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II</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AI đề xuất, người phê duyệt</a:t>
            </a:r>
            <a:endParaRPr lang="en-US" sz="2600" dirty="0"/>
          </a:p>
          <a:p>
            <a:pPr marL="0" indent="0">
              <a:spcAft>
                <a:spcPts val="800"/>
              </a:spcAft>
              <a:buNone/>
            </a:pPr>
            <a:r>
              <a:rPr lang="en-US" sz="2600" dirty="0">
                <a:solidFill>
                  <a:schemeClr val="tx1"/>
                </a:solidFill>
              </a:rPr>
              <a:t>Con người xem xét, có thể sửa hoặc bác.</a:t>
            </a:r>
            <a:endParaRPr lang="en-US" sz="2600" dirty="0"/>
          </a:p>
        </p:txBody>
      </p:sp>
      <p:sp>
        <p:nvSpPr>
          <p:cNvPr id="12" name="Shape 9"/>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III</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AI tự quyết định</a:t>
            </a:r>
            <a:endParaRPr lang="en-US" sz="2600" dirty="0"/>
          </a:p>
          <a:p>
            <a:pPr marL="0" indent="0">
              <a:spcAft>
                <a:spcPts val="800"/>
              </a:spcAft>
              <a:buNone/>
            </a:pPr>
            <a:r>
              <a:rPr lang="en-US" sz="2600" dirty="0">
                <a:solidFill>
                  <a:schemeClr val="bg1"/>
                </a:solidFill>
              </a:rPr>
              <a:t>Con người giám sát về sau, can thiệp khi bất thường.</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Từ mức I đến mức III, AI làm nhiều bước hơn</a:t>
            </a:r>
            <a:endParaRPr lang="en-US" sz="3800" dirty="0"/>
          </a:p>
        </p:txBody>
      </p:sp>
      <p:pic>
        <p:nvPicPr>
          <p:cNvPr id="4" name="Image 0" descr="Từ mức I đến mức III, AI làm nhiều bước hơn"/>
          <p:cNvPicPr>
            <a:picLocks noChangeAspect="1"/>
          </p:cNvPicPr>
          <p:nvPr/>
        </p:nvPicPr>
        <p:blipFill>
          <a:blip r:embed="rId3"/>
          <a:stretch>
            <a:fillRect/>
          </a:stretch>
        </p:blipFill>
        <p:spPr>
          <a:xfrm>
            <a:off x="1926546" y="1463040"/>
            <a:ext cx="8308428" cy="3886200"/>
          </a:xfrm>
          <a:prstGeom prst="rect">
            <a:avLst/>
          </a:prstGeom>
        </p:spPr>
      </p:pic>
      <p:sp>
        <p:nvSpPr>
          <p:cNvPr id="5" name="Shape 1"/>
          <p:cNvSpPr/>
          <p:nvPr/>
        </p:nvSpPr>
        <p:spPr>
          <a:xfrm>
            <a:off x="548640" y="544068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Việc càng hệ trọng và khó sửa thì càng giữ ở mức thấp</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Việc nào hợp với mức nào?</a:t>
            </a:r>
            <a:endParaRPr lang="en-US" sz="3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931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868680">
                <a:tc>
                  <a:txBody>
                    <a:bodyPr/>
                    <a:lstStyle/>
                    <a:p>
                      <a:pPr marL="0" indent="0" algn="ctr">
                        <a:buNone/>
                      </a:pPr>
                      <a:r>
                        <a:rPr lang="en-US" sz="2400" b="1" dirty="0">
                          <a:solidFill>
                            <a:schemeClr val="bg1"/>
                          </a:solidFill>
                        </a:rPr>
                        <a:t>Việc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Mức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Vì sao</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400" b="1" dirty="0">
                          <a:solidFill>
                            <a:schemeClr val="tx1"/>
                          </a:solidFill>
                        </a:rPr>
                        <a:t>Lọc thư rác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III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Rất nhiều; nhầm thì lấy lại được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400" b="1" dirty="0">
                          <a:solidFill>
                            <a:schemeClr val="tx1"/>
                          </a:solidFill>
                        </a:rPr>
                        <a:t>Chấm bài tự luận</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II hoặc 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Ảnh hưởng kết quả học tập</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400" b="1" dirty="0">
                          <a:solidFill>
                            <a:schemeClr val="tx1"/>
                          </a:solidFill>
                        </a:rPr>
                        <a:t>Xét học bổng, tuyển sinh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Ảnh hưởng lớn đến cơ hội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lgn="l">
                        <a:buNone/>
                      </a:pPr>
                      <a:r>
                        <a:rPr lang="en-US" sz="2400" b="1" dirty="0">
                          <a:solidFill>
                            <a:schemeClr val="tx1"/>
                          </a:solidFill>
                        </a:rPr>
                        <a:t>Quyết định điều trị</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I hoặc II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Liên quan sức khỏe, tính mạng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điểm thi do thuật toán xác định</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Nước Anh, năm 2020. Kì thi cuối cấp bị hủy vì dịch bệnh. Cơ quan quản lí thi cử dùng một thuật toán để xác định điểm.</a:t>
            </a:r>
            <a:endParaRPr lang="en-US" sz="2400" dirty="0"/>
          </a:p>
          <a:p>
            <a:pPr marL="0" indent="0">
              <a:buNone/>
            </a:pPr>
            <a:endParaRPr lang="en-US" sz="2400" dirty="0"/>
          </a:p>
          <a:p>
            <a:pPr marL="0" indent="0">
              <a:buNone/>
            </a:pPr>
            <a:r>
              <a:rPr lang="en-US" sz="2400" dirty="0">
                <a:solidFill>
                  <a:schemeClr val="tx1"/>
                </a:solidFill>
              </a:rPr>
              <a:t>Ngày 13/8: 39,1% số điểm bị hạ ít nhất một bậc.</a:t>
            </a:r>
            <a:endParaRPr lang="en-US" sz="2400" dirty="0"/>
          </a:p>
          <a:p>
            <a:pPr marL="0" indent="0">
              <a:buNone/>
            </a:pPr>
            <a:endParaRPr lang="en-US" sz="2400" dirty="0"/>
          </a:p>
          <a:p>
            <a:pPr marL="0" indent="0">
              <a:buNone/>
            </a:pPr>
            <a:r>
              <a:rPr lang="en-US" sz="2400" dirty="0">
                <a:solidFill>
                  <a:schemeClr val="tx1"/>
                </a:solidFill>
              </a:rPr>
              <a:t>Ngày 17/8: chính phủ đổi sang dùng đánh giá của giáo viên.</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Quyết định này đã được tổ chức gần với mức nào? Cuối cùng trở về mức nào?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Coi chừng “phê duyệt hình thức”</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Quá ít thời gian cho mỗi trường hợp</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Không có lí do, dữ liệu để xem xét</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AI thường đúng nên sinh chủ quan</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Bác đề xuất thì phiền hơn đồng ý</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Mức II trên giấy trở thành mức III trên thực tế</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Lập sơ đồ phân vai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Làm việc nhóm trên giấy A3</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ai làm gì ở từng bước?</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14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Lập sơ đồ phân vai cho quyết định trên thẻ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Kẻ bảng sáu bước: AI làm gì, con người làm gì</a:t>
            </a:r>
            <a:endParaRPr lang="en-US" sz="2800" dirty="0"/>
          </a:p>
          <a:p>
            <a:pPr marL="342900" indent="-342900">
              <a:spcAft>
                <a:spcPts val="1200"/>
              </a:spcAft>
              <a:buSzPct val="100000"/>
              <a:buFont typeface="+mj-lt"/>
              <a:buAutoNum type="arabicPeriod"/>
            </a:pPr>
            <a:r>
              <a:rPr lang="en-US" sz="2800" dirty="0">
                <a:solidFill>
                  <a:schemeClr val="tx1"/>
                </a:solidFill>
              </a:rPr>
              <a:t>Cho biết cách phân vai thuộc mức nào</a:t>
            </a:r>
            <a:endParaRPr lang="en-US" sz="2800" dirty="0"/>
          </a:p>
          <a:p>
            <a:pPr marL="342900" indent="-342900">
              <a:spcAft>
                <a:spcPts val="1200"/>
              </a:spcAft>
              <a:buSzPct val="100000"/>
              <a:buFont typeface="+mj-lt"/>
              <a:buAutoNum type="arabicPeriod"/>
            </a:pPr>
            <a:r>
              <a:rPr lang="en-US" sz="2800" dirty="0">
                <a:solidFill>
                  <a:schemeClr val="tx1"/>
                </a:solidFill>
              </a:rPr>
              <a:t>Nêu một biện pháp tránh phê duyệt hình thức</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 quyết định</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Thư viện chọn đầu sách mua cho năm tới. Giáo viên chủ nhiệm xếp chỗ ngồi đầu năm.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Quyết định của chính em: chọn ngành</a:t>
            </a:r>
            <a:endParaRPr lang="en-US" sz="3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822960">
                <a:tc>
                  <a:txBody>
                    <a:bodyPr/>
                    <a:lstStyle/>
                    <a:p>
                      <a:pPr marL="0" indent="0" algn="ctr">
                        <a:buNone/>
                      </a:pPr>
                      <a:r>
                        <a:rPr lang="en-US" sz="2200" b="1" dirty="0">
                          <a:solidFill>
                            <a:schemeClr val="bg1"/>
                          </a:solidFill>
                        </a:rPr>
                        <a:t>Bước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AI có thể giúp</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Phần chỉ em làm được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22960">
                <a:tc>
                  <a:txBody>
                    <a:bodyPr/>
                    <a:lstStyle/>
                    <a:p>
                      <a:pPr marL="0" indent="0" algn="l">
                        <a:buNone/>
                      </a:pPr>
                      <a:r>
                        <a:rPr lang="en-US" sz="2200" b="1" dirty="0">
                          <a:solidFill>
                            <a:schemeClr val="tx1"/>
                          </a:solidFill>
                        </a:rPr>
                        <a:t>Mục tiêu</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Gợi ý câu hỏi để tự hỏi mình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Em muốn gì, coi trọng điều gì</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lgn="l">
                        <a:buNone/>
                      </a:pPr>
                      <a:r>
                        <a:rPr lang="en-US" sz="2200" b="1" dirty="0">
                          <a:solidFill>
                            <a:schemeClr val="tx1"/>
                          </a:solidFill>
                        </a:rPr>
                        <a:t>Thông tin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Liệt kê ngành, trường</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Kiểm chứng với nguồn chính thức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22960">
                <a:tc>
                  <a:txBody>
                    <a:bodyPr/>
                    <a:lstStyle/>
                    <a:p>
                      <a:pPr marL="0" indent="0" algn="l">
                        <a:buNone/>
                      </a:pPr>
                      <a:r>
                        <a:rPr lang="en-US" sz="2200" b="1" dirty="0">
                          <a:solidFill>
                            <a:schemeClr val="tx1"/>
                          </a:solidFill>
                        </a:rPr>
                        <a:t>Lựa chọn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Chỉ ra ưu, nhược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Chọn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Đây là quyết định ở mức 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Điều cần mang theo</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AI có thể thu thập và so sánh thông tin rất nhanh.</a:t>
            </a:r>
            <a:endParaRPr lang="en-US" sz="2800" dirty="0"/>
          </a:p>
          <a:p>
            <a:pPr marL="0" indent="0">
              <a:buNone/>
            </a:pPr>
            <a:endParaRPr lang="en-US" sz="2800" dirty="0"/>
          </a:p>
          <a:p>
            <a:pPr marL="0" indent="0">
              <a:buNone/>
            </a:pPr>
            <a:r>
              <a:rPr lang="en-US" sz="2800" dirty="0">
                <a:solidFill>
                  <a:schemeClr val="tx1"/>
                </a:solidFill>
              </a:rPr>
              <a:t>Nhưng mục tiêu là của em.</a:t>
            </a:r>
            <a:endParaRPr lang="en-US" sz="2800" dirty="0"/>
          </a:p>
          <a:p>
            <a:pPr marL="0" indent="0">
              <a:buNone/>
            </a:pPr>
            <a:endParaRPr lang="en-US" sz="2800" dirty="0"/>
          </a:p>
          <a:p>
            <a:pPr marL="0" indent="0">
              <a:buNone/>
            </a:pPr>
            <a:r>
              <a:rPr lang="en-US" sz="2800" dirty="0">
                <a:solidFill>
                  <a:schemeClr val="tx1"/>
                </a:solidFill>
              </a:rPr>
              <a:t>Lựa chọn là của em.</a:t>
            </a:r>
            <a:endParaRPr lang="en-US" sz="2800" dirty="0"/>
          </a:p>
          <a:p>
            <a:pPr marL="0" indent="0">
              <a:buNone/>
            </a:pPr>
            <a:endParaRPr lang="en-US" sz="2800" dirty="0"/>
          </a:p>
          <a:p>
            <a:pPr marL="0" indent="0">
              <a:buNone/>
            </a:pPr>
            <a:r>
              <a:rPr lang="en-US" sz="2800" dirty="0">
                <a:solidFill>
                  <a:schemeClr val="tx1"/>
                </a:solidFill>
              </a:rPr>
              <a:t>Và trách nhiệm cũng là của em.</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Phân vai tốt để quyết định tốt hơn, không phải để khỏi phải quyết định</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Một quyết định gồm </a:t>
            </a:r>
            <a:r>
              <a:rPr lang="en-US" sz="3200" b="1" dirty="0">
                <a:solidFill>
                  <a:schemeClr val="tx2"/>
                </a:solidFill>
              </a:rPr>
              <a:t>sáu bước</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Con người giữ </a:t>
            </a:r>
            <a:r>
              <a:rPr lang="en-US" sz="3200" b="1" dirty="0">
                <a:solidFill>
                  <a:schemeClr val="tx2"/>
                </a:solidFill>
              </a:rPr>
              <a:t>mục tiêu, lựa chọn và trách nhiệm</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Ba mức phân vai:</a:t>
            </a:r>
            <a:r>
              <a:rPr lang="en-US" sz="3200" dirty="0">
                <a:solidFill>
                  <a:schemeClr val="tx1"/>
                </a:solidFill>
              </a:rPr>
              <a:t> I, II, III</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Coi chừng </a:t>
            </a:r>
            <a:r>
              <a:rPr lang="en-US" sz="3200" b="1" dirty="0">
                <a:solidFill>
                  <a:schemeClr val="tx2"/>
                </a:solidFill>
              </a:rPr>
              <a:t>phê duyệt hình thức</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Em dùng một trợ lí AI để hỗ trợ quyết định chọn ngành học. Với mỗi bước, ghi AI có thể làm gì và em phải tự làm gì.</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Một cửa hàng để AI tự trả lời và tự hoàn tiền cho mọi khiếu nại dưới 100.000 đồng, nhân viên xem thống kê mỗi tuần. Đây là mức phân vai nào? Có hợp lí không, vì sao?</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810101714"/>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1478</Words>
  <Application>Microsoft Office PowerPoint</Application>
  <PresentationFormat>Widescreen</PresentationFormat>
  <Paragraphs>173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Ai quyết định: con người hay AI?</vt:lpstr>
      <vt:lpstr>Hôm nay chúng ta làm gì?</vt:lpstr>
      <vt:lpstr>Ai đã chọn con đường này?</vt:lpstr>
      <vt:lpstr>Sáu bước của một quyết định</vt:lpstr>
      <vt:lpstr>AI mạnh ở giữa, con người giữ hai đầu</vt:lpstr>
      <vt:lpstr>Ba mức phân vai</vt:lpstr>
      <vt:lpstr>Từ mức I đến mức III, AI làm nhiều bước hơn</vt:lpstr>
      <vt:lpstr>Việc nào hợp với mức nào?</vt:lpstr>
      <vt:lpstr>Chuyện có thật: điểm thi do thuật toán xác định</vt:lpstr>
      <vt:lpstr>Coi chừng “phê duyệt hình thức”</vt:lpstr>
      <vt:lpstr>Lập sơ đồ phân vai</vt:lpstr>
      <vt:lpstr>Nhiệm vụ nhóm: ai làm gì ở từng bước?</vt:lpstr>
      <vt:lpstr>Quyết định của chính em: chọn ngành</vt:lpstr>
      <vt:lpstr>Điều cần mang theo</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12.2. Ai quyết định: con người hay AI?</dc:title>
  <dc:subject>Trí tuệ nhân tạo</dc:subject>
  <cp:lastModifiedBy>Phạm Văn Tú</cp:lastModifiedBy>
  <cp:revision>1</cp:revision>
  <dcterms:created xsi:type="dcterms:W3CDTF">2026-10-08T10:45:42Z</dcterms:created>
  <dcterms:modified xsi:type="dcterms:W3CDTF">2026-10-10T03:41:48Z</dcterms:modified>
  <dc:description>Email: phamtund@gmail.com</dc:description>
  <dc:creator>Phạm Văn Tú</dc:creator>
  <cp:category>Trí tuệ nhân tạo</cp:category>
  <cp:keywords>Trí tuệ nhân tạo</cp:keywords>
</cp:coreProperties>
</file>