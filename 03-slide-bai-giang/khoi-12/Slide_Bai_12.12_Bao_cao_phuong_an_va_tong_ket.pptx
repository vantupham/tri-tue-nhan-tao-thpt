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3EA9E75-9A9C-B7D5-718E-297C730D8F98}">
          <p14:sldIdLst>
            <p14:sldId id="256"/>
            <p14:sldId id="257"/>
            <p14:sldId id="258"/>
            <p14:sldId id="259"/>
            <p14:sldId id="260"/>
          </p14:sldIdLst>
        </p14:section>
        <p14:section name="Báo cáo phương án và phản biện" id="{3B9BE82D-C92E-E3D6-F6C0-2E02ED0CEC50}">
          <p14:sldIdLst>
            <p14:sldId id="261"/>
            <p14:sldId id="262"/>
            <p14:sldId id="263"/>
            <p14:sldId id="264"/>
            <p14:sldId id="265"/>
          </p14:sldIdLst>
        </p14:section>
        <p14:section name="Nhìn lại ba năm" id="{53141983-7EA6-1A0F-F1AE-2B5BB6D06D4B}">
          <p14:sldIdLst>
            <p14:sldId id="266"/>
            <p14:sldId id="267"/>
            <p14:sldId id="268"/>
            <p14:sldId id="269"/>
            <p14:sldId id="270"/>
          </p14:sldIdLst>
        </p14:section>
        <p14:section name="Tổng kết" id="{8E8E40A7-86EE-6290-B190-FB172AEBAB39}">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839F89-56DD-483E-A173-95934EA0AE65}" v="1" dt="2026-10-10T03:47:32.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47:32.488" v="2"/>
      <pc:docMkLst>
        <pc:docMk/>
      </pc:docMkLst>
      <pc:sldChg chg="modSp mod">
        <pc:chgData name="Phạm Văn Tú" userId="67199c852bdd6d1b" providerId="LiveId" clId="{CB377567-0116-4044-BB7C-6E46B7A5C596}" dt="2026-10-10T03:47:17.357" v="1" actId="20577"/>
        <pc:sldMkLst>
          <pc:docMk/>
          <pc:sldMk cId="0" sldId="256"/>
        </pc:sldMkLst>
        <pc:spChg chg="mod">
          <ac:chgData name="Phạm Văn Tú" userId="67199c852bdd6d1b" providerId="LiveId" clId="{CB377567-0116-4044-BB7C-6E46B7A5C596}" dt="2026-10-10T03:47:17.357" v="1" actId="20577"/>
          <ac:spMkLst>
            <pc:docMk/>
            <pc:sldMk cId="0" sldId="256"/>
            <ac:spMk id="3" creationId="{00000000-0000-0000-0000-000000000000}"/>
          </ac:spMkLst>
        </pc:spChg>
      </pc:sldChg>
      <pc:sldChg chg="add">
        <pc:chgData name="Phạm Văn Tú" userId="67199c852bdd6d1b" providerId="LiveId" clId="{CB377567-0116-4044-BB7C-6E46B7A5C596}" dt="2026-10-10T03:47:32.488" v="2"/>
        <pc:sldMkLst>
          <pc:docMk/>
          <pc:sldMk cId="776785861"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201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đồng hồ bấm giờ; nam châm hoặc băng dính treo sản phẩm; bảng bố cục báo cáo bốn ý; Phiếu tự soát theo sáu nguyên tắc; phiếu đánh giá đồng đẳng; Phiếu tự đánh giá cuối năm. Cho các nhóm bốc thăm thứ tự.</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Tiết cuối của chương trình.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(3 phút). Mỗi nhóm 3 phút trình bày, 1 phút trả lời câu hỏi. Ý 2 và ý 4 là hai ý người nghe chú ý nhất. Nếu quá giờ: cắt ý 1 và ý 3, không cắt ý 2 và ý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nhóm trình bày giải pháp không dùng AI (kiểu E) với lí do thuyết phục được đánh giá cao hơn một nhóm trình bày hệ thống tự động hoàn toàn mà không nói ai chịu trách nhiệm.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(6 phút). Dùng bảng sáu nguyên tắc đã giữ từ Bài 12.4 và Phiếu tự soát. Mỗi nhóm ghi một điểm yếu và cách xử lí để đưa vào ý 4 của báo cáo.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Giáo viên ghi nhanh theo Bảng tiêu chí. Học sinh điền phiếu đánh giá đồng đẳng.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Chiếu slide này trong lúc các nhóm báo cáo. Ví dụ điểm mạnh có dẫn chứng: 'nhóm bạn đã đo riêng theo điều kiện ánh sáng'.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câu hỏi lấy từ Bài 12.7, 12.9, 12.5, 12.2, 12.10. Thêm: người dùng muốn phản ánh thì gửi cho ai (12.3); ai kiểm thử, có phải người làm ra mô hình không (12.11).</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Đừng chống chế. Câu thứ ba không làm nhóm mất điểm; nó cho thấy nhóm biết lắng nghe.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đánh giá đồng đẳng. Nhận xét bằng lời, không lấy điểm riêng. Sau khi các nhóm báo cáo: giáo viên nêu một điểm mạnh nổi bật của từng nhóm và lỗi chung nếu có. Thu sản phẩm và phiếu để lưu hồ sơ.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(8 phút). Phát Phiếu tự đánh giá cuối năm.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năm học theo bốn chuyên đề.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Lớp 10 hiểu; lớp 11 áp dụng; lớp 12 thiết kế và chịu trách nhiệm. Bốn mạch xuyên suốt: con người và AI; đạo đức và pháp luật; kĩ thuật và ứng dụng; thiết kế hệ thống.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cụ hôm nay sẽ đổi tên, đổi mặt; năm câu này thì không cũ. Lời nhắn: dù theo ngành nào, các em sẽ làm việc cùng AI và cùng những người làm ra 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viết trong phần tự đánh giá hoặc ở nhà; giữ trong hồ sơ học tập. Kết hợp Phiếu tự đánh giá cuối năm và Hồ sơ năng lực AI sau ba năm (phần Vận dụng trong Tài liệu học tập). Kết thúc chương trình.</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chào cuối năm.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62753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12.12 · Báo cáo phương án và tổng kết</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Báo cáo phương án và tổng kết</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12.12 · Chuyên đề 12.4: Giải pháp và hợp tác phát triển sản phẩm AI</a:t>
            </a:r>
            <a:endParaRPr lang="en-US" sz="2400" dirty="0"/>
          </a:p>
          <a:p>
            <a:pPr marL="0" indent="0" algn="l">
              <a:buNone/>
            </a:pPr>
            <a:r>
              <a:rPr lang="en-US" sz="2400" dirty="0">
                <a:solidFill>
                  <a:schemeClr val="accent5"/>
                </a:solidFill>
              </a:rPr>
              <a:t>Giáo dục trí tuệ nhân tạo lớp 12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Trình bày</a:t>
            </a:r>
            <a:r>
              <a:rPr lang="en-US" sz="2800" dirty="0">
                <a:solidFill>
                  <a:schemeClr val="tx1"/>
                </a:solidFill>
              </a:rPr>
              <a:t> phương án của nhóm theo bốn ý</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Phản biện</a:t>
            </a:r>
            <a:r>
              <a:rPr lang="en-US" sz="2800" dirty="0">
                <a:solidFill>
                  <a:schemeClr val="tx1"/>
                </a:solidFill>
              </a:rPr>
              <a:t> và đánh giá phương án của nhóm bạn</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Nhìn lại</a:t>
            </a:r>
            <a:r>
              <a:rPr lang="en-US" sz="2800" dirty="0">
                <a:solidFill>
                  <a:schemeClr val="tx1"/>
                </a:solidFill>
              </a:rPr>
              <a:t> ba năm học về AI</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3'</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Bố cục và luật</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6'</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Tự soát sáu nguyên tắc</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28'</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Báo cáo, phản biện</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8'</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Tự đánh giá cuối năm</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 cục báo cáo bốn ý</a:t>
            </a:r>
            <a:endParaRPr lang="en-US" sz="3800" dirty="0"/>
          </a:p>
        </p:txBody>
      </p:sp>
      <p:pic>
        <p:nvPicPr>
          <p:cNvPr id="4" name="Image 0" descr="Bố cục báo cáo bốn ý"/>
          <p:cNvPicPr>
            <a:picLocks noChangeAspect="1"/>
          </p:cNvPicPr>
          <p:nvPr/>
        </p:nvPicPr>
        <p:blipFill>
          <a:blip r:embed="rId3"/>
          <a:stretch>
            <a:fillRect/>
          </a:stretch>
        </p:blipFill>
        <p:spPr>
          <a:xfrm>
            <a:off x="548640" y="1831750"/>
            <a:ext cx="11064240" cy="3926021"/>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Người nghe chú ý điều gì nhất?</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Được đánh giá cao</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Lí do lựa chọn có căn cứ</a:t>
            </a:r>
            <a:endParaRPr lang="en-US" sz="2400" dirty="0"/>
          </a:p>
          <a:p>
            <a:pPr marL="342900" indent="-342900">
              <a:spcAft>
                <a:spcPts val="1000"/>
              </a:spcAft>
              <a:buSzPct val="100000"/>
              <a:buChar char="•"/>
            </a:pPr>
            <a:r>
              <a:rPr lang="en-US" sz="2400" dirty="0">
                <a:solidFill>
                  <a:schemeClr val="tx1"/>
                </a:solidFill>
              </a:rPr>
              <a:t>Vai trò của con người rõ ràng</a:t>
            </a:r>
            <a:endParaRPr lang="en-US" sz="2400" dirty="0"/>
          </a:p>
          <a:p>
            <a:pPr marL="342900" indent="-342900">
              <a:spcAft>
                <a:spcPts val="1000"/>
              </a:spcAft>
              <a:buSzPct val="100000"/>
              <a:buChar char="•"/>
            </a:pPr>
            <a:r>
              <a:rPr lang="en-US" sz="2400" dirty="0">
                <a:solidFill>
                  <a:schemeClr val="tx1"/>
                </a:solidFill>
              </a:rPr>
              <a:t>Tự nêu điểm yếu đã biết</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Lỗi hay gặp</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Bắt đầu bằng tên công cụ</a:t>
            </a:r>
            <a:endParaRPr lang="en-US" sz="2400" dirty="0"/>
          </a:p>
          <a:p>
            <a:pPr marL="342900" indent="-342900">
              <a:spcAft>
                <a:spcPts val="1000"/>
              </a:spcAft>
              <a:buSzPct val="100000"/>
              <a:buChar char="•"/>
            </a:pPr>
            <a:r>
              <a:rPr lang="en-US" sz="2400" dirty="0">
                <a:solidFill>
                  <a:schemeClr val="bg1"/>
                </a:solidFill>
              </a:rPr>
              <a:t>Bỏ quên khâu vận hành</a:t>
            </a:r>
            <a:endParaRPr lang="en-US" sz="2400" dirty="0"/>
          </a:p>
          <a:p>
            <a:pPr marL="342900" indent="-342900">
              <a:spcAft>
                <a:spcPts val="1000"/>
              </a:spcAft>
              <a:buSzPct val="100000"/>
              <a:buChar char="•"/>
            </a:pPr>
            <a:r>
              <a:rPr lang="en-US" sz="2400" dirty="0">
                <a:solidFill>
                  <a:schemeClr val="bg1"/>
                </a:solidFill>
              </a:rPr>
              <a:t>Thiếu vai kiểm thử</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Phương án tốt biết rõ điểm yếu và có cách xử lí</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Tự soát phương án theo sáu nguyên tắc</a:t>
            </a:r>
            <a:endParaRPr lang="en-US" sz="3800" dirty="0"/>
          </a:p>
        </p:txBody>
      </p:sp>
      <p:sp>
        <p:nvSpPr>
          <p:cNvPr id="4" name="Shape 1"/>
          <p:cNvSpPr/>
          <p:nvPr/>
        </p:nvSpPr>
        <p:spPr>
          <a:xfrm>
            <a:off x="548640" y="155448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An toàn</a:t>
            </a:r>
            <a:endParaRPr lang="en-US" sz="2600" dirty="0"/>
          </a:p>
        </p:txBody>
      </p:sp>
      <p:sp>
        <p:nvSpPr>
          <p:cNvPr id="8" name="Shape 5"/>
          <p:cNvSpPr/>
          <p:nvPr/>
        </p:nvSpPr>
        <p:spPr>
          <a:xfrm>
            <a:off x="4312920" y="155448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49580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49580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5273040" y="162763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Công bằng</a:t>
            </a:r>
            <a:endParaRPr lang="en-US" sz="2600" dirty="0"/>
          </a:p>
        </p:txBody>
      </p:sp>
      <p:sp>
        <p:nvSpPr>
          <p:cNvPr id="12" name="Shape 9"/>
          <p:cNvSpPr/>
          <p:nvPr/>
        </p:nvSpPr>
        <p:spPr>
          <a:xfrm>
            <a:off x="8077200" y="155448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26008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26008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9037320" y="162763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Minh bạch</a:t>
            </a:r>
            <a:endParaRPr lang="en-US" sz="2600" dirty="0"/>
          </a:p>
        </p:txBody>
      </p:sp>
      <p:sp>
        <p:nvSpPr>
          <p:cNvPr id="16" name="Shape 13"/>
          <p:cNvSpPr/>
          <p:nvPr/>
        </p:nvSpPr>
        <p:spPr>
          <a:xfrm>
            <a:off x="548640" y="331470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1508760" y="338785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Riêng tư</a:t>
            </a:r>
            <a:endParaRPr lang="en-US" sz="2600" dirty="0"/>
          </a:p>
        </p:txBody>
      </p:sp>
      <p:sp>
        <p:nvSpPr>
          <p:cNvPr id="20" name="Shape 17"/>
          <p:cNvSpPr/>
          <p:nvPr/>
        </p:nvSpPr>
        <p:spPr>
          <a:xfrm>
            <a:off x="4312920" y="331470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449580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449580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5273040" y="338785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Trách nhiệm</a:t>
            </a:r>
            <a:endParaRPr lang="en-US" sz="2600" dirty="0"/>
          </a:p>
        </p:txBody>
      </p:sp>
      <p:sp>
        <p:nvSpPr>
          <p:cNvPr id="24" name="Shape 21"/>
          <p:cNvSpPr/>
          <p:nvPr/>
        </p:nvSpPr>
        <p:spPr>
          <a:xfrm>
            <a:off x="8077200" y="3314700"/>
            <a:ext cx="353568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826008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826008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9037320" y="3387852"/>
            <a:ext cx="2438400" cy="1385316"/>
          </a:xfrm>
          <a:prstGeom prst="rect">
            <a:avLst/>
          </a:prstGeom>
          <a:noFill/>
          <a:ln/>
        </p:spPr>
        <p:txBody>
          <a:bodyPr wrap="square" lIns="0" tIns="0" rIns="0" bIns="0" rtlCol="0" anchor="ctr"/>
          <a:lstStyle/>
          <a:p>
            <a:pPr marL="0" indent="0">
              <a:buNone/>
            </a:pPr>
            <a:r>
              <a:rPr lang="en-US" sz="2600" b="1" dirty="0">
                <a:solidFill>
                  <a:schemeClr val="tx1"/>
                </a:solidFill>
              </a:rPr>
              <a:t>Lợi ích xã hội</a:t>
            </a:r>
            <a:endParaRPr lang="en-US" sz="2600" dirty="0"/>
          </a:p>
        </p:txBody>
      </p:sp>
      <p:sp>
        <p:nvSpPr>
          <p:cNvPr id="28" name="Shape 25"/>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9" name="Text 26"/>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6 phút · Nguyên tắc nào phương án của nhóm còn yếu?</a:t>
            </a:r>
            <a:endParaRPr lang="en-US" sz="28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Báo cáo phương án và phản biện</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28 phút · Mỗi nhóm 3 phút trình bày, 1 phút trả lời</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nghe nhóm bạn báo cáo</a:t>
            </a:r>
            <a:endParaRPr lang="en-US" sz="3800" dirty="0"/>
          </a:p>
        </p:txBody>
      </p:sp>
      <p:sp>
        <p:nvSpPr>
          <p:cNvPr id="4" name="Shape 1"/>
          <p:cNvSpPr/>
          <p:nvPr/>
        </p:nvSpPr>
        <p:spPr>
          <a:xfrm>
            <a:off x="548640" y="228600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228600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2148840"/>
          </a:xfrm>
          <a:prstGeom prst="rect">
            <a:avLst/>
          </a:prstGeom>
          <a:noFill/>
          <a:ln/>
        </p:spPr>
        <p:txBody>
          <a:bodyPr wrap="square" lIns="0" tIns="0" rIns="0" bIns="0" rtlCol="0" anchor="ctr"/>
          <a:lstStyle/>
          <a:p>
            <a:pPr marL="0" indent="0">
              <a:buNone/>
            </a:pPr>
            <a:r>
              <a:rPr lang="en-US" sz="3200" dirty="0">
                <a:solidFill>
                  <a:schemeClr val="tx1"/>
                </a:solidFill>
              </a:rPr>
              <a:t>Ghi </a:t>
            </a:r>
            <a:r>
              <a:rPr lang="en-US" sz="3200" b="1" dirty="0">
                <a:solidFill>
                  <a:schemeClr val="tx2"/>
                </a:solidFill>
              </a:rPr>
              <a:t>một điểm mạnh có dẫn chứng</a:t>
            </a:r>
            <a:endParaRPr lang="en-US" sz="3200" dirty="0"/>
          </a:p>
        </p:txBody>
      </p:sp>
      <p:sp>
        <p:nvSpPr>
          <p:cNvPr id="7" name="Shape 4"/>
          <p:cNvSpPr/>
          <p:nvPr/>
        </p:nvSpPr>
        <p:spPr>
          <a:xfrm>
            <a:off x="548640" y="45262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45262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794760"/>
            <a:ext cx="6949440" cy="2148840"/>
          </a:xfrm>
          <a:prstGeom prst="rect">
            <a:avLst/>
          </a:prstGeom>
          <a:noFill/>
          <a:ln/>
        </p:spPr>
        <p:txBody>
          <a:bodyPr wrap="square" lIns="0" tIns="0" rIns="0" bIns="0" rtlCol="0" anchor="ctr"/>
          <a:lstStyle/>
          <a:p>
            <a:pPr marL="0" indent="0">
              <a:buNone/>
            </a:pPr>
            <a:r>
              <a:rPr lang="en-US" sz="3200" dirty="0">
                <a:solidFill>
                  <a:schemeClr val="tx1"/>
                </a:solidFill>
              </a:rPr>
              <a:t>Chuẩn bị </a:t>
            </a:r>
            <a:r>
              <a:rPr lang="en-US" sz="3200" b="1" dirty="0">
                <a:solidFill>
                  <a:schemeClr val="tx2"/>
                </a:solidFill>
              </a:rPr>
              <a:t>một câu hỏi</a:t>
            </a:r>
            <a:r>
              <a:rPr lang="en-US" sz="3200" dirty="0">
                <a:solidFill>
                  <a:schemeClr val="tx1"/>
                </a:solidFill>
              </a:rPr>
              <a:t> phản biện</a:t>
            </a:r>
            <a:endParaRPr lang="en-US" sz="3200" dirty="0"/>
          </a:p>
        </p:txBody>
      </p:sp>
      <p:sp>
        <p:nvSpPr>
          <p:cNvPr id="10" name="Shape 7"/>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1" name="Text 8"/>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Phản biện để giúp nhau nhìn thấy điều chưa thấy.</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Kho câu hỏi phản biện</a:t>
            </a:r>
            <a:endParaRPr lang="en-US" sz="3800" dirty="0"/>
          </a:p>
        </p:txBody>
      </p:sp>
      <p:sp>
        <p:nvSpPr>
          <p:cNvPr id="4" name="Shape 1"/>
          <p:cNvSpPr/>
          <p:nvPr/>
        </p:nvSpPr>
        <p:spPr>
          <a:xfrm>
            <a:off x="548640" y="155448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9126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9126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Các bạn đã hỏi người sẽ dùng chưa?</a:t>
            </a:r>
            <a:endParaRPr lang="en-US" sz="2400" dirty="0"/>
          </a:p>
        </p:txBody>
      </p:sp>
      <p:sp>
        <p:nvSpPr>
          <p:cNvPr id="8" name="Shape 5"/>
          <p:cNvSpPr/>
          <p:nvPr/>
        </p:nvSpPr>
        <p:spPr>
          <a:xfrm>
            <a:off x="6195060" y="155448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19126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19126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Nếu không dùng AI thì làm thế nào?</a:t>
            </a:r>
            <a:endParaRPr lang="en-US" sz="2400" dirty="0"/>
          </a:p>
        </p:txBody>
      </p:sp>
      <p:sp>
        <p:nvSpPr>
          <p:cNvPr id="12" name="Shape 9"/>
          <p:cNvSpPr/>
          <p:nvPr/>
        </p:nvSpPr>
        <p:spPr>
          <a:xfrm>
            <a:off x="548640" y="309372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16687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Thử bằng dữ liệu nào? Có đo từng nhóm?</a:t>
            </a:r>
            <a:endParaRPr lang="en-US" sz="2400" dirty="0"/>
          </a:p>
        </p:txBody>
      </p:sp>
      <p:sp>
        <p:nvSpPr>
          <p:cNvPr id="16" name="Shape 13"/>
          <p:cNvSpPr/>
          <p:nvPr/>
        </p:nvSpPr>
        <p:spPr>
          <a:xfrm>
            <a:off x="6195060" y="309372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16687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Nếu sai thì ai bị ảnh hưởng?</a:t>
            </a:r>
            <a:endParaRPr lang="en-US" sz="2400" dirty="0"/>
          </a:p>
        </p:txBody>
      </p:sp>
      <p:sp>
        <p:nvSpPr>
          <p:cNvPr id="20" name="Shape 17"/>
          <p:cNvSpPr/>
          <p:nvPr/>
        </p:nvSpPr>
        <p:spPr>
          <a:xfrm>
            <a:off x="548640" y="463296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21" name="Shape 18"/>
          <p:cNvSpPr/>
          <p:nvPr/>
        </p:nvSpPr>
        <p:spPr>
          <a:xfrm>
            <a:off x="731520" y="49911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2" name="Text 19"/>
          <p:cNvSpPr txBox="1"/>
          <p:nvPr/>
        </p:nvSpPr>
        <p:spPr>
          <a:xfrm>
            <a:off x="731520" y="49911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5</a:t>
            </a:r>
            <a:endParaRPr lang="en-US" sz="2000" dirty="0"/>
          </a:p>
        </p:txBody>
      </p:sp>
      <p:sp>
        <p:nvSpPr>
          <p:cNvPr id="23" name="Text 20"/>
          <p:cNvSpPr txBox="1"/>
          <p:nvPr/>
        </p:nvSpPr>
        <p:spPr>
          <a:xfrm>
            <a:off x="1508760" y="470611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Ai là người quyết định cuối cùng?</a:t>
            </a:r>
            <a:endParaRPr lang="en-US" sz="2400" dirty="0"/>
          </a:p>
        </p:txBody>
      </p:sp>
      <p:sp>
        <p:nvSpPr>
          <p:cNvPr id="24" name="Shape 21"/>
          <p:cNvSpPr/>
          <p:nvPr/>
        </p:nvSpPr>
        <p:spPr>
          <a:xfrm>
            <a:off x="6195060" y="4632960"/>
            <a:ext cx="541782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25" name="Shape 22"/>
          <p:cNvSpPr/>
          <p:nvPr/>
        </p:nvSpPr>
        <p:spPr>
          <a:xfrm>
            <a:off x="6377940" y="49911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26" name="Text 23"/>
          <p:cNvSpPr txBox="1"/>
          <p:nvPr/>
        </p:nvSpPr>
        <p:spPr>
          <a:xfrm>
            <a:off x="6377940" y="49911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6</a:t>
            </a:r>
            <a:endParaRPr lang="en-US" sz="2000" dirty="0"/>
          </a:p>
        </p:txBody>
      </p:sp>
      <p:sp>
        <p:nvSpPr>
          <p:cNvPr id="27" name="Text 24"/>
          <p:cNvSpPr txBox="1"/>
          <p:nvPr/>
        </p:nvSpPr>
        <p:spPr>
          <a:xfrm>
            <a:off x="7155180" y="4706112"/>
            <a:ext cx="4320540" cy="1164336"/>
          </a:xfrm>
          <a:prstGeom prst="rect">
            <a:avLst/>
          </a:prstGeom>
          <a:noFill/>
          <a:ln/>
        </p:spPr>
        <p:txBody>
          <a:bodyPr wrap="square" lIns="0" tIns="0" rIns="0" bIns="0" rtlCol="0" anchor="ctr"/>
          <a:lstStyle/>
          <a:p>
            <a:pPr marL="0" indent="0">
              <a:buNone/>
            </a:pPr>
            <a:r>
              <a:rPr lang="en-US" sz="2400" b="1" dirty="0">
                <a:solidFill>
                  <a:schemeClr val="tx1"/>
                </a:solidFill>
              </a:rPr>
              <a:t>Sang năm ai cập nhật?</a:t>
            </a:r>
            <a:endParaRPr lang="en-US" sz="2400" dirty="0"/>
          </a:p>
        </p:txBody>
      </p:sp>
      <p:sp>
        <p:nvSpPr>
          <p:cNvPr id="3"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Bị hỏi đúng chỗ yếu: ba cách trả lời tốt</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Đã nghĩ đến</a:t>
            </a:r>
            <a:endParaRPr lang="en-US" sz="2600" dirty="0"/>
          </a:p>
          <a:p>
            <a:pPr marL="0" indent="0">
              <a:spcAft>
                <a:spcPts val="800"/>
              </a:spcAft>
              <a:buNone/>
            </a:pPr>
            <a:r>
              <a:rPr lang="en-US" sz="2600" dirty="0">
                <a:solidFill>
                  <a:schemeClr val="tx1"/>
                </a:solidFill>
              </a:rPr>
              <a:t>“Chúng mình xử lí như sau...”</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Điểm yếu đã biết</a:t>
            </a:r>
            <a:endParaRPr lang="en-US" sz="2600" dirty="0"/>
          </a:p>
          <a:p>
            <a:pPr marL="0" indent="0">
              <a:spcAft>
                <a:spcPts val="800"/>
              </a:spcAft>
              <a:buNone/>
            </a:pPr>
            <a:r>
              <a:rPr lang="en-US" sz="2600" dirty="0">
                <a:solidFill>
                  <a:schemeClr val="tx1"/>
                </a:solidFill>
              </a:rPr>
              <a:t>“Hiện chấp nhận vì..., và sẽ theo dõi bằng cách...”</a:t>
            </a:r>
            <a:endParaRPr lang="en-US" sz="2600" dirty="0"/>
          </a:p>
        </p:txBody>
      </p:sp>
      <p:sp>
        <p:nvSpPr>
          <p:cNvPr id="12" name="Shape 9"/>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Chưa nghĩ đến</a:t>
            </a:r>
            <a:endParaRPr lang="en-US" sz="2600" dirty="0"/>
          </a:p>
          <a:p>
            <a:pPr marL="0" indent="0">
              <a:spcAft>
                <a:spcPts val="800"/>
              </a:spcAft>
              <a:buNone/>
            </a:pPr>
            <a:r>
              <a:rPr lang="en-US" sz="2600" dirty="0">
                <a:solidFill>
                  <a:schemeClr val="bg1"/>
                </a:solidFill>
              </a:rPr>
              <a:t>“Cảm ơn bạn, nhóm sẽ bổ sung.”</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Đánh giá phương án của nhóm bạn</a:t>
            </a:r>
            <a:endParaRPr lang="en-US" sz="3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20624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868680">
                <a:tc>
                  <a:txBody>
                    <a:bodyPr/>
                    <a:lstStyle/>
                    <a:p>
                      <a:pPr marL="0" indent="0" algn="ctr">
                        <a:buNone/>
                      </a:pPr>
                      <a:r>
                        <a:rPr lang="en-US" sz="2200" b="1" dirty="0">
                          <a:solidFill>
                            <a:schemeClr val="bg1"/>
                          </a:solidFill>
                        </a:rPr>
                        <a:t>Tiêu chí</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200" b="1" dirty="0">
                          <a:solidFill>
                            <a:schemeClr val="bg1"/>
                          </a:solidFill>
                        </a:rPr>
                        <a:t>Đáp ứng tốt khi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200" b="1" dirty="0">
                          <a:solidFill>
                            <a:schemeClr val="tx1"/>
                          </a:solidFill>
                        </a:rPr>
                        <a:t>Nhiệm vụ và phương án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Nêu cả việc hệ thống không làm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200" b="1" dirty="0">
                          <a:solidFill>
                            <a:schemeClr val="tx1"/>
                          </a:solidFill>
                        </a:rPr>
                        <a:t>Lí do lựa chọn</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Nêu phương án đã loại và sự đánh đổi</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200" b="1" dirty="0">
                          <a:solidFill>
                            <a:schemeClr val="tx1"/>
                          </a:solidFill>
                        </a:rPr>
                        <a:t>Vai trò và phối hợp</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200" dirty="0">
                          <a:solidFill>
                            <a:schemeClr val="tx1"/>
                          </a:solidFill>
                        </a:rPr>
                        <a:t>Có kiểm thử riêng, có người ngoài nhóm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868680">
                <a:tc>
                  <a:txBody>
                    <a:bodyPr/>
                    <a:lstStyle/>
                    <a:p>
                      <a:pPr marL="0" indent="0" algn="l">
                        <a:buNone/>
                      </a:pPr>
                      <a:r>
                        <a:rPr lang="en-US" sz="2200" b="1" dirty="0">
                          <a:solidFill>
                            <a:schemeClr val="tx1"/>
                          </a:solidFill>
                        </a:rPr>
                        <a:t>Đánh giá, kiểm soát</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200" dirty="0">
                          <a:solidFill>
                            <a:schemeClr val="tx1"/>
                          </a:solidFill>
                        </a:rPr>
                        <a:t>Đo cả chung lẫn từng nhóm; rõ người chịu trách nhiệm</a:t>
                      </a:r>
                      <a:endParaRPr lang="en-US" sz="22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Nhìn lại ba năm</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8 phút · Tự đánh giá cuối năm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Lớp 12: bốn chặng</a:t>
            </a:r>
            <a:endParaRPr lang="en-US" sz="3800" dirty="0"/>
          </a:p>
        </p:txBody>
      </p:sp>
      <p:sp>
        <p:nvSpPr>
          <p:cNvPr id="4" name="Shape 1"/>
          <p:cNvSpPr/>
          <p:nvPr/>
        </p:nvSpPr>
        <p:spPr>
          <a:xfrm>
            <a:off x="548640" y="1554480"/>
            <a:ext cx="2560320" cy="438912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011680" cy="3108960"/>
          </a:xfrm>
          <a:prstGeom prst="rect">
            <a:avLst/>
          </a:prstGeom>
          <a:noFill/>
          <a:ln/>
        </p:spPr>
        <p:txBody>
          <a:bodyPr wrap="square" lIns="0" tIns="0" rIns="0" bIns="0" rtlCol="0" anchor="t"/>
          <a:lstStyle/>
          <a:p>
            <a:pPr marL="0" indent="0">
              <a:spcAft>
                <a:spcPts val="1000"/>
              </a:spcAft>
              <a:buNone/>
            </a:pPr>
            <a:r>
              <a:rPr lang="en-US" sz="2400" b="1" dirty="0">
                <a:solidFill>
                  <a:schemeClr val="tx2"/>
                </a:solidFill>
              </a:rPr>
              <a:t>Kiểm soát, giải trình</a:t>
            </a:r>
            <a:endParaRPr lang="en-US" sz="2000" dirty="0"/>
          </a:p>
          <a:p>
            <a:pPr marL="0" indent="0">
              <a:spcAft>
                <a:spcPts val="800"/>
              </a:spcAft>
              <a:buNone/>
            </a:pPr>
            <a:r>
              <a:rPr lang="en-US" sz="2000" dirty="0">
                <a:solidFill>
                  <a:schemeClr val="tx1"/>
                </a:solidFill>
              </a:rPr>
              <a:t>Vòng đời, phân vai, sáu biểu hiện.</a:t>
            </a:r>
            <a:endParaRPr lang="en-US" sz="2000" dirty="0"/>
          </a:p>
        </p:txBody>
      </p:sp>
      <p:sp>
        <p:nvSpPr>
          <p:cNvPr id="8" name="Shape 5"/>
          <p:cNvSpPr/>
          <p:nvPr/>
        </p:nvSpPr>
        <p:spPr>
          <a:xfrm>
            <a:off x="3383280" y="1554480"/>
            <a:ext cx="2560320" cy="438912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9" name="Shape 6"/>
          <p:cNvSpPr/>
          <p:nvPr/>
        </p:nvSpPr>
        <p:spPr>
          <a:xfrm>
            <a:off x="36576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36576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3657600" y="2651760"/>
            <a:ext cx="2011680" cy="3108960"/>
          </a:xfrm>
          <a:prstGeom prst="rect">
            <a:avLst/>
          </a:prstGeom>
          <a:noFill/>
          <a:ln/>
        </p:spPr>
        <p:txBody>
          <a:bodyPr wrap="square" lIns="0" tIns="0" rIns="0" bIns="0" rtlCol="0" anchor="t"/>
          <a:lstStyle/>
          <a:p>
            <a:pPr marL="0" indent="0">
              <a:spcAft>
                <a:spcPts val="1000"/>
              </a:spcAft>
              <a:buNone/>
            </a:pPr>
            <a:r>
              <a:rPr lang="en-US" sz="2400" b="1" dirty="0">
                <a:solidFill>
                  <a:schemeClr val="tx2"/>
                </a:solidFill>
              </a:rPr>
              <a:t>Đạo đức, rủi ro</a:t>
            </a:r>
            <a:endParaRPr lang="en-US" sz="2000" dirty="0"/>
          </a:p>
          <a:p>
            <a:pPr marL="0" indent="0">
              <a:spcAft>
                <a:spcPts val="800"/>
              </a:spcAft>
              <a:buNone/>
            </a:pPr>
            <a:r>
              <a:rPr lang="en-US" sz="2000" dirty="0">
                <a:solidFill>
                  <a:schemeClr val="tx1"/>
                </a:solidFill>
              </a:rPr>
              <a:t>Sáu nguyên tắc, ba mức, trách nhiệm công dân.</a:t>
            </a:r>
            <a:endParaRPr lang="en-US" sz="2000" dirty="0"/>
          </a:p>
        </p:txBody>
      </p:sp>
      <p:sp>
        <p:nvSpPr>
          <p:cNvPr id="12" name="Shape 9"/>
          <p:cNvSpPr/>
          <p:nvPr/>
        </p:nvSpPr>
        <p:spPr>
          <a:xfrm>
            <a:off x="6217920" y="1554480"/>
            <a:ext cx="2560320" cy="438912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649224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649224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6492240" y="2651760"/>
            <a:ext cx="2011680" cy="3108960"/>
          </a:xfrm>
          <a:prstGeom prst="rect">
            <a:avLst/>
          </a:prstGeom>
          <a:noFill/>
          <a:ln/>
        </p:spPr>
        <p:txBody>
          <a:bodyPr wrap="square" lIns="0" tIns="0" rIns="0" bIns="0" rtlCol="0" anchor="t"/>
          <a:lstStyle/>
          <a:p>
            <a:pPr marL="0" indent="0">
              <a:spcAft>
                <a:spcPts val="1000"/>
              </a:spcAft>
              <a:buNone/>
            </a:pPr>
            <a:r>
              <a:rPr lang="en-US" sz="2400" b="1" dirty="0">
                <a:solidFill>
                  <a:schemeClr val="tx2"/>
                </a:solidFill>
              </a:rPr>
              <a:t>Công cụ, đánh giá</a:t>
            </a:r>
            <a:endParaRPr lang="en-US" sz="2000" dirty="0"/>
          </a:p>
          <a:p>
            <a:pPr marL="0" indent="0">
              <a:spcAft>
                <a:spcPts val="800"/>
              </a:spcAft>
              <a:buNone/>
            </a:pPr>
            <a:r>
              <a:rPr lang="en-US" sz="2000" dirty="0">
                <a:solidFill>
                  <a:schemeClr val="tx1"/>
                </a:solidFill>
              </a:rPr>
              <a:t>Năm kiểu ý tưởng, bốn bước, ba nguyên tắc.</a:t>
            </a:r>
            <a:endParaRPr lang="en-US" sz="2000" dirty="0"/>
          </a:p>
        </p:txBody>
      </p:sp>
      <p:sp>
        <p:nvSpPr>
          <p:cNvPr id="16" name="Shape 13"/>
          <p:cNvSpPr/>
          <p:nvPr/>
        </p:nvSpPr>
        <p:spPr>
          <a:xfrm>
            <a:off x="9052560" y="1554480"/>
            <a:ext cx="2560320" cy="4389120"/>
          </a:xfrm>
          <a:prstGeom prst="roundRect">
            <a:avLst>
              <a:gd name="adj" fmla="val 4286"/>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93268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93268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9" name="Text 16"/>
          <p:cNvSpPr txBox="1"/>
          <p:nvPr/>
        </p:nvSpPr>
        <p:spPr>
          <a:xfrm>
            <a:off x="9326880" y="2651760"/>
            <a:ext cx="2011680" cy="3108960"/>
          </a:xfrm>
          <a:prstGeom prst="rect">
            <a:avLst/>
          </a:prstGeom>
          <a:noFill/>
          <a:ln/>
        </p:spPr>
        <p:txBody>
          <a:bodyPr wrap="square" lIns="0" tIns="0" rIns="0" bIns="0" rtlCol="0" anchor="t"/>
          <a:lstStyle/>
          <a:p>
            <a:pPr marL="0" indent="0">
              <a:spcAft>
                <a:spcPts val="1000"/>
              </a:spcAft>
              <a:buNone/>
            </a:pPr>
            <a:r>
              <a:rPr lang="en-US" sz="2400" b="1" dirty="0">
                <a:solidFill>
                  <a:schemeClr val="tx2"/>
                </a:solidFill>
              </a:rPr>
              <a:t>Giải pháp, hợp tác</a:t>
            </a:r>
            <a:endParaRPr lang="en-US" sz="2000" dirty="0"/>
          </a:p>
          <a:p>
            <a:pPr marL="0" indent="0">
              <a:spcAft>
                <a:spcPts val="800"/>
              </a:spcAft>
              <a:buNone/>
            </a:pPr>
            <a:r>
              <a:rPr lang="en-US" sz="2000" dirty="0">
                <a:solidFill>
                  <a:schemeClr val="tx1"/>
                </a:solidFill>
              </a:rPr>
              <a:t>Năm tiêu chí, các vai trò, báo cáo.</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năm, ba bậc</a:t>
            </a:r>
            <a:endParaRPr lang="en-US" sz="3800" dirty="0"/>
          </a:p>
        </p:txBody>
      </p:sp>
      <p:pic>
        <p:nvPicPr>
          <p:cNvPr id="4" name="Image 0" descr="Ba năm, ba bậc"/>
          <p:cNvPicPr>
            <a:picLocks noChangeAspect="1"/>
          </p:cNvPicPr>
          <p:nvPr/>
        </p:nvPicPr>
        <p:blipFill>
          <a:blip r:embed="rId3"/>
          <a:stretch>
            <a:fillRect/>
          </a:stretch>
        </p:blipFill>
        <p:spPr>
          <a:xfrm>
            <a:off x="1699953" y="1463040"/>
            <a:ext cx="8761615"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Năm câu để mang theo</a:t>
            </a:r>
            <a:endParaRPr lang="en-US" sz="3800" dirty="0"/>
          </a:p>
        </p:txBody>
      </p:sp>
      <p:sp>
        <p:nvSpPr>
          <p:cNvPr id="4" name="Shape 1"/>
          <p:cNvSpPr/>
          <p:nvPr/>
        </p:nvSpPr>
        <p:spPr>
          <a:xfrm>
            <a:off x="548640" y="1613916"/>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13916"/>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804672"/>
          </a:xfrm>
          <a:prstGeom prst="rect">
            <a:avLst/>
          </a:prstGeom>
          <a:noFill/>
          <a:ln/>
        </p:spPr>
        <p:txBody>
          <a:bodyPr wrap="square" lIns="0" tIns="0" rIns="0" bIns="0" rtlCol="0" anchor="ctr"/>
          <a:lstStyle/>
          <a:p>
            <a:pPr marL="0" indent="0">
              <a:buNone/>
            </a:pPr>
            <a:r>
              <a:rPr lang="en-US" sz="2800" dirty="0">
                <a:solidFill>
                  <a:schemeClr val="tx1"/>
                </a:solidFill>
              </a:rPr>
              <a:t>AI là công cụ do con người làm ra, và </a:t>
            </a:r>
            <a:r>
              <a:rPr lang="en-US" sz="2800" b="1" dirty="0">
                <a:solidFill>
                  <a:schemeClr val="tx2"/>
                </a:solidFill>
              </a:rPr>
              <a:t>nó có thể sai</a:t>
            </a:r>
            <a:endParaRPr lang="en-US" sz="2800" dirty="0"/>
          </a:p>
        </p:txBody>
      </p:sp>
      <p:sp>
        <p:nvSpPr>
          <p:cNvPr id="7" name="Shape 4"/>
          <p:cNvSpPr/>
          <p:nvPr/>
        </p:nvSpPr>
        <p:spPr>
          <a:xfrm>
            <a:off x="548640" y="2510028"/>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510028"/>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450592"/>
            <a:ext cx="10058400" cy="804672"/>
          </a:xfrm>
          <a:prstGeom prst="rect">
            <a:avLst/>
          </a:prstGeom>
          <a:noFill/>
          <a:ln/>
        </p:spPr>
        <p:txBody>
          <a:bodyPr wrap="square" lIns="0" tIns="0" rIns="0" bIns="0" rtlCol="0" anchor="ctr"/>
          <a:lstStyle/>
          <a:p>
            <a:pPr marL="0" indent="0">
              <a:buNone/>
            </a:pPr>
            <a:r>
              <a:rPr lang="en-US" sz="2800" dirty="0">
                <a:solidFill>
                  <a:schemeClr val="tx1"/>
                </a:solidFill>
              </a:rPr>
              <a:t>Con người </a:t>
            </a:r>
            <a:r>
              <a:rPr lang="en-US" sz="2800" b="1" dirty="0">
                <a:solidFill>
                  <a:schemeClr val="tx2"/>
                </a:solidFill>
              </a:rPr>
              <a:t>đặt mục tiêu, kiểm tra, chịu trách nhiệm</a:t>
            </a:r>
            <a:endParaRPr lang="en-US" sz="2800" dirty="0"/>
          </a:p>
        </p:txBody>
      </p:sp>
      <p:sp>
        <p:nvSpPr>
          <p:cNvPr id="10" name="Shape 7"/>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346704"/>
            <a:ext cx="10058400" cy="804672"/>
          </a:xfrm>
          <a:prstGeom prst="rect">
            <a:avLst/>
          </a:prstGeom>
          <a:noFill/>
          <a:ln/>
        </p:spPr>
        <p:txBody>
          <a:bodyPr wrap="square" lIns="0" tIns="0" rIns="0" bIns="0" rtlCol="0" anchor="ctr"/>
          <a:lstStyle/>
          <a:p>
            <a:pPr marL="0" indent="0">
              <a:buNone/>
            </a:pPr>
            <a:r>
              <a:rPr lang="en-US" sz="2800" dirty="0">
                <a:solidFill>
                  <a:schemeClr val="tx1"/>
                </a:solidFill>
              </a:rPr>
              <a:t>Dùng AI để </a:t>
            </a:r>
            <a:r>
              <a:rPr lang="en-US" sz="2800" b="1" dirty="0">
                <a:solidFill>
                  <a:schemeClr val="tx2"/>
                </a:solidFill>
              </a:rPr>
              <a:t>giỏi lên</a:t>
            </a:r>
            <a:r>
              <a:rPr lang="en-US" sz="2800" dirty="0">
                <a:solidFill>
                  <a:schemeClr val="tx1"/>
                </a:solidFill>
              </a:rPr>
              <a:t>, không để khỏi phải nghĩ</a:t>
            </a:r>
            <a:endParaRPr lang="en-US" sz="2800" dirty="0"/>
          </a:p>
        </p:txBody>
      </p:sp>
      <p:sp>
        <p:nvSpPr>
          <p:cNvPr id="13" name="Shape 10"/>
          <p:cNvSpPr/>
          <p:nvPr/>
        </p:nvSpPr>
        <p:spPr>
          <a:xfrm>
            <a:off x="548640" y="4302252"/>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4302252"/>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242816"/>
            <a:ext cx="10058400" cy="804672"/>
          </a:xfrm>
          <a:prstGeom prst="rect">
            <a:avLst/>
          </a:prstGeom>
          <a:noFill/>
          <a:ln/>
        </p:spPr>
        <p:txBody>
          <a:bodyPr wrap="square" lIns="0" tIns="0" rIns="0" bIns="0" rtlCol="0" anchor="ctr"/>
          <a:lstStyle/>
          <a:p>
            <a:pPr marL="0" indent="0">
              <a:buNone/>
            </a:pPr>
            <a:r>
              <a:rPr lang="en-US" sz="2800" dirty="0">
                <a:solidFill>
                  <a:schemeClr val="tx1"/>
                </a:solidFill>
              </a:rPr>
              <a:t>Con số, lời cam kết đều cần </a:t>
            </a:r>
            <a:r>
              <a:rPr lang="en-US" sz="2800" b="1" dirty="0">
                <a:solidFill>
                  <a:schemeClr val="tx2"/>
                </a:solidFill>
              </a:rPr>
              <a:t>bằng chứng</a:t>
            </a:r>
            <a:endParaRPr lang="en-US" sz="2800" dirty="0"/>
          </a:p>
        </p:txBody>
      </p:sp>
      <p:sp>
        <p:nvSpPr>
          <p:cNvPr id="16" name="Shape 13"/>
          <p:cNvSpPr/>
          <p:nvPr/>
        </p:nvSpPr>
        <p:spPr>
          <a:xfrm>
            <a:off x="548640" y="5198364"/>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7" name="Text 14"/>
          <p:cNvSpPr txBox="1"/>
          <p:nvPr/>
        </p:nvSpPr>
        <p:spPr>
          <a:xfrm>
            <a:off x="548640" y="5198364"/>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5</a:t>
            </a:r>
            <a:endParaRPr lang="en-US" sz="2300" dirty="0"/>
          </a:p>
        </p:txBody>
      </p:sp>
      <p:sp>
        <p:nvSpPr>
          <p:cNvPr id="18" name="Text 15"/>
          <p:cNvSpPr txBox="1"/>
          <p:nvPr/>
        </p:nvSpPr>
        <p:spPr>
          <a:xfrm>
            <a:off x="1508760" y="5138928"/>
            <a:ext cx="10058400" cy="804672"/>
          </a:xfrm>
          <a:prstGeom prst="rect">
            <a:avLst/>
          </a:prstGeom>
          <a:noFill/>
          <a:ln/>
        </p:spPr>
        <p:txBody>
          <a:bodyPr wrap="square" lIns="0" tIns="0" rIns="0" bIns="0" rtlCol="0" anchor="ctr"/>
          <a:lstStyle/>
          <a:p>
            <a:pPr marL="0" indent="0">
              <a:buNone/>
            </a:pPr>
            <a:r>
              <a:rPr lang="en-US" sz="2800" dirty="0">
                <a:solidFill>
                  <a:schemeClr val="tx1"/>
                </a:solidFill>
              </a:rPr>
              <a:t>Dữ liệu của người thì </a:t>
            </a:r>
            <a:r>
              <a:rPr lang="en-US" sz="2800" b="1" dirty="0">
                <a:solidFill>
                  <a:schemeClr val="tx2"/>
                </a:solidFill>
              </a:rPr>
              <a:t>phải hỏi</a:t>
            </a:r>
            <a:r>
              <a:rPr lang="en-US" sz="2800" dirty="0">
                <a:solidFill>
                  <a:schemeClr val="tx1"/>
                </a:solidFill>
              </a:rPr>
              <a:t>; thấy sai thì </a:t>
            </a:r>
            <a:r>
              <a:rPr lang="en-US" sz="2800" b="1" dirty="0">
                <a:solidFill>
                  <a:schemeClr val="tx2"/>
                </a:solidFill>
              </a:rPr>
              <a:t>lên tiếng</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Lá thư cho mình năm năm sau</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Viết khoảng 150 chữ gửi cho chính em năm năm sau:</a:t>
            </a:r>
            <a:endParaRPr lang="en-US" sz="2800" dirty="0"/>
          </a:p>
          <a:p>
            <a:pPr marL="0" indent="0">
              <a:buNone/>
            </a:pPr>
            <a:endParaRPr lang="en-US" sz="2800" dirty="0"/>
          </a:p>
          <a:p>
            <a:pPr marL="0" indent="0">
              <a:buNone/>
            </a:pPr>
            <a:r>
              <a:rPr lang="en-US" sz="2800" dirty="0">
                <a:solidFill>
                  <a:schemeClr val="tx1"/>
                </a:solidFill>
              </a:rPr>
              <a:t>Điều gì đã thay đổi nhiều nhất trong cách em dùng AI?</a:t>
            </a:r>
            <a:endParaRPr lang="en-US" sz="2800" dirty="0"/>
          </a:p>
          <a:p>
            <a:pPr marL="0" indent="0">
              <a:buNone/>
            </a:pPr>
            <a:endParaRPr lang="en-US" sz="2800" dirty="0"/>
          </a:p>
          <a:p>
            <a:pPr marL="0" indent="0">
              <a:buNone/>
            </a:pPr>
            <a:r>
              <a:rPr lang="en-US" sz="2800" dirty="0">
                <a:solidFill>
                  <a:schemeClr val="tx1"/>
                </a:solidFill>
              </a:rPr>
              <a:t>Trong năm câu vừa rồi, em muốn mình giữ được câu nào nhất?</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Năm năm nữa, em muốn mình đang làm gì với AI?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Báo cáo bốn ý:</a:t>
            </a:r>
            <a:r>
              <a:rPr lang="en-US" sz="3200" dirty="0">
                <a:solidFill>
                  <a:schemeClr val="tx1"/>
                </a:solidFill>
              </a:rPr>
              <a:t> nhiệm vụ; lí do; vai trò; đánh giá và kiểm soát</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Phản biện</a:t>
            </a:r>
            <a:r>
              <a:rPr lang="en-US" sz="3200" dirty="0">
                <a:solidFill>
                  <a:schemeClr val="tx1"/>
                </a:solidFill>
              </a:rPr>
              <a:t> để giúp nhau tốt lên</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Phương án tốt </a:t>
            </a:r>
            <a:r>
              <a:rPr lang="en-US" sz="3200" b="1" dirty="0">
                <a:solidFill>
                  <a:schemeClr val="tx2"/>
                </a:solidFill>
              </a:rPr>
              <a:t>biết rõ điểm yếu</a:t>
            </a:r>
            <a:r>
              <a:rPr lang="en-US" sz="3200" dirty="0">
                <a:solidFill>
                  <a:schemeClr val="tx1"/>
                </a:solidFill>
              </a:rPr>
              <a:t> của mình</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Hỏi đúng câu, làm đúng phần mình, </a:t>
            </a:r>
            <a:r>
              <a:rPr lang="en-US" sz="3200" b="1" dirty="0">
                <a:solidFill>
                  <a:schemeClr val="tx2"/>
                </a:solidFill>
              </a:rPr>
              <a:t>giữ cho công nghệ phục vụ con người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AB702F8E-1303-8489-B184-517A579519C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776785861"/>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1299</Words>
  <Application>Microsoft Office PowerPoint</Application>
  <PresentationFormat>Widescreen</PresentationFormat>
  <Paragraphs>179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Báo cáo phương án và tổng kết</vt:lpstr>
      <vt:lpstr>Hôm nay chúng ta làm gì?</vt:lpstr>
      <vt:lpstr>Bố cục báo cáo bốn ý</vt:lpstr>
      <vt:lpstr>Người nghe chú ý điều gì nhất?</vt:lpstr>
      <vt:lpstr>Tự soát phương án theo sáu nguyên tắc</vt:lpstr>
      <vt:lpstr>Báo cáo phương án và phản biện</vt:lpstr>
      <vt:lpstr>Khi nghe nhóm bạn báo cáo</vt:lpstr>
      <vt:lpstr>Kho câu hỏi phản biện</vt:lpstr>
      <vt:lpstr>Bị hỏi đúng chỗ yếu: ba cách trả lời tốt</vt:lpstr>
      <vt:lpstr>Đánh giá phương án của nhóm bạn</vt:lpstr>
      <vt:lpstr>Nhìn lại ba năm</vt:lpstr>
      <vt:lpstr>Lớp 12: bốn chặng</vt:lpstr>
      <vt:lpstr>Ba năm, ba bậc</vt:lpstr>
      <vt:lpstr>Năm câu để mang theo</vt:lpstr>
      <vt:lpstr>Lá thư cho mình năm năm sau</vt:lpstr>
      <vt:lpstr>Ghi nhớ</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12.12. Báo cáo phương án và tổng kết</dc:title>
  <dc:subject>Trí tuệ nhân tạo</dc:subject>
  <cp:lastModifiedBy>Phạm Văn Tú</cp:lastModifiedBy>
  <cp:revision>1</cp:revision>
  <dcterms:created xsi:type="dcterms:W3CDTF">2026-10-08T10:45:43Z</dcterms:created>
  <dcterms:modified xsi:type="dcterms:W3CDTF">2026-10-10T03:47:32Z</dcterms:modified>
  <dc:description>Email: phamtund@gmail.com</dc:description>
  <dc:creator>Phạm Văn Tú</dc:creator>
  <cp:category>Trí tuệ nhân tạo</cp:category>
  <cp:keywords>Trí tuệ nhân tạo</cp:keywords>
</cp:coreProperties>
</file>