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EE51B4ED-440E-3CFC-7667-69882DE41EA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So sánh và chọn phương án" id="{0CE7BD07-67EC-14B9-169E-092C683DF5B3}">
          <p14:sldIdLst>
            <p14:sldId id="266"/>
            <p14:sldId id="267"/>
            <p14:sldId id="268"/>
            <p14:sldId id="269"/>
          </p14:sldIdLst>
        </p14:section>
        <p14:section name="Tổng kết" id="{EFABBD53-6557-2C43-47C5-3EC9DE6AEB5E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ACB357-4832-442C-A6B7-7460534EAB14}" v="1" dt="2026-10-10T03:46:16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ạm Văn Tú" userId="67199c852bdd6d1b" providerId="LiveId" clId="{CB377567-0116-4044-BB7C-6E46B7A5C596}"/>
    <pc:docChg chg="addSld modSld">
      <pc:chgData name="Phạm Văn Tú" userId="67199c852bdd6d1b" providerId="LiveId" clId="{CB377567-0116-4044-BB7C-6E46B7A5C596}" dt="2026-10-10T03:46:16.103" v="2"/>
      <pc:docMkLst>
        <pc:docMk/>
      </pc:docMkLst>
      <pc:sldChg chg="modSp mod">
        <pc:chgData name="Phạm Văn Tú" userId="67199c852bdd6d1b" providerId="LiveId" clId="{CB377567-0116-4044-BB7C-6E46B7A5C596}" dt="2026-10-10T03:46:03.943" v="1" actId="20577"/>
        <pc:sldMkLst>
          <pc:docMk/>
          <pc:sldMk cId="0" sldId="256"/>
        </pc:sldMkLst>
        <pc:spChg chg="mod">
          <ac:chgData name="Phạm Văn Tú" userId="67199c852bdd6d1b" providerId="LiveId" clId="{CB377567-0116-4044-BB7C-6E46B7A5C596}" dt="2026-10-10T03:46:03.943" v="1" actId="20577"/>
          <ac:spMkLst>
            <pc:docMk/>
            <pc:sldMk cId="0" sldId="256"/>
            <ac:spMk id="3" creationId="{00000000-0000-0000-0000-000000000000}"/>
          </ac:spMkLst>
        </pc:spChg>
      </pc:sldChg>
      <pc:sldChg chg="add">
        <pc:chgData name="Phạm Văn Tú" userId="67199c852bdd6d1b" providerId="LiveId" clId="{CB377567-0116-4044-BB7C-6E46B7A5C596}" dt="2026-10-10T03:46:16.103" v="2"/>
        <pc:sldMkLst>
          <pc:docMk/>
          <pc:sldMk cId="1793554469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069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Chuẩn bị: ví dụ mẫu ba phương án (trình chiếu), thẻ nhiệm vụ kèm ba phương án cho mỗi nhóm, giấy A3, Phiếu ra cửa. Học sinh mang phiếu ý tưởng của nhóm (Bài 12.7).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nhanh mục tiêu.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1 (4 phút). Tình huống giả định: căn tin cần biết trước số suất ăn ngày mai (nhu cầu ở Bài 12.7). Ghi lựa chọn ban đầu của lớp; cuối hoạt động 2 sẽ chọn lại. Kế hoạch bài dạy dùng ví dụ mẫu 'hỏi đáp nội quy'; có thể dùng ví dụ nào cũng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2 (13 phút). Sáu khâu đã học ở Bài 11.12. Công cụ chỉ là một phần của khâu 3. Hai phương án dùng cùng công cụ có thể khác hẳn nhau về người quyết định (khâu 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Học sinh ghi bảng tiêu chí. Năm tiêu chí gom gần như mọi điều đã học: 12.7, 12.9 (mục tiêu); 11.5 (dữ liệu); 11.4 (duy trì); 12.5 (rủi ro); 12.1 đến 12.3 (kiểm soát).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Hình tròn càng đậm, phương án càng đáp ứng tốt. KHÔNG phương án nào tốt nhất ở mọi tiêu chí. Phương án 1 thu tên học sinh mỗi ngày (dữ liệu cá nhân) và cần cả trường tạo thói quen. Phương án 3: đặt thừa cả trăm suất khi khối 12 đi tham quan.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Liên hệ: Luật Trí tuệ nhân tạo cũng theo tinh thần rủi ro càng cao, con người càng phải kiểm soát chặt.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 lớp chọn lại và so với lựa chọn ban đầu. Kết hợp: lớp bán trú đăng kí trước; phần còn lại dùng con số ước tính.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 dụ với phương án 2: chấp nhận phụ thuộc vào việc có người cập nhật số liệu; xử lí bằng một trang hướng dẫn và bàn giao cho khóa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Nghiên cứu Bastani và cộng sự (2024; dẫn theo Knowledge at Wharton).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 Phát thẻ nhiệm vụ kèm ba phương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phút báo cáo. Bảng A3 là minh chứng đánh giá. Dặn: phương án đã chọn là 'dự án' của nhóm ở hai bài tới.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Chốt hoạt động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Đổi hay giữ đều tốt, miễn là thay lựa chọn cảm tính bằng lựa chọn có căn cứ.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4 (5 phút). Dặn dò: phần Vận dụng (hoàn thiện hồ sơ dự án hai trang, hỏi ý kiến một người sẽ thật sự dùng).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14F4-D6CA-6C2F-9B84-050806F8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E9684-E8C6-B7CA-173E-C67E22F59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E0C13-1AE5-4B9C-2DB8-8AC62C19D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3ABBB-6B45-2E2E-903A-EB13E0184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51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Bài 12.10 · Chọn phương án thiết kế và vận hành phù hợp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Chọn phương án thiết kế và vận hành phù hợp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Bài 12.10 · Chuyên đề 12.4: Giải pháp và hợp tác phát triển sản phẩm AI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Giáo dục trí tuệ nhân tạo lớp 12 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 flipV="1"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flipV="1"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 flipV="1"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flipV="1"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 flipV="1"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flipV="1"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 flipV="1"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49477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49477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49477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49477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95781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95781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95781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1420856" y="28483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142085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Hôm nay chúng ta làm gì?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1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5544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Mô tả</a:t>
            </a:r>
            <a:r>
              <a:rPr lang="en-US" sz="2800" dirty="0">
                <a:solidFill>
                  <a:schemeClr val="tx1"/>
                </a:solidFill>
              </a:rPr>
              <a:t> một phương án theo sáu khâu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2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88036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So sánh</a:t>
            </a:r>
            <a:r>
              <a:rPr lang="en-US" sz="2800" dirty="0">
                <a:solidFill>
                  <a:schemeClr val="tx1"/>
                </a:solidFill>
              </a:rPr>
              <a:t> các phương án theo năm tiêu chí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4297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3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2062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Lựa chọn</a:t>
            </a:r>
            <a:r>
              <a:rPr lang="en-US" sz="2800" dirty="0">
                <a:solidFill>
                  <a:schemeClr val="tx1"/>
                </a:solidFill>
              </a:rPr>
              <a:t> và nêu sự đánh đổi đã chấp nhận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8412480" y="1554480"/>
            <a:ext cx="3200400" cy="402336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6868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45 phút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4'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464040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Ba cách cho một việc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172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13'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464040" y="31729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Năm tiêu chí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392277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23'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464040" y="39227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So sánh và chọn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467258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5'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9464040" y="46725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Phiếu ra cửa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Ba cách làm cho cùng một việc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05200" cy="3520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2956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Biểu mẫu đăng kí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Ai ăn ngày mai thì đăng kí trước 4 giờ chiều.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28160" y="1554480"/>
            <a:ext cx="3505200" cy="3520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0248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60248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11" name="Text 8"/>
          <p:cNvSpPr txBox="1"/>
          <p:nvPr/>
        </p:nvSpPr>
        <p:spPr>
          <a:xfrm>
            <a:off x="4602480" y="2651760"/>
            <a:ext cx="2956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Dự đoán, người quyết định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Mô hình đưa con số; cô quản lí xem, điều chỉnh.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107680" y="1554480"/>
            <a:ext cx="3505200" cy="3520440"/>
          </a:xfrm>
          <a:prstGeom prst="roundRect">
            <a:avLst>
              <a:gd name="adj" fmla="val 313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38200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38200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8382000" y="2651760"/>
            <a:ext cx="2956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Dự đoán, tự đặt hàng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Mô hình tự đặt hàng với nhà cung cấp mỗi chiều.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Nếu là cô quản lí căn tin, em chọn cách nào? Dựa vào điều gì?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Một phương án phải trả lời đủ sáu khâu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417820" cy="944880"/>
          </a:xfrm>
          <a:prstGeom prst="roundRect">
            <a:avLst>
              <a:gd name="adj" fmla="val 116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31520" y="17297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7297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27632"/>
            <a:ext cx="432054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Mục tiêu và người dùng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195060" y="1554480"/>
            <a:ext cx="5417820" cy="944880"/>
          </a:xfrm>
          <a:prstGeom prst="roundRect">
            <a:avLst>
              <a:gd name="adj" fmla="val 116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77940" y="17297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377940" y="17297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155180" y="1627632"/>
            <a:ext cx="432054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Dữ liệu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48640" y="2727960"/>
            <a:ext cx="5417820" cy="944880"/>
          </a:xfrm>
          <a:prstGeom prst="roundRect">
            <a:avLst>
              <a:gd name="adj" fmla="val 116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31520" y="29032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29032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2801112"/>
            <a:ext cx="432054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Công nghệ và mô hình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6195060" y="2727960"/>
            <a:ext cx="5417820" cy="944880"/>
          </a:xfrm>
          <a:prstGeom prst="roundRect">
            <a:avLst>
              <a:gd name="adj" fmla="val 116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377940" y="29032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377940" y="29032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155180" y="2801112"/>
            <a:ext cx="432054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Đầu ra và giao diện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548640" y="3901440"/>
            <a:ext cx="5417820" cy="944880"/>
          </a:xfrm>
          <a:prstGeom prst="roundRect">
            <a:avLst>
              <a:gd name="adj" fmla="val 116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31520" y="40767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31520" y="40767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508760" y="3974592"/>
            <a:ext cx="432054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Kiểm thử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6195060" y="3901440"/>
            <a:ext cx="5417820" cy="944880"/>
          </a:xfrm>
          <a:prstGeom prst="roundRect">
            <a:avLst>
              <a:gd name="adj" fmla="val 116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377940" y="40767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6377940" y="40767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6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7155180" y="3974592"/>
            <a:ext cx="432054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Vận hành, phản hồi, cập nhật</a:t>
            </a:r>
            <a:endParaRPr lang="en-US" sz="2600" dirty="0"/>
          </a:p>
        </p:txBody>
      </p:sp>
      <p:sp>
        <p:nvSpPr>
          <p:cNvPr id="28" name="Shape 25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Dễ nhầm: phương án không phải là “chọn công cụ nào”</a:t>
            </a:r>
            <a:endParaRPr lang="en-US" sz="2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Năm tiêu chí so sánh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106424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31520" y="1604772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6047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276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Đáp ứng mục tiêu: đúng việc, đúng người?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2478024"/>
            <a:ext cx="1106424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1520" y="2528316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31520" y="25283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55117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Dữ liệu: có sẵn không, có dữ liệu cá nhân không?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48640" y="3401568"/>
            <a:ext cx="1106424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31520" y="34518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34518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34747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Chi phí và khả năng duy trì: ai vận hành lâu dài?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548640" y="4325112"/>
            <a:ext cx="1106424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31520" y="4375404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31520" y="43754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439826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Rủi ro khi sai: ai bị ảnh hưởng, có sửa được không?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548640" y="5248656"/>
            <a:ext cx="1106424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31520" y="5298948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31520" y="52989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508760" y="53218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Vai trò kiểm soát của con người: mức I, II hay III?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Ba phương án của căn tin theo năm tiêu chí</a:t>
            </a:r>
            <a:endParaRPr lang="en-US" sz="3800" dirty="0"/>
          </a:p>
        </p:txBody>
      </p:sp>
      <p:pic>
        <p:nvPicPr>
          <p:cNvPr id="4" name="Image 0" descr="Ba phương án của căn tin theo năm tiêu chí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285" y="1463040"/>
            <a:ext cx="8260951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Hai nguyên tắc lựa chọn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Việc càng hệ trọng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càng ưu tiên phương án giữ con người ở vị trí quyết định.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9224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49224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6517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Khi đạt mục tiêu ngang nhau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ưu tiên phương án đơn giản, dễ duy trì, ít dữ liệu cá nhân hơn.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Áp dụng cho căn tin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05200" cy="3520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2956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Biểu mẫu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Phù hợp khi nguồn lực hạn chế, trường nhỏ.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28160" y="1554480"/>
            <a:ext cx="3505200" cy="3520440"/>
          </a:xfrm>
          <a:prstGeom prst="roundRect">
            <a:avLst>
              <a:gd name="adj" fmla="val 313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0248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60248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11" name="Text 8"/>
          <p:cNvSpPr txBox="1"/>
          <p:nvPr/>
        </p:nvSpPr>
        <p:spPr>
          <a:xfrm>
            <a:off x="4602480" y="2651760"/>
            <a:ext cx="2956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Dự đoán, người quyết định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Phù hợp nếu có người cập nhật số liệu.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107680" y="1554480"/>
            <a:ext cx="3505200" cy="3520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38200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38200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8382000" y="2651760"/>
            <a:ext cx="2956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Tự đặt hàng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Bị loại: việc có tiêu tiền, khó sửa trong ngày.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Mức III cho việc không nhỏ.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Không có phương án đúng cho mọi trường. Có thể kết hợp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Sự đánh đổi phải được nói ra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9126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9126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694944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Đã </a:t>
            </a:r>
            <a:r>
              <a:rPr lang="en-US" sz="3200" b="1" dirty="0">
                <a:solidFill>
                  <a:schemeClr val="tx2"/>
                </a:solidFill>
              </a:rPr>
              <a:t>chọn</a:t>
            </a:r>
            <a:r>
              <a:rPr lang="en-US" sz="3200" dirty="0">
                <a:solidFill>
                  <a:schemeClr val="tx1"/>
                </a:solidFill>
              </a:rPr>
              <a:t> gì, vì sao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34061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34061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3048000"/>
            <a:ext cx="694944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Đã </a:t>
            </a:r>
            <a:r>
              <a:rPr lang="en-US" sz="3200" b="1" dirty="0">
                <a:solidFill>
                  <a:schemeClr val="tx2"/>
                </a:solidFill>
              </a:rPr>
              <a:t>loại</a:t>
            </a:r>
            <a:r>
              <a:rPr lang="en-US" sz="3200" dirty="0">
                <a:solidFill>
                  <a:schemeClr val="tx1"/>
                </a:solidFill>
              </a:rPr>
              <a:t> gì, vì sao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48996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48996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4541520"/>
            <a:ext cx="694944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Chấp nhận</a:t>
            </a:r>
            <a:r>
              <a:rPr lang="en-US" sz="3200" dirty="0">
                <a:solidFill>
                  <a:schemeClr val="tx1"/>
                </a:solidFill>
              </a:rPr>
              <a:t> điểm yếu nào, xử lí ra sao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8778240" y="1554480"/>
            <a:ext cx="2834640" cy="448056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9006840" y="1737360"/>
            <a:ext cx="2377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Phương án tốt biết rõ điểm yếu của mình.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Lựa chọn thiết kế quyết định giúp hay hại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Hai phiên bản trợ lí AI luyện Toán dùng cùng một công nghệ.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Phiên bản trả lời trực tiếp: bài kiểm tra kém đi 17%.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Phiên bản chỉ gợi ý từng bước: không gây tác hại đó.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Khác biệt nằm ở phương án thiết kế: đầu ra là đáp án hay gợi ý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So sánh và chọn phương án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Phần 2 · 23 phút · Làm việc nhóm trên giấy A3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Nhiệm vụ nhóm: bảng so sánh phương án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15 phút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 sánh ba phương án cho nhiệm vụ của nhóm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Lập bảng năm tiêu chí cho cả ba phương án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Áp dụng hai nguyên tắc lựa chọn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Viết ba điều cần nói rõ: chọn, loại, chấp nhận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Ví dụ nhiệm vụ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23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Thư viện giúp học sinh tìm sách: in sơ đồ kệ; trợ lí tra danh mục; trợ lí tự nhắn gợi ý cho học sinh và phụ huynh.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Soát nhanh trước khi báo cáo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Phương án phù hợp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Đạt mục tiêu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An toàn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Duy trì được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Không phải là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Phương án nhiều công nghệ nhất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Phương án tự động hoàn toàn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Không ai biết sửa khi hỏng: bị bỏ sau một học kì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Quay lại câu hỏi mở đầu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Đầu giờ, em đã chọn một trong ba cách làm cho căn tin.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Bây giờ em có năm tiêu chí và hai nguyên tắc.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Em có đổi lựa chọn không? Hãy nói lại lí do bằng ngôn ngữ của năm tiêu chí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Ghi nhớ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2593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72593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Phương án phải trả lời đủ </a:t>
            </a:r>
            <a:r>
              <a:rPr lang="en-US" sz="3200" b="1" dirty="0">
                <a:solidFill>
                  <a:schemeClr val="tx2"/>
                </a:solidFill>
              </a:rPr>
              <a:t>sáu khâu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284607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84607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7462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Năm tiêu chí:</a:t>
            </a:r>
            <a:r>
              <a:rPr lang="en-US" sz="3200" dirty="0">
                <a:solidFill>
                  <a:schemeClr val="tx1"/>
                </a:solidFill>
              </a:rPr>
              <a:t> mục tiêu; dữ liệu; duy trì; rủi ro; kiểm soát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396621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96621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79476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Hai nguyên tắc:</a:t>
            </a:r>
            <a:r>
              <a:rPr lang="en-US" sz="3200" dirty="0">
                <a:solidFill>
                  <a:schemeClr val="tx1"/>
                </a:solidFill>
              </a:rPr>
              <a:t> hệ trọng thì người quyết định; ngang nhau thì chọn đơn giản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48640" y="508635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50863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4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91490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Nói rõ</a:t>
            </a:r>
            <a:r>
              <a:rPr lang="en-US" sz="3200" dirty="0">
                <a:solidFill>
                  <a:schemeClr val="tx1"/>
                </a:solidFill>
              </a:rPr>
              <a:t> đã chọn gì, loại gì, chấp nhận gì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Phiếu ra cửa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5 phút · Làm cá nhân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394960" y="960120"/>
            <a:ext cx="62179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23560" y="11887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235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09728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Với nhiệm vụ trên phiếu: em chọn phương án nào? Nêu hai lí do theo hai tiêu chí khác nhau.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394960" y="3566160"/>
            <a:ext cx="62179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3794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2356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370332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Phương án em không chọn có điểm nào đáng lo nhất?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0FE57-DD6B-0941-A2BB-28D1A5388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6725C-CB31-6472-2A29-F859C3B9EAD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9224" y="1289265"/>
            <a:ext cx="618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vi-VN" sz="4600" b="1" dirty="0">
                <a:solidFill>
                  <a:schemeClr val="bg1"/>
                </a:solidFill>
              </a:rPr>
              <a:t>Tài liệu tham khảo</a:t>
            </a:r>
            <a:endParaRPr lang="en-US" sz="4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4FC6891-0F0B-8821-EA2F-EDAF20AF9F0E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26948" y="3717036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2400" dirty="0"/>
              <a:t>https://montinhoc.vn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C9A30BE-8829-96CA-B3B0-D88FAE88F21B}"/>
              </a:ext>
            </a:extLst>
          </p:cNvPr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028B981-D9D6-8DA6-85D8-DB014D5F0B3B}"/>
              </a:ext>
            </a:extLst>
          </p:cNvPr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3B1873D-3AEF-FF0E-20B7-19D134D3BF51}"/>
              </a:ext>
            </a:extLst>
          </p:cNvPr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058E345-0FEC-FED7-18D4-81DD99507C2D}"/>
              </a:ext>
            </a:extLst>
          </p:cNvPr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80D36E4-1991-CC37-B0B9-2B2D83E02A20}"/>
              </a:ext>
            </a:extLst>
          </p:cNvPr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76BB1C4-6469-F0A3-DD3E-4EBEF5F6CC38}"/>
              </a:ext>
            </a:extLst>
          </p:cNvPr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80B6E7E-7896-4EC1-4475-2FC646E1027E}"/>
              </a:ext>
            </a:extLst>
          </p:cNvPr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19D253D-1310-99A7-2103-35FF052B86F3}"/>
              </a:ext>
            </a:extLst>
          </p:cNvPr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7093821-7F19-40FA-3D3D-44CFDC1F58DF}"/>
              </a:ext>
            </a:extLst>
          </p:cNvPr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CBDD20-A61B-996B-BDB0-752F18E140AC}"/>
              </a:ext>
            </a:extLst>
          </p:cNvPr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7174946-DDCB-CB27-9AF4-4001176FEF51}"/>
              </a:ext>
            </a:extLst>
          </p:cNvPr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AFC1789-471C-2797-0415-2237AAA365EC}"/>
              </a:ext>
            </a:extLst>
          </p:cNvPr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95D154A-DE09-58FC-1981-2186A2BB8A5F}"/>
              </a:ext>
            </a:extLst>
          </p:cNvPr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C5CF0A1-4524-41B4-80B3-D3831B078A65}"/>
              </a:ext>
            </a:extLst>
          </p:cNvPr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4C287EB0-1B4C-6D0A-A568-624FA2D80A3D}"/>
              </a:ext>
            </a:extLst>
          </p:cNvPr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7472C28-2774-3B7F-EE38-D1FE26D725B5}"/>
              </a:ext>
            </a:extLst>
          </p:cNvPr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29B49FE-2351-7D5A-7739-412432860157}"/>
              </a:ext>
            </a:extLst>
          </p:cNvPr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F800979-2DC3-4E1A-E90A-97154C0F5009}"/>
              </a:ext>
            </a:extLst>
          </p:cNvPr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D6059B07-EE5C-FABC-F332-9DC490CD1D79}"/>
              </a:ext>
            </a:extLst>
          </p:cNvPr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7534B69-69A3-698B-93D3-66A6B0094F65}"/>
              </a:ext>
            </a:extLst>
          </p:cNvPr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48344F8-1507-B882-7C9E-B332C5271B12}"/>
              </a:ext>
            </a:extLst>
          </p:cNvPr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D9300E0-4E52-5232-A0A0-0E7CE89D218D}"/>
              </a:ext>
            </a:extLst>
          </p:cNvPr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57B8293B-E487-0777-ACDD-B84258075045}"/>
              </a:ext>
            </a:extLst>
          </p:cNvPr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CD7407F-32A4-6AD6-0975-BE6C3451FAF0}"/>
              </a:ext>
            </a:extLst>
          </p:cNvPr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B0667B1-079E-6CE7-39D0-356A6E4ECE2C}"/>
              </a:ext>
            </a:extLst>
          </p:cNvPr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B5CDD97-B920-3E27-DDF5-15D94164191C}"/>
              </a:ext>
            </a:extLst>
          </p:cNvPr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2A4D2EE-C00B-307E-06C9-1F7C1DC158DD}"/>
              </a:ext>
            </a:extLst>
          </p:cNvPr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768F21F-1608-C34F-D970-6ECA809A91B2}"/>
              </a:ext>
            </a:extLst>
          </p:cNvPr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8AD95141-1285-BD10-8D1A-FFCAC904CE3D}"/>
              </a:ext>
            </a:extLst>
          </p:cNvPr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DDF7ED9A-5847-6BA1-A757-A970A5CAE67C}"/>
              </a:ext>
            </a:extLst>
          </p:cNvPr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45226941-7C5E-0602-5D41-259AA60FB5B8}"/>
              </a:ext>
            </a:extLst>
          </p:cNvPr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DB7C82DF-0D44-12FC-B608-14F2811EA2AE}"/>
              </a:ext>
            </a:extLst>
          </p:cNvPr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61ECE36-8002-A40B-5D82-6AA53B33E6BC}"/>
              </a:ext>
            </a:extLst>
          </p:cNvPr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D6D1649A-4E60-5FE4-4461-EF6482CE2AEF}"/>
              </a:ext>
            </a:extLst>
          </p:cNvPr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B702F8E-1303-8489-B184-517A57951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394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54469"/>
      </p:ext>
    </p:extLst>
  </p:cSld>
  <p:clrMapOvr>
    <a:masterClrMapping/>
  </p:clrMapOvr>
</p:sld>
</file>

<file path=ppt/theme/theme1.xml><?xml version="1.0" encoding="utf-8"?>
<a:theme xmlns:a="http://schemas.openxmlformats.org/drawingml/2006/main" name="GiaoDucAI">
  <a:themeElements>
    <a:clrScheme name="GiaoDucAI">
      <a:dk1>
        <a:srgbClr val="17313A"/>
      </a:dk1>
      <a:lt1>
        <a:srgbClr val="FFFFFF"/>
      </a:lt1>
      <a:dk2>
        <a:srgbClr val="0F4C5C"/>
      </a:dk2>
      <a:lt2>
        <a:srgbClr val="E8F1F0"/>
      </a:lt2>
      <a:accent1>
        <a:srgbClr val="0F4C5C"/>
      </a:accent1>
      <a:accent2>
        <a:srgbClr val="F2A541"/>
      </a:accent2>
      <a:accent3>
        <a:srgbClr val="5FA8A0"/>
      </a:accent3>
      <a:accent4>
        <a:srgbClr val="C8553D"/>
      </a:accent4>
      <a:accent5>
        <a:srgbClr val="8FB8B3"/>
      </a:accent5>
      <a:accent6>
        <a:srgbClr val="6B7F86"/>
      </a:accent6>
      <a:hlink>
        <a:srgbClr val="0F4C5C"/>
      </a:hlink>
      <a:folHlink>
        <a:srgbClr val="6B7F86"/>
      </a:folHlink>
    </a:clrScheme>
    <a:fontScheme name="GiaoDuc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1389</Words>
  <Application>Microsoft Office PowerPoint</Application>
  <PresentationFormat>Widescreen</PresentationFormat>
  <Paragraphs>180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GiaoDucAI</vt:lpstr>
      <vt:lpstr>Chọn phương án thiết kế và vận hành phù hợp</vt:lpstr>
      <vt:lpstr>Hôm nay chúng ta làm gì?</vt:lpstr>
      <vt:lpstr>Ba cách làm cho cùng một việc</vt:lpstr>
      <vt:lpstr>Một phương án phải trả lời đủ sáu khâu</vt:lpstr>
      <vt:lpstr>Năm tiêu chí so sánh</vt:lpstr>
      <vt:lpstr>Ba phương án của căn tin theo năm tiêu chí</vt:lpstr>
      <vt:lpstr>Hai nguyên tắc lựa chọn</vt:lpstr>
      <vt:lpstr>Áp dụng cho căn tin</vt:lpstr>
      <vt:lpstr>Sự đánh đổi phải được nói ra</vt:lpstr>
      <vt:lpstr>Lựa chọn thiết kế quyết định giúp hay hại</vt:lpstr>
      <vt:lpstr>So sánh và chọn phương án</vt:lpstr>
      <vt:lpstr>Nhiệm vụ nhóm: bảng so sánh phương án</vt:lpstr>
      <vt:lpstr>Soát nhanh trước khi báo cáo</vt:lpstr>
      <vt:lpstr>Quay lại câu hỏi mở đầu</vt:lpstr>
      <vt:lpstr>Ghi nhớ</vt:lpstr>
      <vt:lpstr>Phiếu ra cửa</vt:lpstr>
      <vt:lpstr>Tài liệu tham khảo</vt:lpstr>
    </vt:vector>
  </TitlesOfParts>
  <Company>0939725119</Company>
  <LinksUpToDate>false</LinksUpToDate>
  <SharedDoc>false</SharedDoc>
  <HyperlinksChanged>false</HyperlinksChanged>
  <AppVersion>16.0000</AppVersion>
  <Manager>Phạm Văn Tú</Manager>
  <HyperlinkBase>https://montinhoc.vn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Bài 12.10. Chọn phương án thiết kế và vận hành phù hợp</dc:title>
  <dc:subject>Trí tuệ nhân tạo</dc:subject>
  <cp:lastModifiedBy>Phạm Văn Tú</cp:lastModifiedBy>
  <cp:revision>1</cp:revision>
  <dcterms:created xsi:type="dcterms:W3CDTF">2026-10-08T10:45:42Z</dcterms:created>
  <dcterms:modified xsi:type="dcterms:W3CDTF">2026-10-10T03:46:18Z</dcterms:modified>
  <dc:description>Email: phamtund@gmail.com</dc:description>
  <dc:creator>Phạm Văn Tú</dc:creator>
  <cp:category>Trí tuệ nhân tạo</cp:category>
  <cp:keywords>Trí tuệ nhân tạo</cp:keywords>
</cp:coreProperties>
</file>