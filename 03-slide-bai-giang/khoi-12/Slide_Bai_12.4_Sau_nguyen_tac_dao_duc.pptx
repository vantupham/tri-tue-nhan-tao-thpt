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1619C15D-1ED6-732E-3846-8A623653A043}">
          <p14:sldIdLst>
            <p14:sldId id="256"/>
            <p14:sldId id="257"/>
            <p14:sldId id="258"/>
            <p14:sldId id="259"/>
            <p14:sldId id="260"/>
            <p14:sldId id="261"/>
            <p14:sldId id="262"/>
            <p14:sldId id="263"/>
          </p14:sldIdLst>
        </p14:section>
        <p14:section name="“Soi” một sản phẩm bằng sáu nguyên tắc" id="{3E7CE0A4-A2B8-9DDC-792F-A9BF2E35441C}">
          <p14:sldIdLst>
            <p14:sldId id="264"/>
            <p14:sldId id="265"/>
            <p14:sldId id="266"/>
            <p14:sldId id="267"/>
            <p14:sldId id="268"/>
            <p14:sldId id="269"/>
          </p14:sldIdLst>
        </p14:section>
        <p14:section name="Tổng kết" id="{AD32DB85-6EED-999F-F0DB-84680D0B9FF4}">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242D41-F504-472F-9B85-D7590BFEA659}" v="1" dt="2026-10-10T03:43:01.8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43:01.888" v="3"/>
      <pc:docMkLst>
        <pc:docMk/>
      </pc:docMkLst>
      <pc:sldChg chg="modSp mod">
        <pc:chgData name="Phạm Văn Tú" userId="67199c852bdd6d1b" providerId="LiveId" clId="{CB377567-0116-4044-BB7C-6E46B7A5C596}" dt="2026-10-10T03:42:49.448" v="2" actId="20577"/>
        <pc:sldMkLst>
          <pc:docMk/>
          <pc:sldMk cId="0" sldId="256"/>
        </pc:sldMkLst>
        <pc:spChg chg="mod">
          <ac:chgData name="Phạm Văn Tú" userId="67199c852bdd6d1b" providerId="LiveId" clId="{CB377567-0116-4044-BB7C-6E46B7A5C596}" dt="2026-10-10T03:42:49.448" v="2" actId="20577"/>
          <ac:spMkLst>
            <pc:docMk/>
            <pc:sldMk cId="0" sldId="256"/>
            <ac:spMk id="3" creationId="{00000000-0000-0000-0000-000000000000}"/>
          </ac:spMkLst>
        </pc:spChg>
      </pc:sldChg>
      <pc:sldChg chg="add">
        <pc:chgData name="Phạm Văn Tú" userId="67199c852bdd6d1b" providerId="LiveId" clId="{CB377567-0116-4044-BB7C-6E46B7A5C596}" dt="2026-10-10T03:43:01.888" v="3"/>
        <pc:sldMkLst>
          <pc:docMk/>
          <pc:sldMk cId="3081652297"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0866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tài liệu cho sáu nhóm chuyên gia (mỗi nhóm một nguyên tắc), giấy làm áp phích, Phiếu 'soi' sản phẩm,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Mỗi học sinh chọn một ứng dụng 'tử tế', một ứng dụng 'đáng lo' và nêu lí do; ghi hai cột trên bảng. Các ví dụ trên slide chỉ để gợi ý. Chốt: các lí do của lớp gần trùng với sáu nguyên tắc.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có biết: tháng 11/2021, 193 quốc gia thành viên UNESCO thông qua Khuyến nghị về Đạo đức của AI (không dùng AI để chấm điểm xã hội, giám sát hàng loạt; khuyến khích AI tiết kiệm tài nguyên). OECD có năm nguyên tắc về AI (2019, cập nhật 2024).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(17 phút): nhóm chuyên gia. Mỗi nhóm đọc tài liệu về một nguyên tắc, làm áp phích gồm: câu hỏi cốt lõi; làm đúng trông thế nào; dấu hiệu vi phạm; một ví dụ. Sau đó mỗi nhóm trình bày 1 phút.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khi các nhóm trình bày. Dễ nhầm: minh bạch không nhất thiết là công khai toàn bộ mã nguồn; người dùng cần biết: đang tương tác với AI, nó làm được gì và có giới hạn gì, kết quả dựa trên yếu tố chính nào.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nguyên tắc nối với một bài đã học: riêng tư (11.5), trách nhiệm (12.1, 12.3), công bằng và lợi ích xã hội (11.4).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Gender Shades (Buolamwini và Gebru, 2018). Tin của Reuters năm 2018 về một tập đoàn công nghệ ngừng công cụ AI chấm hồ sơ xin việc. Trong cả hai trường hợp, không ai cố ý phân biệt đối xử.</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Ứng dụng giả định. Gợi ý: công bằng tốt; minh bạch tốt về AI nhưng kém về dữ liệu; riêng tư kém; trách nhiệm kém; lợi ích xã hội lẫn lộn (giúp học thật nhưng thiết kế để giữ chân); an toàn chưa rõ. Chốt: một sản phẩm có thể làm tốt nguyên tắc này và vi phạm nguyên tắc khác.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phút báo cáo. Phiếu soi là minh chứng đánh giá. Dặn giữ bảng sáu nguyên tắc cho Bài 12.12.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có công thức cho mọi trường hợp.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tổ chức công bố nguyên tắc rất đẹp mà sản phẩm không đổi gì. Khi đọc 'AI có trách nhiệm', hỏi lại: bằng chứng đâu?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Và để chọn công cụ: nó có nói rõ là AI không; lấy gì của mình; có ai để hỏi khi có vấn đề; giúp mình giỏi lên hay chỉ giữ mình ở lại.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Dặn dò: phần Vận dụng (lập phiếu sáu nguyên tắc cho ứng dụng em dùng nhiều nhất, giữ cho Bài 12.12).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242502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12.4 · Sáu nguyên tắc đạo đức khi thiết kế AI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Sáu nguyên tắc đạo đức khi thiết kế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12.4 · Chuyên đề 12.2: Đạo đức, rủi ro và trách nhiệm công dân trong xã hội có AI</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12</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sáu nguyên tắc đạo đức khi thiết kế AI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Chỉ ra</a:t>
            </a:r>
            <a:r>
              <a:rPr lang="en-US" sz="2800" dirty="0">
                <a:solidFill>
                  <a:schemeClr val="tx1"/>
                </a:solidFill>
              </a:rPr>
              <a:t> mỗi nguyên tắc đòi hỏi việc gì</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“Soi”</a:t>
            </a:r>
            <a:r>
              <a:rPr lang="en-US" sz="2800" dirty="0">
                <a:solidFill>
                  <a:schemeClr val="tx1"/>
                </a:solidFill>
              </a:rPr>
              <a:t> một sản phẩm AI bằng đủ sáu nguyên tắc</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“Tử tế” và “đáng lo”</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17'</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Mỗi nhóm một nguyên tắc</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18'</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Soi một sản phẩm</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“Tử tế” và “đáng lo”</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Tử tế vì...</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“Nó nói rõ câu trả lời có thể sai.”</a:t>
            </a:r>
            <a:endParaRPr lang="en-US" sz="2400" dirty="0"/>
          </a:p>
          <a:p>
            <a:pPr marL="342900" indent="-342900">
              <a:spcAft>
                <a:spcPts val="1000"/>
              </a:spcAft>
              <a:buSzPct val="100000"/>
              <a:buChar char="•"/>
            </a:pPr>
            <a:r>
              <a:rPr lang="en-US" sz="2400" dirty="0">
                <a:solidFill>
                  <a:schemeClr val="tx1"/>
                </a:solidFill>
              </a:rPr>
              <a:t>“Nó hỏi trước khi dùng ảnh của mình.”</a:t>
            </a:r>
            <a:endParaRPr lang="en-US" sz="2400" dirty="0"/>
          </a:p>
          <a:p>
            <a:pPr marL="342900" indent="-342900">
              <a:spcAft>
                <a:spcPts val="1000"/>
              </a:spcAft>
              <a:buSzPct val="100000"/>
              <a:buChar char="•"/>
            </a:pPr>
            <a:r>
              <a:rPr lang="en-US" sz="2400" dirty="0">
                <a:solidFill>
                  <a:schemeClr val="tx1"/>
                </a:solidFill>
              </a:rPr>
              <a:t>“Bà mình mắt kém vẫn dùng được.”</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Đáng lo vì...</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“Lướt mãi không dứt ra được.”</a:t>
            </a:r>
            <a:endParaRPr lang="en-US" sz="2400" dirty="0"/>
          </a:p>
          <a:p>
            <a:pPr marL="342900" indent="-342900">
              <a:spcAft>
                <a:spcPts val="1000"/>
              </a:spcAft>
              <a:buSzPct val="100000"/>
              <a:buChar char="•"/>
            </a:pPr>
            <a:r>
              <a:rPr lang="en-US" sz="2400" dirty="0">
                <a:solidFill>
                  <a:schemeClr val="bg1"/>
                </a:solidFill>
              </a:rPr>
              <a:t>“Không biết nó lấy dữ liệu làm gì.”</a:t>
            </a:r>
            <a:endParaRPr lang="en-US" sz="2400" dirty="0"/>
          </a:p>
          <a:p>
            <a:pPr marL="342900" indent="-342900">
              <a:spcAft>
                <a:spcPts val="1000"/>
              </a:spcAft>
              <a:buSzPct val="100000"/>
              <a:buChar char="•"/>
            </a:pPr>
            <a:r>
              <a:rPr lang="en-US" sz="2400" dirty="0">
                <a:solidFill>
                  <a:schemeClr val="bg1"/>
                </a:solidFill>
              </a:rPr>
              <a:t>“Hỏi ai chịu trách nhiệm thì không ai nhận.”</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Em thử gom các lí do thành từng nhóm và đặt tên</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Vì sao người thiết kế cần nguyên tắc?</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Không nhìn thấy hết người dùng</a:t>
            </a:r>
            <a:endParaRPr lang="en-US" sz="2600" dirty="0"/>
          </a:p>
          <a:p>
            <a:pPr marL="0" indent="0">
              <a:spcAft>
                <a:spcPts val="800"/>
              </a:spcAft>
              <a:buNone/>
            </a:pPr>
            <a:r>
              <a:rPr lang="en-US" sz="2600" dirty="0">
                <a:solidFill>
                  <a:schemeClr val="tx1"/>
                </a:solidFill>
              </a:rPr>
              <a:t>Nguyên tắc buộc hỏi câu mình không tự nghĩ ra.</a:t>
            </a:r>
            <a:endParaRPr lang="en-US" sz="26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Có áp lực kéo lệch</a:t>
            </a:r>
            <a:endParaRPr lang="en-US" sz="2600" dirty="0"/>
          </a:p>
          <a:p>
            <a:pPr marL="0" indent="0">
              <a:spcAft>
                <a:spcPts val="800"/>
              </a:spcAft>
              <a:buNone/>
            </a:pPr>
            <a:r>
              <a:rPr lang="en-US" sz="2600" dirty="0">
                <a:solidFill>
                  <a:schemeClr val="tx1"/>
                </a:solidFill>
              </a:rPr>
              <a:t>Ra mắt cho kịp, giữ chân người dùng, thu thêm dữ liệu.</a:t>
            </a:r>
            <a:endParaRPr lang="en-US" sz="26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Pháp luật đi sau công nghệ</a:t>
            </a:r>
            <a:endParaRPr lang="en-US" sz="2600" dirty="0"/>
          </a:p>
          <a:p>
            <a:pPr marL="0" indent="0">
              <a:spcAft>
                <a:spcPts val="800"/>
              </a:spcAft>
              <a:buNone/>
            </a:pPr>
            <a:r>
              <a:rPr lang="en-US" sz="2600" dirty="0">
                <a:solidFill>
                  <a:schemeClr val="tx1"/>
                </a:solidFill>
              </a:rPr>
              <a:t>Nguyên tắc dẫn đường trong lúc chờ quy định.</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Sáu nguyên tắc, con người ở giữa</a:t>
            </a:r>
            <a:endParaRPr lang="en-US" sz="3800" dirty="0"/>
          </a:p>
        </p:txBody>
      </p:sp>
      <p:pic>
        <p:nvPicPr>
          <p:cNvPr id="4" name="Image 0" descr="Sáu nguyên tắc, con người ở giữa"/>
          <p:cNvPicPr>
            <a:picLocks noChangeAspect="1"/>
          </p:cNvPicPr>
          <p:nvPr/>
        </p:nvPicPr>
        <p:blipFill>
          <a:blip r:embed="rId3"/>
          <a:stretch>
            <a:fillRect/>
          </a:stretch>
        </p:blipFill>
        <p:spPr>
          <a:xfrm>
            <a:off x="2614690" y="1463040"/>
            <a:ext cx="6932141"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An toàn, công bằng, minh bạch</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An toàn</a:t>
            </a:r>
            <a:endParaRPr lang="en-US" sz="2400" dirty="0"/>
          </a:p>
          <a:p>
            <a:pPr marL="0" indent="0">
              <a:spcAft>
                <a:spcPts val="800"/>
              </a:spcAft>
              <a:buNone/>
            </a:pPr>
            <a:r>
              <a:rPr lang="en-US" sz="2400" dirty="0">
                <a:solidFill>
                  <a:schemeClr val="tx1"/>
                </a:solidFill>
              </a:rPr>
              <a:t>Có thể gây hại cho ai không?</a:t>
            </a:r>
            <a:endParaRPr lang="en-US" sz="2400" dirty="0"/>
          </a:p>
          <a:p>
            <a:pPr marL="0" indent="0">
              <a:buNone/>
            </a:pPr>
            <a:r>
              <a:rPr lang="en-US" sz="2400" b="1" dirty="0">
                <a:solidFill>
                  <a:schemeClr val="accent4"/>
                </a:solidFill>
              </a:rPr>
              <a:t>Thử kĩ; có cách dừng.</a:t>
            </a:r>
            <a:endParaRPr lang="en-US" sz="24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Công bằng</a:t>
            </a:r>
            <a:endParaRPr lang="en-US" sz="2400" dirty="0"/>
          </a:p>
          <a:p>
            <a:pPr marL="0" indent="0">
              <a:spcAft>
                <a:spcPts val="800"/>
              </a:spcAft>
              <a:buNone/>
            </a:pPr>
            <a:r>
              <a:rPr lang="en-US" sz="2400" dirty="0">
                <a:solidFill>
                  <a:schemeClr val="tx1"/>
                </a:solidFill>
              </a:rPr>
              <a:t>Mọi nhóm có được phục vụ tốt như nhau?</a:t>
            </a:r>
            <a:endParaRPr lang="en-US" sz="2400" dirty="0"/>
          </a:p>
          <a:p>
            <a:pPr marL="0" indent="0">
              <a:buNone/>
            </a:pPr>
            <a:r>
              <a:rPr lang="en-US" sz="2400" b="1" dirty="0">
                <a:solidFill>
                  <a:schemeClr val="accent4"/>
                </a:solidFill>
              </a:rPr>
              <a:t>Đo riêng từng nhóm.</a:t>
            </a:r>
            <a:endParaRPr lang="en-US" sz="24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Minh bạch</a:t>
            </a:r>
            <a:endParaRPr lang="en-US" sz="2400" dirty="0"/>
          </a:p>
          <a:p>
            <a:pPr marL="0" indent="0">
              <a:spcAft>
                <a:spcPts val="800"/>
              </a:spcAft>
              <a:buNone/>
            </a:pPr>
            <a:r>
              <a:rPr lang="en-US" sz="2400" dirty="0">
                <a:solidFill>
                  <a:schemeClr val="tx1"/>
                </a:solidFill>
              </a:rPr>
              <a:t>Người dùng có biết đang gặp AI?</a:t>
            </a:r>
            <a:endParaRPr lang="en-US" sz="2400" dirty="0"/>
          </a:p>
          <a:p>
            <a:pPr marL="0" indent="0">
              <a:buNone/>
            </a:pPr>
            <a:r>
              <a:rPr lang="en-US" sz="2400" b="1" dirty="0">
                <a:solidFill>
                  <a:schemeClr val="accent4"/>
                </a:solidFill>
              </a:rPr>
              <a:t>Nói rõ giới hạn.</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Riêng tư, trách nhiệm, lợi ích xã hội</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Riêng tư</a:t>
            </a:r>
            <a:endParaRPr lang="en-US" sz="2400" dirty="0"/>
          </a:p>
          <a:p>
            <a:pPr marL="0" indent="0">
              <a:spcAft>
                <a:spcPts val="800"/>
              </a:spcAft>
              <a:buNone/>
            </a:pPr>
            <a:r>
              <a:rPr lang="en-US" sz="2400" dirty="0">
                <a:solidFill>
                  <a:schemeClr val="tx1"/>
                </a:solidFill>
              </a:rPr>
              <a:t>Dữ liệu có được tôn trọng không?</a:t>
            </a:r>
            <a:endParaRPr lang="en-US" sz="2400" dirty="0"/>
          </a:p>
          <a:p>
            <a:pPr marL="0" indent="0">
              <a:buNone/>
            </a:pPr>
            <a:r>
              <a:rPr lang="en-US" sz="2400" b="1" dirty="0">
                <a:solidFill>
                  <a:schemeClr val="accent4"/>
                </a:solidFill>
              </a:rPr>
              <a:t>Thu vừa đủ; cho xóa.</a:t>
            </a:r>
            <a:endParaRPr lang="en-US" sz="24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5</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Trách nhiệm</a:t>
            </a:r>
            <a:endParaRPr lang="en-US" sz="2400" dirty="0"/>
          </a:p>
          <a:p>
            <a:pPr marL="0" indent="0">
              <a:spcAft>
                <a:spcPts val="800"/>
              </a:spcAft>
              <a:buNone/>
            </a:pPr>
            <a:r>
              <a:rPr lang="en-US" sz="2400" dirty="0">
                <a:solidFill>
                  <a:schemeClr val="tx1"/>
                </a:solidFill>
              </a:rPr>
              <a:t>Khi có vấn đề, ai trả lời?</a:t>
            </a:r>
            <a:endParaRPr lang="en-US" sz="2400" dirty="0"/>
          </a:p>
          <a:p>
            <a:pPr marL="0" indent="0">
              <a:buNone/>
            </a:pPr>
            <a:r>
              <a:rPr lang="en-US" sz="2400" b="1" dirty="0">
                <a:solidFill>
                  <a:schemeClr val="accent4"/>
                </a:solidFill>
              </a:rPr>
              <a:t>Có người đứng tên.</a:t>
            </a:r>
            <a:endParaRPr lang="en-US" sz="24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6</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Lợi ích xã hội</a:t>
            </a:r>
            <a:endParaRPr lang="en-US" sz="2400" dirty="0"/>
          </a:p>
          <a:p>
            <a:pPr marL="0" indent="0">
              <a:spcAft>
                <a:spcPts val="800"/>
              </a:spcAft>
              <a:buNone/>
            </a:pPr>
            <a:r>
              <a:rPr lang="en-US" sz="2400" dirty="0">
                <a:solidFill>
                  <a:schemeClr val="tx1"/>
                </a:solidFill>
              </a:rPr>
              <a:t>Có làm cuộc sống tốt hơn về lâu dài?</a:t>
            </a:r>
            <a:endParaRPr lang="en-US" sz="2400" dirty="0"/>
          </a:p>
          <a:p>
            <a:pPr marL="0" indent="0">
              <a:buNone/>
            </a:pPr>
            <a:r>
              <a:rPr lang="en-US" sz="2400" b="1" dirty="0">
                <a:solidFill>
                  <a:schemeClr val="accent4"/>
                </a:solidFill>
              </a:rPr>
              <a:t>Không gây nghiện.</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thiếu công bằng đi vào qua dữ liệu</a:t>
            </a:r>
            <a:endParaRPr lang="en-US" sz="3800" dirty="0"/>
          </a:p>
        </p:txBody>
      </p:sp>
      <p:sp>
        <p:nvSpPr>
          <p:cNvPr id="4" name="Shape 1"/>
          <p:cNvSpPr/>
          <p:nvPr/>
        </p:nvSpPr>
        <p:spPr>
          <a:xfrm>
            <a:off x="548640" y="1554480"/>
            <a:ext cx="5394960" cy="352044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0,8% và 34,7%</a:t>
            </a:r>
            <a:endParaRPr lang="en-US" sz="2400" dirty="0"/>
          </a:p>
          <a:p>
            <a:pPr marL="0" indent="0">
              <a:spcAft>
                <a:spcPts val="800"/>
              </a:spcAft>
              <a:buNone/>
            </a:pPr>
            <a:r>
              <a:rPr lang="en-US" sz="2400" dirty="0">
                <a:solidFill>
                  <a:schemeClr val="tx1"/>
                </a:solidFill>
              </a:rPr>
              <a:t>Tỉ lệ sai khi đoán giới tính qua ảnh: nam giới da sáng và phụ nữ da sẫm màu.</a:t>
            </a:r>
            <a:endParaRPr lang="en-US" sz="2400" dirty="0"/>
          </a:p>
        </p:txBody>
      </p:sp>
      <p:sp>
        <p:nvSpPr>
          <p:cNvPr id="6" name="Shape 3"/>
          <p:cNvSpPr/>
          <p:nvPr/>
        </p:nvSpPr>
        <p:spPr>
          <a:xfrm>
            <a:off x="6217920" y="1554480"/>
            <a:ext cx="5394960" cy="3520440"/>
          </a:xfrm>
          <a:prstGeom prst="roundRect">
            <a:avLst>
              <a:gd name="adj" fmla="val 3117"/>
            </a:avLst>
          </a:prstGeom>
          <a:solidFill>
            <a:schemeClr val="tx2"/>
          </a:solidFill>
          <a:ln w="12700">
            <a:solidFill>
              <a:schemeClr val="tx2"/>
            </a:solidFill>
            <a:prstDash val="solid"/>
          </a:ln>
        </p:spPr>
        <p:txBody>
          <a:bodyPr/>
          <a:lstStyle/>
          <a:p>
            <a:endParaRPr lang="en-US"/>
          </a:p>
        </p:txBody>
      </p:sp>
      <p:sp>
        <p:nvSpPr>
          <p:cNvPr id="7" name="Text 4"/>
          <p:cNvSpPr txBox="1"/>
          <p:nvPr/>
        </p:nvSpPr>
        <p:spPr>
          <a:xfrm>
            <a:off x="6492240" y="178308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Công cụ chấm hồ sơ</a:t>
            </a:r>
            <a:endParaRPr lang="en-US" sz="2400" dirty="0"/>
          </a:p>
          <a:p>
            <a:pPr marL="0" indent="0">
              <a:spcAft>
                <a:spcPts val="800"/>
              </a:spcAft>
              <a:buNone/>
            </a:pPr>
            <a:r>
              <a:rPr lang="en-US" sz="2400" dirty="0">
                <a:solidFill>
                  <a:schemeClr val="bg1"/>
                </a:solidFill>
              </a:rPr>
              <a:t>Học từ hồ sơ mười năm, phần lớn của nam giới; đánh giá thấp hồ sơ của phụ nữ.</a:t>
            </a:r>
            <a:endParaRPr lang="en-US" sz="2400" dirty="0"/>
          </a:p>
        </p:txBody>
      </p:sp>
      <p:sp>
        <p:nvSpPr>
          <p:cNvPr id="8" name="Shape 5"/>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9" name="Text 6"/>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Chỉ lộ ra khi có người đo riêng từng nhóm</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“Soi” một sản phẩm bằng sáu nguyên tắc</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18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Soi mẫu: ứng dụng gia sư “Bạn Học”</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400" dirty="0">
                <a:solidFill>
                  <a:schemeClr val="tx1"/>
                </a:solidFill>
              </a:rPr>
              <a:t>Giải thích bài dễ hiểu, có giọng nói ba miền, có dòng “Tôi là AI, có thể sai”. Miễn phí.</a:t>
            </a:r>
            <a:endParaRPr lang="en-US" sz="2400" dirty="0"/>
          </a:p>
          <a:p>
            <a:pPr marL="0" indent="0">
              <a:buNone/>
            </a:pPr>
            <a:endParaRPr lang="en-US" sz="2400" dirty="0"/>
          </a:p>
          <a:p>
            <a:pPr marL="0" indent="0">
              <a:buNone/>
            </a:pPr>
            <a:r>
              <a:rPr lang="en-US" sz="2400" dirty="0">
                <a:solidFill>
                  <a:schemeClr val="tx1"/>
                </a:solidFill>
              </a:rPr>
              <a:t>Đổi lại: thu lịch sử trò chuyện để bán quảng cáo; gửi “Bạn Học nhớ bạn!” năm lần mỗi ngày; thưởng huy hiệu cho ai dùng trên ba giờ. Không có mục liên hệ.</a:t>
            </a:r>
            <a:endParaRPr lang="en-US" sz="24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Nguyên tắc nào làm tốt? Nguyên tắc nào bị vi phạm?</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soát đủ cả sáu</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Soi sản phẩm trên phiếu của nhóm</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Mỗi nguyên tắc: tốt, chưa rõ, hay kém? Nêu căn cứ</a:t>
            </a:r>
            <a:endParaRPr lang="en-US" sz="2800" dirty="0"/>
          </a:p>
          <a:p>
            <a:pPr marL="342900" indent="-342900">
              <a:spcAft>
                <a:spcPts val="1200"/>
              </a:spcAft>
              <a:buSzPct val="100000"/>
              <a:buFont typeface="+mj-lt"/>
              <a:buAutoNum type="arabicPeriod"/>
            </a:pPr>
            <a:r>
              <a:rPr lang="en-US" sz="2800" dirty="0">
                <a:solidFill>
                  <a:schemeClr val="tx1"/>
                </a:solidFill>
              </a:rPr>
              <a:t>Chọn nguyên tắc kém nhất</a:t>
            </a:r>
            <a:endParaRPr lang="en-US" sz="2800" dirty="0"/>
          </a:p>
          <a:p>
            <a:pPr marL="342900" indent="-342900">
              <a:spcAft>
                <a:spcPts val="1200"/>
              </a:spcAft>
              <a:buSzPct val="100000"/>
              <a:buFont typeface="+mj-lt"/>
              <a:buAutoNum type="arabicPeriod"/>
            </a:pPr>
            <a:r>
              <a:rPr lang="en-US" sz="2800" dirty="0">
                <a:solidFill>
                  <a:schemeClr val="tx1"/>
                </a:solidFill>
              </a:rPr>
              <a:t>Đề xuất một thay đổi thiết kế</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Lưu ý</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“Chưa rõ” cũng là một đánh giá: không tìm được thông tin là một dữ kiện về minh bạch.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Khi các nguyên tắc giằng co</a:t>
            </a:r>
            <a:endParaRPr lang="en-US" sz="3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84048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tblGrid>
              <a:tr h="868680">
                <a:tc>
                  <a:txBody>
                    <a:bodyPr/>
                    <a:lstStyle/>
                    <a:p>
                      <a:pPr marL="0" indent="0" algn="ctr">
                        <a:buNone/>
                      </a:pPr>
                      <a:r>
                        <a:rPr lang="en-US" sz="2200" b="1" dirty="0">
                          <a:solidFill>
                            <a:schemeClr val="bg1"/>
                          </a:solidFill>
                        </a:rPr>
                        <a:t>Giằng co</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Ví dụ</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200" b="1" dirty="0">
                          <a:solidFill>
                            <a:schemeClr val="tx1"/>
                          </a:solidFill>
                        </a:rPr>
                        <a:t>Công bằng và riêng tư</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Muốn kiểm tra công bằng theo vùng miền thì phải biết người dùng ở vùng nào</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lgn="l">
                        <a:buNone/>
                      </a:pPr>
                      <a:r>
                        <a:rPr lang="en-US" sz="2200" b="1" dirty="0">
                          <a:solidFill>
                            <a:schemeClr val="tx1"/>
                          </a:solidFill>
                        </a:rPr>
                        <a:t>An toàn và riêng tư</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Muốn phát hiện học sinh gặp nguy hiểm thì phải có ai đọc cuộc trò chuyện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lgn="l">
                        <a:buNone/>
                      </a:pPr>
                      <a:r>
                        <a:rPr lang="en-US" sz="2200" b="1" dirty="0">
                          <a:solidFill>
                            <a:schemeClr val="tx1"/>
                          </a:solidFill>
                        </a:rPr>
                        <a:t>Minh bạch và an toàn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Công bố cách bộ lọc lừa đảo hoạt động cũng giúp kẻ gian lách</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Người thiết kế có trách nhiệm làm ba việc</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Gọi tên</a:t>
            </a:r>
            <a:r>
              <a:rPr lang="en-US" sz="3200" dirty="0">
                <a:solidFill>
                  <a:schemeClr val="tx1"/>
                </a:solidFill>
              </a:rPr>
              <a:t> sự giằng co, không giả vờ nó không có</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6949440" cy="1402080"/>
          </a:xfrm>
          <a:prstGeom prst="rect">
            <a:avLst/>
          </a:prstGeom>
          <a:noFill/>
          <a:ln/>
        </p:spPr>
        <p:txBody>
          <a:bodyPr wrap="square" lIns="0" tIns="0" rIns="0" bIns="0" rtlCol="0" anchor="ctr"/>
          <a:lstStyle/>
          <a:p>
            <a:pPr marL="0" indent="0">
              <a:buNone/>
            </a:pPr>
            <a:r>
              <a:rPr lang="en-US" sz="3200" dirty="0">
                <a:solidFill>
                  <a:schemeClr val="tx1"/>
                </a:solidFill>
              </a:rPr>
              <a:t>Tìm </a:t>
            </a:r>
            <a:r>
              <a:rPr lang="en-US" sz="3200" b="1" dirty="0">
                <a:solidFill>
                  <a:schemeClr val="tx2"/>
                </a:solidFill>
              </a:rPr>
              <a:t>phương án thứ ba</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Hỏi người bị ảnh hưởng</a:t>
            </a:r>
            <a:r>
              <a:rPr lang="en-US" sz="3200" dirty="0">
                <a:solidFill>
                  <a:schemeClr val="tx1"/>
                </a:solidFill>
              </a:rPr>
              <a:t> và nói rõ đã chọn gì</a:t>
            </a:r>
            <a:endParaRPr lang="en-US" sz="3200" dirty="0"/>
          </a:p>
        </p:txBody>
      </p:sp>
      <p:sp>
        <p:nvSpPr>
          <p:cNvPr id="13" name="Shape 10"/>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4" name="Text 11"/>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Lời cam kết đạo đức cần bằng chứng.</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Còn em, người dùng?</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400" dirty="0">
                <a:solidFill>
                  <a:schemeClr val="tx1"/>
                </a:solidFill>
              </a:rPr>
              <a:t>Khi em dùng AI tạo một tấm ảnh, một video, một bài viết, em cũng là “người thiết kế” của sản phẩm ấy.</a:t>
            </a:r>
            <a:endParaRPr lang="en-US" sz="2400" dirty="0"/>
          </a:p>
          <a:p>
            <a:pPr marL="0" indent="0">
              <a:buNone/>
            </a:pPr>
            <a:endParaRPr lang="en-US" sz="2400" dirty="0"/>
          </a:p>
          <a:p>
            <a:pPr marL="0" indent="0">
              <a:buNone/>
            </a:pPr>
            <a:r>
              <a:rPr lang="en-US" sz="2400" dirty="0">
                <a:solidFill>
                  <a:schemeClr val="tx1"/>
                </a:solidFill>
              </a:rPr>
              <a:t>Nó có an toàn cho người xem? Có công bằng với người được nhắc đến? Em có nói rõ phần do AI tạo? Có dùng hình ảnh của ai mà chưa hỏi?</a:t>
            </a:r>
            <a:endParaRPr lang="en-US" sz="24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Sáu nguyên tắc cũng dùng để soi chính mình</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An toàn, công bằng, minh bạch</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Riêng tư, trách nhiệm, lợi ích xã hội</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Phải </a:t>
            </a:r>
            <a:r>
              <a:rPr lang="en-US" sz="3200" b="1" dirty="0">
                <a:solidFill>
                  <a:schemeClr val="tx2"/>
                </a:solidFill>
              </a:rPr>
              <a:t>soát đủ cả sáu</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Khi giằng co: </a:t>
            </a:r>
            <a:r>
              <a:rPr lang="en-US" sz="3200" b="1" dirty="0">
                <a:solidFill>
                  <a:schemeClr val="tx2"/>
                </a:solidFill>
              </a:rPr>
              <a:t>gọi tên, tìm phương án thứ ba, nói rõ lựa chọn</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Ghi tên nguyên tắc tương ứng với mỗi mô tả trên phiếu.</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Chọn một nguyên tắc em cho là khó thực hiện nhất với người thiết kế. Vì sao?</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AB702F8E-1303-8489-B184-517A579519C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3081652297"/>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1537</Words>
  <Application>Microsoft Office PowerPoint</Application>
  <PresentationFormat>Widescreen</PresentationFormat>
  <Paragraphs>175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Sáu nguyên tắc đạo đức khi thiết kế AI</vt:lpstr>
      <vt:lpstr>Hôm nay chúng ta làm gì?</vt:lpstr>
      <vt:lpstr>“Tử tế” và “đáng lo”</vt:lpstr>
      <vt:lpstr>Vì sao người thiết kế cần nguyên tắc?</vt:lpstr>
      <vt:lpstr>Sáu nguyên tắc, con người ở giữa</vt:lpstr>
      <vt:lpstr>An toàn, công bằng, minh bạch</vt:lpstr>
      <vt:lpstr>Riêng tư, trách nhiệm, lợi ích xã hội</vt:lpstr>
      <vt:lpstr>Chuyện có thật: thiếu công bằng đi vào qua dữ liệu</vt:lpstr>
      <vt:lpstr>“Soi” một sản phẩm bằng sáu nguyên tắc</vt:lpstr>
      <vt:lpstr>Soi mẫu: ứng dụng gia sư “Bạn Học”</vt:lpstr>
      <vt:lpstr>Nhiệm vụ nhóm: soát đủ cả sáu</vt:lpstr>
      <vt:lpstr>Khi các nguyên tắc giằng co</vt:lpstr>
      <vt:lpstr>Người thiết kế có trách nhiệm làm ba việc</vt:lpstr>
      <vt:lpstr>Còn em, người dùng?</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12.4. Sáu nguyên tắc đạo đức khi thiết kế AI</dc:title>
  <dc:subject>Trí tuệ nhân tạo</dc:subject>
  <cp:lastModifiedBy>Phạm Văn Tú</cp:lastModifiedBy>
  <cp:revision>1</cp:revision>
  <dcterms:created xsi:type="dcterms:W3CDTF">2026-10-08T10:45:42Z</dcterms:created>
  <dcterms:modified xsi:type="dcterms:W3CDTF">2026-10-10T03:43:04Z</dcterms:modified>
  <dc:description>Email: phamtund@gmail.com</dc:description>
  <dc:creator>Phạm Văn Tú</dc:creator>
  <cp:category>Trí tuệ nhân tạo</cp:category>
  <cp:keywords>Trí tuệ nhân tạo</cp:keywords>
</cp:coreProperties>
</file>