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7A58EF4-5CE4-7DE3-047F-DB4BFACD79B9}">
          <p14:sldIdLst>
            <p14:sldId id="256"/>
            <p14:sldId id="257"/>
            <p14:sldId id="258"/>
            <p14:sldId id="259"/>
            <p14:sldId id="260"/>
            <p14:sldId id="261"/>
            <p14:sldId id="262"/>
            <p14:sldId id="263"/>
            <p14:sldId id="264"/>
            <p14:sldId id="265"/>
            <p14:sldId id="266"/>
          </p14:sldIdLst>
        </p14:section>
        <p14:section name="Ghép công cụ với nhu cầu" id="{86B737E9-9FCD-CA36-3BFD-11BAEED22518}">
          <p14:sldIdLst>
            <p14:sldId id="267"/>
            <p14:sldId id="268"/>
            <p14:sldId id="269"/>
          </p14:sldIdLst>
        </p14:section>
        <p14:section name="Tổng kết" id="{6A2B429F-B91D-AAF1-7B51-728C255C2F7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9AE48E-8FF7-4990-A520-3E255229B8D3}" v="1" dt="2026-10-10T03:45:13.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5:13.146" v="3"/>
      <pc:docMkLst>
        <pc:docMk/>
      </pc:docMkLst>
      <pc:sldChg chg="modSp mod">
        <pc:chgData name="Phạm Văn Tú" userId="67199c852bdd6d1b" providerId="LiveId" clId="{CB377567-0116-4044-BB7C-6E46B7A5C596}" dt="2026-10-10T03:44:54.322" v="2" actId="20577"/>
        <pc:sldMkLst>
          <pc:docMk/>
          <pc:sldMk cId="0" sldId="256"/>
        </pc:sldMkLst>
        <pc:spChg chg="mod">
          <ac:chgData name="Phạm Văn Tú" userId="67199c852bdd6d1b" providerId="LiveId" clId="{CB377567-0116-4044-BB7C-6E46B7A5C596}" dt="2026-10-10T03:44:54.322" v="2" actId="20577"/>
          <ac:spMkLst>
            <pc:docMk/>
            <pc:sldMk cId="0" sldId="256"/>
            <ac:spMk id="3" creationId="{00000000-0000-0000-0000-000000000000}"/>
          </ac:spMkLst>
        </pc:spChg>
      </pc:sldChg>
      <pc:sldChg chg="add">
        <pc:chgData name="Phạm Văn Tú" userId="67199c852bdd6d1b" providerId="LiveId" clId="{CB377567-0116-4044-BB7C-6E46B7A5C596}" dt="2026-10-10T03:45:13.146" v="3"/>
        <pc:sldMkLst>
          <pc:docMk/>
          <pc:sldMk cId="208858656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331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máy tính có webcam, máy chiếu, Internet; công cụ huấn luyện mô hình phân loại ảnh chạy trên trình duyệt đã mở sẵn và thử trước; một cây bút, một cục tẩy, một chiếc thước; bảng công cụ; Phiếu ra cửa. Kiểm tra điều kiện sử dụng và độ tuổi hiện hành của công cụ trước khi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này yêu cầu học sinh NÊU ĐƯỢC công cụ và mục đích; thực hành đầy đủ có ở Câu lạc bộ 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(4 phút). Ghi dự đoán của lớp. Sau đó: chúng ta sẽ thử ngay.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(18 phút), phần trình diễn: giáo viên làm trực tiếp trên máy chiếu. Bước 1 tạo hai nhóm 'bút', 'tẩy'; bước 2 giơ từng vật trước webcam, chụp vài chục ảnh; bước 3 bấm huấn luyện; bước 4 thử với cây bút khác màu. Học sinh ghi chép quan sát. Bốn bước này chính là PHÂN LỚP ở Bài 11.11.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ngay trên máy. Mô hình không có lựa chọn 'tôi không biết' trừ khi tạo thêm một nhóm. Dễ nhầm: 'bấm nút huấn luyện xong là có mô hình tốt'; chất lượng quyết định ở bước 2 (ví dụ đủ đa dạng) và phát hiện ở bước 4 (thử đủ kĩ).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nhớ hết; cần biết công cụ xếp thành các tầng và mỗi tầng dùng để làm gì. Teachable Machine: công cụ miễn phí chạy trên trình duyệt của Google Creative Lab (2019), huấn luyện mô hình nhận biết hình ảnh, âm thanh, tư thế. Bốn công cụ đầu là ví dụ nêu trong Khung của Bộ; scikit-learn thêm vì gần với Python trong môn Tin học. Công cụ thay đổi nhanh: kiểm tra tình trạng hiện hành.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Phù hợp với mục đích và kĩ năng hiện có.</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Mã nguồn mở luôn đi kèm giấy phép; có giấy phép yêu cầu ghi tên tác giả. Liên hệ nguyên tắc minh bạch (Bài 12.4). 'Mở' có nhiều tầng: mã nguồn, mô hình đã huấn luyện, dữ liệu.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thứ ba đặc biệt quan trọng khi ví dụ huấn luyện là khuôn mặt, giọng nói của bạn trong lớp: đó là dữ liệu cá nhân (Bài 11.5).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RỘNG, không bắt buộc. Học sinh KHÔNG cần biết lập trình: đọc theo số dòng. Chương trình Python dùng thư viện mã nguồn mở scikit-learn, dạy máy nhận dạng chữ số viết tay (bài toán mở đầu của Bài 11.10). Dòng 2 đến 4: gọi ba thành phần của thư viện. Dòng 7, 8: lấy 1.797 ảnh và nhãn đúng (bước 1 và 2). Dòng 11, 12: chia 75% để học, 25% để thử.</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Dòng 15: chọn thuật toán 'láng giềng gần nhất' (tìm 3 ảnh đã học giống nhất). Dòng 16, lệnh fit: cho máy học từ 1.347 ảnh (bước 3). Dòng 19, lệnh predict: đoán 450 ảnh máy chưa từng thấy (bước 4). Cả chương trình chỉ có HAI dòng 'làm AI': 16 và 19; phần còn lại là chuẩn bị dữ liệu và kiểm tra. Lưu ý: 99,1% đo trên ảnh cùng loại với ảnh đã học; chữ viết tay chụp bằng điện thoại có thể kém hơn nhiều. Đã chạy với scikit-learn 1.9.1.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phút chữa; gợi ý đáp án theo phụ lục kế hoạch bài dạy. Bảng công cụ là minh chứng đánh giá (12.C3.1).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nhận biết đồ vật để phân loại rác khác hẳn mô hình 'nhận biết bạn nào không chú ý trong lớp': việc thứ hai là gắn nhãn con người, rủi ro cao (Bài 12.5).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(thử huấn luyện một mô hình phân loại ba đồ vật nếu có điều kiện).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59471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12.8 · Công cụ mã nguồn mở, miễn phí để phát triển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Công cụ mã nguồn mở, miễn phí để phát triển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12.8 · Chuyên đề 12.3: Công cụ phát triển và đánh giá hiệu quả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Kể lại</a:t>
            </a:r>
            <a:r>
              <a:rPr lang="en-US" sz="2800" dirty="0">
                <a:solidFill>
                  <a:schemeClr val="tx1"/>
                </a:solidFill>
              </a:rPr>
              <a:t> bốn bước huấn luyện một mô hình phân loại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tên và mục đích của một số công cụ</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mã nguồn mở với miễn phí</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4'</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phút dạy máy?</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Trình diễn, các công cụ</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Ghép công cụ với nhu cầu</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Dạy máy nhận ra cây bút trong ba phút?</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Thầy giơ lên một cây bút và một cục tẩy.</a:t>
            </a:r>
            <a:endParaRPr lang="en-US" sz="2800" dirty="0"/>
          </a:p>
          <a:p>
            <a:pPr marL="0" indent="0">
              <a:buNone/>
            </a:pPr>
            <a:endParaRPr lang="en-US" sz="2800" dirty="0"/>
          </a:p>
          <a:p>
            <a:pPr marL="0" indent="0">
              <a:buNone/>
            </a:pPr>
            <a:r>
              <a:rPr lang="en-US" sz="2800" dirty="0">
                <a:solidFill>
                  <a:schemeClr val="tx1"/>
                </a:solidFill>
              </a:rPr>
              <a:t>Có thể dạy cho máy tính phân biệt hai thứ này qua webcam, ngay trong giờ học, mà không viết một dòng lệnh nào không?</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Em đoán mất bao lâu?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bước huấn luyện một mô hình phân loại</a:t>
            </a:r>
            <a:endParaRPr lang="en-US" sz="3800" dirty="0"/>
          </a:p>
        </p:txBody>
      </p:sp>
      <p:pic>
        <p:nvPicPr>
          <p:cNvPr id="4" name="Image 0" descr="Bốn bước huấn luyện một mô hình phân loại"/>
          <p:cNvPicPr>
            <a:picLocks noChangeAspect="1"/>
          </p:cNvPicPr>
          <p:nvPr/>
        </p:nvPicPr>
        <p:blipFill>
          <a:blip r:embed="rId3"/>
          <a:stretch>
            <a:fillRect/>
          </a:stretch>
        </p:blipFill>
        <p:spPr>
          <a:xfrm>
            <a:off x="548640" y="2099433"/>
            <a:ext cx="11064240" cy="3390654"/>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thêm ở bước 4: hai điều đáng nghĩ</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Giơ một chiếc thước</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Máy vẫn trả lời “bút” hoặc “tẩy”</a:t>
            </a:r>
            <a:endParaRPr lang="en-US" sz="2800" dirty="0"/>
          </a:p>
          <a:p>
            <a:pPr marL="342900" indent="-342900">
              <a:spcAft>
                <a:spcPts val="1000"/>
              </a:spcAft>
              <a:buSzPct val="100000"/>
              <a:buChar char="•"/>
            </a:pPr>
            <a:r>
              <a:rPr lang="en-US" sz="2800" dirty="0">
                <a:solidFill>
                  <a:schemeClr val="tx1"/>
                </a:solidFill>
              </a:rPr>
              <a:t>Có khi rất chắc chắn</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Đổi phông nền phía sau</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Kết quả có thể đổi theo</a:t>
            </a:r>
            <a:endParaRPr lang="en-US" sz="2800" dirty="0"/>
          </a:p>
          <a:p>
            <a:pPr marL="342900" indent="-342900">
              <a:spcAft>
                <a:spcPts val="1000"/>
              </a:spcAft>
              <a:buSzPct val="100000"/>
              <a:buChar char="•"/>
            </a:pPr>
            <a:r>
              <a:rPr lang="en-US" sz="2800" dirty="0">
                <a:solidFill>
                  <a:schemeClr val="bg1"/>
                </a:solidFill>
              </a:rPr>
              <a:t>Máy có thể đã học nhầm phông nền</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Mô hình chỉ biết các nhãn đã học</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Các tầng công cụ</a:t>
            </a:r>
            <a:endParaRPr lang="en-US" sz="3800" dirty="0"/>
          </a:p>
        </p:txBody>
      </p:sp>
      <p:pic>
        <p:nvPicPr>
          <p:cNvPr id="4" name="Image 0" descr="Các tầng công cụ"/>
          <p:cNvPicPr>
            <a:picLocks noChangeAspect="1"/>
          </p:cNvPicPr>
          <p:nvPr/>
        </p:nvPicPr>
        <p:blipFill>
          <a:blip r:embed="rId3"/>
          <a:stretch>
            <a:fillRect/>
          </a:stretch>
        </p:blipFill>
        <p:spPr>
          <a:xfrm>
            <a:off x="1567754" y="1463040"/>
            <a:ext cx="9026013"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Chọn công cụ theo nhu cầu</a:t>
            </a:r>
            <a:endParaRPr lang="en-US" sz="3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73152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658368">
                <a:tc>
                  <a:txBody>
                    <a:bodyPr/>
                    <a:lstStyle/>
                    <a:p>
                      <a:pPr marL="0" indent="0" algn="ctr">
                        <a:buNone/>
                      </a:pPr>
                      <a:r>
                        <a:rPr lang="en-US" sz="2200" b="1" dirty="0">
                          <a:solidFill>
                            <a:schemeClr val="bg1"/>
                          </a:solidFill>
                        </a:rPr>
                        <a:t>Em muốn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Nên bắt đầu với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lgn="l">
                        <a:buNone/>
                      </a:pPr>
                      <a:r>
                        <a:rPr lang="en-US" sz="2200" b="1" dirty="0">
                          <a:solidFill>
                            <a:schemeClr val="tx1"/>
                          </a:solidFill>
                        </a:rPr>
                        <a:t>Thử ngay một ý tưởng phân loại, không viết mã</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Teachable Machine</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lgn="l">
                        <a:buNone/>
                      </a:pPr>
                      <a:r>
                        <a:rPr lang="en-US" sz="2200" b="1" dirty="0">
                          <a:solidFill>
                            <a:schemeClr val="tx1"/>
                          </a:solidFill>
                        </a:rPr>
                        <a:t>Làm ứng dụng điện thoại đơn giản có mô hình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MIT App Inventor</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lgn="l">
                        <a:buNone/>
                      </a:pPr>
                      <a:r>
                        <a:rPr lang="en-US" sz="2200" b="1" dirty="0">
                          <a:solidFill>
                            <a:schemeClr val="tx1"/>
                          </a:solidFill>
                        </a:rPr>
                        <a:t>Đưa mô hình vào trang web, biết chút JavaScript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ML5.js</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lgn="l">
                        <a:buNone/>
                      </a:pPr>
                      <a:r>
                        <a:rPr lang="en-US" sz="2200" b="1" dirty="0">
                          <a:solidFill>
                            <a:schemeClr val="tx1"/>
                          </a:solidFill>
                        </a:rPr>
                        <a:t>Phân tích bảng số liệu, đã học Python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scikit-learn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Không có công cụ tốt nhất, chỉ có công cụ phù hợp</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Mã nguồn mở và miễn phí có giống nhau?</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Miễn phí</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Không phải trả tiền</a:t>
            </a:r>
            <a:endParaRPr lang="en-US" sz="2400" dirty="0"/>
          </a:p>
          <a:p>
            <a:pPr marL="342900" indent="-342900">
              <a:spcAft>
                <a:spcPts val="1000"/>
              </a:spcAft>
              <a:buSzPct val="100000"/>
              <a:buChar char="•"/>
            </a:pPr>
            <a:r>
              <a:rPr lang="en-US" sz="2400" dirty="0">
                <a:solidFill>
                  <a:schemeClr val="tx1"/>
                </a:solidFill>
              </a:rPr>
              <a:t>Chưa chắc xem được bên trong</a:t>
            </a:r>
            <a:endParaRPr lang="en-US" sz="2400" dirty="0"/>
          </a:p>
          <a:p>
            <a:pPr marL="342900" indent="-342900">
              <a:spcAft>
                <a:spcPts val="1000"/>
              </a:spcAft>
              <a:buSzPct val="100000"/>
              <a:buChar char="•"/>
            </a:pPr>
            <a:r>
              <a:rPr lang="en-US" sz="2400" dirty="0">
                <a:solidFill>
                  <a:schemeClr val="tx1"/>
                </a:solidFill>
              </a:rPr>
              <a:t>Đôi khi “trả” bằng dữ liệu</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Mã nguồn mở</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Được xem, dùng, sửa, chia sẻ</a:t>
            </a:r>
            <a:endParaRPr lang="en-US" sz="2400" dirty="0"/>
          </a:p>
          <a:p>
            <a:pPr marL="342900" indent="-342900">
              <a:spcAft>
                <a:spcPts val="1000"/>
              </a:spcAft>
              <a:buSzPct val="100000"/>
              <a:buChar char="•"/>
            </a:pPr>
            <a:r>
              <a:rPr lang="en-US" sz="2400" dirty="0">
                <a:solidFill>
                  <a:schemeClr val="bg1"/>
                </a:solidFill>
              </a:rPr>
              <a:t>Theo điều kiện của giấy phép</a:t>
            </a:r>
            <a:endParaRPr lang="en-US" sz="2400" dirty="0"/>
          </a:p>
          <a:p>
            <a:pPr marL="342900" indent="-342900">
              <a:spcAft>
                <a:spcPts val="1000"/>
              </a:spcAft>
              <a:buSzPct val="100000"/>
              <a:buChar char="•"/>
            </a:pPr>
            <a:r>
              <a:rPr lang="en-US" sz="2400" dirty="0">
                <a:solidFill>
                  <a:schemeClr val="bg1"/>
                </a:solidFill>
              </a:rPr>
              <a:t>Cho phép kiểm tra</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Dễ nhầm: mã nguồn mở không phải muốn dùng thế nào cũng được</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điều cần kiểm tra trước khi dùng</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Điều kiện sử dụng và giấy phép</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Độ tuổi được phép</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Dữ liệu được xử lí, lưu ở đâu</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Tài khoản và chi phí</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400" b="1" dirty="0">
                <a:solidFill>
                  <a:schemeClr val="bg1"/>
                </a:solidFill>
              </a:rPr>
              <a:t>Khi luyện tập: dùng đồ vật làm ví dụ, không dùng khuôn mặt người</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vào bên trong: chuẩn bị dữ liệu</a:t>
            </a:r>
            <a:endParaRPr lang="en-US" sz="3800" dirty="0"/>
          </a:p>
        </p:txBody>
      </p:sp>
      <p:sp>
        <p:nvSpPr>
          <p:cNvPr id="4" name="Shape 1"/>
          <p:cNvSpPr/>
          <p:nvPr/>
        </p:nvSpPr>
        <p:spPr>
          <a:xfrm>
            <a:off x="548640" y="1554480"/>
            <a:ext cx="11064240" cy="3611880"/>
          </a:xfrm>
          <a:prstGeom prst="roundRect">
            <a:avLst>
              <a:gd name="adj" fmla="val 3038"/>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77240" y="1737360"/>
            <a:ext cx="10607040" cy="3246120"/>
          </a:xfrm>
          <a:prstGeom prst="rect">
            <a:avLst/>
          </a:prstGeom>
          <a:noFill/>
          <a:ln/>
        </p:spPr>
        <p:txBody>
          <a:bodyPr wrap="square" lIns="0" tIns="0" rIns="0" bIns="0" rtlCol="0" anchor="t"/>
          <a:lstStyle/>
          <a:p>
            <a:pPr marL="0" indent="0">
              <a:buNone/>
            </a:pPr>
            <a:r>
              <a:rPr lang="en-US" sz="1700" dirty="0">
                <a:solidFill>
                  <a:schemeClr val="accent6"/>
                </a:solidFill>
                <a:latin typeface="Courier New" pitchFamily="34" charset="0"/>
                <a:ea typeface="Courier New" pitchFamily="34" charset="-122"/>
                <a:cs typeface="Courier New" pitchFamily="34" charset="-120"/>
              </a:rPr>
              <a:t> 1  </a:t>
            </a:r>
            <a:r>
              <a:rPr lang="en-US" sz="1700" i="1" dirty="0">
                <a:solidFill>
                  <a:schemeClr val="accent6"/>
                </a:solidFill>
                <a:latin typeface="Courier New" pitchFamily="34" charset="0"/>
                <a:ea typeface="Courier New" pitchFamily="34" charset="-122"/>
                <a:cs typeface="Courier New" pitchFamily="34" charset="-120"/>
              </a:rPr>
              <a:t># Dạy máy nhận dạng chữ số viết tay bằng thư viện mã nguồn mở scikit-learn</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2  </a:t>
            </a:r>
            <a:r>
              <a:rPr lang="en-US" sz="1700" b="1" dirty="0">
                <a:solidFill>
                  <a:schemeClr val="tx2"/>
                </a:solidFill>
                <a:latin typeface="Courier New" pitchFamily="34" charset="0"/>
                <a:ea typeface="Courier New" pitchFamily="34" charset="-122"/>
                <a:cs typeface="Courier New" pitchFamily="34" charset="-120"/>
              </a:rPr>
              <a:t>from</a:t>
            </a:r>
            <a:r>
              <a:rPr lang="en-US" sz="1700" dirty="0">
                <a:solidFill>
                  <a:schemeClr val="tx1"/>
                </a:solidFill>
                <a:latin typeface="Courier New" pitchFamily="34" charset="0"/>
                <a:ea typeface="Courier New" pitchFamily="34" charset="-122"/>
                <a:cs typeface="Courier New" pitchFamily="34" charset="-120"/>
              </a:rPr>
              <a:t> sklearn.datasets </a:t>
            </a:r>
            <a:r>
              <a:rPr lang="en-US" sz="1700" b="1" dirty="0">
                <a:solidFill>
                  <a:schemeClr val="tx2"/>
                </a:solidFill>
                <a:latin typeface="Courier New" pitchFamily="34" charset="0"/>
                <a:ea typeface="Courier New" pitchFamily="34" charset="-122"/>
                <a:cs typeface="Courier New" pitchFamily="34" charset="-120"/>
              </a:rPr>
              <a:t>import</a:t>
            </a:r>
            <a:r>
              <a:rPr lang="en-US" sz="1700" dirty="0">
                <a:solidFill>
                  <a:schemeClr val="tx1"/>
                </a:solidFill>
                <a:latin typeface="Courier New" pitchFamily="34" charset="0"/>
                <a:ea typeface="Courier New" pitchFamily="34" charset="-122"/>
                <a:cs typeface="Courier New" pitchFamily="34" charset="-120"/>
              </a:rPr>
              <a:t> load_digits</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3  </a:t>
            </a:r>
            <a:r>
              <a:rPr lang="en-US" sz="1700" b="1" dirty="0">
                <a:solidFill>
                  <a:schemeClr val="tx2"/>
                </a:solidFill>
                <a:latin typeface="Courier New" pitchFamily="34" charset="0"/>
                <a:ea typeface="Courier New" pitchFamily="34" charset="-122"/>
                <a:cs typeface="Courier New" pitchFamily="34" charset="-120"/>
              </a:rPr>
              <a:t>from</a:t>
            </a:r>
            <a:r>
              <a:rPr lang="en-US" sz="1700" dirty="0">
                <a:solidFill>
                  <a:schemeClr val="tx1"/>
                </a:solidFill>
                <a:latin typeface="Courier New" pitchFamily="34" charset="0"/>
                <a:ea typeface="Courier New" pitchFamily="34" charset="-122"/>
                <a:cs typeface="Courier New" pitchFamily="34" charset="-120"/>
              </a:rPr>
              <a:t> sklearn.model_selection </a:t>
            </a:r>
            <a:r>
              <a:rPr lang="en-US" sz="1700" b="1" dirty="0">
                <a:solidFill>
                  <a:schemeClr val="tx2"/>
                </a:solidFill>
                <a:latin typeface="Courier New" pitchFamily="34" charset="0"/>
                <a:ea typeface="Courier New" pitchFamily="34" charset="-122"/>
                <a:cs typeface="Courier New" pitchFamily="34" charset="-120"/>
              </a:rPr>
              <a:t>import</a:t>
            </a:r>
            <a:r>
              <a:rPr lang="en-US" sz="1700" dirty="0">
                <a:solidFill>
                  <a:schemeClr val="tx1"/>
                </a:solidFill>
                <a:latin typeface="Courier New" pitchFamily="34" charset="0"/>
                <a:ea typeface="Courier New" pitchFamily="34" charset="-122"/>
                <a:cs typeface="Courier New" pitchFamily="34" charset="-120"/>
              </a:rPr>
              <a:t> train_test_split</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4  </a:t>
            </a:r>
            <a:r>
              <a:rPr lang="en-US" sz="1700" b="1" dirty="0">
                <a:solidFill>
                  <a:schemeClr val="tx2"/>
                </a:solidFill>
                <a:latin typeface="Courier New" pitchFamily="34" charset="0"/>
                <a:ea typeface="Courier New" pitchFamily="34" charset="-122"/>
                <a:cs typeface="Courier New" pitchFamily="34" charset="-120"/>
              </a:rPr>
              <a:t>from</a:t>
            </a:r>
            <a:r>
              <a:rPr lang="en-US" sz="1700" dirty="0">
                <a:solidFill>
                  <a:schemeClr val="tx1"/>
                </a:solidFill>
                <a:latin typeface="Courier New" pitchFamily="34" charset="0"/>
                <a:ea typeface="Courier New" pitchFamily="34" charset="-122"/>
                <a:cs typeface="Courier New" pitchFamily="34" charset="-120"/>
              </a:rPr>
              <a:t> sklearn.neighbors </a:t>
            </a:r>
            <a:r>
              <a:rPr lang="en-US" sz="1700" b="1" dirty="0">
                <a:solidFill>
                  <a:schemeClr val="tx2"/>
                </a:solidFill>
                <a:latin typeface="Courier New" pitchFamily="34" charset="0"/>
                <a:ea typeface="Courier New" pitchFamily="34" charset="-122"/>
                <a:cs typeface="Courier New" pitchFamily="34" charset="-120"/>
              </a:rPr>
              <a:t>import</a:t>
            </a:r>
            <a:r>
              <a:rPr lang="en-US" sz="1700" dirty="0">
                <a:solidFill>
                  <a:schemeClr val="tx1"/>
                </a:solidFill>
                <a:latin typeface="Courier New" pitchFamily="34" charset="0"/>
                <a:ea typeface="Courier New" pitchFamily="34" charset="-122"/>
                <a:cs typeface="Courier New" pitchFamily="34" charset="-120"/>
              </a:rPr>
              <a:t> KNeighborsClassifier</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5  </a:t>
            </a:r>
            <a:r>
              <a:rPr lang="en-US" sz="1700" dirty="0">
                <a:solidFill>
                  <a:schemeClr val="tx1"/>
                </a:solidFill>
                <a:latin typeface="Courier New" pitchFamily="34" charset="0"/>
                <a:ea typeface="Courier New" pitchFamily="34" charset="-122"/>
                <a:cs typeface="Courier New" pitchFamily="34" charset="-120"/>
              </a:rPr>
              <a:t> </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6  </a:t>
            </a:r>
            <a:r>
              <a:rPr lang="en-US" sz="1700" i="1" dirty="0">
                <a:solidFill>
                  <a:schemeClr val="accent6"/>
                </a:solidFill>
                <a:latin typeface="Courier New" pitchFamily="34" charset="0"/>
                <a:ea typeface="Courier New" pitchFamily="34" charset="-122"/>
                <a:cs typeface="Courier New" pitchFamily="34" charset="-120"/>
              </a:rPr>
              <a:t># Bước 1 và 2: lấy 1797 ảnh chữ số đã có nhãn</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7  </a:t>
            </a:r>
            <a:r>
              <a:rPr lang="en-US" sz="1700" dirty="0">
                <a:solidFill>
                  <a:schemeClr val="tx1"/>
                </a:solidFill>
                <a:latin typeface="Courier New" pitchFamily="34" charset="0"/>
                <a:ea typeface="Courier New" pitchFamily="34" charset="-122"/>
                <a:cs typeface="Courier New" pitchFamily="34" charset="-120"/>
              </a:rPr>
              <a:t>du_lieu = load_digits()</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8  </a:t>
            </a:r>
            <a:r>
              <a:rPr lang="en-US" sz="1700" dirty="0">
                <a:solidFill>
                  <a:schemeClr val="tx1"/>
                </a:solidFill>
                <a:latin typeface="Courier New" pitchFamily="34" charset="0"/>
                <a:ea typeface="Courier New" pitchFamily="34" charset="-122"/>
                <a:cs typeface="Courier New" pitchFamily="34" charset="-120"/>
              </a:rPr>
              <a:t>anh, nhan = du_lieu.data, du_lieu.target</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 9  </a:t>
            </a:r>
            <a:r>
              <a:rPr lang="en-US" sz="1700" dirty="0">
                <a:solidFill>
                  <a:schemeClr val="tx1"/>
                </a:solidFill>
                <a:latin typeface="Courier New" pitchFamily="34" charset="0"/>
                <a:ea typeface="Courier New" pitchFamily="34" charset="-122"/>
                <a:cs typeface="Courier New" pitchFamily="34" charset="-120"/>
              </a:rPr>
              <a:t> </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10  </a:t>
            </a:r>
            <a:r>
              <a:rPr lang="en-US" sz="1700" i="1" dirty="0">
                <a:solidFill>
                  <a:schemeClr val="accent6"/>
                </a:solidFill>
                <a:latin typeface="Courier New" pitchFamily="34" charset="0"/>
                <a:ea typeface="Courier New" pitchFamily="34" charset="-122"/>
                <a:cs typeface="Courier New" pitchFamily="34" charset="-120"/>
              </a:rPr>
              <a:t># Để riêng 25% số ảnh làm "đề chưa làm" cho bước thử</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11  </a:t>
            </a:r>
            <a:r>
              <a:rPr lang="en-US" sz="1700" dirty="0">
                <a:solidFill>
                  <a:schemeClr val="tx1"/>
                </a:solidFill>
                <a:latin typeface="Courier New" pitchFamily="34" charset="0"/>
                <a:ea typeface="Courier New" pitchFamily="34" charset="-122"/>
                <a:cs typeface="Courier New" pitchFamily="34" charset="-120"/>
              </a:rPr>
              <a:t>anh_hoc, anh_thu, nhan_hoc, nhan_thu = train_test_split(</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12  </a:t>
            </a:r>
            <a:r>
              <a:rPr lang="en-US" sz="1700" dirty="0">
                <a:solidFill>
                  <a:schemeClr val="tx1"/>
                </a:solidFill>
                <a:latin typeface="Courier New" pitchFamily="34" charset="0"/>
                <a:ea typeface="Courier New" pitchFamily="34" charset="-122"/>
                <a:cs typeface="Courier New" pitchFamily="34" charset="-120"/>
              </a:rPr>
              <a:t>    anh, nhan, test_size=0.25, random_state=1)</a:t>
            </a:r>
            <a:endParaRPr lang="en-US" sz="1700" dirty="0"/>
          </a:p>
        </p:txBody>
      </p:sp>
      <p:sp>
        <p:nvSpPr>
          <p:cNvPr id="6" name="Shape 3"/>
          <p:cNvSpPr/>
          <p:nvPr/>
        </p:nvSpPr>
        <p:spPr>
          <a:xfrm>
            <a:off x="548640" y="534924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868680" y="534924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Dòng 11 và 12: để riêng 25% số ảnh, không cho máy xem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vào bên trong: học và thử</a:t>
            </a:r>
            <a:endParaRPr lang="en-US" sz="3800" dirty="0"/>
          </a:p>
        </p:txBody>
      </p:sp>
      <p:sp>
        <p:nvSpPr>
          <p:cNvPr id="4" name="Shape 1"/>
          <p:cNvSpPr/>
          <p:nvPr/>
        </p:nvSpPr>
        <p:spPr>
          <a:xfrm>
            <a:off x="548640" y="1554480"/>
            <a:ext cx="11064240" cy="3611880"/>
          </a:xfrm>
          <a:prstGeom prst="roundRect">
            <a:avLst>
              <a:gd name="adj" fmla="val 3038"/>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77240" y="1737360"/>
            <a:ext cx="10607040" cy="3246120"/>
          </a:xfrm>
          <a:prstGeom prst="rect">
            <a:avLst/>
          </a:prstGeom>
          <a:noFill/>
          <a:ln/>
        </p:spPr>
        <p:txBody>
          <a:bodyPr wrap="square" lIns="0" tIns="0" rIns="0" bIns="0" rtlCol="0" anchor="t"/>
          <a:lstStyle/>
          <a:p>
            <a:pPr marL="0" indent="0">
              <a:buNone/>
            </a:pPr>
            <a:r>
              <a:rPr lang="en-US" sz="1800" dirty="0">
                <a:solidFill>
                  <a:schemeClr val="accent6"/>
                </a:solidFill>
                <a:latin typeface="Courier New" pitchFamily="34" charset="0"/>
                <a:ea typeface="Courier New" pitchFamily="34" charset="-122"/>
                <a:cs typeface="Courier New" pitchFamily="34" charset="-120"/>
              </a:rPr>
              <a:t>14  </a:t>
            </a:r>
            <a:r>
              <a:rPr lang="en-US" sz="1800" i="1" dirty="0">
                <a:solidFill>
                  <a:schemeClr val="accent6"/>
                </a:solidFill>
                <a:latin typeface="Courier New" pitchFamily="34" charset="0"/>
                <a:ea typeface="Courier New" pitchFamily="34" charset="-122"/>
                <a:cs typeface="Courier New" pitchFamily="34" charset="-120"/>
              </a:rPr>
              <a:t># Bước 3: cho máy học</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15  </a:t>
            </a:r>
            <a:r>
              <a:rPr lang="en-US" sz="1800" dirty="0">
                <a:solidFill>
                  <a:schemeClr val="tx1"/>
                </a:solidFill>
                <a:latin typeface="Courier New" pitchFamily="34" charset="0"/>
                <a:ea typeface="Courier New" pitchFamily="34" charset="-122"/>
                <a:cs typeface="Courier New" pitchFamily="34" charset="-120"/>
              </a:rPr>
              <a:t>mo_hinh = KNeighborsClassifier(n_neighbors=3)</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16  </a:t>
            </a:r>
            <a:r>
              <a:rPr lang="en-US" sz="1800" dirty="0">
                <a:solidFill>
                  <a:schemeClr val="tx1"/>
                </a:solidFill>
                <a:latin typeface="Courier New" pitchFamily="34" charset="0"/>
                <a:ea typeface="Courier New" pitchFamily="34" charset="-122"/>
                <a:cs typeface="Courier New" pitchFamily="34" charset="-120"/>
              </a:rPr>
              <a:t>mo_hinh.fit(anh_hoc, nhan_hoc)</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17  </a:t>
            </a:r>
            <a:r>
              <a:rPr lang="en-US" sz="1800" dirty="0">
                <a:solidFill>
                  <a:schemeClr val="tx1"/>
                </a:solidFill>
                <a:latin typeface="Courier New" pitchFamily="34" charset="0"/>
                <a:ea typeface="Courier New" pitchFamily="34" charset="-122"/>
                <a:cs typeface="Courier New" pitchFamily="34" charset="-120"/>
              </a:rPr>
              <a:t> </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18  </a:t>
            </a:r>
            <a:r>
              <a:rPr lang="en-US" sz="1800" i="1" dirty="0">
                <a:solidFill>
                  <a:schemeClr val="accent6"/>
                </a:solidFill>
                <a:latin typeface="Courier New" pitchFamily="34" charset="0"/>
                <a:ea typeface="Courier New" pitchFamily="34" charset="-122"/>
                <a:cs typeface="Courier New" pitchFamily="34" charset="-120"/>
              </a:rPr>
              <a:t># Bước 4: thử với ảnh mới</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19  </a:t>
            </a:r>
            <a:r>
              <a:rPr lang="en-US" sz="1800" dirty="0">
                <a:solidFill>
                  <a:schemeClr val="tx1"/>
                </a:solidFill>
                <a:latin typeface="Courier New" pitchFamily="34" charset="0"/>
                <a:ea typeface="Courier New" pitchFamily="34" charset="-122"/>
                <a:cs typeface="Courier New" pitchFamily="34" charset="-120"/>
              </a:rPr>
              <a:t>du_doan = mo_hinh.predict(anh_thu)</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20  </a:t>
            </a:r>
            <a:r>
              <a:rPr lang="en-US" sz="1800" dirty="0">
                <a:solidFill>
                  <a:schemeClr val="tx1"/>
                </a:solidFill>
                <a:latin typeface="Courier New" pitchFamily="34" charset="0"/>
                <a:ea typeface="Courier New" pitchFamily="34" charset="-122"/>
                <a:cs typeface="Courier New" pitchFamily="34" charset="-120"/>
              </a:rPr>
              <a:t>so_dung = (du_doan == nhan_thu).sum()</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21  </a:t>
            </a:r>
            <a:r>
              <a:rPr lang="en-US" sz="1800" b="1" dirty="0">
                <a:solidFill>
                  <a:schemeClr val="tx2"/>
                </a:solidFill>
                <a:latin typeface="Courier New" pitchFamily="34" charset="0"/>
                <a:ea typeface="Courier New" pitchFamily="34" charset="-122"/>
                <a:cs typeface="Courier New" pitchFamily="34" charset="-120"/>
              </a:rPr>
              <a:t>print</a:t>
            </a:r>
            <a:r>
              <a:rPr lang="en-US" sz="1800" dirty="0">
                <a:solidFill>
                  <a:schemeClr val="tx1"/>
                </a:solidFill>
                <a:latin typeface="Courier New" pitchFamily="34" charset="0"/>
                <a:ea typeface="Courier New" pitchFamily="34" charset="-122"/>
                <a:cs typeface="Courier New" pitchFamily="34" charset="-120"/>
              </a:rPr>
              <a:t>(</a:t>
            </a:r>
            <a:r>
              <a:rPr lang="en-US" sz="1800" dirty="0">
                <a:solidFill>
                  <a:schemeClr val="accent4"/>
                </a:solidFill>
                <a:latin typeface="Courier New" pitchFamily="34" charset="0"/>
                <a:ea typeface="Courier New" pitchFamily="34" charset="-122"/>
                <a:cs typeface="Courier New" pitchFamily="34" charset="-120"/>
              </a:rPr>
              <a:t>"Số ảnh dùng để học:"</a:t>
            </a:r>
            <a:r>
              <a:rPr lang="en-US" sz="1800" dirty="0">
                <a:solidFill>
                  <a:schemeClr val="tx1"/>
                </a:solidFill>
                <a:latin typeface="Courier New" pitchFamily="34" charset="0"/>
                <a:ea typeface="Courier New" pitchFamily="34" charset="-122"/>
                <a:cs typeface="Courier New" pitchFamily="34" charset="-120"/>
              </a:rPr>
              <a:t>, len(anh_hoc))</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22  </a:t>
            </a:r>
            <a:r>
              <a:rPr lang="en-US" sz="1800" b="1" dirty="0">
                <a:solidFill>
                  <a:schemeClr val="tx2"/>
                </a:solidFill>
                <a:latin typeface="Courier New" pitchFamily="34" charset="0"/>
                <a:ea typeface="Courier New" pitchFamily="34" charset="-122"/>
                <a:cs typeface="Courier New" pitchFamily="34" charset="-120"/>
              </a:rPr>
              <a:t>print</a:t>
            </a:r>
            <a:r>
              <a:rPr lang="en-US" sz="1800" dirty="0">
                <a:solidFill>
                  <a:schemeClr val="tx1"/>
                </a:solidFill>
                <a:latin typeface="Courier New" pitchFamily="34" charset="0"/>
                <a:ea typeface="Courier New" pitchFamily="34" charset="-122"/>
                <a:cs typeface="Courier New" pitchFamily="34" charset="-120"/>
              </a:rPr>
              <a:t>(</a:t>
            </a:r>
            <a:r>
              <a:rPr lang="en-US" sz="1800" dirty="0">
                <a:solidFill>
                  <a:schemeClr val="accent4"/>
                </a:solidFill>
                <a:latin typeface="Courier New" pitchFamily="34" charset="0"/>
                <a:ea typeface="Courier New" pitchFamily="34" charset="-122"/>
                <a:cs typeface="Courier New" pitchFamily="34" charset="-120"/>
              </a:rPr>
              <a:t>"Số ảnh dùng để thử:"</a:t>
            </a:r>
            <a:r>
              <a:rPr lang="en-US" sz="1800" dirty="0">
                <a:solidFill>
                  <a:schemeClr val="tx1"/>
                </a:solidFill>
                <a:latin typeface="Courier New" pitchFamily="34" charset="0"/>
                <a:ea typeface="Courier New" pitchFamily="34" charset="-122"/>
                <a:cs typeface="Courier New" pitchFamily="34" charset="-120"/>
              </a:rPr>
              <a:t>, len(anh_thu))</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23  </a:t>
            </a:r>
            <a:r>
              <a:rPr lang="en-US" sz="1800" b="1" dirty="0">
                <a:solidFill>
                  <a:schemeClr val="tx2"/>
                </a:solidFill>
                <a:latin typeface="Courier New" pitchFamily="34" charset="0"/>
                <a:ea typeface="Courier New" pitchFamily="34" charset="-122"/>
                <a:cs typeface="Courier New" pitchFamily="34" charset="-120"/>
              </a:rPr>
              <a:t>print</a:t>
            </a:r>
            <a:r>
              <a:rPr lang="en-US" sz="1800" dirty="0">
                <a:solidFill>
                  <a:schemeClr val="tx1"/>
                </a:solidFill>
                <a:latin typeface="Courier New" pitchFamily="34" charset="0"/>
                <a:ea typeface="Courier New" pitchFamily="34" charset="-122"/>
                <a:cs typeface="Courier New" pitchFamily="34" charset="-120"/>
              </a:rPr>
              <a:t>(</a:t>
            </a:r>
            <a:r>
              <a:rPr lang="en-US" sz="1800" dirty="0">
                <a:solidFill>
                  <a:schemeClr val="accent4"/>
                </a:solidFill>
                <a:latin typeface="Courier New" pitchFamily="34" charset="0"/>
                <a:ea typeface="Courier New" pitchFamily="34" charset="-122"/>
                <a:cs typeface="Courier New" pitchFamily="34" charset="-120"/>
              </a:rPr>
              <a:t>"Đoán đúng:"</a:t>
            </a:r>
            <a:r>
              <a:rPr lang="en-US" sz="1800" dirty="0">
                <a:solidFill>
                  <a:schemeClr val="tx1"/>
                </a:solidFill>
                <a:latin typeface="Courier New" pitchFamily="34" charset="0"/>
                <a:ea typeface="Courier New" pitchFamily="34" charset="-122"/>
                <a:cs typeface="Courier New" pitchFamily="34" charset="-120"/>
              </a:rPr>
              <a:t>, so_dung, </a:t>
            </a:r>
            <a:r>
              <a:rPr lang="en-US" sz="1800" dirty="0">
                <a:solidFill>
                  <a:schemeClr val="accent4"/>
                </a:solidFill>
                <a:latin typeface="Courier New" pitchFamily="34" charset="0"/>
                <a:ea typeface="Courier New" pitchFamily="34" charset="-122"/>
                <a:cs typeface="Courier New" pitchFamily="34" charset="-120"/>
              </a:rPr>
              <a:t>"ảnh"</a:t>
            </a:r>
            <a:r>
              <a:rPr lang="en-US" sz="1800" dirty="0">
                <a:solidFill>
                  <a:schemeClr val="tx1"/>
                </a:solidFill>
                <a:latin typeface="Courier New" pitchFamily="34" charset="0"/>
                <a:ea typeface="Courier New" pitchFamily="34" charset="-122"/>
                <a:cs typeface="Courier New" pitchFamily="34" charset="-120"/>
              </a:rPr>
              <a:t>)</a:t>
            </a:r>
            <a:endParaRPr lang="en-US" sz="1800" dirty="0"/>
          </a:p>
          <a:p>
            <a:pPr marL="0" indent="0">
              <a:buNone/>
            </a:pPr>
            <a:r>
              <a:rPr lang="en-US" sz="1800" dirty="0">
                <a:solidFill>
                  <a:schemeClr val="accent6"/>
                </a:solidFill>
                <a:latin typeface="Courier New" pitchFamily="34" charset="0"/>
                <a:ea typeface="Courier New" pitchFamily="34" charset="-122"/>
                <a:cs typeface="Courier New" pitchFamily="34" charset="-120"/>
              </a:rPr>
              <a:t>24  </a:t>
            </a:r>
            <a:r>
              <a:rPr lang="en-US" sz="1800" b="1" dirty="0">
                <a:solidFill>
                  <a:schemeClr val="tx2"/>
                </a:solidFill>
                <a:latin typeface="Courier New" pitchFamily="34" charset="0"/>
                <a:ea typeface="Courier New" pitchFamily="34" charset="-122"/>
                <a:cs typeface="Courier New" pitchFamily="34" charset="-120"/>
              </a:rPr>
              <a:t>print</a:t>
            </a:r>
            <a:r>
              <a:rPr lang="en-US" sz="1800" dirty="0">
                <a:solidFill>
                  <a:schemeClr val="tx1"/>
                </a:solidFill>
                <a:latin typeface="Courier New" pitchFamily="34" charset="0"/>
                <a:ea typeface="Courier New" pitchFamily="34" charset="-122"/>
                <a:cs typeface="Courier New" pitchFamily="34" charset="-120"/>
              </a:rPr>
              <a:t>(</a:t>
            </a:r>
            <a:r>
              <a:rPr lang="en-US" sz="1800" dirty="0">
                <a:solidFill>
                  <a:schemeClr val="accent4"/>
                </a:solidFill>
                <a:latin typeface="Courier New" pitchFamily="34" charset="0"/>
                <a:ea typeface="Courier New" pitchFamily="34" charset="-122"/>
                <a:cs typeface="Courier New" pitchFamily="34" charset="-120"/>
              </a:rPr>
              <a:t>"Tỉ lệ đúng:"</a:t>
            </a:r>
            <a:r>
              <a:rPr lang="en-US" sz="1800" dirty="0">
                <a:solidFill>
                  <a:schemeClr val="tx1"/>
                </a:solidFill>
                <a:latin typeface="Courier New" pitchFamily="34" charset="0"/>
                <a:ea typeface="Courier New" pitchFamily="34" charset="-122"/>
                <a:cs typeface="Courier New" pitchFamily="34" charset="-120"/>
              </a:rPr>
              <a:t>, round(100 * so_dung / len(anh_thu), 1), </a:t>
            </a:r>
            <a:r>
              <a:rPr lang="en-US" sz="1800" dirty="0">
                <a:solidFill>
                  <a:schemeClr val="accent4"/>
                </a:solidFill>
                <a:latin typeface="Courier New" pitchFamily="34" charset="0"/>
                <a:ea typeface="Courier New" pitchFamily="34" charset="-122"/>
                <a:cs typeface="Courier New" pitchFamily="34" charset="-120"/>
              </a:rPr>
              <a:t>"%"</a:t>
            </a:r>
            <a:r>
              <a:rPr lang="en-US" sz="1800" dirty="0">
                <a:solidFill>
                  <a:schemeClr val="tx1"/>
                </a:solidFill>
                <a:latin typeface="Courier New" pitchFamily="34" charset="0"/>
                <a:ea typeface="Courier New" pitchFamily="34" charset="-122"/>
                <a:cs typeface="Courier New" pitchFamily="34" charset="-120"/>
              </a:rPr>
              <a:t>)</a:t>
            </a:r>
            <a:endParaRPr lang="en-US" sz="1800" dirty="0"/>
          </a:p>
        </p:txBody>
      </p:sp>
      <p:sp>
        <p:nvSpPr>
          <p:cNvPr id="6" name="Shape 3"/>
          <p:cNvSpPr/>
          <p:nvPr/>
        </p:nvSpPr>
        <p:spPr>
          <a:xfrm>
            <a:off x="548640" y="534924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868680" y="534924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Kết quả chạy thật: đoán đúng 446 trên 450 ảnh, tức 99,1%</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Ghép công cụ với nhu cầu</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18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bảng công cụ</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Lập bảng “công cụ, mục đích, điều kiện sử dụng”</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Ghép sáu nhu cầu trên phiếu với công cụ phù hợp</a:t>
            </a:r>
            <a:endParaRPr lang="en-US" sz="2800" dirty="0"/>
          </a:p>
          <a:p>
            <a:pPr marL="342900" indent="-342900">
              <a:spcAft>
                <a:spcPts val="1200"/>
              </a:spcAft>
              <a:buSzPct val="100000"/>
              <a:buFont typeface="+mj-lt"/>
              <a:buAutoNum type="arabicPeriod"/>
            </a:pPr>
            <a:r>
              <a:rPr lang="en-US" sz="2800" dirty="0">
                <a:solidFill>
                  <a:schemeClr val="tx1"/>
                </a:solidFill>
              </a:rPr>
              <a:t>Nêu lí do theo mục đích và kĩ năng</a:t>
            </a:r>
            <a:endParaRPr lang="en-US" sz="2800" dirty="0"/>
          </a:p>
          <a:p>
            <a:pPr marL="342900" indent="-342900">
              <a:spcAft>
                <a:spcPts val="1200"/>
              </a:spcAft>
              <a:buSzPct val="100000"/>
              <a:buFont typeface="+mj-lt"/>
              <a:buAutoNum type="arabicPeriod"/>
            </a:pPr>
            <a:r>
              <a:rPr lang="en-US" sz="2800" dirty="0">
                <a:solidFill>
                  <a:schemeClr val="tx1"/>
                </a:solidFill>
              </a:rPr>
              <a:t>Chọn công cụ cho dự án của nhóm (Bài 12.7)</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Với dự án của nhóm</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Ghi luôn bốn điều nhóm sẽ kiểm tra trước khi dùng công cụ đó.</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Làm được chưa phải là nên làm</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Dữ liệu của ai?</a:t>
            </a:r>
            <a:r>
              <a:rPr lang="en-US" sz="3200" dirty="0">
                <a:solidFill>
                  <a:schemeClr val="tx1"/>
                </a:solidFill>
              </a:rPr>
              <a:t> Phải hỏi, và cho quyền nói không</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dirty="0">
                <a:solidFill>
                  <a:schemeClr val="tx1"/>
                </a:solidFill>
              </a:rPr>
              <a:t>Mô hình sẽ </a:t>
            </a:r>
            <a:r>
              <a:rPr lang="en-US" sz="3200" b="1" dirty="0">
                <a:solidFill>
                  <a:schemeClr val="tx2"/>
                </a:solidFill>
              </a:rPr>
              <a:t>dùng vào việc gì?</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Ai chịu trách nhiệm</a:t>
            </a:r>
            <a:r>
              <a:rPr lang="en-US" sz="3200" dirty="0">
                <a:solidFill>
                  <a:schemeClr val="tx1"/>
                </a:solidFill>
              </a:rPr>
              <a:t> khi nó sai?</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Người huấn luyện mô hình là “người phát triển”.</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Bốn bước:</a:t>
            </a:r>
            <a:r>
              <a:rPr lang="en-US" sz="3200" dirty="0">
                <a:solidFill>
                  <a:schemeClr val="tx1"/>
                </a:solidFill>
              </a:rPr>
              <a:t> tạo nhóm; đưa ví dụ; cho máy học; thử</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Mô hình </a:t>
            </a:r>
            <a:r>
              <a:rPr lang="en-US" sz="3200" b="1" dirty="0">
                <a:solidFill>
                  <a:schemeClr val="tx2"/>
                </a:solidFill>
              </a:rPr>
              <a:t>chỉ biết các nhãn đã học</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Công cụ xếp theo tầng: </a:t>
            </a:r>
            <a:r>
              <a:rPr lang="en-US" sz="3200" b="1" dirty="0">
                <a:solidFill>
                  <a:schemeClr val="tx2"/>
                </a:solidFill>
              </a:rPr>
              <a:t>không viết mã, kéo thả, viết mã</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Miễn phí</a:t>
            </a:r>
            <a:r>
              <a:rPr lang="en-US" sz="3200" dirty="0">
                <a:solidFill>
                  <a:schemeClr val="tx1"/>
                </a:solidFill>
              </a:rPr>
              <a:t> khác </a:t>
            </a:r>
            <a:r>
              <a:rPr lang="en-US" sz="3200" b="1" dirty="0">
                <a:solidFill>
                  <a:schemeClr val="tx2"/>
                </a:solidFill>
              </a:rPr>
              <a:t>mã nguồn mở</a:t>
            </a:r>
            <a:r>
              <a:rPr lang="en-US" sz="3200" dirty="0">
                <a:solidFill>
                  <a:schemeClr val="tx1"/>
                </a:solidFill>
              </a:rPr>
              <a:t>; kiểm tra bốn điều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400" dirty="0">
                <a:solidFill>
                  <a:schemeClr val="tx1"/>
                </a:solidFill>
              </a:rPr>
              <a:t>Nêu ba công cụ mã nguồn mở hoặc miễn phí dùng để thiết kế, huấn luyện, phát triển hệ thống AI và mỗi công cụ dùng để làm gì.</a:t>
            </a:r>
            <a:endParaRPr lang="en-US" sz="24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Trước khi dùng một công cụ AI mới cho dự án học tập, em cần kiểm tra những điều gì? Nêu hai điều.</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208858656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1829</Words>
  <Application>Microsoft Office PowerPoint</Application>
  <PresentationFormat>Widescreen</PresentationFormat>
  <Paragraphs>176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GiaoDucAI</vt:lpstr>
      <vt:lpstr>Công cụ mã nguồn mở, miễn phí để phát triển AI</vt:lpstr>
      <vt:lpstr>Hôm nay chúng ta làm gì?</vt:lpstr>
      <vt:lpstr>Dạy máy nhận ra cây bút trong ba phút?</vt:lpstr>
      <vt:lpstr>Bốn bước huấn luyện một mô hình phân loại</vt:lpstr>
      <vt:lpstr>Thử thêm ở bước 4: hai điều đáng nghĩ</vt:lpstr>
      <vt:lpstr>Các tầng công cụ</vt:lpstr>
      <vt:lpstr>Chọn công cụ theo nhu cầu</vt:lpstr>
      <vt:lpstr>Mã nguồn mở và miễn phí có giống nhau?</vt:lpstr>
      <vt:lpstr>Bốn điều cần kiểm tra trước khi dùng</vt:lpstr>
      <vt:lpstr>Nhìn vào bên trong: chuẩn bị dữ liệu</vt:lpstr>
      <vt:lpstr>Nhìn vào bên trong: học và thử</vt:lpstr>
      <vt:lpstr>Ghép công cụ với nhu cầu</vt:lpstr>
      <vt:lpstr>Nhiệm vụ nhóm: bảng công cụ</vt:lpstr>
      <vt:lpstr>Làm được chưa phải là nên làm</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12.8. Công cụ mã nguồn mở, miễn phí để phát triển AI</dc:title>
  <dc:subject>Trí tuệ nhân tạo</dc:subject>
  <cp:lastModifiedBy>Phạm Văn Tú</cp:lastModifiedBy>
  <cp:revision>1</cp:revision>
  <dcterms:created xsi:type="dcterms:W3CDTF">2026-10-08T10:45:42Z</dcterms:created>
  <dcterms:modified xsi:type="dcterms:W3CDTF">2026-10-10T03:45:19Z</dcterms:modified>
  <dc:description>Email: phamtund@gmail.com</dc:description>
  <dc:creator>Phạm Văn Tú</dc:creator>
  <cp:category>Trí tuệ nhân tạo</cp:category>
  <cp:keywords>Trí tuệ nhân tạo</cp:keywords>
</cp:coreProperties>
</file>